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21"/>
  </p:notesMasterIdLst>
  <p:handoutMasterIdLst>
    <p:handoutMasterId r:id="rId22"/>
  </p:handoutMasterIdLst>
  <p:sldIdLst>
    <p:sldId id="554" r:id="rId6"/>
    <p:sldId id="536" r:id="rId7"/>
    <p:sldId id="546" r:id="rId8"/>
    <p:sldId id="553" r:id="rId9"/>
    <p:sldId id="537" r:id="rId10"/>
    <p:sldId id="555" r:id="rId11"/>
    <p:sldId id="545" r:id="rId12"/>
    <p:sldId id="547" r:id="rId13"/>
    <p:sldId id="548" r:id="rId14"/>
    <p:sldId id="549" r:id="rId15"/>
    <p:sldId id="541" r:id="rId16"/>
    <p:sldId id="556" r:id="rId17"/>
    <p:sldId id="542" r:id="rId18"/>
    <p:sldId id="550" r:id="rId19"/>
    <p:sldId id="524" r:id="rId20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554"/>
            <p14:sldId id="536"/>
            <p14:sldId id="546"/>
            <p14:sldId id="553"/>
            <p14:sldId id="537"/>
            <p14:sldId id="555"/>
            <p14:sldId id="545"/>
            <p14:sldId id="547"/>
            <p14:sldId id="548"/>
            <p14:sldId id="549"/>
            <p14:sldId id="541"/>
            <p14:sldId id="556"/>
            <p14:sldId id="542"/>
            <p14:sldId id="550"/>
            <p14:sldId id="5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274C"/>
    <a:srgbClr val="E4E1DF"/>
    <a:srgbClr val="B5B5B5"/>
    <a:srgbClr val="050909"/>
    <a:srgbClr val="FFCB05"/>
    <a:srgbClr val="EA6A20"/>
    <a:srgbClr val="06090A"/>
    <a:srgbClr val="090B0B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90"/>
    <p:restoredTop sz="81053"/>
  </p:normalViewPr>
  <p:slideViewPr>
    <p:cSldViewPr snapToGrid="0">
      <p:cViewPr varScale="1">
        <p:scale>
          <a:sx n="45" d="100"/>
          <a:sy n="45" d="100"/>
        </p:scale>
        <p:origin x="730" y="43"/>
      </p:cViewPr>
      <p:guideLst>
        <p:guide orient="horz" pos="3216"/>
        <p:guide pos="5120"/>
      </p:guideLst>
    </p:cSldViewPr>
  </p:slid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58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05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34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27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94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52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02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052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952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7259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3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33E8A-D9FE-4ADA-A6F9-338849F033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iMod Group – Prof. Olivier Jolliet</a:t>
            </a:r>
          </a:p>
        </p:txBody>
      </p:sp>
    </p:spTree>
    <p:extLst>
      <p:ext uri="{BB962C8B-B14F-4D97-AF65-F5344CB8AC3E}">
        <p14:creationId xmlns:p14="http://schemas.microsoft.com/office/powerpoint/2010/main" val="202627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79A2DE-44A3-E846-BDE0-2432CDF19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810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4945368"/>
            <a:ext cx="14799129" cy="1718216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/>
              <a:t>Life Cycle Inventory</a:t>
            </a:r>
          </a:p>
          <a:p>
            <a:pPr algn="l"/>
            <a:r>
              <a:rPr lang="en-US" altLang="en-US" sz="3600" b="1" dirty="0">
                <a:solidFill>
                  <a:srgbClr val="D86018"/>
                </a:solidFill>
              </a:rPr>
              <a:t>Part B Stepwise procedure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</a:t>
            </a:r>
            <a:r>
              <a:rPr lang="en-US" sz="2500" b="1"/>
              <a:t>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83033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5444708" cy="870385"/>
          </a:xfrm>
        </p:spPr>
        <p:txBody>
          <a:bodyPr/>
          <a:lstStyle/>
          <a:p>
            <a:r>
              <a:rPr lang="en-US" altLang="en-US" dirty="0"/>
              <a:t>Building the inventory: stepwise procedure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68F279-55FF-0146-A398-704D27232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399" y="2052609"/>
            <a:ext cx="11247829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spcAft>
                <a:spcPts val="1600"/>
              </a:spcAft>
              <a:buClrTx/>
              <a:buNone/>
            </a:pPr>
            <a:r>
              <a:rPr lang="en-US" altLang="en-US" sz="2400" b="0" i="1" dirty="0">
                <a:solidFill>
                  <a:schemeClr val="accent6"/>
                </a:solidFill>
              </a:rPr>
              <a:t>Find the direct emission and extraction factors </a:t>
            </a:r>
            <a:r>
              <a:rPr lang="en-US" altLang="en-US" sz="2400" b="0" dirty="0">
                <a:solidFill>
                  <a:schemeClr val="tx2"/>
                </a:solidFill>
              </a:rPr>
              <a:t>of each unit process </a:t>
            </a:r>
            <a:br>
              <a:rPr lang="en-US" altLang="en-US" sz="2400" b="0" dirty="0">
                <a:solidFill>
                  <a:schemeClr val="tx2"/>
                </a:solidFill>
              </a:rPr>
            </a:br>
            <a:r>
              <a:rPr lang="en-US" altLang="en-US" sz="2400" b="0" dirty="0">
                <a:solidFill>
                  <a:schemeClr val="tx2"/>
                </a:solidFill>
              </a:rPr>
              <a:t>(UP, </a:t>
            </a:r>
            <a:r>
              <a:rPr lang="en-US" altLang="en-US" sz="2400" b="0" dirty="0" err="1">
                <a:solidFill>
                  <a:schemeClr val="tx2"/>
                </a:solidFill>
              </a:rPr>
              <a:t>e.g</a:t>
            </a:r>
            <a:r>
              <a:rPr lang="en-US" altLang="en-US" sz="2400" b="0" dirty="0">
                <a:solidFill>
                  <a:schemeClr val="tx2"/>
                </a:solidFill>
              </a:rPr>
              <a:t> Al hydroxide), i.e. the direct </a:t>
            </a:r>
            <a:r>
              <a:rPr lang="en-US" altLang="en-US" sz="2400" b="0" dirty="0">
                <a:solidFill>
                  <a:schemeClr val="accent3"/>
                </a:solidFill>
              </a:rPr>
              <a:t>elementary</a:t>
            </a:r>
            <a:r>
              <a:rPr lang="en-US" altLang="en-US" sz="2400" b="0" dirty="0">
                <a:solidFill>
                  <a:schemeClr val="tx2"/>
                </a:solidFill>
              </a:rPr>
              <a:t> </a:t>
            </a:r>
            <a:r>
              <a:rPr lang="en-US" altLang="en-US" sz="2400" b="0" dirty="0">
                <a:solidFill>
                  <a:schemeClr val="accent3"/>
                </a:solidFill>
              </a:rPr>
              <a:t>flows per unit of this UP </a:t>
            </a:r>
            <a:br>
              <a:rPr lang="en-US" altLang="en-US" sz="2400" b="0" dirty="0">
                <a:solidFill>
                  <a:schemeClr val="accent3"/>
                </a:solidFill>
              </a:rPr>
            </a:br>
            <a:r>
              <a:rPr lang="en-US" altLang="en-US" sz="2400" b="0" dirty="0">
                <a:solidFill>
                  <a:schemeClr val="tx2"/>
                </a:solidFill>
              </a:rPr>
              <a:t>(e.g. </a:t>
            </a:r>
            <a:r>
              <a:rPr lang="en-US" altLang="en-US" sz="2400" b="0" dirty="0" err="1">
                <a:solidFill>
                  <a:schemeClr val="accent3"/>
                </a:solidFill>
              </a:rPr>
              <a:t>MJ</a:t>
            </a:r>
            <a:r>
              <a:rPr lang="en-US" altLang="en-US" sz="2400" b="0" baseline="-25000" dirty="0" err="1">
                <a:solidFill>
                  <a:schemeClr val="accent3"/>
                </a:solidFill>
              </a:rPr>
              <a:t>heat</a:t>
            </a:r>
            <a:r>
              <a:rPr lang="en-US" altLang="en-US" sz="2400" b="0" baseline="-25000" dirty="0">
                <a:solidFill>
                  <a:schemeClr val="accent3"/>
                </a:solidFill>
              </a:rPr>
              <a:t> waste</a:t>
            </a:r>
            <a:r>
              <a:rPr lang="en-US" altLang="en-US" sz="2400" b="0" dirty="0">
                <a:solidFill>
                  <a:schemeClr val="accent3"/>
                </a:solidFill>
              </a:rPr>
              <a:t>/</a:t>
            </a:r>
            <a:r>
              <a:rPr lang="en-US" altLang="en-US" sz="2400" b="0" dirty="0" err="1">
                <a:solidFill>
                  <a:schemeClr val="accent3"/>
                </a:solidFill>
              </a:rPr>
              <a:t>kg</a:t>
            </a:r>
            <a:r>
              <a:rPr lang="en-US" altLang="en-US" sz="2400" b="0" baseline="-25000" dirty="0" err="1">
                <a:solidFill>
                  <a:schemeClr val="accent3"/>
                </a:solidFill>
              </a:rPr>
              <a:t>Al</a:t>
            </a:r>
            <a:r>
              <a:rPr lang="en-US" altLang="en-US" sz="2400" b="0" baseline="-25000" dirty="0">
                <a:solidFill>
                  <a:schemeClr val="accent3"/>
                </a:solidFill>
              </a:rPr>
              <a:t> hydroxide</a:t>
            </a:r>
            <a:r>
              <a:rPr lang="en-US" altLang="en-US" sz="2400" b="0" dirty="0">
                <a:solidFill>
                  <a:schemeClr val="tx2"/>
                </a:solidFill>
              </a:rPr>
              <a:t>).</a:t>
            </a:r>
          </a:p>
          <a:p>
            <a:pPr marL="0" indent="0">
              <a:spcBef>
                <a:spcPct val="0"/>
              </a:spcBef>
              <a:spcAft>
                <a:spcPts val="1600"/>
              </a:spcAft>
              <a:buClrTx/>
              <a:buNone/>
            </a:pPr>
            <a:r>
              <a:rPr lang="en-US" altLang="en-US" sz="2400" b="0" i="1" dirty="0">
                <a:solidFill>
                  <a:schemeClr val="accent6"/>
                </a:solidFill>
              </a:rPr>
              <a:t>Identify the amount of each Unit process per FU, </a:t>
            </a:r>
            <a:r>
              <a:rPr lang="en-US" altLang="en-US" sz="2400" b="0" dirty="0" err="1">
                <a:solidFill>
                  <a:schemeClr val="tx2"/>
                </a:solidFill>
              </a:rPr>
              <a:t>i.e</a:t>
            </a:r>
            <a:r>
              <a:rPr lang="en-US" altLang="en-US" sz="2400" b="0" dirty="0">
                <a:solidFill>
                  <a:schemeClr val="tx2"/>
                </a:solidFill>
              </a:rPr>
              <a:t> </a:t>
            </a:r>
            <a:r>
              <a:rPr lang="en-US" altLang="en-US" sz="2400" b="0" dirty="0">
                <a:solidFill>
                  <a:srgbClr val="0070C0"/>
                </a:solidFill>
              </a:rPr>
              <a:t>the </a:t>
            </a:r>
            <a:r>
              <a:rPr lang="en-US" altLang="en-US" sz="2400" b="0" i="1" dirty="0">
                <a:solidFill>
                  <a:srgbClr val="0070C0"/>
                </a:solidFill>
              </a:rPr>
              <a:t>intermediary flow</a:t>
            </a:r>
            <a:r>
              <a:rPr lang="en-US" altLang="en-US" sz="2400" b="0" i="1" dirty="0">
                <a:solidFill>
                  <a:schemeClr val="accent6"/>
                </a:solidFill>
              </a:rPr>
              <a:t> </a:t>
            </a:r>
            <a:br>
              <a:rPr lang="en-US" altLang="en-US" sz="2400" b="0" i="1" dirty="0">
                <a:solidFill>
                  <a:schemeClr val="accent6"/>
                </a:solidFill>
              </a:rPr>
            </a:br>
            <a:r>
              <a:rPr lang="en-US" altLang="en-US" sz="2400" b="0" dirty="0">
                <a:solidFill>
                  <a:schemeClr val="accent4"/>
                </a:solidFill>
              </a:rPr>
              <a:t>per functional unit (FU) </a:t>
            </a:r>
            <a:r>
              <a:rPr lang="en-US" altLang="en-US" sz="2400" b="0" dirty="0">
                <a:solidFill>
                  <a:schemeClr val="tx2"/>
                </a:solidFill>
              </a:rPr>
              <a:t>determined when building the product system </a:t>
            </a:r>
            <a:br>
              <a:rPr lang="en-US" altLang="en-US" sz="2400" b="0" dirty="0">
                <a:solidFill>
                  <a:schemeClr val="tx2"/>
                </a:solidFill>
              </a:rPr>
            </a:br>
            <a:r>
              <a:rPr lang="en-US" altLang="en-US" sz="2400" b="0" dirty="0">
                <a:solidFill>
                  <a:schemeClr val="tx2"/>
                </a:solidFill>
              </a:rPr>
              <a:t>and the process tree (e.g. in </a:t>
            </a:r>
            <a:r>
              <a:rPr lang="en-US" altLang="en-US" sz="2400" b="0" dirty="0" err="1">
                <a:solidFill>
                  <a:schemeClr val="accent4"/>
                </a:solidFill>
                <a:latin typeface="Arial" panose="020B0604020202020204"/>
              </a:rPr>
              <a:t>kg</a:t>
            </a:r>
            <a:r>
              <a:rPr lang="en-US" altLang="en-US" sz="2400" b="0" baseline="-25000" dirty="0" err="1">
                <a:solidFill>
                  <a:schemeClr val="accent4"/>
                </a:solidFill>
                <a:latin typeface="Arial" panose="020B0604020202020204"/>
              </a:rPr>
              <a:t>Al</a:t>
            </a:r>
            <a:r>
              <a:rPr lang="en-US" altLang="en-US" sz="2400" b="0" baseline="-25000" dirty="0">
                <a:solidFill>
                  <a:schemeClr val="accent4"/>
                </a:solidFill>
                <a:latin typeface="Arial" panose="020B0604020202020204"/>
              </a:rPr>
              <a:t> hydroxide</a:t>
            </a:r>
            <a:r>
              <a:rPr lang="en-US" altLang="en-US" sz="2400" b="0" dirty="0">
                <a:solidFill>
                  <a:schemeClr val="accent4"/>
                </a:solidFill>
                <a:latin typeface="Arial" panose="020B0604020202020204"/>
              </a:rPr>
              <a:t>/FU</a:t>
            </a:r>
            <a:r>
              <a:rPr lang="en-US" altLang="en-US" sz="2400" b="0" dirty="0">
                <a:solidFill>
                  <a:srgbClr val="00274C"/>
                </a:solidFill>
                <a:latin typeface="Arial" panose="020B0604020202020204"/>
              </a:rPr>
              <a:t>)</a:t>
            </a:r>
            <a:endParaRPr lang="en-US" altLang="en-US" sz="2400" b="0" dirty="0">
              <a:solidFill>
                <a:schemeClr val="tx2"/>
              </a:solidFill>
            </a:endParaRPr>
          </a:p>
          <a:p>
            <a:pPr marL="0" indent="0">
              <a:spcBef>
                <a:spcPct val="0"/>
              </a:spcBef>
              <a:spcAft>
                <a:spcPts val="1600"/>
              </a:spcAft>
              <a:buClrTx/>
              <a:buNone/>
            </a:pPr>
            <a:r>
              <a:rPr lang="en-US" altLang="en-US" sz="2400" b="0" dirty="0">
                <a:solidFill>
                  <a:schemeClr val="tx2"/>
                </a:solidFill>
              </a:rPr>
              <a:t>Multiply this </a:t>
            </a:r>
            <a:r>
              <a:rPr lang="en-US" altLang="en-US" sz="2400" b="0" dirty="0">
                <a:solidFill>
                  <a:schemeClr val="accent4"/>
                </a:solidFill>
              </a:rPr>
              <a:t>amount of each UP per FU 			</a:t>
            </a:r>
            <a:r>
              <a:rPr lang="en-US" altLang="en-US" sz="2400" b="0" dirty="0">
                <a:solidFill>
                  <a:schemeClr val="tx2"/>
                </a:solidFill>
              </a:rPr>
              <a:t>(e.g. </a:t>
            </a:r>
            <a:r>
              <a:rPr lang="en-US" altLang="en-US" sz="2400" b="0" dirty="0" err="1">
                <a:solidFill>
                  <a:schemeClr val="accent4"/>
                </a:solidFill>
                <a:latin typeface="Arial" panose="020B0604020202020204"/>
              </a:rPr>
              <a:t>kg</a:t>
            </a:r>
            <a:r>
              <a:rPr lang="en-US" altLang="en-US" sz="2400" b="0" baseline="-25000" dirty="0" err="1">
                <a:solidFill>
                  <a:schemeClr val="accent4"/>
                </a:solidFill>
                <a:latin typeface="Arial" panose="020B0604020202020204"/>
              </a:rPr>
              <a:t>Al</a:t>
            </a:r>
            <a:r>
              <a:rPr lang="en-US" altLang="en-US" sz="2400" b="0" baseline="-25000" dirty="0">
                <a:solidFill>
                  <a:schemeClr val="accent4"/>
                </a:solidFill>
                <a:latin typeface="Arial" panose="020B0604020202020204"/>
              </a:rPr>
              <a:t> hydroxide</a:t>
            </a:r>
            <a:r>
              <a:rPr lang="en-US" altLang="en-US" sz="2400" b="0" dirty="0">
                <a:solidFill>
                  <a:schemeClr val="accent4"/>
                </a:solidFill>
              </a:rPr>
              <a:t>/FU</a:t>
            </a:r>
            <a:r>
              <a:rPr lang="en-US" altLang="en-US" sz="2400" b="0" dirty="0">
                <a:solidFill>
                  <a:schemeClr val="tx2"/>
                </a:solidFill>
              </a:rPr>
              <a:t>) </a:t>
            </a:r>
            <a:br>
              <a:rPr lang="en-US" altLang="en-US" sz="2400" b="0" dirty="0">
                <a:solidFill>
                  <a:schemeClr val="tx2"/>
                </a:solidFill>
              </a:rPr>
            </a:br>
            <a:r>
              <a:rPr lang="en-US" altLang="en-US" sz="2400" b="0" dirty="0">
                <a:solidFill>
                  <a:schemeClr val="tx2"/>
                </a:solidFill>
              </a:rPr>
              <a:t>by the </a:t>
            </a:r>
            <a:r>
              <a:rPr lang="en-US" altLang="en-US" sz="2400" b="0" dirty="0">
                <a:solidFill>
                  <a:schemeClr val="accent3"/>
                </a:solidFill>
              </a:rPr>
              <a:t>direct emission or extraction factors</a:t>
            </a:r>
            <a:r>
              <a:rPr lang="en-US" altLang="en-US" sz="2400" b="0" dirty="0">
                <a:solidFill>
                  <a:schemeClr val="tx2"/>
                </a:solidFill>
              </a:rPr>
              <a:t> </a:t>
            </a:r>
            <a:r>
              <a:rPr lang="en-US" altLang="en-US" sz="2400" b="0" dirty="0">
                <a:solidFill>
                  <a:schemeClr val="accent3"/>
                </a:solidFill>
              </a:rPr>
              <a:t>of this UP 	</a:t>
            </a:r>
            <a:r>
              <a:rPr lang="en-US" altLang="en-US" sz="2400" b="0" dirty="0">
                <a:solidFill>
                  <a:schemeClr val="tx2"/>
                </a:solidFill>
              </a:rPr>
              <a:t>(e.g. </a:t>
            </a:r>
            <a:r>
              <a:rPr lang="en-US" altLang="en-US" sz="2400" b="0" dirty="0" err="1">
                <a:solidFill>
                  <a:schemeClr val="accent3"/>
                </a:solidFill>
                <a:latin typeface="Arial" panose="020B0604020202020204"/>
              </a:rPr>
              <a:t>MJ</a:t>
            </a:r>
            <a:r>
              <a:rPr lang="en-US" altLang="en-US" sz="2400" b="0" baseline="-25000" dirty="0" err="1">
                <a:solidFill>
                  <a:schemeClr val="accent3"/>
                </a:solidFill>
                <a:latin typeface="Arial" panose="020B0604020202020204"/>
              </a:rPr>
              <a:t>heat</a:t>
            </a:r>
            <a:r>
              <a:rPr lang="en-US" altLang="en-US" sz="2400" b="0" baseline="-25000" dirty="0">
                <a:solidFill>
                  <a:schemeClr val="accent3"/>
                </a:solidFill>
                <a:latin typeface="Arial" panose="020B0604020202020204"/>
              </a:rPr>
              <a:t> waste</a:t>
            </a:r>
            <a:r>
              <a:rPr lang="en-US" altLang="en-US" sz="2400" b="0" dirty="0">
                <a:solidFill>
                  <a:schemeClr val="accent3"/>
                </a:solidFill>
                <a:latin typeface="Arial" panose="020B0604020202020204"/>
              </a:rPr>
              <a:t>/</a:t>
            </a:r>
            <a:r>
              <a:rPr lang="en-US" altLang="en-US" sz="2400" b="0" dirty="0" err="1">
                <a:solidFill>
                  <a:schemeClr val="accent3"/>
                </a:solidFill>
                <a:latin typeface="Arial" panose="020B0604020202020204"/>
              </a:rPr>
              <a:t>kg</a:t>
            </a:r>
            <a:r>
              <a:rPr lang="en-US" altLang="en-US" sz="2400" b="0" baseline="-25000" dirty="0" err="1">
                <a:solidFill>
                  <a:schemeClr val="accent3"/>
                </a:solidFill>
                <a:latin typeface="Arial" panose="020B0604020202020204"/>
              </a:rPr>
              <a:t>Al</a:t>
            </a:r>
            <a:r>
              <a:rPr lang="en-US" altLang="en-US" sz="2400" b="0" baseline="-25000" dirty="0">
                <a:solidFill>
                  <a:schemeClr val="accent3"/>
                </a:solidFill>
                <a:latin typeface="Arial" panose="020B0604020202020204"/>
              </a:rPr>
              <a:t> hydroxide</a:t>
            </a:r>
            <a:r>
              <a:rPr lang="en-US" altLang="en-US" sz="2400" b="0" dirty="0">
                <a:solidFill>
                  <a:srgbClr val="00274C"/>
                </a:solidFill>
                <a:latin typeface="Arial" panose="020B0604020202020204"/>
              </a:rPr>
              <a:t>)</a:t>
            </a:r>
            <a:br>
              <a:rPr lang="en-US" altLang="en-US" sz="2400" b="0" dirty="0">
                <a:solidFill>
                  <a:srgbClr val="00274C"/>
                </a:solidFill>
                <a:latin typeface="Arial" panose="020B0604020202020204"/>
              </a:rPr>
            </a:br>
            <a:r>
              <a:rPr lang="en-US" altLang="en-US" sz="2400" b="0" i="1" dirty="0">
                <a:solidFill>
                  <a:schemeClr val="accent6"/>
                </a:solidFill>
              </a:rPr>
              <a:t>to calculate the elementary flows of each UP per FU 	</a:t>
            </a:r>
            <a:r>
              <a:rPr lang="en-US" altLang="en-US" sz="2400" b="0" dirty="0">
                <a:solidFill>
                  <a:schemeClr val="tx2"/>
                </a:solidFill>
              </a:rPr>
              <a:t>(e.g. </a:t>
            </a:r>
            <a:r>
              <a:rPr lang="en-US" altLang="en-US" sz="2400" b="0" dirty="0" err="1">
                <a:solidFill>
                  <a:schemeClr val="accent3"/>
                </a:solidFill>
                <a:latin typeface="Arial" panose="020B0604020202020204"/>
              </a:rPr>
              <a:t>MJ</a:t>
            </a:r>
            <a:r>
              <a:rPr lang="en-US" altLang="en-US" sz="2400" b="0" baseline="-25000" dirty="0" err="1">
                <a:solidFill>
                  <a:schemeClr val="accent3"/>
                </a:solidFill>
                <a:latin typeface="Arial" panose="020B0604020202020204"/>
              </a:rPr>
              <a:t>heat</a:t>
            </a:r>
            <a:r>
              <a:rPr lang="en-US" altLang="en-US" sz="2400" b="0" baseline="-25000" dirty="0">
                <a:solidFill>
                  <a:schemeClr val="accent3"/>
                </a:solidFill>
                <a:latin typeface="Arial" panose="020B0604020202020204"/>
              </a:rPr>
              <a:t> waste</a:t>
            </a:r>
            <a:r>
              <a:rPr lang="en-US" altLang="en-US" sz="2400" b="0" dirty="0">
                <a:solidFill>
                  <a:schemeClr val="accent3"/>
                </a:solidFill>
                <a:latin typeface="Arial" panose="020B0604020202020204"/>
              </a:rPr>
              <a:t>/FU</a:t>
            </a:r>
            <a:r>
              <a:rPr lang="en-US" altLang="en-US" sz="2400" b="0" dirty="0">
                <a:solidFill>
                  <a:srgbClr val="00274C"/>
                </a:solidFill>
                <a:latin typeface="Arial" panose="020B0604020202020204"/>
              </a:rPr>
              <a:t>)</a:t>
            </a:r>
            <a:endParaRPr lang="en-US" altLang="en-US" sz="2400" b="0" dirty="0">
              <a:solidFill>
                <a:schemeClr val="tx2"/>
              </a:solidFill>
            </a:endParaRPr>
          </a:p>
          <a:p>
            <a:pPr marL="0" indent="0">
              <a:spcBef>
                <a:spcPct val="0"/>
              </a:spcBef>
              <a:spcAft>
                <a:spcPts val="1600"/>
              </a:spcAft>
              <a:buClrTx/>
              <a:buNone/>
            </a:pPr>
            <a:r>
              <a:rPr lang="en-US" altLang="en-US" sz="2400" b="0" i="1" dirty="0">
                <a:solidFill>
                  <a:schemeClr val="accent6"/>
                </a:solidFill>
              </a:rPr>
              <a:t>Calculate the aggregated inventory flows of the total system per FU </a:t>
            </a:r>
            <a:br>
              <a:rPr lang="en-US" altLang="en-US" sz="2400" b="0" i="1" dirty="0">
                <a:solidFill>
                  <a:schemeClr val="accent6"/>
                </a:solidFill>
              </a:rPr>
            </a:br>
            <a:r>
              <a:rPr lang="en-US" altLang="en-US" sz="2400" b="0" dirty="0">
                <a:solidFill>
                  <a:schemeClr val="tx2"/>
                </a:solidFill>
              </a:rPr>
              <a:t>by summing up all corresponding elementary flows per FU of all UPs.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F4C85C-A7D7-C340-891B-43D37FD69E05}"/>
              </a:ext>
            </a:extLst>
          </p:cNvPr>
          <p:cNvSpPr/>
          <p:nvPr/>
        </p:nvSpPr>
        <p:spPr>
          <a:xfrm>
            <a:off x="984738" y="2211372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A92A5C-A173-3640-A4A7-960FB2EF3EBB}"/>
              </a:ext>
            </a:extLst>
          </p:cNvPr>
          <p:cNvSpPr/>
          <p:nvPr/>
        </p:nvSpPr>
        <p:spPr>
          <a:xfrm>
            <a:off x="984738" y="3528053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286FB70-54AD-7B4C-8B27-B18D59AD7D96}"/>
              </a:ext>
            </a:extLst>
          </p:cNvPr>
          <p:cNvSpPr/>
          <p:nvPr/>
        </p:nvSpPr>
        <p:spPr>
          <a:xfrm>
            <a:off x="984738" y="4800050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991E85-73FD-134B-9322-077E01D16916}"/>
              </a:ext>
            </a:extLst>
          </p:cNvPr>
          <p:cNvSpPr/>
          <p:nvPr/>
        </p:nvSpPr>
        <p:spPr>
          <a:xfrm>
            <a:off x="984738" y="5989985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4</a:t>
            </a:r>
          </a:p>
        </p:txBody>
      </p:sp>
      <p:sp>
        <p:nvSpPr>
          <p:cNvPr id="32" name="Text Box 41">
            <a:extLst>
              <a:ext uri="{FF2B5EF4-FFF2-40B4-BE49-F238E27FC236}">
                <a16:creationId xmlns:a16="http://schemas.microsoft.com/office/drawing/2014/main" id="{E411E7CA-F40F-8940-A7B9-C54F2857D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1630" y="1672542"/>
            <a:ext cx="1346747" cy="984885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Aluminum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liquid</a:t>
            </a: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0" dirty="0">
                <a:solidFill>
                  <a:schemeClr val="tx2"/>
                </a:solidFill>
                <a:cs typeface="Arial" panose="020B0604020202020204" pitchFamily="34" charset="0"/>
              </a:rPr>
              <a:t>1 kg</a:t>
            </a:r>
          </a:p>
        </p:txBody>
      </p:sp>
      <p:sp>
        <p:nvSpPr>
          <p:cNvPr id="33" name="Text Box 56">
            <a:extLst>
              <a:ext uri="{FF2B5EF4-FFF2-40B4-BE49-F238E27FC236}">
                <a16:creationId xmlns:a16="http://schemas.microsoft.com/office/drawing/2014/main" id="{6F2420BE-001F-CF4D-82A3-83D7459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4329" y="2633981"/>
            <a:ext cx="15511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Heat waste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MJ/</a:t>
            </a:r>
            <a:r>
              <a:rPr lang="en-US" altLang="fr-FR" sz="1600" b="0" dirty="0" err="1">
                <a:solidFill>
                  <a:schemeClr val="accent3"/>
                </a:solidFill>
                <a:cs typeface="Arial" panose="020B0604020202020204" pitchFamily="34" charset="0"/>
              </a:rPr>
              <a:t>kg</a:t>
            </a:r>
            <a:r>
              <a:rPr lang="en-US" altLang="fr-FR" sz="1600" b="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Al</a:t>
            </a:r>
            <a:r>
              <a:rPr lang="en-US" altLang="fr-FR" sz="1600" b="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liquid</a:t>
            </a:r>
            <a:endParaRPr lang="en-US" altLang="fr-FR" sz="1600" b="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34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22215" y="2657427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Text Box 41">
            <a:extLst>
              <a:ext uri="{FF2B5EF4-FFF2-40B4-BE49-F238E27FC236}">
                <a16:creationId xmlns:a16="http://schemas.microsoft.com/office/drawing/2014/main" id="{E411E7CA-F40F-8940-A7B9-C54F2857D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1630" y="3527598"/>
            <a:ext cx="1346747" cy="984885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Aluminum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hydroxide</a:t>
            </a: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0" dirty="0">
                <a:solidFill>
                  <a:schemeClr val="accent4"/>
                </a:solidFill>
                <a:cs typeface="Arial" panose="020B0604020202020204" pitchFamily="34" charset="0"/>
              </a:rPr>
              <a:t>2.96 kg/FU</a:t>
            </a:r>
          </a:p>
        </p:txBody>
      </p:sp>
      <p:sp>
        <p:nvSpPr>
          <p:cNvPr id="36" name="Text Box 56">
            <a:extLst>
              <a:ext uri="{FF2B5EF4-FFF2-40B4-BE49-F238E27FC236}">
                <a16:creationId xmlns:a16="http://schemas.microsoft.com/office/drawing/2014/main" id="{6F2420BE-001F-CF4D-82A3-83D7459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15288" y="4503842"/>
            <a:ext cx="142927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ClrTx/>
              <a:buFontTx/>
              <a:buNone/>
              <a:defRPr sz="1600" b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fr-FR" dirty="0"/>
              <a:t>Heat waste</a:t>
            </a:r>
            <a:br>
              <a:rPr lang="en-US" altLang="fr-FR" dirty="0"/>
            </a:br>
            <a:r>
              <a:rPr lang="en-US" altLang="fr-FR" dirty="0"/>
              <a:t>Al hydroxide</a:t>
            </a:r>
          </a:p>
          <a:p>
            <a:r>
              <a:rPr lang="en-US" altLang="fr-FR" dirty="0"/>
              <a:t>MJ/FU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56">
                <a:extLst>
                  <a:ext uri="{FF2B5EF4-FFF2-40B4-BE49-F238E27FC236}">
                    <a16:creationId xmlns:a16="http://schemas.microsoft.com/office/drawing/2014/main" id="{6F2420BE-001F-CF4D-82A3-83D7459DCB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15290" y="6367140"/>
                <a:ext cx="1429280" cy="9363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9900"/>
                  </a:buClr>
                  <a:buChar char="•"/>
                  <a:defRPr sz="32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9900"/>
                  </a:buClr>
                  <a:buChar char="–"/>
                  <a:defRPr sz="28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9900"/>
                  </a:buClr>
                  <a:buChar char="•"/>
                  <a:defRPr sz="24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Char char="–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fr-FR" sz="1600" b="0" dirty="0">
                    <a:solidFill>
                      <a:schemeClr val="accent3"/>
                    </a:solidFill>
                    <a:cs typeface="Arial" panose="020B0604020202020204" pitchFamily="34" charset="0"/>
                  </a:rPr>
                  <a:t>Heat waste</a:t>
                </a:r>
              </a:p>
              <a:p>
                <a:pPr>
                  <a:spcBef>
                    <a:spcPct val="0"/>
                  </a:spcBef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fr-F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fr-F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  <m:r>
                            <a:rPr lang="en-US" altLang="fr-F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𝑙𝑙</m:t>
                          </m:r>
                          <m:r>
                            <a:rPr lang="en-US" altLang="fr-F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altLang="fr-FR" sz="16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𝑈𝑃𝑠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fr-FR" sz="1600" b="0" dirty="0">
                              <a:solidFill>
                                <a:schemeClr val="accent3"/>
                              </a:solidFill>
                              <a:cs typeface="Arial" panose="020B0604020202020204" pitchFamily="34" charset="0"/>
                            </a:rPr>
                            <m:t>MJ</m:t>
                          </m:r>
                          <m:r>
                            <m:rPr>
                              <m:nor/>
                            </m:rPr>
                            <a:rPr lang="en-US" altLang="fr-FR" sz="1600" b="0" dirty="0">
                              <a:solidFill>
                                <a:schemeClr val="accent3"/>
                              </a:solidFill>
                              <a:cs typeface="Arial" panose="020B0604020202020204" pitchFamily="34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altLang="fr-FR" sz="1600" b="0" dirty="0">
                              <a:solidFill>
                                <a:schemeClr val="accent3"/>
                              </a:solidFill>
                              <a:cs typeface="Arial" panose="020B0604020202020204" pitchFamily="34" charset="0"/>
                            </a:rPr>
                            <m:t>FU</m:t>
                          </m:r>
                          <m:r>
                            <m:rPr>
                              <m:nor/>
                            </m:rPr>
                            <a:rPr lang="en-US" altLang="fr-FR" sz="1600" b="0" dirty="0">
                              <a:solidFill>
                                <a:schemeClr val="accent3"/>
                              </a:solidFill>
                              <a:cs typeface="Arial" panose="020B0604020202020204" pitchFamily="34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fr-FR" sz="1600" b="0" dirty="0">
                  <a:solidFill>
                    <a:schemeClr val="accent3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ext Box 56">
                <a:extLst>
                  <a:ext uri="{FF2B5EF4-FFF2-40B4-BE49-F238E27FC236}">
                    <a16:creationId xmlns:a16="http://schemas.microsoft.com/office/drawing/2014/main" id="{6F2420BE-001F-CF4D-82A3-83D7459DC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15290" y="6367140"/>
                <a:ext cx="1429280" cy="936347"/>
              </a:xfrm>
              <a:prstGeom prst="rect">
                <a:avLst/>
              </a:prstGeom>
              <a:blipFill>
                <a:blip r:embed="rId3"/>
                <a:stretch>
                  <a:fillRect l="-38053" t="-64000" b="-126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13469814" y="6028994"/>
            <a:ext cx="1969477" cy="0"/>
          </a:xfrm>
          <a:prstGeom prst="line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 Box 56">
            <a:extLst>
              <a:ext uri="{FF2B5EF4-FFF2-40B4-BE49-F238E27FC236}">
                <a16:creationId xmlns:a16="http://schemas.microsoft.com/office/drawing/2014/main" id="{6F2420BE-001F-CF4D-82A3-83D7459DCB5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13462258" y="5859064"/>
            <a:ext cx="14292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2800" dirty="0">
                <a:solidFill>
                  <a:schemeClr val="accent3"/>
                </a:solidFill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22216" y="4451056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6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Box 41">
            <a:extLst>
              <a:ext uri="{FF2B5EF4-FFF2-40B4-BE49-F238E27FC236}">
                <a16:creationId xmlns:a16="http://schemas.microsoft.com/office/drawing/2014/main" id="{D76F93DF-8CC6-4D46-BA34-FA8EC66BB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5831" y="2711947"/>
            <a:ext cx="1768475" cy="3816429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Aluminum,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primary,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liquid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cs typeface="Arial" panose="020B0604020202020204" pitchFamily="34" charset="0"/>
              </a:rPr>
              <a:t>1 kg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Line 44">
            <a:extLst>
              <a:ext uri="{FF2B5EF4-FFF2-40B4-BE49-F238E27FC236}">
                <a16:creationId xmlns:a16="http://schemas.microsoft.com/office/drawing/2014/main" id="{1240636C-3836-0D48-9485-BD2FAF270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2605" y="5962294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Text Box 49">
            <a:extLst>
              <a:ext uri="{FF2B5EF4-FFF2-40B4-BE49-F238E27FC236}">
                <a16:creationId xmlns:a16="http://schemas.microsoft.com/office/drawing/2014/main" id="{A8979B12-6D0C-804B-B1C9-A0D3EBAEF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820" y="5778144"/>
            <a:ext cx="42621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>
                <a:solidFill>
                  <a:schemeClr val="accent4"/>
                </a:solidFill>
                <a:cs typeface="Arial" panose="020B0604020202020204" pitchFamily="34" charset="0"/>
              </a:rPr>
              <a:t>Transport, transoceanic freight ship 3.8 tkm</a:t>
            </a:r>
          </a:p>
        </p:txBody>
      </p:sp>
      <p:sp>
        <p:nvSpPr>
          <p:cNvPr id="61" name="Line 53">
            <a:extLst>
              <a:ext uri="{FF2B5EF4-FFF2-40B4-BE49-F238E27FC236}">
                <a16:creationId xmlns:a16="http://schemas.microsoft.com/office/drawing/2014/main" id="{0CE8D49C-BC5F-2B43-8007-E68F3CAE0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7170" y="6001081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Text Box 54">
            <a:extLst>
              <a:ext uri="{FF2B5EF4-FFF2-40B4-BE49-F238E27FC236}">
                <a16:creationId xmlns:a16="http://schemas.microsoft.com/office/drawing/2014/main" id="{0AE8D16A-7403-0445-80D6-488A0F941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5816121"/>
            <a:ext cx="44232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4"/>
                </a:solidFill>
                <a:cs typeface="Arial" panose="020B0604020202020204" pitchFamily="34" charset="0"/>
              </a:rPr>
              <a:t>Disposal, filter dust Al electrolysis 2.00 g</a:t>
            </a:r>
          </a:p>
        </p:txBody>
      </p:sp>
      <p:sp>
        <p:nvSpPr>
          <p:cNvPr id="63" name="Line 56">
            <a:extLst>
              <a:ext uri="{FF2B5EF4-FFF2-40B4-BE49-F238E27FC236}">
                <a16:creationId xmlns:a16="http://schemas.microsoft.com/office/drawing/2014/main" id="{A5D841A7-0507-8040-8D2A-3A1E8A64EF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2605" y="5097966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Line 57">
            <a:extLst>
              <a:ext uri="{FF2B5EF4-FFF2-40B4-BE49-F238E27FC236}">
                <a16:creationId xmlns:a16="http://schemas.microsoft.com/office/drawing/2014/main" id="{1F042636-8E59-7B40-8DFF-0AFEE15E7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2605" y="4653462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58">
            <a:extLst>
              <a:ext uri="{FF2B5EF4-FFF2-40B4-BE49-F238E27FC236}">
                <a16:creationId xmlns:a16="http://schemas.microsoft.com/office/drawing/2014/main" id="{32574DE0-D0E8-7E4E-9F40-A897A516C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2605" y="5501192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Text Box 59">
            <a:extLst>
              <a:ext uri="{FF2B5EF4-FFF2-40B4-BE49-F238E27FC236}">
                <a16:creationId xmlns:a16="http://schemas.microsoft.com/office/drawing/2014/main" id="{05C2D11E-5772-7C4C-BC75-6BCFAC88D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842" y="4465847"/>
            <a:ext cx="4516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>
                <a:solidFill>
                  <a:schemeClr val="accent4"/>
                </a:solidFill>
                <a:cs typeface="Arial" panose="020B0604020202020204" pitchFamily="34" charset="0"/>
              </a:rPr>
              <a:t>Electricity mix, aluminum industry 15.9 kWh</a:t>
            </a:r>
          </a:p>
        </p:txBody>
      </p:sp>
      <p:sp>
        <p:nvSpPr>
          <p:cNvPr id="67" name="Text Box 60">
            <a:extLst>
              <a:ext uri="{FF2B5EF4-FFF2-40B4-BE49-F238E27FC236}">
                <a16:creationId xmlns:a16="http://schemas.microsoft.com/office/drawing/2014/main" id="{DC3CDEA6-C27D-FB41-A225-A24989FCB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954" y="4903279"/>
            <a:ext cx="30620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>
                <a:solidFill>
                  <a:schemeClr val="accent4"/>
                </a:solidFill>
                <a:cs typeface="Arial" panose="020B0604020202020204" pitchFamily="34" charset="0"/>
              </a:rPr>
              <a:t>Heat, light fuel oil 0.089 MJ</a:t>
            </a:r>
            <a:endParaRPr lang="en-US" altLang="en-US" sz="1600" b="0" baseline="3000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sp>
        <p:nvSpPr>
          <p:cNvPr id="68" name="Text Box 61">
            <a:extLst>
              <a:ext uri="{FF2B5EF4-FFF2-40B4-BE49-F238E27FC236}">
                <a16:creationId xmlns:a16="http://schemas.microsoft.com/office/drawing/2014/main" id="{2F45264F-CCE3-3643-8AB5-C3D73EB6E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83" y="5340711"/>
            <a:ext cx="291001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>
                <a:solidFill>
                  <a:schemeClr val="accent4"/>
                </a:solidFill>
                <a:cs typeface="Arial" panose="020B0604020202020204" pitchFamily="34" charset="0"/>
              </a:rPr>
              <a:t>Heat, natural gas 0.084 MJ </a:t>
            </a:r>
          </a:p>
        </p:txBody>
      </p:sp>
      <p:sp>
        <p:nvSpPr>
          <p:cNvPr id="69" name="Line 57">
            <a:extLst>
              <a:ext uri="{FF2B5EF4-FFF2-40B4-BE49-F238E27FC236}">
                <a16:creationId xmlns:a16="http://schemas.microsoft.com/office/drawing/2014/main" id="{5DC876CF-AFD6-364C-9D9D-FB3DC6E3C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6892" y="4194672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Text Box 59">
            <a:extLst>
              <a:ext uri="{FF2B5EF4-FFF2-40B4-BE49-F238E27FC236}">
                <a16:creationId xmlns:a16="http://schemas.microsoft.com/office/drawing/2014/main" id="{07271ADC-6342-804C-A625-679141979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0376" y="4028415"/>
            <a:ext cx="40046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>
                <a:solidFill>
                  <a:schemeClr val="accent4"/>
                </a:solidFill>
                <a:cs typeface="Arial" panose="020B0604020202020204" pitchFamily="34" charset="0"/>
              </a:rPr>
              <a:t>Aluminum electrolysis plant 1.54·10</a:t>
            </a:r>
            <a:r>
              <a:rPr lang="en-US" altLang="en-US" sz="1600" b="0" baseline="30000">
                <a:solidFill>
                  <a:schemeClr val="accent4"/>
                </a:solidFill>
                <a:cs typeface="Arial" panose="020B0604020202020204" pitchFamily="34" charset="0"/>
              </a:rPr>
              <a:t>-10</a:t>
            </a:r>
            <a:r>
              <a:rPr lang="en-US" altLang="en-US" sz="1600" b="0">
                <a:solidFill>
                  <a:schemeClr val="accent4"/>
                </a:solidFill>
                <a:cs typeface="Arial" panose="020B0604020202020204" pitchFamily="34" charset="0"/>
              </a:rPr>
              <a:t> p</a:t>
            </a:r>
          </a:p>
        </p:txBody>
      </p:sp>
      <p:sp>
        <p:nvSpPr>
          <p:cNvPr id="71" name="Line 57">
            <a:extLst>
              <a:ext uri="{FF2B5EF4-FFF2-40B4-BE49-F238E27FC236}">
                <a16:creationId xmlns:a16="http://schemas.microsoft.com/office/drawing/2014/main" id="{84E79A8E-3754-094E-A7CA-B58BD5C36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2605" y="2932019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2" name="Text Box 59">
            <a:extLst>
              <a:ext uri="{FF2B5EF4-FFF2-40B4-BE49-F238E27FC236}">
                <a16:creationId xmlns:a16="http://schemas.microsoft.com/office/drawing/2014/main" id="{770862D3-703E-9046-9594-3DB81A3D7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4571" y="2716119"/>
            <a:ext cx="27204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4"/>
                </a:solidFill>
                <a:cs typeface="Arial" panose="020B0604020202020204" pitchFamily="34" charset="0"/>
              </a:rPr>
              <a:t>Aluminum oxide 1.93 kg</a:t>
            </a:r>
          </a:p>
        </p:txBody>
      </p:sp>
      <p:sp>
        <p:nvSpPr>
          <p:cNvPr id="73" name="Line 57">
            <a:extLst>
              <a:ext uri="{FF2B5EF4-FFF2-40B4-BE49-F238E27FC236}">
                <a16:creationId xmlns:a16="http://schemas.microsoft.com/office/drawing/2014/main" id="{477D896C-FDF2-5947-BA2F-C50872209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2605" y="3362820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Text Box 59">
            <a:extLst>
              <a:ext uri="{FF2B5EF4-FFF2-40B4-BE49-F238E27FC236}">
                <a16:creationId xmlns:a16="http://schemas.microsoft.com/office/drawing/2014/main" id="{52BD0183-F6FB-E740-92A3-ECB1C28B9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689" y="3153551"/>
            <a:ext cx="38973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>
                <a:solidFill>
                  <a:schemeClr val="accent4"/>
                </a:solidFill>
                <a:cs typeface="Arial" panose="020B0604020202020204" pitchFamily="34" charset="0"/>
              </a:rPr>
              <a:t>Anode, aluminum electrolysis 0.448 kg</a:t>
            </a:r>
          </a:p>
        </p:txBody>
      </p:sp>
      <p:sp>
        <p:nvSpPr>
          <p:cNvPr id="75" name="Line 57">
            <a:extLst>
              <a:ext uri="{FF2B5EF4-FFF2-40B4-BE49-F238E27FC236}">
                <a16:creationId xmlns:a16="http://schemas.microsoft.com/office/drawing/2014/main" id="{2CBC19DF-C33B-4142-A0FE-D0A224656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0067" y="3796208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Text Box 59">
            <a:extLst>
              <a:ext uri="{FF2B5EF4-FFF2-40B4-BE49-F238E27FC236}">
                <a16:creationId xmlns:a16="http://schemas.microsoft.com/office/drawing/2014/main" id="{8858A01F-6E9B-0F4D-A49B-558669C25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014" y="3590983"/>
            <a:ext cx="42299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>
                <a:solidFill>
                  <a:schemeClr val="accent4"/>
                </a:solidFill>
                <a:cs typeface="Arial" panose="020B0604020202020204" pitchFamily="34" charset="0"/>
              </a:rPr>
              <a:t>Cathode, aluminum electrolysis 0.0181 kg</a:t>
            </a:r>
          </a:p>
        </p:txBody>
      </p:sp>
      <p:sp>
        <p:nvSpPr>
          <p:cNvPr id="77" name="Line 53">
            <a:extLst>
              <a:ext uri="{FF2B5EF4-FFF2-40B4-BE49-F238E27FC236}">
                <a16:creationId xmlns:a16="http://schemas.microsoft.com/office/drawing/2014/main" id="{92FB7F09-74FC-874A-801D-3EEFBAC368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8282" y="6344419"/>
            <a:ext cx="3810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Text Box 54">
            <a:extLst>
              <a:ext uri="{FF2B5EF4-FFF2-40B4-BE49-F238E27FC236}">
                <a16:creationId xmlns:a16="http://schemas.microsoft.com/office/drawing/2014/main" id="{C397A5D2-D42E-FC42-A046-E67EF24C1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6146323"/>
            <a:ext cx="46039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4"/>
                </a:solidFill>
                <a:cs typeface="Arial" panose="020B0604020202020204" pitchFamily="34" charset="0"/>
              </a:rPr>
              <a:t>Disposal, </a:t>
            </a:r>
            <a:r>
              <a:rPr lang="en-US" altLang="en-US" sz="1600" b="0" dirty="0" err="1">
                <a:solidFill>
                  <a:schemeClr val="accent4"/>
                </a:solidFill>
                <a:cs typeface="Arial" panose="020B0604020202020204" pitchFamily="34" charset="0"/>
              </a:rPr>
              <a:t>redmud</a:t>
            </a:r>
            <a:r>
              <a:rPr lang="en-US" altLang="en-US" sz="1600" b="0" dirty="0">
                <a:solidFill>
                  <a:schemeClr val="accent4"/>
                </a:solidFill>
                <a:cs typeface="Arial" panose="020B0604020202020204" pitchFamily="34" charset="0"/>
              </a:rPr>
              <a:t> from bauxite digestion 1.36</a:t>
            </a:r>
            <a:r>
              <a:rPr lang="en-US" altLang="en-US" sz="160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lang="en-US" altLang="en-US" sz="1600" b="0" dirty="0">
                <a:solidFill>
                  <a:schemeClr val="accent4"/>
                </a:solidFill>
                <a:cs typeface="Arial" panose="020B0604020202020204" pitchFamily="34" charset="0"/>
              </a:rPr>
              <a:t>kg</a:t>
            </a:r>
          </a:p>
        </p:txBody>
      </p:sp>
      <p:sp>
        <p:nvSpPr>
          <p:cNvPr id="79" name="Line 56">
            <a:extLst>
              <a:ext uri="{FF2B5EF4-FFF2-40B4-BE49-F238E27FC236}">
                <a16:creationId xmlns:a16="http://schemas.microsoft.com/office/drawing/2014/main" id="{183CD716-3071-7640-8A65-D99D01AE1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8282" y="5563954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Line 57">
            <a:extLst>
              <a:ext uri="{FF2B5EF4-FFF2-40B4-BE49-F238E27FC236}">
                <a16:creationId xmlns:a16="http://schemas.microsoft.com/office/drawing/2014/main" id="{546F0D97-D6FA-3549-A13D-86C335689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4632" y="4120244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Line 57">
            <a:extLst>
              <a:ext uri="{FF2B5EF4-FFF2-40B4-BE49-F238E27FC236}">
                <a16:creationId xmlns:a16="http://schemas.microsoft.com/office/drawing/2014/main" id="{6F162569-8F9E-1B4B-B59C-944D9AE6C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4632" y="3776901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Line 57">
            <a:extLst>
              <a:ext uri="{FF2B5EF4-FFF2-40B4-BE49-F238E27FC236}">
                <a16:creationId xmlns:a16="http://schemas.microsoft.com/office/drawing/2014/main" id="{8C70ACD8-3B02-0841-8021-78DCE60E5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8282" y="2746872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Line 57">
            <a:extLst>
              <a:ext uri="{FF2B5EF4-FFF2-40B4-BE49-F238E27FC236}">
                <a16:creationId xmlns:a16="http://schemas.microsoft.com/office/drawing/2014/main" id="{5DCFABE1-2335-1647-8A20-6B50DA0D8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8282" y="3090215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" name="Line 57">
            <a:extLst>
              <a:ext uri="{FF2B5EF4-FFF2-40B4-BE49-F238E27FC236}">
                <a16:creationId xmlns:a16="http://schemas.microsoft.com/office/drawing/2014/main" id="{31A6121F-2A4C-F44C-9509-744DBCE7B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3995" y="3433558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Text Box 59">
            <a:extLst>
              <a:ext uri="{FF2B5EF4-FFF2-40B4-BE49-F238E27FC236}">
                <a16:creationId xmlns:a16="http://schemas.microsoft.com/office/drawing/2014/main" id="{94CF7025-2866-2A41-9F02-A2F1C94BB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3937732"/>
            <a:ext cx="32378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Nitrogen oxides 63.9 mg</a:t>
            </a:r>
          </a:p>
        </p:txBody>
      </p:sp>
      <p:sp>
        <p:nvSpPr>
          <p:cNvPr id="86" name="Text Box 60">
            <a:extLst>
              <a:ext uri="{FF2B5EF4-FFF2-40B4-BE49-F238E27FC236}">
                <a16:creationId xmlns:a16="http://schemas.microsoft.com/office/drawing/2014/main" id="{DE60D6A5-2E7D-1047-A2F4-B6F4DF3D5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5294754"/>
            <a:ext cx="46039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3"/>
                </a:solidFill>
                <a:cs typeface="Arial" panose="020B0604020202020204" pitchFamily="34" charset="0"/>
              </a:rPr>
              <a:t>Heat, waste 56.0 MJ</a:t>
            </a:r>
            <a:r>
              <a:rPr lang="en-US" altLang="fr-FR" sz="24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/</a:t>
            </a:r>
            <a:r>
              <a:rPr lang="en-US" altLang="en-US" sz="2400" b="0" dirty="0">
                <a:solidFill>
                  <a:srgbClr val="ADA400"/>
                </a:solidFill>
                <a:latin typeface="Arial" panose="020B0604020202020204"/>
              </a:rPr>
              <a:t>kg Al</a:t>
            </a:r>
            <a:r>
              <a:rPr lang="en-US" altLang="en-US" sz="2400" b="0" baseline="-25000" dirty="0">
                <a:solidFill>
                  <a:srgbClr val="ADA400"/>
                </a:solidFill>
                <a:latin typeface="Arial" panose="020B0604020202020204"/>
              </a:rPr>
              <a:t> primary liquid</a:t>
            </a:r>
            <a:endParaRPr lang="en-US" altLang="en-US" sz="20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87" name="Text Box 59">
            <a:extLst>
              <a:ext uri="{FF2B5EF4-FFF2-40B4-BE49-F238E27FC236}">
                <a16:creationId xmlns:a16="http://schemas.microsoft.com/office/drawing/2014/main" id="{2DBF6F29-190B-8242-8C5D-58041B6CB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3607624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Hydrogen fluoride 539 mg</a:t>
            </a:r>
          </a:p>
        </p:txBody>
      </p:sp>
      <p:sp>
        <p:nvSpPr>
          <p:cNvPr id="88" name="Text Box 59">
            <a:extLst>
              <a:ext uri="{FF2B5EF4-FFF2-40B4-BE49-F238E27FC236}">
                <a16:creationId xmlns:a16="http://schemas.microsoft.com/office/drawing/2014/main" id="{E119E902-202D-0C41-9D58-5CD3473F1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2559548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>
                <a:solidFill>
                  <a:schemeClr val="accent3"/>
                </a:solidFill>
                <a:cs typeface="Arial" panose="020B0604020202020204" pitchFamily="34" charset="0"/>
              </a:rPr>
              <a:t>Benzo(a)pyrene 1.30 mg</a:t>
            </a:r>
          </a:p>
        </p:txBody>
      </p:sp>
      <p:sp>
        <p:nvSpPr>
          <p:cNvPr id="89" name="Text Box 59">
            <a:extLst>
              <a:ext uri="{FF2B5EF4-FFF2-40B4-BE49-F238E27FC236}">
                <a16:creationId xmlns:a16="http://schemas.microsoft.com/office/drawing/2014/main" id="{C252F124-0FD7-0540-B4D3-42609C95D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2900092"/>
            <a:ext cx="34895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Carbon dioxide, fossil 1.50 kg</a:t>
            </a:r>
          </a:p>
        </p:txBody>
      </p:sp>
      <p:sp>
        <p:nvSpPr>
          <p:cNvPr id="90" name="Text Box 59">
            <a:extLst>
              <a:ext uri="{FF2B5EF4-FFF2-40B4-BE49-F238E27FC236}">
                <a16:creationId xmlns:a16="http://schemas.microsoft.com/office/drawing/2014/main" id="{A2F4F74B-CE8C-F647-A43B-527FF6384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3262794"/>
            <a:ext cx="4025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Carbon monoxide, biogenic 91.7 g</a:t>
            </a:r>
          </a:p>
        </p:txBody>
      </p:sp>
      <p:sp>
        <p:nvSpPr>
          <p:cNvPr id="91" name="Line 56">
            <a:extLst>
              <a:ext uri="{FF2B5EF4-FFF2-40B4-BE49-F238E27FC236}">
                <a16:creationId xmlns:a16="http://schemas.microsoft.com/office/drawing/2014/main" id="{D14EA144-57EC-7547-9E03-84907034E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8282" y="4463587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Text Box 60">
            <a:extLst>
              <a:ext uri="{FF2B5EF4-FFF2-40B4-BE49-F238E27FC236}">
                <a16:creationId xmlns:a16="http://schemas.microsoft.com/office/drawing/2014/main" id="{5366A996-B41D-B344-BFF5-B4089D64D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4279400"/>
            <a:ext cx="17447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PAH 45.7 mg</a:t>
            </a:r>
            <a:endParaRPr lang="en-US" altLang="en-US" sz="16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93" name="Line 56">
            <a:extLst>
              <a:ext uri="{FF2B5EF4-FFF2-40B4-BE49-F238E27FC236}">
                <a16:creationId xmlns:a16="http://schemas.microsoft.com/office/drawing/2014/main" id="{9C1F042C-6269-CB4C-8598-39E839744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2570" y="4806930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Text Box 60">
            <a:extLst>
              <a:ext uri="{FF2B5EF4-FFF2-40B4-BE49-F238E27FC236}">
                <a16:creationId xmlns:a16="http://schemas.microsoft.com/office/drawing/2014/main" id="{C7E5C60E-5D84-554C-B05E-0E106DC03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4628733"/>
            <a:ext cx="32120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Particulates, &lt; 2.5 µm 2.61 g</a:t>
            </a:r>
            <a:endParaRPr lang="en-US" altLang="en-US" sz="16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95" name="Line 56">
            <a:extLst>
              <a:ext uri="{FF2B5EF4-FFF2-40B4-BE49-F238E27FC236}">
                <a16:creationId xmlns:a16="http://schemas.microsoft.com/office/drawing/2014/main" id="{C0164C4E-0B99-9547-AEB8-019B88F37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2570" y="5150273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" name="Text Box 60">
            <a:extLst>
              <a:ext uri="{FF2B5EF4-FFF2-40B4-BE49-F238E27FC236}">
                <a16:creationId xmlns:a16="http://schemas.microsoft.com/office/drawing/2014/main" id="{1673093E-651A-B848-8924-B43574E7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2547" y="4980446"/>
            <a:ext cx="24783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Sulfur dioxide 8.83 g</a:t>
            </a:r>
            <a:endParaRPr lang="en-US" altLang="en-US" sz="16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pic>
        <p:nvPicPr>
          <p:cNvPr id="97" name="Picture 48">
            <a:extLst>
              <a:ext uri="{FF2B5EF4-FFF2-40B4-BE49-F238E27FC236}">
                <a16:creationId xmlns:a16="http://schemas.microsoft.com/office/drawing/2014/main" id="{128BF9C4-B10C-2348-B130-C0C7CA7FE5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0781" y="4814591"/>
            <a:ext cx="1309687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37E5F3B4-E89A-C14B-8CF5-911DA5042D35}"/>
              </a:ext>
            </a:extLst>
          </p:cNvPr>
          <p:cNvSpPr/>
          <p:nvPr/>
        </p:nvSpPr>
        <p:spPr>
          <a:xfrm>
            <a:off x="9455304" y="5319000"/>
            <a:ext cx="4594466" cy="497121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4247" y="6707280"/>
            <a:ext cx="148681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>
                <a:solidFill>
                  <a:schemeClr val="tx2"/>
                </a:solidFill>
              </a:rPr>
              <a:t>But we also need to collect the </a:t>
            </a:r>
            <a:r>
              <a:rPr lang="en-US" altLang="en-US" sz="2800" dirty="0">
                <a:solidFill>
                  <a:schemeClr val="accent5"/>
                </a:solidFill>
              </a:rPr>
              <a:t>direct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emission or extraction factors from the unit 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processes in the entire supply chain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F2B8F9-A9E4-5C43-ABA4-BFB21E1AB11C}"/>
              </a:ext>
            </a:extLst>
          </p:cNvPr>
          <p:cNvSpPr/>
          <p:nvPr/>
        </p:nvSpPr>
        <p:spPr>
          <a:xfrm>
            <a:off x="944247" y="1402494"/>
            <a:ext cx="145751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>
                <a:solidFill>
                  <a:schemeClr val="tx2"/>
                </a:solidFill>
              </a:rPr>
              <a:t>These are the </a:t>
            </a:r>
            <a:r>
              <a:rPr lang="en-US" altLang="en-US" sz="2800" dirty="0">
                <a:solidFill>
                  <a:schemeClr val="accent5"/>
                </a:solidFill>
              </a:rPr>
              <a:t>direct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emission or extraction from the considered process,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i.e.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accent3"/>
                </a:solidFill>
              </a:rPr>
              <a:t>the direct elementary flows per unit of this UP</a:t>
            </a:r>
            <a:endParaRPr lang="en-US" sz="2800" dirty="0">
              <a:solidFill>
                <a:schemeClr val="accent3"/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17A-E2A6-0F41-AC74-D2DCCC25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3" y="272169"/>
            <a:ext cx="14911344" cy="870385"/>
          </a:xfrm>
        </p:spPr>
        <p:txBody>
          <a:bodyPr/>
          <a:lstStyle/>
          <a:p>
            <a:r>
              <a:rPr lang="en-US" altLang="en-US" sz="3800" dirty="0"/>
              <a:t>1. Find the emission and extraction factors: Aluminum primary liquid</a:t>
            </a:r>
            <a:endParaRPr lang="en-US" sz="3800" dirty="0"/>
          </a:p>
        </p:txBody>
      </p:sp>
      <p:pic>
        <p:nvPicPr>
          <p:cNvPr id="48" name="Picture 1">
            <a:extLst>
              <a:ext uri="{FF2B5EF4-FFF2-40B4-BE49-F238E27FC236}">
                <a16:creationId xmlns:a16="http://schemas.microsoft.com/office/drawing/2014/main" id="{B7320C39-7715-0D4C-89A9-CF638F099E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6910" y="1505414"/>
            <a:ext cx="735483" cy="504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4821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6749-8E30-E645-93C6-C20513A5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>
                <a:solidFill>
                  <a:schemeClr val="tx2"/>
                </a:solidFill>
              </a:rPr>
              <a:t>Design of process tree: Fill in each box with the process amount per FU</a:t>
            </a:r>
            <a:endParaRPr lang="en-US" sz="3400" dirty="0">
              <a:solidFill>
                <a:schemeClr val="tx2"/>
              </a:solidFill>
            </a:endParaRPr>
          </a:p>
        </p:txBody>
      </p:sp>
      <p:cxnSp>
        <p:nvCxnSpPr>
          <p:cNvPr id="91" name="Straight Connector 220">
            <a:extLst>
              <a:ext uri="{FF2B5EF4-FFF2-40B4-BE49-F238E27FC236}">
                <a16:creationId xmlns:a16="http://schemas.microsoft.com/office/drawing/2014/main" id="{ECE470E3-D25C-AE45-89FB-3AAB8133CAD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43784" y="4413789"/>
            <a:ext cx="0" cy="543396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3" name="Rectangle 19">
            <a:extLst>
              <a:ext uri="{FF2B5EF4-FFF2-40B4-BE49-F238E27FC236}">
                <a16:creationId xmlns:a16="http://schemas.microsoft.com/office/drawing/2014/main" id="{95801A3E-2BAC-2B4B-99A9-889BBBC2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282" y="3559052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oxide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1.93 kg</a:t>
            </a:r>
          </a:p>
        </p:txBody>
      </p:sp>
      <p:sp>
        <p:nvSpPr>
          <p:cNvPr id="94" name="Rectangle 19">
            <a:extLst>
              <a:ext uri="{FF2B5EF4-FFF2-40B4-BE49-F238E27FC236}">
                <a16:creationId xmlns:a16="http://schemas.microsoft.com/office/drawing/2014/main" id="{8FFDDB33-5239-AF40-BD72-A23B4D53C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019" y="3559052"/>
            <a:ext cx="18716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Anode, aluminum electrolysis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0.449 kg</a:t>
            </a:r>
          </a:p>
        </p:txBody>
      </p:sp>
      <p:sp>
        <p:nvSpPr>
          <p:cNvPr id="95" name="Rectangle 19">
            <a:extLst>
              <a:ext uri="{FF2B5EF4-FFF2-40B4-BE49-F238E27FC236}">
                <a16:creationId xmlns:a16="http://schemas.microsoft.com/office/drawing/2014/main" id="{C1BB0779-61F1-FC4F-88B8-6E2C7BD37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2370" y="3559052"/>
            <a:ext cx="2052637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Cathode, aluminum electrolysis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0.0181 kg</a:t>
            </a:r>
          </a:p>
        </p:txBody>
      </p:sp>
      <p:sp>
        <p:nvSpPr>
          <p:cNvPr id="96" name="Rectangle 19">
            <a:extLst>
              <a:ext uri="{FF2B5EF4-FFF2-40B4-BE49-F238E27FC236}">
                <a16:creationId xmlns:a16="http://schemas.microsoft.com/office/drawing/2014/main" id="{CCB90FA9-39EE-F04C-9A26-3C170275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269" y="6446715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Heat,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 fuel oil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14.9 MJ</a:t>
            </a:r>
          </a:p>
        </p:txBody>
      </p:sp>
      <p:sp>
        <p:nvSpPr>
          <p:cNvPr id="97" name="Rectangle 19">
            <a:extLst>
              <a:ext uri="{FF2B5EF4-FFF2-40B4-BE49-F238E27FC236}">
                <a16:creationId xmlns:a16="http://schemas.microsoft.com/office/drawing/2014/main" id="{3022CB08-C5CE-8E47-A457-A19301EA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6732" y="6446594"/>
            <a:ext cx="205841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Transport, transoceanic freight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34.1 </a:t>
            </a:r>
            <a:r>
              <a:rPr lang="en-US" sz="1600" kern="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tkm</a:t>
            </a:r>
            <a:endParaRPr lang="en-US" sz="1600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19">
            <a:extLst>
              <a:ext uri="{FF2B5EF4-FFF2-40B4-BE49-F238E27FC236}">
                <a16:creationId xmlns:a16="http://schemas.microsoft.com/office/drawing/2014/main" id="{438B3182-2539-D74D-B126-E193AD2E4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9614" y="3559052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mix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57.4 MJ</a:t>
            </a:r>
          </a:p>
        </p:txBody>
      </p:sp>
      <p:cxnSp>
        <p:nvCxnSpPr>
          <p:cNvPr id="99" name="Straight Connector 205">
            <a:extLst>
              <a:ext uri="{FF2B5EF4-FFF2-40B4-BE49-F238E27FC236}">
                <a16:creationId xmlns:a16="http://schemas.microsoft.com/office/drawing/2014/main" id="{06D69943-7789-0647-98A1-939020A875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209232" y="3133481"/>
            <a:ext cx="0" cy="433388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" name="Straight Connector 206">
            <a:extLst>
              <a:ext uri="{FF2B5EF4-FFF2-40B4-BE49-F238E27FC236}">
                <a16:creationId xmlns:a16="http://schemas.microsoft.com/office/drawing/2014/main" id="{2FEC53C3-F3D7-D94B-B82F-A8BD2573E4D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940694" y="3133481"/>
            <a:ext cx="2268538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Straight Arrow Connector 207">
            <a:extLst>
              <a:ext uri="{FF2B5EF4-FFF2-40B4-BE49-F238E27FC236}">
                <a16:creationId xmlns:a16="http://schemas.microsoft.com/office/drawing/2014/main" id="{20CA88C2-BC99-C249-B95F-C18CCD27CF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940694" y="2954094"/>
            <a:ext cx="0" cy="179387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2" name="Group 208">
            <a:extLst>
              <a:ext uri="{FF2B5EF4-FFF2-40B4-BE49-F238E27FC236}">
                <a16:creationId xmlns:a16="http://schemas.microsoft.com/office/drawing/2014/main" id="{34124118-570F-2741-8B19-AAB13495643F}"/>
              </a:ext>
            </a:extLst>
          </p:cNvPr>
          <p:cNvGrpSpPr>
            <a:grpSpLocks/>
          </p:cNvGrpSpPr>
          <p:nvPr/>
        </p:nvGrpSpPr>
        <p:grpSpPr bwMode="auto">
          <a:xfrm>
            <a:off x="11724794" y="2954094"/>
            <a:ext cx="576263" cy="611187"/>
            <a:chOff x="4860032" y="2097192"/>
            <a:chExt cx="972108" cy="611728"/>
          </a:xfrm>
        </p:grpSpPr>
        <p:cxnSp>
          <p:nvCxnSpPr>
            <p:cNvPr id="103" name="Straight Connector 209">
              <a:extLst>
                <a:ext uri="{FF2B5EF4-FFF2-40B4-BE49-F238E27FC236}">
                  <a16:creationId xmlns:a16="http://schemas.microsoft.com/office/drawing/2014/main" id="{11FC6F00-82EF-A349-9B37-7FBBABC909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Straight Connector 210">
              <a:extLst>
                <a:ext uri="{FF2B5EF4-FFF2-40B4-BE49-F238E27FC236}">
                  <a16:creationId xmlns:a16="http://schemas.microsoft.com/office/drawing/2014/main" id="{7EE9DB23-A6E1-1048-B930-BEB006679F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Straight Arrow Connector 211">
              <a:extLst>
                <a:ext uri="{FF2B5EF4-FFF2-40B4-BE49-F238E27FC236}">
                  <a16:creationId xmlns:a16="http://schemas.microsoft.com/office/drawing/2014/main" id="{029260E1-D65B-5A46-93F9-42BCD61036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6" name="Group 212">
            <a:extLst>
              <a:ext uri="{FF2B5EF4-FFF2-40B4-BE49-F238E27FC236}">
                <a16:creationId xmlns:a16="http://schemas.microsoft.com/office/drawing/2014/main" id="{3C167CEC-C2C0-3F45-9B2B-092E7E583B5D}"/>
              </a:ext>
            </a:extLst>
          </p:cNvPr>
          <p:cNvGrpSpPr>
            <a:grpSpLocks/>
          </p:cNvGrpSpPr>
          <p:nvPr/>
        </p:nvGrpSpPr>
        <p:grpSpPr bwMode="auto">
          <a:xfrm>
            <a:off x="7908444" y="2954094"/>
            <a:ext cx="2754313" cy="611187"/>
            <a:chOff x="971600" y="2097192"/>
            <a:chExt cx="2988332" cy="611728"/>
          </a:xfrm>
        </p:grpSpPr>
        <p:cxnSp>
          <p:nvCxnSpPr>
            <p:cNvPr id="107" name="Straight Connector 213">
              <a:extLst>
                <a:ext uri="{FF2B5EF4-FFF2-40B4-BE49-F238E27FC236}">
                  <a16:creationId xmlns:a16="http://schemas.microsoft.com/office/drawing/2014/main" id="{5A3C90F1-A690-B444-AFD4-E5F38D5DD3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71600" y="2276872"/>
              <a:ext cx="0" cy="43204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Straight Connector 214">
              <a:extLst>
                <a:ext uri="{FF2B5EF4-FFF2-40B4-BE49-F238E27FC236}">
                  <a16:creationId xmlns:a16="http://schemas.microsoft.com/office/drawing/2014/main" id="{97676850-8576-FC4F-96A4-2E718065E6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71600" y="2276872"/>
              <a:ext cx="2988332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Straight Arrow Connector 215">
              <a:extLst>
                <a:ext uri="{FF2B5EF4-FFF2-40B4-BE49-F238E27FC236}">
                  <a16:creationId xmlns:a16="http://schemas.microsoft.com/office/drawing/2014/main" id="{BC643587-F748-1C48-AEFC-31B4875384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59932" y="2097192"/>
              <a:ext cx="0" cy="17968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0" name="Group 216">
            <a:extLst>
              <a:ext uri="{FF2B5EF4-FFF2-40B4-BE49-F238E27FC236}">
                <a16:creationId xmlns:a16="http://schemas.microsoft.com/office/drawing/2014/main" id="{9F2CCBB5-75AA-E54F-AD93-E66FCA131CEC}"/>
              </a:ext>
            </a:extLst>
          </p:cNvPr>
          <p:cNvGrpSpPr>
            <a:grpSpLocks/>
          </p:cNvGrpSpPr>
          <p:nvPr/>
        </p:nvGrpSpPr>
        <p:grpSpPr bwMode="auto">
          <a:xfrm>
            <a:off x="10176982" y="2954094"/>
            <a:ext cx="647700" cy="611187"/>
            <a:chOff x="3311860" y="2096852"/>
            <a:chExt cx="972108" cy="612068"/>
          </a:xfrm>
        </p:grpSpPr>
        <p:cxnSp>
          <p:nvCxnSpPr>
            <p:cNvPr id="111" name="Straight Connector 217">
              <a:extLst>
                <a:ext uri="{FF2B5EF4-FFF2-40B4-BE49-F238E27FC236}">
                  <a16:creationId xmlns:a16="http://schemas.microsoft.com/office/drawing/2014/main" id="{370754BD-4B8B-F147-82B1-0F5C40741F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Straight Connector 218">
              <a:extLst>
                <a:ext uri="{FF2B5EF4-FFF2-40B4-BE49-F238E27FC236}">
                  <a16:creationId xmlns:a16="http://schemas.microsoft.com/office/drawing/2014/main" id="{A99B2FCC-4D4C-9E43-B170-BF64A40FF7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Straight Arrow Connector 219">
              <a:extLst>
                <a:ext uri="{FF2B5EF4-FFF2-40B4-BE49-F238E27FC236}">
                  <a16:creationId xmlns:a16="http://schemas.microsoft.com/office/drawing/2014/main" id="{F06F79AB-ECAC-6D46-A726-F28D02795A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245">
            <a:extLst>
              <a:ext uri="{FF2B5EF4-FFF2-40B4-BE49-F238E27FC236}">
                <a16:creationId xmlns:a16="http://schemas.microsoft.com/office/drawing/2014/main" id="{25293F2B-A6BE-0D43-86F6-9ECAB390F8BA}"/>
              </a:ext>
            </a:extLst>
          </p:cNvPr>
          <p:cNvGrpSpPr>
            <a:grpSpLocks/>
          </p:cNvGrpSpPr>
          <p:nvPr/>
        </p:nvGrpSpPr>
        <p:grpSpPr bwMode="auto">
          <a:xfrm>
            <a:off x="11248544" y="2954094"/>
            <a:ext cx="404813" cy="3492500"/>
            <a:chOff x="4860032" y="2097192"/>
            <a:chExt cx="972108" cy="611728"/>
          </a:xfrm>
        </p:grpSpPr>
        <p:cxnSp>
          <p:nvCxnSpPr>
            <p:cNvPr id="115" name="Straight Connector 246">
              <a:extLst>
                <a:ext uri="{FF2B5EF4-FFF2-40B4-BE49-F238E27FC236}">
                  <a16:creationId xmlns:a16="http://schemas.microsoft.com/office/drawing/2014/main" id="{DB7D1F3D-664B-1147-A081-D23246C244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Straight Connector 247">
              <a:extLst>
                <a:ext uri="{FF2B5EF4-FFF2-40B4-BE49-F238E27FC236}">
                  <a16:creationId xmlns:a16="http://schemas.microsoft.com/office/drawing/2014/main" id="{6CCFD916-9AFF-2B48-B3CE-3BB80BD5FE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Straight Arrow Connector 248">
              <a:extLst>
                <a:ext uri="{FF2B5EF4-FFF2-40B4-BE49-F238E27FC236}">
                  <a16:creationId xmlns:a16="http://schemas.microsoft.com/office/drawing/2014/main" id="{8E260161-858B-254F-AC8B-D0CA35FC35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8" name="Group 257">
            <a:extLst>
              <a:ext uri="{FF2B5EF4-FFF2-40B4-BE49-F238E27FC236}">
                <a16:creationId xmlns:a16="http://schemas.microsoft.com/office/drawing/2014/main" id="{A2A0490C-F5E8-C042-9BF0-4CAC2B974201}"/>
              </a:ext>
            </a:extLst>
          </p:cNvPr>
          <p:cNvGrpSpPr>
            <a:grpSpLocks/>
          </p:cNvGrpSpPr>
          <p:nvPr/>
        </p:nvGrpSpPr>
        <p:grpSpPr bwMode="auto">
          <a:xfrm>
            <a:off x="9853132" y="2954094"/>
            <a:ext cx="1260475" cy="3498850"/>
            <a:chOff x="3815916" y="2097193"/>
            <a:chExt cx="1260140" cy="3498194"/>
          </a:xfrm>
        </p:grpSpPr>
        <p:cxnSp>
          <p:nvCxnSpPr>
            <p:cNvPr id="119" name="Straight Connector 258">
              <a:extLst>
                <a:ext uri="{FF2B5EF4-FFF2-40B4-BE49-F238E27FC236}">
                  <a16:creationId xmlns:a16="http://schemas.microsoft.com/office/drawing/2014/main" id="{88B38334-B778-3444-93B1-68DBC779BD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15916" y="5409220"/>
              <a:ext cx="0" cy="186167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Straight Connector 259">
              <a:extLst>
                <a:ext uri="{FF2B5EF4-FFF2-40B4-BE49-F238E27FC236}">
                  <a16:creationId xmlns:a16="http://schemas.microsoft.com/office/drawing/2014/main" id="{543E06D0-248B-D44D-A9FC-DE0F49EB78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15916" y="5409220"/>
              <a:ext cx="126014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Straight Arrow Connector 260">
              <a:extLst>
                <a:ext uri="{FF2B5EF4-FFF2-40B4-BE49-F238E27FC236}">
                  <a16:creationId xmlns:a16="http://schemas.microsoft.com/office/drawing/2014/main" id="{D62A0FE2-A804-C044-BDAA-1A4390A436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2097193"/>
              <a:ext cx="0" cy="3312027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2" name="Rectangle 19">
            <a:extLst>
              <a:ext uri="{FF2B5EF4-FFF2-40B4-BE49-F238E27FC236}">
                <a16:creationId xmlns:a16="http://schemas.microsoft.com/office/drawing/2014/main" id="{DD357F4E-22D2-4646-BFA0-B45798534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329" y="2032629"/>
            <a:ext cx="2205678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Disposal, redmud from bauxite digestion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1.36 kg </a:t>
            </a:r>
          </a:p>
        </p:txBody>
      </p:sp>
      <p:sp>
        <p:nvSpPr>
          <p:cNvPr id="123" name="Rectangle 19">
            <a:extLst>
              <a:ext uri="{FF2B5EF4-FFF2-40B4-BE49-F238E27FC236}">
                <a16:creationId xmlns:a16="http://schemas.microsoft.com/office/drawing/2014/main" id="{C4002B92-6FA2-B049-BDC1-DB1F64F6E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6869" y="1881066"/>
            <a:ext cx="18732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Disposal, filter dust Al electrolysis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2.00 g</a:t>
            </a: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24" name="Group 99">
            <a:extLst>
              <a:ext uri="{FF2B5EF4-FFF2-40B4-BE49-F238E27FC236}">
                <a16:creationId xmlns:a16="http://schemas.microsoft.com/office/drawing/2014/main" id="{BE07B18F-DAA1-7446-B587-3CAC12D39FF8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2438375" y="1907138"/>
            <a:ext cx="331787" cy="965200"/>
            <a:chOff x="4860032" y="2097192"/>
            <a:chExt cx="972108" cy="611728"/>
          </a:xfrm>
        </p:grpSpPr>
        <p:cxnSp>
          <p:nvCxnSpPr>
            <p:cNvPr id="125" name="Straight Connector 100">
              <a:extLst>
                <a:ext uri="{FF2B5EF4-FFF2-40B4-BE49-F238E27FC236}">
                  <a16:creationId xmlns:a16="http://schemas.microsoft.com/office/drawing/2014/main" id="{6724C86E-F544-CB4B-B203-08D24B3848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6" name="Straight Connector 101">
              <a:extLst>
                <a:ext uri="{FF2B5EF4-FFF2-40B4-BE49-F238E27FC236}">
                  <a16:creationId xmlns:a16="http://schemas.microsoft.com/office/drawing/2014/main" id="{404A5E07-1F1E-4D47-8FD4-8E3465EA5E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7" name="Straight Arrow Connector 102">
              <a:extLst>
                <a:ext uri="{FF2B5EF4-FFF2-40B4-BE49-F238E27FC236}">
                  <a16:creationId xmlns:a16="http://schemas.microsoft.com/office/drawing/2014/main" id="{28F7ECDC-CEF6-6547-9B33-122C532207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8" name="Group 103">
            <a:extLst>
              <a:ext uri="{FF2B5EF4-FFF2-40B4-BE49-F238E27FC236}">
                <a16:creationId xmlns:a16="http://schemas.microsoft.com/office/drawing/2014/main" id="{652778BD-4D46-874D-959D-06D7E93DBD61}"/>
              </a:ext>
            </a:extLst>
          </p:cNvPr>
          <p:cNvGrpSpPr>
            <a:grpSpLocks/>
          </p:cNvGrpSpPr>
          <p:nvPr/>
        </p:nvGrpSpPr>
        <p:grpSpPr bwMode="auto">
          <a:xfrm rot="5400000" flipV="1">
            <a:off x="9906313" y="1897612"/>
            <a:ext cx="330200" cy="941388"/>
            <a:chOff x="4860032" y="2097192"/>
            <a:chExt cx="972108" cy="611728"/>
          </a:xfrm>
        </p:grpSpPr>
        <p:cxnSp>
          <p:nvCxnSpPr>
            <p:cNvPr id="129" name="Straight Connector 104">
              <a:extLst>
                <a:ext uri="{FF2B5EF4-FFF2-40B4-BE49-F238E27FC236}">
                  <a16:creationId xmlns:a16="http://schemas.microsoft.com/office/drawing/2014/main" id="{80B53CB7-E411-9144-8BF2-97372D5B83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0" name="Straight Connector 105">
              <a:extLst>
                <a:ext uri="{FF2B5EF4-FFF2-40B4-BE49-F238E27FC236}">
                  <a16:creationId xmlns:a16="http://schemas.microsoft.com/office/drawing/2014/main" id="{24DE60CB-CBA4-0B4C-9E1C-5C40E69945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1" name="Straight Arrow Connector 106">
              <a:extLst>
                <a:ext uri="{FF2B5EF4-FFF2-40B4-BE49-F238E27FC236}">
                  <a16:creationId xmlns:a16="http://schemas.microsoft.com/office/drawing/2014/main" id="{DD8B9F05-1C02-3742-B4F3-E102669552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3" name="Rectangle 19">
            <a:extLst>
              <a:ext uri="{FF2B5EF4-FFF2-40B4-BE49-F238E27FC236}">
                <a16:creationId xmlns:a16="http://schemas.microsoft.com/office/drawing/2014/main" id="{5F6B774C-6F44-244E-8A58-454D1CDE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344" y="2125541"/>
            <a:ext cx="1584325" cy="828432"/>
          </a:xfrm>
          <a:prstGeom prst="rect">
            <a:avLst/>
          </a:prstGeom>
          <a:solidFill>
            <a:schemeClr val="accent6">
              <a:alpha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Aluminum, </a:t>
            </a:r>
            <a:r>
              <a:rPr lang="en-US" sz="1600" b="1" kern="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primary,liquid</a:t>
            </a:r>
            <a:endParaRPr lang="en-US" sz="1600" b="1" kern="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kg</a:t>
            </a:r>
          </a:p>
        </p:txBody>
      </p:sp>
      <p:sp>
        <p:nvSpPr>
          <p:cNvPr id="134" name="Rectangle 19">
            <a:extLst>
              <a:ext uri="{FF2B5EF4-FFF2-40B4-BE49-F238E27FC236}">
                <a16:creationId xmlns:a16="http://schemas.microsoft.com/office/drawing/2014/main" id="{5026C708-C8AA-4547-A023-4C03E667B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9370" y="4970290"/>
            <a:ext cx="1655763" cy="828432"/>
          </a:xfrm>
          <a:prstGeom prst="rect">
            <a:avLst/>
          </a:prstGeom>
          <a:solidFill>
            <a:schemeClr val="accent5">
              <a:alpha val="2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hydroxide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2.96 kg</a:t>
            </a:r>
          </a:p>
        </p:txBody>
      </p:sp>
      <p:grpSp>
        <p:nvGrpSpPr>
          <p:cNvPr id="135" name="Group 222">
            <a:extLst>
              <a:ext uri="{FF2B5EF4-FFF2-40B4-BE49-F238E27FC236}">
                <a16:creationId xmlns:a16="http://schemas.microsoft.com/office/drawing/2014/main" id="{94B673DE-0ABA-5A49-B193-4941BA924682}"/>
              </a:ext>
            </a:extLst>
          </p:cNvPr>
          <p:cNvGrpSpPr>
            <a:grpSpLocks/>
          </p:cNvGrpSpPr>
          <p:nvPr/>
        </p:nvGrpSpPr>
        <p:grpSpPr bwMode="auto">
          <a:xfrm>
            <a:off x="7105020" y="4359102"/>
            <a:ext cx="900113" cy="611188"/>
            <a:chOff x="3311860" y="2096852"/>
            <a:chExt cx="972108" cy="612068"/>
          </a:xfrm>
        </p:grpSpPr>
        <p:cxnSp>
          <p:nvCxnSpPr>
            <p:cNvPr id="136" name="Straight Connector 223">
              <a:extLst>
                <a:ext uri="{FF2B5EF4-FFF2-40B4-BE49-F238E27FC236}">
                  <a16:creationId xmlns:a16="http://schemas.microsoft.com/office/drawing/2014/main" id="{7F7FC5F5-5FE0-2D42-8E65-B2F2D79732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Straight Connector 224">
              <a:extLst>
                <a:ext uri="{FF2B5EF4-FFF2-40B4-BE49-F238E27FC236}">
                  <a16:creationId xmlns:a16="http://schemas.microsoft.com/office/drawing/2014/main" id="{722AD473-7889-5347-AAC7-14C20E9F53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Straight Arrow Connector 225">
              <a:extLst>
                <a:ext uri="{FF2B5EF4-FFF2-40B4-BE49-F238E27FC236}">
                  <a16:creationId xmlns:a16="http://schemas.microsoft.com/office/drawing/2014/main" id="{845A677A-0AFE-4940-A65F-FADEFB5903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9" name="Group 249">
            <a:extLst>
              <a:ext uri="{FF2B5EF4-FFF2-40B4-BE49-F238E27FC236}">
                <a16:creationId xmlns:a16="http://schemas.microsoft.com/office/drawing/2014/main" id="{690AEE6A-8DCA-DF4F-A648-180865D57129}"/>
              </a:ext>
            </a:extLst>
          </p:cNvPr>
          <p:cNvGrpSpPr>
            <a:grpSpLocks/>
          </p:cNvGrpSpPr>
          <p:nvPr/>
        </p:nvGrpSpPr>
        <p:grpSpPr bwMode="auto">
          <a:xfrm>
            <a:off x="7393945" y="5798965"/>
            <a:ext cx="1206500" cy="611187"/>
            <a:chOff x="1223628" y="4977172"/>
            <a:chExt cx="1476164" cy="611728"/>
          </a:xfrm>
        </p:grpSpPr>
        <p:cxnSp>
          <p:nvCxnSpPr>
            <p:cNvPr id="140" name="Straight Connector 250">
              <a:extLst>
                <a:ext uri="{FF2B5EF4-FFF2-40B4-BE49-F238E27FC236}">
                  <a16:creationId xmlns:a16="http://schemas.microsoft.com/office/drawing/2014/main" id="{F620DC78-0E16-DB45-A3F7-00BE6DEF11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99792" y="5409220"/>
              <a:ext cx="0" cy="17968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Straight Connector 251">
              <a:extLst>
                <a:ext uri="{FF2B5EF4-FFF2-40B4-BE49-F238E27FC236}">
                  <a16:creationId xmlns:a16="http://schemas.microsoft.com/office/drawing/2014/main" id="{BF73BE41-C78F-2149-946A-7F19E31CC4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23628" y="5409220"/>
              <a:ext cx="1476164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Straight Arrow Connector 252">
              <a:extLst>
                <a:ext uri="{FF2B5EF4-FFF2-40B4-BE49-F238E27FC236}">
                  <a16:creationId xmlns:a16="http://schemas.microsoft.com/office/drawing/2014/main" id="{459B9F96-85DA-C64E-9316-4D64C3F96C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23628" y="4977172"/>
              <a:ext cx="0" cy="432048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" name="Group 253">
            <a:extLst>
              <a:ext uri="{FF2B5EF4-FFF2-40B4-BE49-F238E27FC236}">
                <a16:creationId xmlns:a16="http://schemas.microsoft.com/office/drawing/2014/main" id="{0D643083-71EC-EC44-B142-D9D94FFD5518}"/>
              </a:ext>
            </a:extLst>
          </p:cNvPr>
          <p:cNvGrpSpPr>
            <a:grpSpLocks/>
          </p:cNvGrpSpPr>
          <p:nvPr/>
        </p:nvGrpSpPr>
        <p:grpSpPr bwMode="auto">
          <a:xfrm>
            <a:off x="8328983" y="4380367"/>
            <a:ext cx="396875" cy="2052638"/>
            <a:chOff x="4860032" y="2097192"/>
            <a:chExt cx="972108" cy="611728"/>
          </a:xfrm>
        </p:grpSpPr>
        <p:cxnSp>
          <p:nvCxnSpPr>
            <p:cNvPr id="144" name="Straight Connector 254">
              <a:extLst>
                <a:ext uri="{FF2B5EF4-FFF2-40B4-BE49-F238E27FC236}">
                  <a16:creationId xmlns:a16="http://schemas.microsoft.com/office/drawing/2014/main" id="{A07BF6AC-4913-F04D-91E2-261A93AB95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Straight Connector 255">
              <a:extLst>
                <a:ext uri="{FF2B5EF4-FFF2-40B4-BE49-F238E27FC236}">
                  <a16:creationId xmlns:a16="http://schemas.microsoft.com/office/drawing/2014/main" id="{487959D6-B774-B146-83FD-72C868623A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Straight Arrow Connector 256">
              <a:extLst>
                <a:ext uri="{FF2B5EF4-FFF2-40B4-BE49-F238E27FC236}">
                  <a16:creationId xmlns:a16="http://schemas.microsoft.com/office/drawing/2014/main" id="{383F7207-9E47-6544-ADB1-02022AB93F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E350947-1B70-4343-B6D6-9CEF42E55DAA}"/>
              </a:ext>
            </a:extLst>
          </p:cNvPr>
          <p:cNvGrpSpPr/>
          <p:nvPr/>
        </p:nvGrpSpPr>
        <p:grpSpPr>
          <a:xfrm>
            <a:off x="8876338" y="4359102"/>
            <a:ext cx="647700" cy="2052638"/>
            <a:chOff x="18403110" y="6804590"/>
            <a:chExt cx="647700" cy="2052638"/>
          </a:xfrm>
        </p:grpSpPr>
        <p:cxnSp>
          <p:nvCxnSpPr>
            <p:cNvPr id="148" name="Straight Connector 261">
              <a:extLst>
                <a:ext uri="{FF2B5EF4-FFF2-40B4-BE49-F238E27FC236}">
                  <a16:creationId xmlns:a16="http://schemas.microsoft.com/office/drawing/2014/main" id="{DB1775EA-BEB7-6348-A96C-E0EA876760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8403110" y="7020490"/>
              <a:ext cx="0" cy="183673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Straight Connector 262">
              <a:extLst>
                <a:ext uri="{FF2B5EF4-FFF2-40B4-BE49-F238E27FC236}">
                  <a16:creationId xmlns:a16="http://schemas.microsoft.com/office/drawing/2014/main" id="{F8BBF1F4-624B-004D-881E-9E422C3635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8403110" y="7020490"/>
              <a:ext cx="6477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Straight Arrow Connector 263">
              <a:extLst>
                <a:ext uri="{FF2B5EF4-FFF2-40B4-BE49-F238E27FC236}">
                  <a16:creationId xmlns:a16="http://schemas.microsoft.com/office/drawing/2014/main" id="{EDD65DE6-DF07-084D-B627-4E82E27B1D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9050810" y="6804590"/>
              <a:ext cx="0" cy="21590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1" name="Rectangle 19">
            <a:extLst>
              <a:ext uri="{FF2B5EF4-FFF2-40B4-BE49-F238E27FC236}">
                <a16:creationId xmlns:a16="http://schemas.microsoft.com/office/drawing/2014/main" id="{5364C3C4-FC9B-2949-8DFD-D3F7AABC4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7953" y="4969377"/>
            <a:ext cx="187166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Petroleum coke</a:t>
            </a:r>
          </a:p>
          <a:p>
            <a:pPr algn="ctr"/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0.292 kg</a:t>
            </a:r>
          </a:p>
        </p:txBody>
      </p:sp>
      <p:grpSp>
        <p:nvGrpSpPr>
          <p:cNvPr id="152" name="Group 241">
            <a:extLst>
              <a:ext uri="{FF2B5EF4-FFF2-40B4-BE49-F238E27FC236}">
                <a16:creationId xmlns:a16="http://schemas.microsoft.com/office/drawing/2014/main" id="{6619EBCB-8E2C-0846-949B-7A67C14E533A}"/>
              </a:ext>
            </a:extLst>
          </p:cNvPr>
          <p:cNvGrpSpPr>
            <a:grpSpLocks/>
          </p:cNvGrpSpPr>
          <p:nvPr/>
        </p:nvGrpSpPr>
        <p:grpSpPr bwMode="auto">
          <a:xfrm>
            <a:off x="7647150" y="5820230"/>
            <a:ext cx="3779837" cy="612775"/>
            <a:chOff x="1475656" y="4977512"/>
            <a:chExt cx="3600400" cy="611728"/>
          </a:xfrm>
        </p:grpSpPr>
        <p:cxnSp>
          <p:nvCxnSpPr>
            <p:cNvPr id="153" name="Straight Connector 242">
              <a:extLst>
                <a:ext uri="{FF2B5EF4-FFF2-40B4-BE49-F238E27FC236}">
                  <a16:creationId xmlns:a16="http://schemas.microsoft.com/office/drawing/2014/main" id="{003BF269-4C03-2448-8925-4810772128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5265204"/>
              <a:ext cx="0" cy="324036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243">
              <a:extLst>
                <a:ext uri="{FF2B5EF4-FFF2-40B4-BE49-F238E27FC236}">
                  <a16:creationId xmlns:a16="http://schemas.microsoft.com/office/drawing/2014/main" id="{B163FFB9-E523-B546-A2D7-C5C6D1D6B3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75656" y="5265204"/>
              <a:ext cx="36004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Arrow Connector 244">
              <a:extLst>
                <a:ext uri="{FF2B5EF4-FFF2-40B4-BE49-F238E27FC236}">
                  <a16:creationId xmlns:a16="http://schemas.microsoft.com/office/drawing/2014/main" id="{E8A30771-3E6C-BA4E-B758-2121FD37CB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475656" y="4977512"/>
              <a:ext cx="0" cy="287692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56" name="Straight Connector 234">
            <a:extLst>
              <a:ext uri="{FF2B5EF4-FFF2-40B4-BE49-F238E27FC236}">
                <a16:creationId xmlns:a16="http://schemas.microsoft.com/office/drawing/2014/main" id="{CCE6BB87-3A7E-7B46-A489-7D2A54FBD3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800668" y="5924377"/>
            <a:ext cx="0" cy="492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" name="Straight Connector 235">
            <a:extLst>
              <a:ext uri="{FF2B5EF4-FFF2-40B4-BE49-F238E27FC236}">
                <a16:creationId xmlns:a16="http://schemas.microsoft.com/office/drawing/2014/main" id="{68D9750A-3829-3F40-816B-F6135695C9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842781" y="5924377"/>
            <a:ext cx="5957887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" name="Straight Arrow Connector 236">
            <a:extLst>
              <a:ext uri="{FF2B5EF4-FFF2-40B4-BE49-F238E27FC236}">
                <a16:creationId xmlns:a16="http://schemas.microsoft.com/office/drawing/2014/main" id="{2E83AB13-A204-8247-89E8-00DAA98654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2781" y="5797377"/>
            <a:ext cx="0" cy="127000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" name="Rectangle 19">
            <a:extLst>
              <a:ext uri="{FF2B5EF4-FFF2-40B4-BE49-F238E27FC236}">
                <a16:creationId xmlns:a16="http://schemas.microsoft.com/office/drawing/2014/main" id="{8FDCD0F6-FAA2-3549-95A8-721E60D38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22843" y="6410152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gas</a:t>
            </a:r>
          </a:p>
          <a:p>
            <a:pPr algn="ctr"/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3.19 MJ</a:t>
            </a:r>
          </a:p>
        </p:txBody>
      </p:sp>
      <p:cxnSp>
        <p:nvCxnSpPr>
          <p:cNvPr id="160" name="Straight Connector 226">
            <a:extLst>
              <a:ext uri="{FF2B5EF4-FFF2-40B4-BE49-F238E27FC236}">
                <a16:creationId xmlns:a16="http://schemas.microsoft.com/office/drawing/2014/main" id="{F5F20D6B-84DC-B745-94A4-4AFDC68345C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210450" y="4395711"/>
            <a:ext cx="0" cy="205740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1" name="Group 227">
            <a:extLst>
              <a:ext uri="{FF2B5EF4-FFF2-40B4-BE49-F238E27FC236}">
                <a16:creationId xmlns:a16="http://schemas.microsoft.com/office/drawing/2014/main" id="{F0AECD71-BCD7-5240-9FE5-DCE022DD6768}"/>
              </a:ext>
            </a:extLst>
          </p:cNvPr>
          <p:cNvGrpSpPr>
            <a:grpSpLocks/>
          </p:cNvGrpSpPr>
          <p:nvPr/>
        </p:nvGrpSpPr>
        <p:grpSpPr bwMode="auto">
          <a:xfrm>
            <a:off x="10716915" y="4359102"/>
            <a:ext cx="3367088" cy="2058988"/>
            <a:chOff x="4590002" y="3537352"/>
            <a:chExt cx="3366374" cy="2058035"/>
          </a:xfrm>
        </p:grpSpPr>
        <p:cxnSp>
          <p:nvCxnSpPr>
            <p:cNvPr id="162" name="Straight Connector 228">
              <a:extLst>
                <a:ext uri="{FF2B5EF4-FFF2-40B4-BE49-F238E27FC236}">
                  <a16:creationId xmlns:a16="http://schemas.microsoft.com/office/drawing/2014/main" id="{943A4CDA-20AA-DB4C-9C8F-8729966E0E0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956376" y="3753036"/>
              <a:ext cx="0" cy="1842351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" name="Straight Connector 229">
              <a:extLst>
                <a:ext uri="{FF2B5EF4-FFF2-40B4-BE49-F238E27FC236}">
                  <a16:creationId xmlns:a16="http://schemas.microsoft.com/office/drawing/2014/main" id="{4B1038D8-37A3-2C47-9782-22B2519778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90002" y="3753036"/>
              <a:ext cx="3366374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" name="Straight Arrow Connector 230">
              <a:extLst>
                <a:ext uri="{FF2B5EF4-FFF2-40B4-BE49-F238E27FC236}">
                  <a16:creationId xmlns:a16="http://schemas.microsoft.com/office/drawing/2014/main" id="{0F4E0B2D-BD08-9E40-91B3-E01F882D29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590002" y="3537352"/>
              <a:ext cx="0" cy="197513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65" name="Straight Connector 231">
            <a:extLst>
              <a:ext uri="{FF2B5EF4-FFF2-40B4-BE49-F238E27FC236}">
                <a16:creationId xmlns:a16="http://schemas.microsoft.com/office/drawing/2014/main" id="{59FD13AB-7C8C-324F-94D1-32E27B25F1D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933359" y="4762013"/>
            <a:ext cx="0" cy="1690688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6" name="Straight Connector 232">
            <a:extLst>
              <a:ext uri="{FF2B5EF4-FFF2-40B4-BE49-F238E27FC236}">
                <a16:creationId xmlns:a16="http://schemas.microsoft.com/office/drawing/2014/main" id="{E8337F15-8A6E-EE42-B0AC-DBEDA300DE5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694609" y="4707942"/>
            <a:ext cx="5238750" cy="17462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7" name="Straight Arrow Connector 233">
            <a:extLst>
              <a:ext uri="{FF2B5EF4-FFF2-40B4-BE49-F238E27FC236}">
                <a16:creationId xmlns:a16="http://schemas.microsoft.com/office/drawing/2014/main" id="{15976CCF-1458-5345-8E57-F2B6154B038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694609" y="4357104"/>
            <a:ext cx="0" cy="350838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8" name="Rectangle 19">
            <a:extLst>
              <a:ext uri="{FF2B5EF4-FFF2-40B4-BE49-F238E27FC236}">
                <a16:creationId xmlns:a16="http://schemas.microsoft.com/office/drawing/2014/main" id="{B278718F-2F6A-8A46-8CFA-EDC6DAF4D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069" y="6446351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Bauxite</a:t>
            </a:r>
          </a:p>
          <a:p>
            <a:pPr algn="ctr"/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4.14 kg</a:t>
            </a:r>
          </a:p>
        </p:txBody>
      </p:sp>
      <p:cxnSp>
        <p:nvCxnSpPr>
          <p:cNvPr id="169" name="Straight Connector 221">
            <a:extLst>
              <a:ext uri="{FF2B5EF4-FFF2-40B4-BE49-F238E27FC236}">
                <a16:creationId xmlns:a16="http://schemas.microsoft.com/office/drawing/2014/main" id="{D919100D-9ACE-CA44-8EB7-218DEDE7EF3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204634" y="5833576"/>
            <a:ext cx="0" cy="619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0" name="Straight Arrow Connector 252">
            <a:extLst>
              <a:ext uri="{FF2B5EF4-FFF2-40B4-BE49-F238E27FC236}">
                <a16:creationId xmlns:a16="http://schemas.microsoft.com/office/drawing/2014/main" id="{4A4DFFA4-6BE3-864C-A42F-417B84B4B5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69602" y="2435890"/>
            <a:ext cx="672559" cy="0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1" name="Straight Connector 231">
            <a:extLst>
              <a:ext uri="{FF2B5EF4-FFF2-40B4-BE49-F238E27FC236}">
                <a16:creationId xmlns:a16="http://schemas.microsoft.com/office/drawing/2014/main" id="{8815929B-14E5-784D-B44C-3319F3508FA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684942" y="2450037"/>
            <a:ext cx="0" cy="2507148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DE9135A-736E-3F48-9EE7-C1A65C49E24C}"/>
              </a:ext>
            </a:extLst>
          </p:cNvPr>
          <p:cNvSpPr txBox="1"/>
          <p:nvPr/>
        </p:nvSpPr>
        <p:spPr>
          <a:xfrm>
            <a:off x="4733611" y="4908650"/>
            <a:ext cx="15053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schemeClr val="accent5"/>
                </a:solidFill>
              </a:rPr>
              <a:t>kg</a:t>
            </a:r>
            <a:r>
              <a:rPr lang="en-US" sz="2000" baseline="-25000" dirty="0" err="1">
                <a:solidFill>
                  <a:schemeClr val="accent5"/>
                </a:solidFill>
              </a:rPr>
              <a:t>Al</a:t>
            </a:r>
            <a:r>
              <a:rPr lang="en-US" sz="2000" baseline="-25000" dirty="0">
                <a:solidFill>
                  <a:schemeClr val="accent5"/>
                </a:solidFill>
              </a:rPr>
              <a:t> hydroxide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666B1D-8298-514A-973D-2AF32CDB43C9}"/>
              </a:ext>
            </a:extLst>
          </p:cNvPr>
          <p:cNvSpPr txBox="1"/>
          <p:nvPr/>
        </p:nvSpPr>
        <p:spPr>
          <a:xfrm>
            <a:off x="2511626" y="5148158"/>
            <a:ext cx="2454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accent6"/>
                </a:solidFill>
              </a:rPr>
              <a:t>1.93</a:t>
            </a:r>
            <a:r>
              <a:rPr lang="en-US" sz="2000" dirty="0">
                <a:solidFill>
                  <a:schemeClr val="accent5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x</a:t>
            </a:r>
            <a:r>
              <a:rPr lang="en-US" sz="2000" dirty="0">
                <a:solidFill>
                  <a:schemeClr val="accent5"/>
                </a:solidFill>
              </a:rPr>
              <a:t> 1.53 </a:t>
            </a:r>
            <a:r>
              <a:rPr lang="en-US" sz="2000" dirty="0">
                <a:solidFill>
                  <a:schemeClr val="tx2"/>
                </a:solidFill>
              </a:rPr>
              <a:t>= 2.96</a:t>
            </a:r>
            <a:endParaRPr lang="en-US" sz="2000" baseline="-25000" dirty="0">
              <a:solidFill>
                <a:schemeClr val="accent5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3E7A09-CF35-6F40-9C5F-9056CB9306CE}"/>
              </a:ext>
            </a:extLst>
          </p:cNvPr>
          <p:cNvSpPr/>
          <p:nvPr/>
        </p:nvSpPr>
        <p:spPr>
          <a:xfrm>
            <a:off x="4748329" y="5311520"/>
            <a:ext cx="10550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 err="1">
                <a:solidFill>
                  <a:schemeClr val="accent6"/>
                </a:solidFill>
              </a:rPr>
              <a:t>kg</a:t>
            </a:r>
            <a:r>
              <a:rPr lang="en-US" altLang="en-US" sz="2000" baseline="-25000" dirty="0" err="1">
                <a:solidFill>
                  <a:schemeClr val="accent6"/>
                </a:solidFill>
              </a:rPr>
              <a:t>Al</a:t>
            </a:r>
            <a:r>
              <a:rPr lang="en-US" altLang="en-US" sz="2000" baseline="-25000" dirty="0">
                <a:solidFill>
                  <a:schemeClr val="accent6"/>
                </a:solidFill>
              </a:rPr>
              <a:t> liquid</a:t>
            </a:r>
            <a:endParaRPr lang="en-US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F6EB98-411A-E445-988B-690F17C3E7BA}"/>
              </a:ext>
            </a:extLst>
          </p:cNvPr>
          <p:cNvCxnSpPr/>
          <p:nvPr/>
        </p:nvCxnSpPr>
        <p:spPr>
          <a:xfrm>
            <a:off x="4748329" y="5365958"/>
            <a:ext cx="1302266" cy="0"/>
          </a:xfrm>
          <a:prstGeom prst="line">
            <a:avLst/>
          </a:prstGeom>
          <a:ln w="190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7237B30-18D4-1B4D-943A-F4058CE54F52}"/>
              </a:ext>
            </a:extLst>
          </p:cNvPr>
          <p:cNvSpPr/>
          <p:nvPr/>
        </p:nvSpPr>
        <p:spPr>
          <a:xfrm>
            <a:off x="2411626" y="4908650"/>
            <a:ext cx="3722380" cy="873074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">
            <a:extLst>
              <a:ext uri="{FF2B5EF4-FFF2-40B4-BE49-F238E27FC236}">
                <a16:creationId xmlns:a16="http://schemas.microsoft.com/office/drawing/2014/main" id="{A98A37F1-B075-084D-9F72-DECDF3701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2136" y="1410736"/>
            <a:ext cx="132716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0" dirty="0">
                <a:solidFill>
                  <a:schemeClr val="tx2"/>
                </a:solidFill>
              </a:rPr>
              <a:t>Use intermediary flows to fill each box with the amount of process used per FU </a:t>
            </a:r>
          </a:p>
        </p:txBody>
      </p:sp>
    </p:spTree>
    <p:extLst>
      <p:ext uri="{BB962C8B-B14F-4D97-AF65-F5344CB8AC3E}">
        <p14:creationId xmlns:p14="http://schemas.microsoft.com/office/powerpoint/2010/main" val="186015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41">
            <a:extLst>
              <a:ext uri="{FF2B5EF4-FFF2-40B4-BE49-F238E27FC236}">
                <a16:creationId xmlns:a16="http://schemas.microsoft.com/office/drawing/2014/main" id="{E411E7CA-F40F-8940-A7B9-C54F2857D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902" y="2691624"/>
            <a:ext cx="1768475" cy="3262432"/>
          </a:xfrm>
          <a:prstGeom prst="rect">
            <a:avLst/>
          </a:prstGeom>
          <a:noFill/>
          <a:ln w="50800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5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5"/>
                </a:solidFill>
                <a:cs typeface="Arial" panose="020B0604020202020204" pitchFamily="34" charset="0"/>
              </a:rPr>
              <a:t>Aluminum,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5"/>
                </a:solidFill>
                <a:cs typeface="Arial" panose="020B0604020202020204" pitchFamily="34" charset="0"/>
              </a:rPr>
              <a:t>hydroxide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cs typeface="Arial" panose="020B0604020202020204" pitchFamily="34" charset="0"/>
              </a:rPr>
              <a:t>1 kg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798F2-B4C2-D747-A02A-7FAD7F74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3" y="272169"/>
            <a:ext cx="14911344" cy="870385"/>
          </a:xfrm>
        </p:spPr>
        <p:txBody>
          <a:bodyPr/>
          <a:lstStyle/>
          <a:p>
            <a:r>
              <a:rPr lang="en-US" altLang="en-US" sz="3800" dirty="0"/>
              <a:t>1. Find the emission and extraction factors: Aluminum primary liquid</a:t>
            </a:r>
            <a:endParaRPr lang="en-US" sz="3800" dirty="0"/>
          </a:p>
        </p:txBody>
      </p:sp>
      <p:sp>
        <p:nvSpPr>
          <p:cNvPr id="5" name="Line 16">
            <a:extLst>
              <a:ext uri="{FF2B5EF4-FFF2-40B4-BE49-F238E27FC236}">
                <a16:creationId xmlns:a16="http://schemas.microsoft.com/office/drawing/2014/main" id="{67CCACC4-29B2-334C-A370-F4DEA5507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7002" y="3275095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8">
            <a:extLst>
              <a:ext uri="{FF2B5EF4-FFF2-40B4-BE49-F238E27FC236}">
                <a16:creationId xmlns:a16="http://schemas.microsoft.com/office/drawing/2014/main" id="{990F5A31-657A-D941-ADF2-946489815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7002" y="3805003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9">
            <a:extLst>
              <a:ext uri="{FF2B5EF4-FFF2-40B4-BE49-F238E27FC236}">
                <a16:creationId xmlns:a16="http://schemas.microsoft.com/office/drawing/2014/main" id="{D205F932-FC4B-2348-B804-02648ADE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7002" y="4786395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20">
            <a:extLst>
              <a:ext uri="{FF2B5EF4-FFF2-40B4-BE49-F238E27FC236}">
                <a16:creationId xmlns:a16="http://schemas.microsoft.com/office/drawing/2014/main" id="{E00022D3-038F-B84F-929F-4FD4321D6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7002" y="5291220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421ED393-660B-7A40-B87B-722D6AC4D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8313" y="3094415"/>
            <a:ext cx="43823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Water (1.05E-5 m</a:t>
            </a:r>
            <a:r>
              <a:rPr lang="en-US" altLang="fr-FR" sz="1600" b="0" baseline="30000" dirty="0">
                <a:solidFill>
                  <a:schemeClr val="accent3"/>
                </a:solidFill>
                <a:cs typeface="Arial" panose="020B0604020202020204" pitchFamily="34" charset="0"/>
              </a:rPr>
              <a:t>3</a:t>
            </a: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Text Box 26">
            <a:extLst>
              <a:ext uri="{FF2B5EF4-FFF2-40B4-BE49-F238E27FC236}">
                <a16:creationId xmlns:a16="http://schemas.microsoft.com/office/drawing/2014/main" id="{B4C4C7BB-5DDC-1A4F-8C6E-7DE2742A0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699" y="4605715"/>
            <a:ext cx="46259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>
                <a:solidFill>
                  <a:schemeClr val="accent4"/>
                </a:solidFill>
                <a:cs typeface="Arial" panose="020B0604020202020204" pitchFamily="34" charset="0"/>
              </a:rPr>
              <a:t>Heat, light fuel oil (3.59 MJ)</a:t>
            </a:r>
          </a:p>
        </p:txBody>
      </p:sp>
      <p:sp>
        <p:nvSpPr>
          <p:cNvPr id="12" name="Text Box 27">
            <a:extLst>
              <a:ext uri="{FF2B5EF4-FFF2-40B4-BE49-F238E27FC236}">
                <a16:creationId xmlns:a16="http://schemas.microsoft.com/office/drawing/2014/main" id="{11BA755A-AE8E-844E-8C52-6AC46A34A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6199" y="5110540"/>
            <a:ext cx="47544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Transport, transoceanic freight ship (7.11 </a:t>
            </a:r>
            <a:r>
              <a:rPr lang="en-US" altLang="fr-FR" sz="1600" b="0" dirty="0" err="1">
                <a:solidFill>
                  <a:schemeClr val="accent4"/>
                </a:solidFill>
                <a:cs typeface="Arial" panose="020B0604020202020204" pitchFamily="34" charset="0"/>
              </a:rPr>
              <a:t>tkm</a:t>
            </a: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6621" y="4267577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37">
            <a:extLst>
              <a:ext uri="{FF2B5EF4-FFF2-40B4-BE49-F238E27FC236}">
                <a16:creationId xmlns:a16="http://schemas.microsoft.com/office/drawing/2014/main" id="{C10F8C85-9164-1F4F-A92B-8FC407DA9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6621" y="4788277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38">
            <a:extLst>
              <a:ext uri="{FF2B5EF4-FFF2-40B4-BE49-F238E27FC236}">
                <a16:creationId xmlns:a16="http://schemas.microsoft.com/office/drawing/2014/main" id="{48341AB4-67D7-6D4B-88AD-F12FE4A374D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6621" y="5401052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48">
            <a:extLst>
              <a:ext uri="{FF2B5EF4-FFF2-40B4-BE49-F238E27FC236}">
                <a16:creationId xmlns:a16="http://schemas.microsoft.com/office/drawing/2014/main" id="{BBD6C0D8-0101-EB4C-8EBD-B7018FC4A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0168" y="4638720"/>
            <a:ext cx="46412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>
                <a:solidFill>
                  <a:schemeClr val="accent3"/>
                </a:solidFill>
                <a:cs typeface="Arial" panose="020B0604020202020204" pitchFamily="34" charset="0"/>
              </a:rPr>
              <a:t>Total Organic Carbon (18 mg)</a:t>
            </a:r>
          </a:p>
        </p:txBody>
      </p:sp>
      <p:sp>
        <p:nvSpPr>
          <p:cNvPr id="17" name="Text Box 56">
            <a:extLst>
              <a:ext uri="{FF2B5EF4-FFF2-40B4-BE49-F238E27FC236}">
                <a16:creationId xmlns:a16="http://schemas.microsoft.com/office/drawing/2014/main" id="{6F2420BE-001F-CF4D-82A3-83D7459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7448" y="3505145"/>
            <a:ext cx="47666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Sodium, ion (1.28 g)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1FBB4A09-1CBA-F84F-92BD-66CD487E0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415" y="4283158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25">
            <a:extLst>
              <a:ext uri="{FF2B5EF4-FFF2-40B4-BE49-F238E27FC236}">
                <a16:creationId xmlns:a16="http://schemas.microsoft.com/office/drawing/2014/main" id="{0E15C6EE-1E99-AA4F-8189-A77D9EF5B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608" y="4102478"/>
            <a:ext cx="39834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Electricity, medium voltage (0.14 kWh)</a:t>
            </a:r>
          </a:p>
        </p:txBody>
      </p:sp>
      <p:sp>
        <p:nvSpPr>
          <p:cNvPr id="20" name="Text Box 51">
            <a:extLst>
              <a:ext uri="{FF2B5EF4-FFF2-40B4-BE49-F238E27FC236}">
                <a16:creationId xmlns:a16="http://schemas.microsoft.com/office/drawing/2014/main" id="{F4A87F9E-CE80-8548-9243-C10A5AF58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633" y="2847767"/>
            <a:ext cx="53448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US" altLang="fr-FR" sz="2000" b="0" dirty="0">
                <a:solidFill>
                  <a:schemeClr val="accent3"/>
                </a:solidFill>
                <a:cs typeface="Arial" panose="020B0604020202020204" pitchFamily="34" charset="0"/>
              </a:rPr>
              <a:t>Heat, waste (0.503 MJ/</a:t>
            </a:r>
            <a:r>
              <a:rPr lang="en-US" altLang="en-US" sz="2000" b="0" dirty="0" err="1">
                <a:solidFill>
                  <a:schemeClr val="accent5"/>
                </a:solidFill>
              </a:rPr>
              <a:t>kg</a:t>
            </a:r>
            <a:r>
              <a:rPr lang="en-US" altLang="en-US" sz="2000" b="0" baseline="-25000" dirty="0" err="1">
                <a:solidFill>
                  <a:schemeClr val="accent5"/>
                </a:solidFill>
              </a:rPr>
              <a:t>Al</a:t>
            </a:r>
            <a:r>
              <a:rPr lang="en-US" altLang="en-US" sz="2000" b="0" baseline="-25000" dirty="0">
                <a:solidFill>
                  <a:schemeClr val="accent5"/>
                </a:solidFill>
              </a:rPr>
              <a:t> hydroxide</a:t>
            </a:r>
            <a:r>
              <a:rPr lang="en-US" altLang="fr-FR" sz="2000" b="0" dirty="0">
                <a:solidFill>
                  <a:schemeClr val="accent3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21" name="Text Box 48">
            <a:extLst>
              <a:ext uri="{FF2B5EF4-FFF2-40B4-BE49-F238E27FC236}">
                <a16:creationId xmlns:a16="http://schemas.microsoft.com/office/drawing/2014/main" id="{12173582-3D89-0941-8F5D-B06A11F42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0168" y="5224840"/>
            <a:ext cx="46412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 err="1">
                <a:solidFill>
                  <a:schemeClr val="accent4"/>
                </a:solidFill>
                <a:cs typeface="Arial" panose="020B0604020202020204" pitchFamily="34" charset="0"/>
              </a:rPr>
              <a:t>Redmud</a:t>
            </a: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 from bauxite digestion (0.47 kg)</a:t>
            </a:r>
          </a:p>
        </p:txBody>
      </p:sp>
      <p:sp>
        <p:nvSpPr>
          <p:cNvPr id="22" name="Line 35">
            <a:extLst>
              <a:ext uri="{FF2B5EF4-FFF2-40B4-BE49-F238E27FC236}">
                <a16:creationId xmlns:a16="http://schemas.microsoft.com/office/drawing/2014/main" id="{C1CAB0B0-05BB-0341-B834-099F2B5FD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033" y="3691315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5">
            <a:extLst>
              <a:ext uri="{FF2B5EF4-FFF2-40B4-BE49-F238E27FC236}">
                <a16:creationId xmlns:a16="http://schemas.microsoft.com/office/drawing/2014/main" id="{E2F42617-84F3-084E-95DF-BF384C0CC3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033" y="3135690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6" name="Picture 2" descr="http://slnewmaterials.com/en/uploadfile/2019/0128/20190128025711332.jpg">
            <a:extLst>
              <a:ext uri="{FF2B5EF4-FFF2-40B4-BE49-F238E27FC236}">
                <a16:creationId xmlns:a16="http://schemas.microsoft.com/office/drawing/2014/main" id="{AAB3574F-DABF-2943-8BBE-2CC6148C4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93180" y="4598678"/>
            <a:ext cx="1366837" cy="75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59">
            <a:extLst>
              <a:ext uri="{FF2B5EF4-FFF2-40B4-BE49-F238E27FC236}">
                <a16:creationId xmlns:a16="http://schemas.microsoft.com/office/drawing/2014/main" id="{106BEE8A-2F9C-684D-B87D-12CC15A3A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081" y="3580342"/>
            <a:ext cx="38843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4"/>
                </a:solidFill>
                <a:cs typeface="Arial" panose="020B0604020202020204" pitchFamily="34" charset="0"/>
              </a:rPr>
              <a:t>Bauxite at mine 1.4 kg</a:t>
            </a:r>
          </a:p>
        </p:txBody>
      </p:sp>
      <p:sp>
        <p:nvSpPr>
          <p:cNvPr id="32" name="Text Box 56">
            <a:extLst>
              <a:ext uri="{FF2B5EF4-FFF2-40B4-BE49-F238E27FC236}">
                <a16:creationId xmlns:a16="http://schemas.microsoft.com/office/drawing/2014/main" id="{01E675AE-5318-664A-AD9C-A78E89837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0168" y="4088810"/>
            <a:ext cx="47666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Suspended solids (0.17 g)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E5F3B4-E89A-C14B-8CF5-911DA5042D35}"/>
              </a:ext>
            </a:extLst>
          </p:cNvPr>
          <p:cNvSpPr/>
          <p:nvPr/>
        </p:nvSpPr>
        <p:spPr>
          <a:xfrm>
            <a:off x="9817173" y="2877465"/>
            <a:ext cx="4099839" cy="413869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B5BFE6-02B8-6F41-82AC-0FCADC30D35F}"/>
              </a:ext>
            </a:extLst>
          </p:cNvPr>
          <p:cNvSpPr/>
          <p:nvPr/>
        </p:nvSpPr>
        <p:spPr>
          <a:xfrm>
            <a:off x="944247" y="1402494"/>
            <a:ext cx="145751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>
                <a:solidFill>
                  <a:schemeClr val="tx2"/>
                </a:solidFill>
              </a:rPr>
              <a:t>These are the </a:t>
            </a:r>
            <a:r>
              <a:rPr lang="en-US" altLang="en-US" sz="2800" dirty="0">
                <a:solidFill>
                  <a:schemeClr val="accent5"/>
                </a:solidFill>
              </a:rPr>
              <a:t>direct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emission or extraction from the considered process,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i.e.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accent3"/>
                </a:solidFill>
              </a:rPr>
              <a:t>the direct elementary flows per unit of this UP</a:t>
            </a:r>
            <a:endParaRPr lang="en-US" sz="2800" dirty="0">
              <a:solidFill>
                <a:schemeClr val="accent3"/>
              </a:solidFill>
            </a:endParaRPr>
          </a:p>
        </p:txBody>
      </p:sp>
      <p:pic>
        <p:nvPicPr>
          <p:cNvPr id="28" name="Picture 1">
            <a:extLst>
              <a:ext uri="{FF2B5EF4-FFF2-40B4-BE49-F238E27FC236}">
                <a16:creationId xmlns:a16="http://schemas.microsoft.com/office/drawing/2014/main" id="{B7320C39-7715-0D4C-89A9-CF638F099E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4247" y="1509716"/>
            <a:ext cx="735483" cy="504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79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41">
            <a:extLst>
              <a:ext uri="{FF2B5EF4-FFF2-40B4-BE49-F238E27FC236}">
                <a16:creationId xmlns:a16="http://schemas.microsoft.com/office/drawing/2014/main" id="{E411E7CA-F40F-8940-A7B9-C54F2857D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902" y="2691624"/>
            <a:ext cx="1768475" cy="3262432"/>
          </a:xfrm>
          <a:prstGeom prst="rect">
            <a:avLst/>
          </a:prstGeom>
          <a:noFill/>
          <a:ln w="50800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5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5"/>
                </a:solidFill>
                <a:cs typeface="Arial" panose="020B0604020202020204" pitchFamily="34" charset="0"/>
              </a:rPr>
              <a:t>Aluminum,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5"/>
                </a:solidFill>
                <a:cs typeface="Arial" panose="020B0604020202020204" pitchFamily="34" charset="0"/>
              </a:rPr>
              <a:t>hydroxide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cs typeface="Arial" panose="020B0604020202020204" pitchFamily="34" charset="0"/>
              </a:rPr>
              <a:t>1 kg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798F2-B4C2-D747-A02A-7FAD7F74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3" y="272169"/>
            <a:ext cx="14911344" cy="870385"/>
          </a:xfrm>
        </p:spPr>
        <p:txBody>
          <a:bodyPr/>
          <a:lstStyle/>
          <a:p>
            <a:r>
              <a:rPr lang="en-US" altLang="en-US" sz="3800" dirty="0"/>
              <a:t>1. Find the emission and extraction factors: Aluminum primary liquid</a:t>
            </a:r>
            <a:endParaRPr lang="en-US" sz="3800" dirty="0"/>
          </a:p>
        </p:txBody>
      </p:sp>
      <p:sp>
        <p:nvSpPr>
          <p:cNvPr id="5" name="Line 16">
            <a:extLst>
              <a:ext uri="{FF2B5EF4-FFF2-40B4-BE49-F238E27FC236}">
                <a16:creationId xmlns:a16="http://schemas.microsoft.com/office/drawing/2014/main" id="{67CCACC4-29B2-334C-A370-F4DEA5507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7002" y="3275095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8">
            <a:extLst>
              <a:ext uri="{FF2B5EF4-FFF2-40B4-BE49-F238E27FC236}">
                <a16:creationId xmlns:a16="http://schemas.microsoft.com/office/drawing/2014/main" id="{990F5A31-657A-D941-ADF2-946489815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7002" y="3805003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9">
            <a:extLst>
              <a:ext uri="{FF2B5EF4-FFF2-40B4-BE49-F238E27FC236}">
                <a16:creationId xmlns:a16="http://schemas.microsoft.com/office/drawing/2014/main" id="{D205F932-FC4B-2348-B804-02648ADE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7002" y="4786395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20">
            <a:extLst>
              <a:ext uri="{FF2B5EF4-FFF2-40B4-BE49-F238E27FC236}">
                <a16:creationId xmlns:a16="http://schemas.microsoft.com/office/drawing/2014/main" id="{E00022D3-038F-B84F-929F-4FD4321D6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7002" y="5291220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421ED393-660B-7A40-B87B-722D6AC4D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8313" y="3094415"/>
            <a:ext cx="43823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Water (1.05E-5 m</a:t>
            </a:r>
            <a:r>
              <a:rPr lang="en-US" altLang="fr-FR" sz="1600" b="0" baseline="30000" dirty="0">
                <a:solidFill>
                  <a:schemeClr val="accent3"/>
                </a:solidFill>
                <a:cs typeface="Arial" panose="020B0604020202020204" pitchFamily="34" charset="0"/>
              </a:rPr>
              <a:t>3</a:t>
            </a: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Text Box 26">
            <a:extLst>
              <a:ext uri="{FF2B5EF4-FFF2-40B4-BE49-F238E27FC236}">
                <a16:creationId xmlns:a16="http://schemas.microsoft.com/office/drawing/2014/main" id="{B4C4C7BB-5DDC-1A4F-8C6E-7DE2742A0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699" y="4605715"/>
            <a:ext cx="46259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>
                <a:solidFill>
                  <a:schemeClr val="accent4"/>
                </a:solidFill>
                <a:cs typeface="Arial" panose="020B0604020202020204" pitchFamily="34" charset="0"/>
              </a:rPr>
              <a:t>Heat, light fuel oil (3.59 MJ)</a:t>
            </a:r>
          </a:p>
        </p:txBody>
      </p:sp>
      <p:sp>
        <p:nvSpPr>
          <p:cNvPr id="12" name="Text Box 27">
            <a:extLst>
              <a:ext uri="{FF2B5EF4-FFF2-40B4-BE49-F238E27FC236}">
                <a16:creationId xmlns:a16="http://schemas.microsoft.com/office/drawing/2014/main" id="{11BA755A-AE8E-844E-8C52-6AC46A34A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6199" y="5110540"/>
            <a:ext cx="47544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Transport, transoceanic freight ship (7.11 </a:t>
            </a:r>
            <a:r>
              <a:rPr lang="en-US" altLang="fr-FR" sz="1600" b="0" dirty="0" err="1">
                <a:solidFill>
                  <a:schemeClr val="accent4"/>
                </a:solidFill>
                <a:cs typeface="Arial" panose="020B0604020202020204" pitchFamily="34" charset="0"/>
              </a:rPr>
              <a:t>tkm</a:t>
            </a: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6621" y="4267577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37">
            <a:extLst>
              <a:ext uri="{FF2B5EF4-FFF2-40B4-BE49-F238E27FC236}">
                <a16:creationId xmlns:a16="http://schemas.microsoft.com/office/drawing/2014/main" id="{C10F8C85-9164-1F4F-A92B-8FC407DA9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6621" y="4788277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38">
            <a:extLst>
              <a:ext uri="{FF2B5EF4-FFF2-40B4-BE49-F238E27FC236}">
                <a16:creationId xmlns:a16="http://schemas.microsoft.com/office/drawing/2014/main" id="{48341AB4-67D7-6D4B-88AD-F12FE4A374D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6621" y="5401052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48">
            <a:extLst>
              <a:ext uri="{FF2B5EF4-FFF2-40B4-BE49-F238E27FC236}">
                <a16:creationId xmlns:a16="http://schemas.microsoft.com/office/drawing/2014/main" id="{BBD6C0D8-0101-EB4C-8EBD-B7018FC4A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0168" y="4638720"/>
            <a:ext cx="46412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>
                <a:solidFill>
                  <a:schemeClr val="accent3"/>
                </a:solidFill>
                <a:cs typeface="Arial" panose="020B0604020202020204" pitchFamily="34" charset="0"/>
              </a:rPr>
              <a:t>Total Organic Carbon (18 mg)</a:t>
            </a:r>
          </a:p>
        </p:txBody>
      </p:sp>
      <p:sp>
        <p:nvSpPr>
          <p:cNvPr id="17" name="Text Box 56">
            <a:extLst>
              <a:ext uri="{FF2B5EF4-FFF2-40B4-BE49-F238E27FC236}">
                <a16:creationId xmlns:a16="http://schemas.microsoft.com/office/drawing/2014/main" id="{6F2420BE-001F-CF4D-82A3-83D7459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7448" y="3505145"/>
            <a:ext cx="47666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Sodium, ion (1.28 g)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1FBB4A09-1CBA-F84F-92BD-66CD487E0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415" y="4283158"/>
            <a:ext cx="609600" cy="0"/>
          </a:xfrm>
          <a:prstGeom prst="line">
            <a:avLst/>
          </a:prstGeom>
          <a:noFill/>
          <a:ln w="25400">
            <a:solidFill>
              <a:schemeClr val="accent4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25">
            <a:extLst>
              <a:ext uri="{FF2B5EF4-FFF2-40B4-BE49-F238E27FC236}">
                <a16:creationId xmlns:a16="http://schemas.microsoft.com/office/drawing/2014/main" id="{0E15C6EE-1E99-AA4F-8189-A77D9EF5B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608" y="4102478"/>
            <a:ext cx="39834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Electricity, medium voltage (0.14 kWh)</a:t>
            </a:r>
          </a:p>
        </p:txBody>
      </p:sp>
      <p:sp>
        <p:nvSpPr>
          <p:cNvPr id="20" name="Text Box 51">
            <a:extLst>
              <a:ext uri="{FF2B5EF4-FFF2-40B4-BE49-F238E27FC236}">
                <a16:creationId xmlns:a16="http://schemas.microsoft.com/office/drawing/2014/main" id="{F4A87F9E-CE80-8548-9243-C10A5AF58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633" y="2847767"/>
            <a:ext cx="53448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US" altLang="fr-FR" sz="2000" b="0" dirty="0">
                <a:solidFill>
                  <a:schemeClr val="accent3"/>
                </a:solidFill>
                <a:cs typeface="Arial" panose="020B0604020202020204" pitchFamily="34" charset="0"/>
              </a:rPr>
              <a:t>Heat, waste (0.503 MJ/</a:t>
            </a:r>
            <a:r>
              <a:rPr lang="en-US" altLang="en-US" sz="2000" b="0" dirty="0" err="1">
                <a:solidFill>
                  <a:schemeClr val="accent5"/>
                </a:solidFill>
              </a:rPr>
              <a:t>kg</a:t>
            </a:r>
            <a:r>
              <a:rPr lang="en-US" altLang="en-US" sz="2000" b="0" baseline="-25000" dirty="0" err="1">
                <a:solidFill>
                  <a:schemeClr val="accent5"/>
                </a:solidFill>
              </a:rPr>
              <a:t>Al</a:t>
            </a:r>
            <a:r>
              <a:rPr lang="en-US" altLang="en-US" sz="2000" b="0" baseline="-25000" dirty="0">
                <a:solidFill>
                  <a:schemeClr val="accent5"/>
                </a:solidFill>
              </a:rPr>
              <a:t> hydroxide</a:t>
            </a:r>
            <a:r>
              <a:rPr lang="en-US" altLang="fr-FR" sz="2000" b="0" dirty="0">
                <a:solidFill>
                  <a:schemeClr val="accent3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21" name="Text Box 48">
            <a:extLst>
              <a:ext uri="{FF2B5EF4-FFF2-40B4-BE49-F238E27FC236}">
                <a16:creationId xmlns:a16="http://schemas.microsoft.com/office/drawing/2014/main" id="{12173582-3D89-0941-8F5D-B06A11F42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0168" y="5224840"/>
            <a:ext cx="46412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 err="1">
                <a:solidFill>
                  <a:schemeClr val="accent4"/>
                </a:solidFill>
                <a:cs typeface="Arial" panose="020B0604020202020204" pitchFamily="34" charset="0"/>
              </a:rPr>
              <a:t>Redmud</a:t>
            </a: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 from bauxite digestion (0.47 kg)</a:t>
            </a:r>
          </a:p>
        </p:txBody>
      </p:sp>
      <p:sp>
        <p:nvSpPr>
          <p:cNvPr id="22" name="Line 35">
            <a:extLst>
              <a:ext uri="{FF2B5EF4-FFF2-40B4-BE49-F238E27FC236}">
                <a16:creationId xmlns:a16="http://schemas.microsoft.com/office/drawing/2014/main" id="{C1CAB0B0-05BB-0341-B834-099F2B5FD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033" y="3691315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5">
            <a:extLst>
              <a:ext uri="{FF2B5EF4-FFF2-40B4-BE49-F238E27FC236}">
                <a16:creationId xmlns:a16="http://schemas.microsoft.com/office/drawing/2014/main" id="{E2F42617-84F3-084E-95DF-BF384C0CC3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85033" y="3135690"/>
            <a:ext cx="6096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6" name="Picture 2" descr="http://slnewmaterials.com/en/uploadfile/2019/0128/20190128025711332.jpg">
            <a:extLst>
              <a:ext uri="{FF2B5EF4-FFF2-40B4-BE49-F238E27FC236}">
                <a16:creationId xmlns:a16="http://schemas.microsoft.com/office/drawing/2014/main" id="{AAB3574F-DABF-2943-8BBE-2CC6148C4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93180" y="4598678"/>
            <a:ext cx="1366837" cy="75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59">
            <a:extLst>
              <a:ext uri="{FF2B5EF4-FFF2-40B4-BE49-F238E27FC236}">
                <a16:creationId xmlns:a16="http://schemas.microsoft.com/office/drawing/2014/main" id="{106BEE8A-2F9C-684D-B87D-12CC15A3A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081" y="3580342"/>
            <a:ext cx="38843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4"/>
                </a:solidFill>
                <a:cs typeface="Arial" panose="020B0604020202020204" pitchFamily="34" charset="0"/>
              </a:rPr>
              <a:t>Bauxite at mine 1.4 kg</a:t>
            </a:r>
          </a:p>
        </p:txBody>
      </p:sp>
      <p:sp>
        <p:nvSpPr>
          <p:cNvPr id="32" name="Text Box 56">
            <a:extLst>
              <a:ext uri="{FF2B5EF4-FFF2-40B4-BE49-F238E27FC236}">
                <a16:creationId xmlns:a16="http://schemas.microsoft.com/office/drawing/2014/main" id="{01E675AE-5318-664A-AD9C-A78E89837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0168" y="4088810"/>
            <a:ext cx="47666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Suspended solids (0.17 g)</a:t>
            </a:r>
          </a:p>
        </p:txBody>
      </p:sp>
      <p:sp>
        <p:nvSpPr>
          <p:cNvPr id="3" name="Rectangle 2"/>
          <p:cNvSpPr/>
          <p:nvPr/>
        </p:nvSpPr>
        <p:spPr>
          <a:xfrm>
            <a:off x="878783" y="6208172"/>
            <a:ext cx="149113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ts val="1600"/>
              </a:spcAft>
            </a:pPr>
            <a:r>
              <a:rPr lang="en-US" altLang="en-US" sz="2800" dirty="0">
                <a:solidFill>
                  <a:schemeClr val="tx2"/>
                </a:solidFill>
              </a:rPr>
              <a:t>These </a:t>
            </a:r>
            <a:r>
              <a:rPr lang="en-US" altLang="en-US" sz="2800" dirty="0">
                <a:solidFill>
                  <a:schemeClr val="accent3"/>
                </a:solidFill>
              </a:rPr>
              <a:t>emissions and extractions factors </a:t>
            </a:r>
            <a:r>
              <a:rPr lang="en-US" altLang="en-US" sz="2800" dirty="0">
                <a:solidFill>
                  <a:schemeClr val="tx2"/>
                </a:solidFill>
              </a:rPr>
              <a:t>and </a:t>
            </a:r>
            <a:r>
              <a:rPr lang="en-US" altLang="en-US" sz="2800" dirty="0">
                <a:solidFill>
                  <a:schemeClr val="accent3"/>
                </a:solidFill>
              </a:rPr>
              <a:t>elementary</a:t>
            </a:r>
            <a:r>
              <a:rPr lang="en-US" altLang="en-US" sz="2800" dirty="0">
                <a:solidFill>
                  <a:schemeClr val="tx2"/>
                </a:solidFill>
              </a:rPr>
              <a:t> flows per unit UP can be found in 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b="1" dirty="0">
                <a:solidFill>
                  <a:schemeClr val="tx2"/>
                </a:solidFill>
              </a:rPr>
              <a:t>a) </a:t>
            </a:r>
            <a:r>
              <a:rPr lang="en-US" altLang="en-US" sz="2800" dirty="0">
                <a:solidFill>
                  <a:schemeClr val="tx2"/>
                </a:solidFill>
              </a:rPr>
              <a:t>databases,</a:t>
            </a:r>
            <a:r>
              <a:rPr lang="en-US" altLang="en-US" sz="2800" b="1" dirty="0">
                <a:solidFill>
                  <a:schemeClr val="tx2"/>
                </a:solidFill>
              </a:rPr>
              <a:t> b) </a:t>
            </a:r>
            <a:r>
              <a:rPr lang="en-US" altLang="en-US" sz="2800" dirty="0">
                <a:solidFill>
                  <a:schemeClr val="tx2"/>
                </a:solidFill>
              </a:rPr>
              <a:t>literature or websites, or via </a:t>
            </a:r>
            <a:r>
              <a:rPr lang="en-US" altLang="en-US" sz="2800" b="1" dirty="0">
                <a:solidFill>
                  <a:schemeClr val="tx2"/>
                </a:solidFill>
              </a:rPr>
              <a:t>c) </a:t>
            </a:r>
            <a:r>
              <a:rPr lang="en-US" altLang="en-US" sz="2800" dirty="0">
                <a:solidFill>
                  <a:schemeClr val="tx2"/>
                </a:solidFill>
              </a:rPr>
              <a:t>direct data collection via questionnaires with companies or by measurements (usually collected together with the </a:t>
            </a:r>
            <a:r>
              <a:rPr lang="en-US" altLang="en-US" sz="2800" dirty="0">
                <a:solidFill>
                  <a:schemeClr val="accent4"/>
                </a:solidFill>
              </a:rPr>
              <a:t>intermediary</a:t>
            </a:r>
            <a:r>
              <a:rPr lang="en-US" altLang="en-US" sz="2800" dirty="0">
                <a:solidFill>
                  <a:schemeClr val="tx2"/>
                </a:solidFill>
              </a:rPr>
              <a:t> flows)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E5F3B4-E89A-C14B-8CF5-911DA5042D35}"/>
              </a:ext>
            </a:extLst>
          </p:cNvPr>
          <p:cNvSpPr/>
          <p:nvPr/>
        </p:nvSpPr>
        <p:spPr>
          <a:xfrm>
            <a:off x="9817173" y="2877465"/>
            <a:ext cx="4099839" cy="413869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B5BFE6-02B8-6F41-82AC-0FCADC30D35F}"/>
              </a:ext>
            </a:extLst>
          </p:cNvPr>
          <p:cNvSpPr/>
          <p:nvPr/>
        </p:nvSpPr>
        <p:spPr>
          <a:xfrm>
            <a:off x="944247" y="1402494"/>
            <a:ext cx="145751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>
                <a:solidFill>
                  <a:schemeClr val="tx2"/>
                </a:solidFill>
              </a:rPr>
              <a:t>These are the </a:t>
            </a:r>
            <a:r>
              <a:rPr lang="en-US" altLang="en-US" sz="2800" dirty="0">
                <a:solidFill>
                  <a:schemeClr val="accent5"/>
                </a:solidFill>
              </a:rPr>
              <a:t>direct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2"/>
                </a:solidFill>
              </a:rPr>
              <a:t>emission or extraction from the considered process,</a:t>
            </a:r>
            <a:br>
              <a:rPr lang="en-US" altLang="en-US" sz="280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i.e.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accent3"/>
                </a:solidFill>
              </a:rPr>
              <a:t>the direct elementary flows per unit of this UP</a:t>
            </a:r>
            <a:endParaRPr lang="en-US" sz="2800" dirty="0">
              <a:solidFill>
                <a:schemeClr val="accent3"/>
              </a:solidFill>
            </a:endParaRPr>
          </a:p>
        </p:txBody>
      </p:sp>
      <p:pic>
        <p:nvPicPr>
          <p:cNvPr id="28" name="Picture 1">
            <a:extLst>
              <a:ext uri="{FF2B5EF4-FFF2-40B4-BE49-F238E27FC236}">
                <a16:creationId xmlns:a16="http://schemas.microsoft.com/office/drawing/2014/main" id="{B7320C39-7715-0D4C-89A9-CF638F099E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4247" y="1509716"/>
            <a:ext cx="735483" cy="504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1268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6749-8E30-E645-93C6-C20513A5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chemeClr val="tx2"/>
                </a:solidFill>
              </a:rPr>
              <a:t>1. Find the emission and extraction factor: repeat for all UP</a:t>
            </a:r>
            <a:endParaRPr lang="en-US" sz="3800" dirty="0">
              <a:solidFill>
                <a:schemeClr val="tx2"/>
              </a:solidFill>
            </a:endParaRPr>
          </a:p>
        </p:txBody>
      </p:sp>
      <p:sp>
        <p:nvSpPr>
          <p:cNvPr id="93" name="Rectangle 19">
            <a:extLst>
              <a:ext uri="{FF2B5EF4-FFF2-40B4-BE49-F238E27FC236}">
                <a16:creationId xmlns:a16="http://schemas.microsoft.com/office/drawing/2014/main" id="{95801A3E-2BAC-2B4B-99A9-889BBBC2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775" y="3172763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oxide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endParaRPr lang="en-US" sz="1600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Rectangle 19">
            <a:extLst>
              <a:ext uri="{FF2B5EF4-FFF2-40B4-BE49-F238E27FC236}">
                <a16:creationId xmlns:a16="http://schemas.microsoft.com/office/drawing/2014/main" id="{8FFDDB33-5239-AF40-BD72-A23B4D53C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512" y="3172763"/>
            <a:ext cx="18716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Anode, aluminum electrolysis</a:t>
            </a:r>
          </a:p>
          <a:p>
            <a:pPr algn="ctr">
              <a:defRPr/>
            </a:pPr>
            <a:endParaRPr lang="en-US" sz="1600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19">
            <a:extLst>
              <a:ext uri="{FF2B5EF4-FFF2-40B4-BE49-F238E27FC236}">
                <a16:creationId xmlns:a16="http://schemas.microsoft.com/office/drawing/2014/main" id="{C1BB0779-61F1-FC4F-88B8-6E2C7BD37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6863" y="3172763"/>
            <a:ext cx="2052637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Cathode, aluminum electrolysis</a:t>
            </a:r>
          </a:p>
          <a:p>
            <a:pPr algn="ctr">
              <a:defRPr/>
            </a:pPr>
            <a:endParaRPr lang="en-US" sz="1600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19">
            <a:extLst>
              <a:ext uri="{FF2B5EF4-FFF2-40B4-BE49-F238E27FC236}">
                <a16:creationId xmlns:a16="http://schemas.microsoft.com/office/drawing/2014/main" id="{CCB90FA9-39EE-F04C-9A26-3C170275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7762" y="6060426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Heat,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 fuel oil</a:t>
            </a:r>
          </a:p>
          <a:p>
            <a:pPr algn="ctr">
              <a:defRPr/>
            </a:pPr>
            <a:endParaRPr lang="en-US" sz="1600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Rectangle 19">
            <a:extLst>
              <a:ext uri="{FF2B5EF4-FFF2-40B4-BE49-F238E27FC236}">
                <a16:creationId xmlns:a16="http://schemas.microsoft.com/office/drawing/2014/main" id="{3022CB08-C5CE-8E47-A457-A19301EA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1225" y="6060305"/>
            <a:ext cx="205841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Transport, transoceanic freight</a:t>
            </a:r>
          </a:p>
          <a:p>
            <a:pPr algn="ctr">
              <a:defRPr/>
            </a:pPr>
            <a:endParaRPr lang="en-US" sz="1600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19">
            <a:extLst>
              <a:ext uri="{FF2B5EF4-FFF2-40B4-BE49-F238E27FC236}">
                <a16:creationId xmlns:a16="http://schemas.microsoft.com/office/drawing/2014/main" id="{438B3182-2539-D74D-B126-E193AD2E4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107" y="3172763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mix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endParaRPr lang="en-US" sz="1600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9" name="Straight Connector 205">
            <a:extLst>
              <a:ext uri="{FF2B5EF4-FFF2-40B4-BE49-F238E27FC236}">
                <a16:creationId xmlns:a16="http://schemas.microsoft.com/office/drawing/2014/main" id="{06D69943-7789-0647-98A1-939020A875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103725" y="2747192"/>
            <a:ext cx="0" cy="433388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" name="Straight Connector 206">
            <a:extLst>
              <a:ext uri="{FF2B5EF4-FFF2-40B4-BE49-F238E27FC236}">
                <a16:creationId xmlns:a16="http://schemas.microsoft.com/office/drawing/2014/main" id="{2FEC53C3-F3D7-D94B-B82F-A8BD2573E4D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835187" y="2747192"/>
            <a:ext cx="2268538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Straight Arrow Connector 207">
            <a:extLst>
              <a:ext uri="{FF2B5EF4-FFF2-40B4-BE49-F238E27FC236}">
                <a16:creationId xmlns:a16="http://schemas.microsoft.com/office/drawing/2014/main" id="{20CA88C2-BC99-C249-B95F-C18CCD27CF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835187" y="2567805"/>
            <a:ext cx="0" cy="179387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2" name="Group 208">
            <a:extLst>
              <a:ext uri="{FF2B5EF4-FFF2-40B4-BE49-F238E27FC236}">
                <a16:creationId xmlns:a16="http://schemas.microsoft.com/office/drawing/2014/main" id="{34124118-570F-2741-8B19-AAB13495643F}"/>
              </a:ext>
            </a:extLst>
          </p:cNvPr>
          <p:cNvGrpSpPr>
            <a:grpSpLocks/>
          </p:cNvGrpSpPr>
          <p:nvPr/>
        </p:nvGrpSpPr>
        <p:grpSpPr bwMode="auto">
          <a:xfrm>
            <a:off x="11619287" y="2567805"/>
            <a:ext cx="576263" cy="611187"/>
            <a:chOff x="4860032" y="2097192"/>
            <a:chExt cx="972108" cy="611728"/>
          </a:xfrm>
        </p:grpSpPr>
        <p:cxnSp>
          <p:nvCxnSpPr>
            <p:cNvPr id="103" name="Straight Connector 209">
              <a:extLst>
                <a:ext uri="{FF2B5EF4-FFF2-40B4-BE49-F238E27FC236}">
                  <a16:creationId xmlns:a16="http://schemas.microsoft.com/office/drawing/2014/main" id="{11FC6F00-82EF-A349-9B37-7FBBABC909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Straight Connector 210">
              <a:extLst>
                <a:ext uri="{FF2B5EF4-FFF2-40B4-BE49-F238E27FC236}">
                  <a16:creationId xmlns:a16="http://schemas.microsoft.com/office/drawing/2014/main" id="{7EE9DB23-A6E1-1048-B930-BEB006679F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Straight Arrow Connector 211">
              <a:extLst>
                <a:ext uri="{FF2B5EF4-FFF2-40B4-BE49-F238E27FC236}">
                  <a16:creationId xmlns:a16="http://schemas.microsoft.com/office/drawing/2014/main" id="{029260E1-D65B-5A46-93F9-42BCD61036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6" name="Group 212">
            <a:extLst>
              <a:ext uri="{FF2B5EF4-FFF2-40B4-BE49-F238E27FC236}">
                <a16:creationId xmlns:a16="http://schemas.microsoft.com/office/drawing/2014/main" id="{3C167CEC-C2C0-3F45-9B2B-092E7E583B5D}"/>
              </a:ext>
            </a:extLst>
          </p:cNvPr>
          <p:cNvGrpSpPr>
            <a:grpSpLocks/>
          </p:cNvGrpSpPr>
          <p:nvPr/>
        </p:nvGrpSpPr>
        <p:grpSpPr bwMode="auto">
          <a:xfrm>
            <a:off x="7802937" y="2567805"/>
            <a:ext cx="2754313" cy="611187"/>
            <a:chOff x="971600" y="2097192"/>
            <a:chExt cx="2988332" cy="611728"/>
          </a:xfrm>
        </p:grpSpPr>
        <p:cxnSp>
          <p:nvCxnSpPr>
            <p:cNvPr id="107" name="Straight Connector 213">
              <a:extLst>
                <a:ext uri="{FF2B5EF4-FFF2-40B4-BE49-F238E27FC236}">
                  <a16:creationId xmlns:a16="http://schemas.microsoft.com/office/drawing/2014/main" id="{5A3C90F1-A690-B444-AFD4-E5F38D5DD3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71600" y="2276872"/>
              <a:ext cx="0" cy="43204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Straight Connector 214">
              <a:extLst>
                <a:ext uri="{FF2B5EF4-FFF2-40B4-BE49-F238E27FC236}">
                  <a16:creationId xmlns:a16="http://schemas.microsoft.com/office/drawing/2014/main" id="{97676850-8576-FC4F-96A4-2E718065E6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71600" y="2276872"/>
              <a:ext cx="2988332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Straight Arrow Connector 215">
              <a:extLst>
                <a:ext uri="{FF2B5EF4-FFF2-40B4-BE49-F238E27FC236}">
                  <a16:creationId xmlns:a16="http://schemas.microsoft.com/office/drawing/2014/main" id="{BC643587-F748-1C48-AEFC-31B4875384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59932" y="2097192"/>
              <a:ext cx="0" cy="17968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0" name="Group 216">
            <a:extLst>
              <a:ext uri="{FF2B5EF4-FFF2-40B4-BE49-F238E27FC236}">
                <a16:creationId xmlns:a16="http://schemas.microsoft.com/office/drawing/2014/main" id="{9F2CCBB5-75AA-E54F-AD93-E66FCA131CEC}"/>
              </a:ext>
            </a:extLst>
          </p:cNvPr>
          <p:cNvGrpSpPr>
            <a:grpSpLocks/>
          </p:cNvGrpSpPr>
          <p:nvPr/>
        </p:nvGrpSpPr>
        <p:grpSpPr bwMode="auto">
          <a:xfrm>
            <a:off x="10071475" y="2567805"/>
            <a:ext cx="647700" cy="611187"/>
            <a:chOff x="3311860" y="2096852"/>
            <a:chExt cx="972108" cy="612068"/>
          </a:xfrm>
        </p:grpSpPr>
        <p:cxnSp>
          <p:nvCxnSpPr>
            <p:cNvPr id="111" name="Straight Connector 217">
              <a:extLst>
                <a:ext uri="{FF2B5EF4-FFF2-40B4-BE49-F238E27FC236}">
                  <a16:creationId xmlns:a16="http://schemas.microsoft.com/office/drawing/2014/main" id="{370754BD-4B8B-F147-82B1-0F5C40741F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Straight Connector 218">
              <a:extLst>
                <a:ext uri="{FF2B5EF4-FFF2-40B4-BE49-F238E27FC236}">
                  <a16:creationId xmlns:a16="http://schemas.microsoft.com/office/drawing/2014/main" id="{A99B2FCC-4D4C-9E43-B170-BF64A40FF7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Straight Arrow Connector 219">
              <a:extLst>
                <a:ext uri="{FF2B5EF4-FFF2-40B4-BE49-F238E27FC236}">
                  <a16:creationId xmlns:a16="http://schemas.microsoft.com/office/drawing/2014/main" id="{F06F79AB-ECAC-6D46-A726-F28D02795A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245">
            <a:extLst>
              <a:ext uri="{FF2B5EF4-FFF2-40B4-BE49-F238E27FC236}">
                <a16:creationId xmlns:a16="http://schemas.microsoft.com/office/drawing/2014/main" id="{25293F2B-A6BE-0D43-86F6-9ECAB390F8BA}"/>
              </a:ext>
            </a:extLst>
          </p:cNvPr>
          <p:cNvGrpSpPr>
            <a:grpSpLocks/>
          </p:cNvGrpSpPr>
          <p:nvPr/>
        </p:nvGrpSpPr>
        <p:grpSpPr bwMode="auto">
          <a:xfrm>
            <a:off x="11143037" y="2567805"/>
            <a:ext cx="404813" cy="3492500"/>
            <a:chOff x="4860032" y="2097192"/>
            <a:chExt cx="972108" cy="611728"/>
          </a:xfrm>
        </p:grpSpPr>
        <p:cxnSp>
          <p:nvCxnSpPr>
            <p:cNvPr id="115" name="Straight Connector 246">
              <a:extLst>
                <a:ext uri="{FF2B5EF4-FFF2-40B4-BE49-F238E27FC236}">
                  <a16:creationId xmlns:a16="http://schemas.microsoft.com/office/drawing/2014/main" id="{DB7D1F3D-664B-1147-A081-D23246C244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Straight Connector 247">
              <a:extLst>
                <a:ext uri="{FF2B5EF4-FFF2-40B4-BE49-F238E27FC236}">
                  <a16:creationId xmlns:a16="http://schemas.microsoft.com/office/drawing/2014/main" id="{6CCFD916-9AFF-2B48-B3CE-3BB80BD5FE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Straight Arrow Connector 248">
              <a:extLst>
                <a:ext uri="{FF2B5EF4-FFF2-40B4-BE49-F238E27FC236}">
                  <a16:creationId xmlns:a16="http://schemas.microsoft.com/office/drawing/2014/main" id="{8E260161-858B-254F-AC8B-D0CA35FC35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8" name="Group 257">
            <a:extLst>
              <a:ext uri="{FF2B5EF4-FFF2-40B4-BE49-F238E27FC236}">
                <a16:creationId xmlns:a16="http://schemas.microsoft.com/office/drawing/2014/main" id="{A2A0490C-F5E8-C042-9BF0-4CAC2B974201}"/>
              </a:ext>
            </a:extLst>
          </p:cNvPr>
          <p:cNvGrpSpPr>
            <a:grpSpLocks/>
          </p:cNvGrpSpPr>
          <p:nvPr/>
        </p:nvGrpSpPr>
        <p:grpSpPr bwMode="auto">
          <a:xfrm>
            <a:off x="9747625" y="2567805"/>
            <a:ext cx="1260475" cy="3498850"/>
            <a:chOff x="3815916" y="2097193"/>
            <a:chExt cx="1260140" cy="3498194"/>
          </a:xfrm>
        </p:grpSpPr>
        <p:cxnSp>
          <p:nvCxnSpPr>
            <p:cNvPr id="119" name="Straight Connector 258">
              <a:extLst>
                <a:ext uri="{FF2B5EF4-FFF2-40B4-BE49-F238E27FC236}">
                  <a16:creationId xmlns:a16="http://schemas.microsoft.com/office/drawing/2014/main" id="{88B38334-B778-3444-93B1-68DBC779BD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15916" y="5409220"/>
              <a:ext cx="0" cy="186167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Straight Connector 259">
              <a:extLst>
                <a:ext uri="{FF2B5EF4-FFF2-40B4-BE49-F238E27FC236}">
                  <a16:creationId xmlns:a16="http://schemas.microsoft.com/office/drawing/2014/main" id="{543E06D0-248B-D44D-A9FC-DE0F49EB78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15916" y="5409220"/>
              <a:ext cx="126014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Straight Arrow Connector 260">
              <a:extLst>
                <a:ext uri="{FF2B5EF4-FFF2-40B4-BE49-F238E27FC236}">
                  <a16:creationId xmlns:a16="http://schemas.microsoft.com/office/drawing/2014/main" id="{D62A0FE2-A804-C044-BDAA-1A4390A436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2097193"/>
              <a:ext cx="0" cy="3312027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3" name="Rectangle 19">
            <a:extLst>
              <a:ext uri="{FF2B5EF4-FFF2-40B4-BE49-F238E27FC236}">
                <a16:creationId xmlns:a16="http://schemas.microsoft.com/office/drawing/2014/main" id="{5F6B774C-6F44-244E-8A58-454D1CDE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8031" y="1739252"/>
            <a:ext cx="1781907" cy="828432"/>
          </a:xfrm>
          <a:prstGeom prst="rect">
            <a:avLst/>
          </a:prstGeom>
          <a:solidFill>
            <a:schemeClr val="accent6">
              <a:alpha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Aluminum, </a:t>
            </a:r>
            <a:r>
              <a:rPr lang="en-US" sz="1600" b="1" kern="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primary,liquid</a:t>
            </a:r>
            <a:endParaRPr lang="en-US" sz="1600" b="1" kern="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600" kern="0" dirty="0" err="1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kg</a:t>
            </a:r>
            <a:r>
              <a:rPr lang="en-US" altLang="en-US" sz="2000" baseline="-25000" dirty="0" err="1">
                <a:solidFill>
                  <a:srgbClr val="407EC9"/>
                </a:solidFill>
              </a:rPr>
              <a:t>Al</a:t>
            </a:r>
            <a:r>
              <a:rPr lang="en-US" altLang="en-US" sz="2000" baseline="-25000" dirty="0">
                <a:solidFill>
                  <a:srgbClr val="407EC9"/>
                </a:solidFill>
              </a:rPr>
              <a:t> liquid </a:t>
            </a:r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FU</a:t>
            </a:r>
          </a:p>
        </p:txBody>
      </p:sp>
      <p:sp>
        <p:nvSpPr>
          <p:cNvPr id="134" name="Rectangle 19">
            <a:extLst>
              <a:ext uri="{FF2B5EF4-FFF2-40B4-BE49-F238E27FC236}">
                <a16:creationId xmlns:a16="http://schemas.microsoft.com/office/drawing/2014/main" id="{5026C708-C8AA-4547-A023-4C03E667B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863" y="4584001"/>
            <a:ext cx="1655763" cy="828432"/>
          </a:xfrm>
          <a:prstGeom prst="rect">
            <a:avLst/>
          </a:prstGeom>
          <a:solidFill>
            <a:schemeClr val="accent5">
              <a:alpha val="2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hydroxide</a:t>
            </a:r>
          </a:p>
          <a:p>
            <a:pPr algn="ctr">
              <a:defRPr/>
            </a:pPr>
            <a:endParaRPr lang="en-US" sz="1600" b="1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5" name="Group 222">
            <a:extLst>
              <a:ext uri="{FF2B5EF4-FFF2-40B4-BE49-F238E27FC236}">
                <a16:creationId xmlns:a16="http://schemas.microsoft.com/office/drawing/2014/main" id="{94B673DE-0ABA-5A49-B193-4941BA924682}"/>
              </a:ext>
            </a:extLst>
          </p:cNvPr>
          <p:cNvGrpSpPr>
            <a:grpSpLocks/>
          </p:cNvGrpSpPr>
          <p:nvPr/>
        </p:nvGrpSpPr>
        <p:grpSpPr bwMode="auto">
          <a:xfrm>
            <a:off x="7575777" y="3972813"/>
            <a:ext cx="323849" cy="611188"/>
            <a:chOff x="3311860" y="2096852"/>
            <a:chExt cx="972108" cy="612068"/>
          </a:xfrm>
        </p:grpSpPr>
        <p:cxnSp>
          <p:nvCxnSpPr>
            <p:cNvPr id="136" name="Straight Connector 223">
              <a:extLst>
                <a:ext uri="{FF2B5EF4-FFF2-40B4-BE49-F238E27FC236}">
                  <a16:creationId xmlns:a16="http://schemas.microsoft.com/office/drawing/2014/main" id="{7F7FC5F5-5FE0-2D42-8E65-B2F2D79732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Straight Connector 224">
              <a:extLst>
                <a:ext uri="{FF2B5EF4-FFF2-40B4-BE49-F238E27FC236}">
                  <a16:creationId xmlns:a16="http://schemas.microsoft.com/office/drawing/2014/main" id="{722AD473-7889-5347-AAC7-14C20E9F53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Straight Arrow Connector 225">
              <a:extLst>
                <a:ext uri="{FF2B5EF4-FFF2-40B4-BE49-F238E27FC236}">
                  <a16:creationId xmlns:a16="http://schemas.microsoft.com/office/drawing/2014/main" id="{845A677A-0AFE-4940-A65F-FADEFB5903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9" name="Group 249">
            <a:extLst>
              <a:ext uri="{FF2B5EF4-FFF2-40B4-BE49-F238E27FC236}">
                <a16:creationId xmlns:a16="http://schemas.microsoft.com/office/drawing/2014/main" id="{690AEE6A-8DCA-DF4F-A648-180865D57129}"/>
              </a:ext>
            </a:extLst>
          </p:cNvPr>
          <p:cNvGrpSpPr>
            <a:grpSpLocks/>
          </p:cNvGrpSpPr>
          <p:nvPr/>
        </p:nvGrpSpPr>
        <p:grpSpPr bwMode="auto">
          <a:xfrm>
            <a:off x="7288438" y="5412676"/>
            <a:ext cx="1206500" cy="611187"/>
            <a:chOff x="1223628" y="4977172"/>
            <a:chExt cx="1476164" cy="611728"/>
          </a:xfrm>
        </p:grpSpPr>
        <p:cxnSp>
          <p:nvCxnSpPr>
            <p:cNvPr id="140" name="Straight Connector 250">
              <a:extLst>
                <a:ext uri="{FF2B5EF4-FFF2-40B4-BE49-F238E27FC236}">
                  <a16:creationId xmlns:a16="http://schemas.microsoft.com/office/drawing/2014/main" id="{F620DC78-0E16-DB45-A3F7-00BE6DEF11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99792" y="5409220"/>
              <a:ext cx="0" cy="17968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Straight Connector 251">
              <a:extLst>
                <a:ext uri="{FF2B5EF4-FFF2-40B4-BE49-F238E27FC236}">
                  <a16:creationId xmlns:a16="http://schemas.microsoft.com/office/drawing/2014/main" id="{BF73BE41-C78F-2149-946A-7F19E31CC4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23628" y="5409220"/>
              <a:ext cx="1476164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Straight Arrow Connector 252">
              <a:extLst>
                <a:ext uri="{FF2B5EF4-FFF2-40B4-BE49-F238E27FC236}">
                  <a16:creationId xmlns:a16="http://schemas.microsoft.com/office/drawing/2014/main" id="{459B9F96-85DA-C64E-9316-4D64C3F96C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23628" y="4977172"/>
              <a:ext cx="0" cy="432048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" name="Group 253">
            <a:extLst>
              <a:ext uri="{FF2B5EF4-FFF2-40B4-BE49-F238E27FC236}">
                <a16:creationId xmlns:a16="http://schemas.microsoft.com/office/drawing/2014/main" id="{0D643083-71EC-EC44-B142-D9D94FFD5518}"/>
              </a:ext>
            </a:extLst>
          </p:cNvPr>
          <p:cNvGrpSpPr>
            <a:grpSpLocks/>
          </p:cNvGrpSpPr>
          <p:nvPr/>
        </p:nvGrpSpPr>
        <p:grpSpPr bwMode="auto">
          <a:xfrm>
            <a:off x="8223476" y="3994078"/>
            <a:ext cx="396875" cy="2052638"/>
            <a:chOff x="4860032" y="2097192"/>
            <a:chExt cx="972108" cy="611728"/>
          </a:xfrm>
        </p:grpSpPr>
        <p:cxnSp>
          <p:nvCxnSpPr>
            <p:cNvPr id="144" name="Straight Connector 254">
              <a:extLst>
                <a:ext uri="{FF2B5EF4-FFF2-40B4-BE49-F238E27FC236}">
                  <a16:creationId xmlns:a16="http://schemas.microsoft.com/office/drawing/2014/main" id="{A07BF6AC-4913-F04D-91E2-261A93AB95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Straight Connector 255">
              <a:extLst>
                <a:ext uri="{FF2B5EF4-FFF2-40B4-BE49-F238E27FC236}">
                  <a16:creationId xmlns:a16="http://schemas.microsoft.com/office/drawing/2014/main" id="{487959D6-B774-B146-83FD-72C868623A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Straight Arrow Connector 256">
              <a:extLst>
                <a:ext uri="{FF2B5EF4-FFF2-40B4-BE49-F238E27FC236}">
                  <a16:creationId xmlns:a16="http://schemas.microsoft.com/office/drawing/2014/main" id="{383F7207-9E47-6544-ADB1-02022AB93F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E350947-1B70-4343-B6D6-9CEF42E55DAA}"/>
              </a:ext>
            </a:extLst>
          </p:cNvPr>
          <p:cNvGrpSpPr/>
          <p:nvPr/>
        </p:nvGrpSpPr>
        <p:grpSpPr>
          <a:xfrm>
            <a:off x="8770831" y="3972813"/>
            <a:ext cx="647700" cy="2052638"/>
            <a:chOff x="18403110" y="6804590"/>
            <a:chExt cx="647700" cy="2052638"/>
          </a:xfrm>
        </p:grpSpPr>
        <p:cxnSp>
          <p:nvCxnSpPr>
            <p:cNvPr id="148" name="Straight Connector 261">
              <a:extLst>
                <a:ext uri="{FF2B5EF4-FFF2-40B4-BE49-F238E27FC236}">
                  <a16:creationId xmlns:a16="http://schemas.microsoft.com/office/drawing/2014/main" id="{DB1775EA-BEB7-6348-A96C-E0EA876760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8403110" y="7020490"/>
              <a:ext cx="0" cy="183673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Straight Connector 262">
              <a:extLst>
                <a:ext uri="{FF2B5EF4-FFF2-40B4-BE49-F238E27FC236}">
                  <a16:creationId xmlns:a16="http://schemas.microsoft.com/office/drawing/2014/main" id="{F8BBF1F4-624B-004D-881E-9E422C3635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8403110" y="7020490"/>
              <a:ext cx="6477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Straight Arrow Connector 263">
              <a:extLst>
                <a:ext uri="{FF2B5EF4-FFF2-40B4-BE49-F238E27FC236}">
                  <a16:creationId xmlns:a16="http://schemas.microsoft.com/office/drawing/2014/main" id="{EDD65DE6-DF07-084D-B627-4E82E27B1D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9050810" y="6804590"/>
              <a:ext cx="0" cy="21590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2" name="Group 241">
            <a:extLst>
              <a:ext uri="{FF2B5EF4-FFF2-40B4-BE49-F238E27FC236}">
                <a16:creationId xmlns:a16="http://schemas.microsoft.com/office/drawing/2014/main" id="{6619EBCB-8E2C-0846-949B-7A67C14E533A}"/>
              </a:ext>
            </a:extLst>
          </p:cNvPr>
          <p:cNvGrpSpPr>
            <a:grpSpLocks/>
          </p:cNvGrpSpPr>
          <p:nvPr/>
        </p:nvGrpSpPr>
        <p:grpSpPr bwMode="auto">
          <a:xfrm>
            <a:off x="7541643" y="5433941"/>
            <a:ext cx="3779837" cy="612775"/>
            <a:chOff x="1475656" y="4977512"/>
            <a:chExt cx="3600400" cy="611728"/>
          </a:xfrm>
        </p:grpSpPr>
        <p:cxnSp>
          <p:nvCxnSpPr>
            <p:cNvPr id="153" name="Straight Connector 242">
              <a:extLst>
                <a:ext uri="{FF2B5EF4-FFF2-40B4-BE49-F238E27FC236}">
                  <a16:creationId xmlns:a16="http://schemas.microsoft.com/office/drawing/2014/main" id="{003BF269-4C03-2448-8925-4810772128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5265204"/>
              <a:ext cx="0" cy="324036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243">
              <a:extLst>
                <a:ext uri="{FF2B5EF4-FFF2-40B4-BE49-F238E27FC236}">
                  <a16:creationId xmlns:a16="http://schemas.microsoft.com/office/drawing/2014/main" id="{B163FFB9-E523-B546-A2D7-C5C6D1D6B3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75656" y="5265204"/>
              <a:ext cx="36004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Arrow Connector 244">
              <a:extLst>
                <a:ext uri="{FF2B5EF4-FFF2-40B4-BE49-F238E27FC236}">
                  <a16:creationId xmlns:a16="http://schemas.microsoft.com/office/drawing/2014/main" id="{E8A30771-3E6C-BA4E-B758-2121FD37CB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475656" y="4977512"/>
              <a:ext cx="0" cy="287692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56" name="Straight Connector 234">
            <a:extLst>
              <a:ext uri="{FF2B5EF4-FFF2-40B4-BE49-F238E27FC236}">
                <a16:creationId xmlns:a16="http://schemas.microsoft.com/office/drawing/2014/main" id="{CCE6BB87-3A7E-7B46-A489-7D2A54FBD3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695161" y="5549239"/>
            <a:ext cx="0" cy="492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" name="Straight Connector 235">
            <a:extLst>
              <a:ext uri="{FF2B5EF4-FFF2-40B4-BE49-F238E27FC236}">
                <a16:creationId xmlns:a16="http://schemas.microsoft.com/office/drawing/2014/main" id="{68D9750A-3829-3F40-816B-F6135695C9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37274" y="5549239"/>
            <a:ext cx="5957887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" name="Straight Arrow Connector 236">
            <a:extLst>
              <a:ext uri="{FF2B5EF4-FFF2-40B4-BE49-F238E27FC236}">
                <a16:creationId xmlns:a16="http://schemas.microsoft.com/office/drawing/2014/main" id="{2E83AB13-A204-8247-89E8-00DAA98654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737274" y="5411088"/>
            <a:ext cx="0" cy="127000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8" name="Rectangle 19">
            <a:extLst>
              <a:ext uri="{FF2B5EF4-FFF2-40B4-BE49-F238E27FC236}">
                <a16:creationId xmlns:a16="http://schemas.microsoft.com/office/drawing/2014/main" id="{B278718F-2F6A-8A46-8CFA-EDC6DAF4D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562" y="6060062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Bauxite</a:t>
            </a:r>
          </a:p>
          <a:p>
            <a:pPr algn="ctr"/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600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9" name="Straight Connector 221">
            <a:extLst>
              <a:ext uri="{FF2B5EF4-FFF2-40B4-BE49-F238E27FC236}">
                <a16:creationId xmlns:a16="http://schemas.microsoft.com/office/drawing/2014/main" id="{D919100D-9ACE-CA44-8EB7-218DEDE7EF3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9127" y="5447287"/>
            <a:ext cx="0" cy="619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8" name="Rectangle 19">
            <a:extLst>
              <a:ext uri="{FF2B5EF4-FFF2-40B4-BE49-F238E27FC236}">
                <a16:creationId xmlns:a16="http://schemas.microsoft.com/office/drawing/2014/main" id="{3022CB08-C5CE-8E47-A457-A19301EA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6855" y="6046716"/>
            <a:ext cx="205841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b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truck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24168" y="5447287"/>
            <a:ext cx="3414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 0.503 </a:t>
            </a:r>
            <a:r>
              <a:rPr lang="en-US" altLang="fr-FR" sz="20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20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20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2000" dirty="0" err="1">
                <a:solidFill>
                  <a:schemeClr val="accent5"/>
                </a:solidFill>
              </a:rPr>
              <a:t>kg</a:t>
            </a:r>
            <a:r>
              <a:rPr lang="en-US" altLang="en-US" sz="2000" baseline="-25000" dirty="0" err="1">
                <a:solidFill>
                  <a:schemeClr val="accent5"/>
                </a:solidFill>
              </a:rPr>
              <a:t>Al</a:t>
            </a:r>
            <a:r>
              <a:rPr lang="en-US" altLang="en-US" sz="2000" baseline="-25000" dirty="0">
                <a:solidFill>
                  <a:schemeClr val="accent5"/>
                </a:solidFill>
              </a:rPr>
              <a:t> hydroxide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88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159" y="5415681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7366" y="6886871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924086" y="7268677"/>
            <a:ext cx="27045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0.029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 err="1">
                <a:solidFill>
                  <a:schemeClr val="accent3"/>
                </a:solidFill>
              </a:rPr>
              <a:t>MJ</a:t>
            </a:r>
            <a:r>
              <a:rPr lang="en-US" altLang="en-US" sz="1600" baseline="-25000" dirty="0" err="1">
                <a:solidFill>
                  <a:schemeClr val="accent3"/>
                </a:solidFill>
              </a:rPr>
              <a:t>light</a:t>
            </a:r>
            <a:r>
              <a:rPr lang="en-US" altLang="en-US" sz="1600" baseline="-25000" dirty="0">
                <a:solidFill>
                  <a:schemeClr val="accent3"/>
                </a:solidFill>
              </a:rPr>
              <a:t> fuel oil</a:t>
            </a:r>
            <a:endParaRPr lang="en-US" sz="1600" dirty="0"/>
          </a:p>
        </p:txBody>
      </p:sp>
      <p:sp>
        <p:nvSpPr>
          <p:cNvPr id="87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194" y="6888494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10557250" y="7268677"/>
            <a:ext cx="21483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0.103 </a:t>
            </a:r>
            <a:r>
              <a:rPr lang="en-US" altLang="fr-FR" sz="1600" dirty="0" err="1">
                <a:solidFill>
                  <a:srgbClr val="ADA400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rgbClr val="ADA400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rgbClr val="ADA400"/>
                </a:solidFill>
                <a:cs typeface="Arial" panose="020B0604020202020204" pitchFamily="34" charset="0"/>
              </a:rPr>
              <a:t> waste</a:t>
            </a:r>
            <a:r>
              <a:rPr lang="en-US" altLang="en-US" sz="1600" dirty="0">
                <a:solidFill>
                  <a:srgbClr val="ADA400"/>
                </a:solidFill>
              </a:rPr>
              <a:t>/t</a:t>
            </a:r>
            <a:r>
              <a:rPr lang="en-US" altLang="en-US" sz="1600" dirty="0">
                <a:solidFill>
                  <a:schemeClr val="accent3"/>
                </a:solidFill>
              </a:rPr>
              <a:t>-km</a:t>
            </a:r>
            <a:endParaRPr lang="en-US" sz="1600" dirty="0"/>
          </a:p>
        </p:txBody>
      </p:sp>
      <p:sp>
        <p:nvSpPr>
          <p:cNvPr id="91" name="Rectangle 90"/>
          <p:cNvSpPr/>
          <p:nvPr/>
        </p:nvSpPr>
        <p:spPr>
          <a:xfrm>
            <a:off x="13056855" y="7268677"/>
            <a:ext cx="20345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1.38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t-km</a:t>
            </a:r>
            <a:endParaRPr lang="en-US" sz="1600" dirty="0"/>
          </a:p>
        </p:txBody>
      </p:sp>
      <p:sp>
        <p:nvSpPr>
          <p:cNvPr id="9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2455" y="6839074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54689" y="3991743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3285804" y="4438931"/>
            <a:ext cx="20217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0.049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MJ</a:t>
            </a:r>
            <a:endParaRPr lang="en-US" sz="1600" dirty="0"/>
          </a:p>
        </p:txBody>
      </p:sp>
      <p:sp>
        <p:nvSpPr>
          <p:cNvPr id="159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9971" y="3974159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Rectangle 159"/>
          <p:cNvSpPr/>
          <p:nvPr/>
        </p:nvSpPr>
        <p:spPr>
          <a:xfrm>
            <a:off x="8727723" y="4402732"/>
            <a:ext cx="22846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1.40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 err="1">
                <a:solidFill>
                  <a:schemeClr val="accent3"/>
                </a:solidFill>
              </a:rPr>
              <a:t>kg</a:t>
            </a:r>
            <a:r>
              <a:rPr lang="en-US" altLang="en-US" sz="1600" baseline="-25000" dirty="0" err="1">
                <a:solidFill>
                  <a:schemeClr val="accent3"/>
                </a:solidFill>
              </a:rPr>
              <a:t>anode</a:t>
            </a:r>
            <a:endParaRPr lang="en-US" sz="1600" dirty="0"/>
          </a:p>
        </p:txBody>
      </p:sp>
      <p:sp>
        <p:nvSpPr>
          <p:cNvPr id="161" name="Rectangle 160"/>
          <p:cNvSpPr/>
          <p:nvPr/>
        </p:nvSpPr>
        <p:spPr>
          <a:xfrm>
            <a:off x="7071744" y="1963779"/>
            <a:ext cx="29322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56.0 </a:t>
            </a:r>
            <a:r>
              <a:rPr lang="en-US" altLang="fr-FR" sz="20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20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20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2000" dirty="0" err="1">
                <a:solidFill>
                  <a:schemeClr val="accent3"/>
                </a:solidFill>
              </a:rPr>
              <a:t>kg</a:t>
            </a:r>
            <a:r>
              <a:rPr lang="en-US" altLang="en-US" sz="2000" baseline="-25000" dirty="0" err="1">
                <a:solidFill>
                  <a:schemeClr val="accent3"/>
                </a:solidFill>
              </a:rPr>
              <a:t>Al</a:t>
            </a:r>
            <a:r>
              <a:rPr lang="en-US" altLang="en-US" sz="2000" baseline="-25000" dirty="0">
                <a:solidFill>
                  <a:schemeClr val="accent3"/>
                </a:solidFill>
              </a:rPr>
              <a:t> liquid</a:t>
            </a:r>
            <a:endParaRPr lang="en-US" sz="2000" dirty="0"/>
          </a:p>
        </p:txBody>
      </p:sp>
      <p:sp>
        <p:nvSpPr>
          <p:cNvPr id="166" name="Text Box 41">
            <a:extLst>
              <a:ext uri="{FF2B5EF4-FFF2-40B4-BE49-F238E27FC236}">
                <a16:creationId xmlns:a16="http://schemas.microsoft.com/office/drawing/2014/main" id="{8250D720-7B88-5840-9A9E-D1C5796B8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752" y="3338912"/>
            <a:ext cx="1361787" cy="1015663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Aluminum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oxide</a:t>
            </a:r>
            <a:endParaRPr lang="en-US" altLang="en-US" sz="20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 kg</a:t>
            </a:r>
          </a:p>
        </p:txBody>
      </p:sp>
      <p:sp>
        <p:nvSpPr>
          <p:cNvPr id="167" name="Line 56">
            <a:extLst>
              <a:ext uri="{FF2B5EF4-FFF2-40B4-BE49-F238E27FC236}">
                <a16:creationId xmlns:a16="http://schemas.microsoft.com/office/drawing/2014/main" id="{F4AA7143-6058-674F-8B86-CCA624E43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4361" y="4171141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Text Box 60">
            <a:extLst>
              <a:ext uri="{FF2B5EF4-FFF2-40B4-BE49-F238E27FC236}">
                <a16:creationId xmlns:a16="http://schemas.microsoft.com/office/drawing/2014/main" id="{968D007A-425D-0749-9A0A-764DD2694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01" y="3998507"/>
            <a:ext cx="35918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0"/>
              </a:spcBef>
              <a:buClrTx/>
              <a:buNone/>
            </a:pPr>
            <a:r>
              <a:rPr lang="en-US" altLang="fr-FR" sz="20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0.038 </a:t>
            </a:r>
            <a:r>
              <a:rPr lang="en-US" altLang="fr-FR" sz="2000" b="0" dirty="0" err="1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MJ</a:t>
            </a:r>
            <a:r>
              <a:rPr lang="en-US" altLang="fr-FR" sz="2000" b="0" baseline="-25000" dirty="0" err="1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heat</a:t>
            </a:r>
            <a:r>
              <a:rPr lang="en-US" altLang="fr-FR" sz="2000" b="0" baseline="-2500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 waste</a:t>
            </a:r>
            <a:r>
              <a:rPr lang="en-US" altLang="fr-FR" sz="20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/</a:t>
            </a:r>
            <a:r>
              <a:rPr lang="en-US" altLang="en-US" sz="2000" b="0" dirty="0" err="1">
                <a:solidFill>
                  <a:srgbClr val="ADA400"/>
                </a:solidFill>
                <a:latin typeface="Arial" panose="020B0604020202020204"/>
              </a:rPr>
              <a:t>kg</a:t>
            </a:r>
            <a:r>
              <a:rPr lang="en-US" altLang="en-US" sz="2000" b="0" baseline="-25000" dirty="0" err="1">
                <a:solidFill>
                  <a:srgbClr val="ADA400"/>
                </a:solidFill>
                <a:latin typeface="Arial" panose="020B0604020202020204"/>
              </a:rPr>
              <a:t>Al</a:t>
            </a:r>
            <a:r>
              <a:rPr lang="en-US" altLang="en-US" sz="2000" b="0" baseline="-25000" dirty="0">
                <a:solidFill>
                  <a:srgbClr val="ADA400"/>
                </a:solidFill>
                <a:latin typeface="Arial" panose="020B0604020202020204"/>
              </a:rPr>
              <a:t> oxide</a:t>
            </a:r>
            <a:endParaRPr lang="en-US" sz="2000" b="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3" name="Text Box 41">
            <a:extLst>
              <a:ext uri="{FF2B5EF4-FFF2-40B4-BE49-F238E27FC236}">
                <a16:creationId xmlns:a16="http://schemas.microsoft.com/office/drawing/2014/main" id="{8250D720-7B88-5840-9A9E-D1C5796B8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8531" y="4812455"/>
            <a:ext cx="1361787" cy="1015663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Aluminum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hydroxide</a:t>
            </a:r>
            <a:endParaRPr lang="en-US" altLang="en-US" sz="20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 kg</a:t>
            </a:r>
          </a:p>
        </p:txBody>
      </p:sp>
      <p:sp>
        <p:nvSpPr>
          <p:cNvPr id="174" name="Line 56">
            <a:extLst>
              <a:ext uri="{FF2B5EF4-FFF2-40B4-BE49-F238E27FC236}">
                <a16:creationId xmlns:a16="http://schemas.microsoft.com/office/drawing/2014/main" id="{F4AA7143-6058-674F-8B86-CCA624E43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3140" y="5644684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7659" y="3997389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0" name="Rectangle 179"/>
          <p:cNvSpPr/>
          <p:nvPr/>
        </p:nvSpPr>
        <p:spPr>
          <a:xfrm>
            <a:off x="2593479" y="6008077"/>
            <a:ext cx="235833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Elementary </a:t>
            </a:r>
            <a:br>
              <a:rPr lang="en-US" sz="2400" dirty="0">
                <a:solidFill>
                  <a:schemeClr val="accent3"/>
                </a:solidFill>
              </a:rPr>
            </a:br>
            <a:r>
              <a:rPr lang="en-US" sz="2400" dirty="0">
                <a:solidFill>
                  <a:schemeClr val="accent3"/>
                </a:solidFill>
              </a:rPr>
              <a:t>flow per unit UP</a:t>
            </a:r>
          </a:p>
        </p:txBody>
      </p:sp>
      <p:sp>
        <p:nvSpPr>
          <p:cNvPr id="81" name="Line 35">
            <a:extLst>
              <a:ext uri="{FF2B5EF4-FFF2-40B4-BE49-F238E27FC236}">
                <a16:creationId xmlns:a16="http://schemas.microsoft.com/office/drawing/2014/main" id="{B420AEAB-CBC8-774A-8B7B-A79984BA385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102409" y="2013572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87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6749-8E30-E645-93C6-C20513A5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chemeClr val="tx2"/>
                </a:solidFill>
              </a:rPr>
              <a:t>2. Identify the intermediary flows per functional unit (FU) for all UPs</a:t>
            </a:r>
            <a:endParaRPr lang="en-US" sz="3800" dirty="0">
              <a:solidFill>
                <a:schemeClr val="tx2"/>
              </a:solidFill>
            </a:endParaRPr>
          </a:p>
        </p:txBody>
      </p:sp>
      <p:sp>
        <p:nvSpPr>
          <p:cNvPr id="93" name="Rectangle 19">
            <a:extLst>
              <a:ext uri="{FF2B5EF4-FFF2-40B4-BE49-F238E27FC236}">
                <a16:creationId xmlns:a16="http://schemas.microsoft.com/office/drawing/2014/main" id="{95801A3E-2BAC-2B4B-99A9-889BBBC2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775" y="3172763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oxide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1.93 kg/FU</a:t>
            </a:r>
          </a:p>
        </p:txBody>
      </p:sp>
      <p:sp>
        <p:nvSpPr>
          <p:cNvPr id="94" name="Rectangle 19">
            <a:extLst>
              <a:ext uri="{FF2B5EF4-FFF2-40B4-BE49-F238E27FC236}">
                <a16:creationId xmlns:a16="http://schemas.microsoft.com/office/drawing/2014/main" id="{8FFDDB33-5239-AF40-BD72-A23B4D53C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512" y="3172763"/>
            <a:ext cx="18716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Anode, aluminum electrolysis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0.449 kg/FU</a:t>
            </a:r>
          </a:p>
        </p:txBody>
      </p:sp>
      <p:sp>
        <p:nvSpPr>
          <p:cNvPr id="95" name="Rectangle 19">
            <a:extLst>
              <a:ext uri="{FF2B5EF4-FFF2-40B4-BE49-F238E27FC236}">
                <a16:creationId xmlns:a16="http://schemas.microsoft.com/office/drawing/2014/main" id="{C1BB0779-61F1-FC4F-88B8-6E2C7BD37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6863" y="3172763"/>
            <a:ext cx="2052637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Cathode, aluminum electrolysis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0.0181 kg/FU</a:t>
            </a:r>
          </a:p>
        </p:txBody>
      </p:sp>
      <p:sp>
        <p:nvSpPr>
          <p:cNvPr id="96" name="Rectangle 19">
            <a:extLst>
              <a:ext uri="{FF2B5EF4-FFF2-40B4-BE49-F238E27FC236}">
                <a16:creationId xmlns:a16="http://schemas.microsoft.com/office/drawing/2014/main" id="{CCB90FA9-39EE-F04C-9A26-3C170275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7762" y="6060426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Heat,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 fuel oil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14.9 MJ/FU</a:t>
            </a:r>
          </a:p>
        </p:txBody>
      </p:sp>
      <p:sp>
        <p:nvSpPr>
          <p:cNvPr id="97" name="Rectangle 19">
            <a:extLst>
              <a:ext uri="{FF2B5EF4-FFF2-40B4-BE49-F238E27FC236}">
                <a16:creationId xmlns:a16="http://schemas.microsoft.com/office/drawing/2014/main" id="{3022CB08-C5CE-8E47-A457-A19301EA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1225" y="6060305"/>
            <a:ext cx="205841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Transport, transoceanic freight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34.1 </a:t>
            </a:r>
            <a:r>
              <a:rPr lang="en-US" sz="1600" kern="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t∙km</a:t>
            </a: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/FU</a:t>
            </a:r>
          </a:p>
        </p:txBody>
      </p:sp>
      <p:sp>
        <p:nvSpPr>
          <p:cNvPr id="98" name="Rectangle 19">
            <a:extLst>
              <a:ext uri="{FF2B5EF4-FFF2-40B4-BE49-F238E27FC236}">
                <a16:creationId xmlns:a16="http://schemas.microsoft.com/office/drawing/2014/main" id="{438B3182-2539-D74D-B126-E193AD2E4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107" y="3172763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mix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57.4 kg/FU</a:t>
            </a:r>
          </a:p>
        </p:txBody>
      </p:sp>
      <p:cxnSp>
        <p:nvCxnSpPr>
          <p:cNvPr id="99" name="Straight Connector 205">
            <a:extLst>
              <a:ext uri="{FF2B5EF4-FFF2-40B4-BE49-F238E27FC236}">
                <a16:creationId xmlns:a16="http://schemas.microsoft.com/office/drawing/2014/main" id="{06D69943-7789-0647-98A1-939020A875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103725" y="2747192"/>
            <a:ext cx="0" cy="433388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" name="Straight Connector 206">
            <a:extLst>
              <a:ext uri="{FF2B5EF4-FFF2-40B4-BE49-F238E27FC236}">
                <a16:creationId xmlns:a16="http://schemas.microsoft.com/office/drawing/2014/main" id="{2FEC53C3-F3D7-D94B-B82F-A8BD2573E4D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835187" y="2747192"/>
            <a:ext cx="2268538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Straight Arrow Connector 207">
            <a:extLst>
              <a:ext uri="{FF2B5EF4-FFF2-40B4-BE49-F238E27FC236}">
                <a16:creationId xmlns:a16="http://schemas.microsoft.com/office/drawing/2014/main" id="{20CA88C2-BC99-C249-B95F-C18CCD27CF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835187" y="2567805"/>
            <a:ext cx="0" cy="179387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2" name="Group 208">
            <a:extLst>
              <a:ext uri="{FF2B5EF4-FFF2-40B4-BE49-F238E27FC236}">
                <a16:creationId xmlns:a16="http://schemas.microsoft.com/office/drawing/2014/main" id="{34124118-570F-2741-8B19-AAB13495643F}"/>
              </a:ext>
            </a:extLst>
          </p:cNvPr>
          <p:cNvGrpSpPr>
            <a:grpSpLocks/>
          </p:cNvGrpSpPr>
          <p:nvPr/>
        </p:nvGrpSpPr>
        <p:grpSpPr bwMode="auto">
          <a:xfrm>
            <a:off x="11619287" y="2567805"/>
            <a:ext cx="576263" cy="611187"/>
            <a:chOff x="4860032" y="2097192"/>
            <a:chExt cx="972108" cy="611728"/>
          </a:xfrm>
        </p:grpSpPr>
        <p:cxnSp>
          <p:nvCxnSpPr>
            <p:cNvPr id="103" name="Straight Connector 209">
              <a:extLst>
                <a:ext uri="{FF2B5EF4-FFF2-40B4-BE49-F238E27FC236}">
                  <a16:creationId xmlns:a16="http://schemas.microsoft.com/office/drawing/2014/main" id="{11FC6F00-82EF-A349-9B37-7FBBABC909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Straight Connector 210">
              <a:extLst>
                <a:ext uri="{FF2B5EF4-FFF2-40B4-BE49-F238E27FC236}">
                  <a16:creationId xmlns:a16="http://schemas.microsoft.com/office/drawing/2014/main" id="{7EE9DB23-A6E1-1048-B930-BEB006679F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Straight Arrow Connector 211">
              <a:extLst>
                <a:ext uri="{FF2B5EF4-FFF2-40B4-BE49-F238E27FC236}">
                  <a16:creationId xmlns:a16="http://schemas.microsoft.com/office/drawing/2014/main" id="{029260E1-D65B-5A46-93F9-42BCD61036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6" name="Group 212">
            <a:extLst>
              <a:ext uri="{FF2B5EF4-FFF2-40B4-BE49-F238E27FC236}">
                <a16:creationId xmlns:a16="http://schemas.microsoft.com/office/drawing/2014/main" id="{3C167CEC-C2C0-3F45-9B2B-092E7E583B5D}"/>
              </a:ext>
            </a:extLst>
          </p:cNvPr>
          <p:cNvGrpSpPr>
            <a:grpSpLocks/>
          </p:cNvGrpSpPr>
          <p:nvPr/>
        </p:nvGrpSpPr>
        <p:grpSpPr bwMode="auto">
          <a:xfrm>
            <a:off x="7802937" y="2567805"/>
            <a:ext cx="2754313" cy="611187"/>
            <a:chOff x="971600" y="2097192"/>
            <a:chExt cx="2988332" cy="611728"/>
          </a:xfrm>
        </p:grpSpPr>
        <p:cxnSp>
          <p:nvCxnSpPr>
            <p:cNvPr id="107" name="Straight Connector 213">
              <a:extLst>
                <a:ext uri="{FF2B5EF4-FFF2-40B4-BE49-F238E27FC236}">
                  <a16:creationId xmlns:a16="http://schemas.microsoft.com/office/drawing/2014/main" id="{5A3C90F1-A690-B444-AFD4-E5F38D5DD3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71600" y="2276872"/>
              <a:ext cx="0" cy="43204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Straight Connector 214">
              <a:extLst>
                <a:ext uri="{FF2B5EF4-FFF2-40B4-BE49-F238E27FC236}">
                  <a16:creationId xmlns:a16="http://schemas.microsoft.com/office/drawing/2014/main" id="{97676850-8576-FC4F-96A4-2E718065E6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71600" y="2276872"/>
              <a:ext cx="2988332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Straight Arrow Connector 215">
              <a:extLst>
                <a:ext uri="{FF2B5EF4-FFF2-40B4-BE49-F238E27FC236}">
                  <a16:creationId xmlns:a16="http://schemas.microsoft.com/office/drawing/2014/main" id="{BC643587-F748-1C48-AEFC-31B4875384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59932" y="2097192"/>
              <a:ext cx="0" cy="17968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0" name="Group 216">
            <a:extLst>
              <a:ext uri="{FF2B5EF4-FFF2-40B4-BE49-F238E27FC236}">
                <a16:creationId xmlns:a16="http://schemas.microsoft.com/office/drawing/2014/main" id="{9F2CCBB5-75AA-E54F-AD93-E66FCA131CEC}"/>
              </a:ext>
            </a:extLst>
          </p:cNvPr>
          <p:cNvGrpSpPr>
            <a:grpSpLocks/>
          </p:cNvGrpSpPr>
          <p:nvPr/>
        </p:nvGrpSpPr>
        <p:grpSpPr bwMode="auto">
          <a:xfrm>
            <a:off x="10071475" y="2567805"/>
            <a:ext cx="647700" cy="611187"/>
            <a:chOff x="3311860" y="2096852"/>
            <a:chExt cx="972108" cy="612068"/>
          </a:xfrm>
        </p:grpSpPr>
        <p:cxnSp>
          <p:nvCxnSpPr>
            <p:cNvPr id="111" name="Straight Connector 217">
              <a:extLst>
                <a:ext uri="{FF2B5EF4-FFF2-40B4-BE49-F238E27FC236}">
                  <a16:creationId xmlns:a16="http://schemas.microsoft.com/office/drawing/2014/main" id="{370754BD-4B8B-F147-82B1-0F5C40741F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Straight Connector 218">
              <a:extLst>
                <a:ext uri="{FF2B5EF4-FFF2-40B4-BE49-F238E27FC236}">
                  <a16:creationId xmlns:a16="http://schemas.microsoft.com/office/drawing/2014/main" id="{A99B2FCC-4D4C-9E43-B170-BF64A40FF7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Straight Arrow Connector 219">
              <a:extLst>
                <a:ext uri="{FF2B5EF4-FFF2-40B4-BE49-F238E27FC236}">
                  <a16:creationId xmlns:a16="http://schemas.microsoft.com/office/drawing/2014/main" id="{F06F79AB-ECAC-6D46-A726-F28D02795A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245">
            <a:extLst>
              <a:ext uri="{FF2B5EF4-FFF2-40B4-BE49-F238E27FC236}">
                <a16:creationId xmlns:a16="http://schemas.microsoft.com/office/drawing/2014/main" id="{25293F2B-A6BE-0D43-86F6-9ECAB390F8BA}"/>
              </a:ext>
            </a:extLst>
          </p:cNvPr>
          <p:cNvGrpSpPr>
            <a:grpSpLocks/>
          </p:cNvGrpSpPr>
          <p:nvPr/>
        </p:nvGrpSpPr>
        <p:grpSpPr bwMode="auto">
          <a:xfrm>
            <a:off x="11143037" y="2567805"/>
            <a:ext cx="404813" cy="3492500"/>
            <a:chOff x="4860032" y="2097192"/>
            <a:chExt cx="972108" cy="611728"/>
          </a:xfrm>
        </p:grpSpPr>
        <p:cxnSp>
          <p:nvCxnSpPr>
            <p:cNvPr id="115" name="Straight Connector 246">
              <a:extLst>
                <a:ext uri="{FF2B5EF4-FFF2-40B4-BE49-F238E27FC236}">
                  <a16:creationId xmlns:a16="http://schemas.microsoft.com/office/drawing/2014/main" id="{DB7D1F3D-664B-1147-A081-D23246C244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Straight Connector 247">
              <a:extLst>
                <a:ext uri="{FF2B5EF4-FFF2-40B4-BE49-F238E27FC236}">
                  <a16:creationId xmlns:a16="http://schemas.microsoft.com/office/drawing/2014/main" id="{6CCFD916-9AFF-2B48-B3CE-3BB80BD5FE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Straight Arrow Connector 248">
              <a:extLst>
                <a:ext uri="{FF2B5EF4-FFF2-40B4-BE49-F238E27FC236}">
                  <a16:creationId xmlns:a16="http://schemas.microsoft.com/office/drawing/2014/main" id="{8E260161-858B-254F-AC8B-D0CA35FC35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8" name="Group 257">
            <a:extLst>
              <a:ext uri="{FF2B5EF4-FFF2-40B4-BE49-F238E27FC236}">
                <a16:creationId xmlns:a16="http://schemas.microsoft.com/office/drawing/2014/main" id="{A2A0490C-F5E8-C042-9BF0-4CAC2B974201}"/>
              </a:ext>
            </a:extLst>
          </p:cNvPr>
          <p:cNvGrpSpPr>
            <a:grpSpLocks/>
          </p:cNvGrpSpPr>
          <p:nvPr/>
        </p:nvGrpSpPr>
        <p:grpSpPr bwMode="auto">
          <a:xfrm>
            <a:off x="9747625" y="2567805"/>
            <a:ext cx="1260475" cy="3498850"/>
            <a:chOff x="3815916" y="2097193"/>
            <a:chExt cx="1260140" cy="3498194"/>
          </a:xfrm>
        </p:grpSpPr>
        <p:cxnSp>
          <p:nvCxnSpPr>
            <p:cNvPr id="119" name="Straight Connector 258">
              <a:extLst>
                <a:ext uri="{FF2B5EF4-FFF2-40B4-BE49-F238E27FC236}">
                  <a16:creationId xmlns:a16="http://schemas.microsoft.com/office/drawing/2014/main" id="{88B38334-B778-3444-93B1-68DBC779BD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15916" y="5409220"/>
              <a:ext cx="0" cy="186167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Straight Connector 259">
              <a:extLst>
                <a:ext uri="{FF2B5EF4-FFF2-40B4-BE49-F238E27FC236}">
                  <a16:creationId xmlns:a16="http://schemas.microsoft.com/office/drawing/2014/main" id="{543E06D0-248B-D44D-A9FC-DE0F49EB78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15916" y="5409220"/>
              <a:ext cx="126014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Straight Arrow Connector 260">
              <a:extLst>
                <a:ext uri="{FF2B5EF4-FFF2-40B4-BE49-F238E27FC236}">
                  <a16:creationId xmlns:a16="http://schemas.microsoft.com/office/drawing/2014/main" id="{D62A0FE2-A804-C044-BDAA-1A4390A436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2097193"/>
              <a:ext cx="0" cy="3312027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4" name="Rectangle 19">
            <a:extLst>
              <a:ext uri="{FF2B5EF4-FFF2-40B4-BE49-F238E27FC236}">
                <a16:creationId xmlns:a16="http://schemas.microsoft.com/office/drawing/2014/main" id="{5026C708-C8AA-4547-A023-4C03E667B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863" y="4584001"/>
            <a:ext cx="1655763" cy="828432"/>
          </a:xfrm>
          <a:prstGeom prst="rect">
            <a:avLst/>
          </a:prstGeom>
          <a:solidFill>
            <a:schemeClr val="accent5">
              <a:alpha val="2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hydroxide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2.96 kg/FU</a:t>
            </a:r>
          </a:p>
        </p:txBody>
      </p:sp>
      <p:grpSp>
        <p:nvGrpSpPr>
          <p:cNvPr id="135" name="Group 222">
            <a:extLst>
              <a:ext uri="{FF2B5EF4-FFF2-40B4-BE49-F238E27FC236}">
                <a16:creationId xmlns:a16="http://schemas.microsoft.com/office/drawing/2014/main" id="{94B673DE-0ABA-5A49-B193-4941BA924682}"/>
              </a:ext>
            </a:extLst>
          </p:cNvPr>
          <p:cNvGrpSpPr>
            <a:grpSpLocks/>
          </p:cNvGrpSpPr>
          <p:nvPr/>
        </p:nvGrpSpPr>
        <p:grpSpPr bwMode="auto">
          <a:xfrm>
            <a:off x="7575777" y="3972813"/>
            <a:ext cx="323849" cy="611188"/>
            <a:chOff x="3311860" y="2096852"/>
            <a:chExt cx="972108" cy="612068"/>
          </a:xfrm>
        </p:grpSpPr>
        <p:cxnSp>
          <p:nvCxnSpPr>
            <p:cNvPr id="136" name="Straight Connector 223">
              <a:extLst>
                <a:ext uri="{FF2B5EF4-FFF2-40B4-BE49-F238E27FC236}">
                  <a16:creationId xmlns:a16="http://schemas.microsoft.com/office/drawing/2014/main" id="{7F7FC5F5-5FE0-2D42-8E65-B2F2D79732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Straight Connector 224">
              <a:extLst>
                <a:ext uri="{FF2B5EF4-FFF2-40B4-BE49-F238E27FC236}">
                  <a16:creationId xmlns:a16="http://schemas.microsoft.com/office/drawing/2014/main" id="{722AD473-7889-5347-AAC7-14C20E9F53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Straight Arrow Connector 225">
              <a:extLst>
                <a:ext uri="{FF2B5EF4-FFF2-40B4-BE49-F238E27FC236}">
                  <a16:creationId xmlns:a16="http://schemas.microsoft.com/office/drawing/2014/main" id="{845A677A-0AFE-4940-A65F-FADEFB5903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9" name="Group 249">
            <a:extLst>
              <a:ext uri="{FF2B5EF4-FFF2-40B4-BE49-F238E27FC236}">
                <a16:creationId xmlns:a16="http://schemas.microsoft.com/office/drawing/2014/main" id="{690AEE6A-8DCA-DF4F-A648-180865D57129}"/>
              </a:ext>
            </a:extLst>
          </p:cNvPr>
          <p:cNvGrpSpPr>
            <a:grpSpLocks/>
          </p:cNvGrpSpPr>
          <p:nvPr/>
        </p:nvGrpSpPr>
        <p:grpSpPr bwMode="auto">
          <a:xfrm>
            <a:off x="7288438" y="5412676"/>
            <a:ext cx="1206500" cy="611187"/>
            <a:chOff x="1223628" y="4977172"/>
            <a:chExt cx="1476164" cy="611728"/>
          </a:xfrm>
        </p:grpSpPr>
        <p:cxnSp>
          <p:nvCxnSpPr>
            <p:cNvPr id="140" name="Straight Connector 250">
              <a:extLst>
                <a:ext uri="{FF2B5EF4-FFF2-40B4-BE49-F238E27FC236}">
                  <a16:creationId xmlns:a16="http://schemas.microsoft.com/office/drawing/2014/main" id="{F620DC78-0E16-DB45-A3F7-00BE6DEF11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99792" y="5409220"/>
              <a:ext cx="0" cy="17968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Straight Connector 251">
              <a:extLst>
                <a:ext uri="{FF2B5EF4-FFF2-40B4-BE49-F238E27FC236}">
                  <a16:creationId xmlns:a16="http://schemas.microsoft.com/office/drawing/2014/main" id="{BF73BE41-C78F-2149-946A-7F19E31CC4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23628" y="5409220"/>
              <a:ext cx="1476164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Straight Arrow Connector 252">
              <a:extLst>
                <a:ext uri="{FF2B5EF4-FFF2-40B4-BE49-F238E27FC236}">
                  <a16:creationId xmlns:a16="http://schemas.microsoft.com/office/drawing/2014/main" id="{459B9F96-85DA-C64E-9316-4D64C3F96C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23628" y="4977172"/>
              <a:ext cx="0" cy="432048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" name="Group 253">
            <a:extLst>
              <a:ext uri="{FF2B5EF4-FFF2-40B4-BE49-F238E27FC236}">
                <a16:creationId xmlns:a16="http://schemas.microsoft.com/office/drawing/2014/main" id="{0D643083-71EC-EC44-B142-D9D94FFD5518}"/>
              </a:ext>
            </a:extLst>
          </p:cNvPr>
          <p:cNvGrpSpPr>
            <a:grpSpLocks/>
          </p:cNvGrpSpPr>
          <p:nvPr/>
        </p:nvGrpSpPr>
        <p:grpSpPr bwMode="auto">
          <a:xfrm>
            <a:off x="8223476" y="3994078"/>
            <a:ext cx="396875" cy="2052638"/>
            <a:chOff x="4860032" y="2097192"/>
            <a:chExt cx="972108" cy="611728"/>
          </a:xfrm>
        </p:grpSpPr>
        <p:cxnSp>
          <p:nvCxnSpPr>
            <p:cNvPr id="144" name="Straight Connector 254">
              <a:extLst>
                <a:ext uri="{FF2B5EF4-FFF2-40B4-BE49-F238E27FC236}">
                  <a16:creationId xmlns:a16="http://schemas.microsoft.com/office/drawing/2014/main" id="{A07BF6AC-4913-F04D-91E2-261A93AB95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Straight Connector 255">
              <a:extLst>
                <a:ext uri="{FF2B5EF4-FFF2-40B4-BE49-F238E27FC236}">
                  <a16:creationId xmlns:a16="http://schemas.microsoft.com/office/drawing/2014/main" id="{487959D6-B774-B146-83FD-72C868623A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Straight Arrow Connector 256">
              <a:extLst>
                <a:ext uri="{FF2B5EF4-FFF2-40B4-BE49-F238E27FC236}">
                  <a16:creationId xmlns:a16="http://schemas.microsoft.com/office/drawing/2014/main" id="{383F7207-9E47-6544-ADB1-02022AB93F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E350947-1B70-4343-B6D6-9CEF42E55DAA}"/>
              </a:ext>
            </a:extLst>
          </p:cNvPr>
          <p:cNvGrpSpPr/>
          <p:nvPr/>
        </p:nvGrpSpPr>
        <p:grpSpPr>
          <a:xfrm>
            <a:off x="8770831" y="3972813"/>
            <a:ext cx="647700" cy="2052638"/>
            <a:chOff x="18403110" y="6804590"/>
            <a:chExt cx="647700" cy="2052638"/>
          </a:xfrm>
        </p:grpSpPr>
        <p:cxnSp>
          <p:nvCxnSpPr>
            <p:cNvPr id="148" name="Straight Connector 261">
              <a:extLst>
                <a:ext uri="{FF2B5EF4-FFF2-40B4-BE49-F238E27FC236}">
                  <a16:creationId xmlns:a16="http://schemas.microsoft.com/office/drawing/2014/main" id="{DB1775EA-BEB7-6348-A96C-E0EA876760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8403110" y="7020490"/>
              <a:ext cx="0" cy="183673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Straight Connector 262">
              <a:extLst>
                <a:ext uri="{FF2B5EF4-FFF2-40B4-BE49-F238E27FC236}">
                  <a16:creationId xmlns:a16="http://schemas.microsoft.com/office/drawing/2014/main" id="{F8BBF1F4-624B-004D-881E-9E422C3635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8403110" y="7020490"/>
              <a:ext cx="6477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Straight Arrow Connector 263">
              <a:extLst>
                <a:ext uri="{FF2B5EF4-FFF2-40B4-BE49-F238E27FC236}">
                  <a16:creationId xmlns:a16="http://schemas.microsoft.com/office/drawing/2014/main" id="{EDD65DE6-DF07-084D-B627-4E82E27B1D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9050810" y="6804590"/>
              <a:ext cx="0" cy="21590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2" name="Group 241">
            <a:extLst>
              <a:ext uri="{FF2B5EF4-FFF2-40B4-BE49-F238E27FC236}">
                <a16:creationId xmlns:a16="http://schemas.microsoft.com/office/drawing/2014/main" id="{6619EBCB-8E2C-0846-949B-7A67C14E533A}"/>
              </a:ext>
            </a:extLst>
          </p:cNvPr>
          <p:cNvGrpSpPr>
            <a:grpSpLocks/>
          </p:cNvGrpSpPr>
          <p:nvPr/>
        </p:nvGrpSpPr>
        <p:grpSpPr bwMode="auto">
          <a:xfrm>
            <a:off x="7541643" y="5433941"/>
            <a:ext cx="3779837" cy="612775"/>
            <a:chOff x="1475656" y="4977512"/>
            <a:chExt cx="3600400" cy="611728"/>
          </a:xfrm>
        </p:grpSpPr>
        <p:cxnSp>
          <p:nvCxnSpPr>
            <p:cNvPr id="153" name="Straight Connector 242">
              <a:extLst>
                <a:ext uri="{FF2B5EF4-FFF2-40B4-BE49-F238E27FC236}">
                  <a16:creationId xmlns:a16="http://schemas.microsoft.com/office/drawing/2014/main" id="{003BF269-4C03-2448-8925-4810772128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5265204"/>
              <a:ext cx="0" cy="324036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243">
              <a:extLst>
                <a:ext uri="{FF2B5EF4-FFF2-40B4-BE49-F238E27FC236}">
                  <a16:creationId xmlns:a16="http://schemas.microsoft.com/office/drawing/2014/main" id="{B163FFB9-E523-B546-A2D7-C5C6D1D6B3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75656" y="5265204"/>
              <a:ext cx="36004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Arrow Connector 244">
              <a:extLst>
                <a:ext uri="{FF2B5EF4-FFF2-40B4-BE49-F238E27FC236}">
                  <a16:creationId xmlns:a16="http://schemas.microsoft.com/office/drawing/2014/main" id="{E8A30771-3E6C-BA4E-B758-2121FD37CB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475656" y="4977512"/>
              <a:ext cx="0" cy="287692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56" name="Straight Connector 234">
            <a:extLst>
              <a:ext uri="{FF2B5EF4-FFF2-40B4-BE49-F238E27FC236}">
                <a16:creationId xmlns:a16="http://schemas.microsoft.com/office/drawing/2014/main" id="{CCE6BB87-3A7E-7B46-A489-7D2A54FBD3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695161" y="5549239"/>
            <a:ext cx="0" cy="492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" name="Straight Connector 235">
            <a:extLst>
              <a:ext uri="{FF2B5EF4-FFF2-40B4-BE49-F238E27FC236}">
                <a16:creationId xmlns:a16="http://schemas.microsoft.com/office/drawing/2014/main" id="{68D9750A-3829-3F40-816B-F6135695C9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37274" y="5549239"/>
            <a:ext cx="5957887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" name="Straight Arrow Connector 236">
            <a:extLst>
              <a:ext uri="{FF2B5EF4-FFF2-40B4-BE49-F238E27FC236}">
                <a16:creationId xmlns:a16="http://schemas.microsoft.com/office/drawing/2014/main" id="{2E83AB13-A204-8247-89E8-00DAA98654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737274" y="5411088"/>
            <a:ext cx="0" cy="127000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8" name="Rectangle 19">
            <a:extLst>
              <a:ext uri="{FF2B5EF4-FFF2-40B4-BE49-F238E27FC236}">
                <a16:creationId xmlns:a16="http://schemas.microsoft.com/office/drawing/2014/main" id="{B278718F-2F6A-8A46-8CFA-EDC6DAF4D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562" y="6060062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Bauxite</a:t>
            </a:r>
          </a:p>
          <a:p>
            <a:pPr algn="ctr"/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4.14 kg/FU</a:t>
            </a:r>
          </a:p>
        </p:txBody>
      </p:sp>
      <p:cxnSp>
        <p:nvCxnSpPr>
          <p:cNvPr id="169" name="Straight Connector 221">
            <a:extLst>
              <a:ext uri="{FF2B5EF4-FFF2-40B4-BE49-F238E27FC236}">
                <a16:creationId xmlns:a16="http://schemas.microsoft.com/office/drawing/2014/main" id="{D919100D-9ACE-CA44-8EB7-218DEDE7EF3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9127" y="5447287"/>
            <a:ext cx="0" cy="619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8" name="Rectangle 19">
            <a:extLst>
              <a:ext uri="{FF2B5EF4-FFF2-40B4-BE49-F238E27FC236}">
                <a16:creationId xmlns:a16="http://schemas.microsoft.com/office/drawing/2014/main" id="{3022CB08-C5CE-8E47-A457-A19301EA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6855" y="6046716"/>
            <a:ext cx="205841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b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truck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1.21 </a:t>
            </a:r>
            <a:r>
              <a:rPr lang="en-US" sz="1600" kern="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t∙km</a:t>
            </a: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4168" y="5447287"/>
            <a:ext cx="3414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 0.503 </a:t>
            </a:r>
            <a:r>
              <a:rPr lang="en-US" altLang="fr-FR" sz="20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20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20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2000" dirty="0" err="1">
                <a:solidFill>
                  <a:schemeClr val="accent5"/>
                </a:solidFill>
              </a:rPr>
              <a:t>kg</a:t>
            </a:r>
            <a:r>
              <a:rPr lang="en-US" altLang="en-US" sz="2000" baseline="-25000" dirty="0" err="1">
                <a:solidFill>
                  <a:schemeClr val="accent5"/>
                </a:solidFill>
              </a:rPr>
              <a:t>Al</a:t>
            </a:r>
            <a:r>
              <a:rPr lang="en-US" altLang="en-US" sz="2000" baseline="-25000" dirty="0">
                <a:solidFill>
                  <a:schemeClr val="accent5"/>
                </a:solidFill>
              </a:rPr>
              <a:t> hydroxide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88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159" y="5415681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7366" y="6886871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924086" y="7268677"/>
            <a:ext cx="28200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0.029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 /</a:t>
            </a:r>
            <a:r>
              <a:rPr lang="en-US" altLang="en-US" sz="1600" dirty="0" err="1">
                <a:solidFill>
                  <a:schemeClr val="accent3"/>
                </a:solidFill>
              </a:rPr>
              <a:t>MJ</a:t>
            </a:r>
            <a:r>
              <a:rPr lang="en-US" altLang="en-US" sz="1600" baseline="-25000" dirty="0" err="1">
                <a:solidFill>
                  <a:schemeClr val="accent3"/>
                </a:solidFill>
              </a:rPr>
              <a:t>light</a:t>
            </a:r>
            <a:r>
              <a:rPr lang="en-US" altLang="en-US" sz="1600" baseline="-25000" dirty="0">
                <a:solidFill>
                  <a:schemeClr val="accent3"/>
                </a:solidFill>
              </a:rPr>
              <a:t> fuel oil</a:t>
            </a:r>
            <a:endParaRPr lang="en-US" sz="1600" dirty="0"/>
          </a:p>
        </p:txBody>
      </p:sp>
      <p:sp>
        <p:nvSpPr>
          <p:cNvPr id="87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194" y="6888494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10557250" y="7268677"/>
            <a:ext cx="21483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0.103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t-km</a:t>
            </a:r>
            <a:endParaRPr lang="en-US" sz="1600" dirty="0"/>
          </a:p>
        </p:txBody>
      </p:sp>
      <p:sp>
        <p:nvSpPr>
          <p:cNvPr id="91" name="Rectangle 90"/>
          <p:cNvSpPr/>
          <p:nvPr/>
        </p:nvSpPr>
        <p:spPr>
          <a:xfrm>
            <a:off x="13056855" y="7268677"/>
            <a:ext cx="20345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1.38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t-km</a:t>
            </a:r>
            <a:endParaRPr lang="en-US" sz="1600" dirty="0"/>
          </a:p>
        </p:txBody>
      </p:sp>
      <p:sp>
        <p:nvSpPr>
          <p:cNvPr id="9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2455" y="6839074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54689" y="3991743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3285804" y="4438931"/>
            <a:ext cx="21371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0.049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 /</a:t>
            </a:r>
            <a:r>
              <a:rPr lang="en-US" altLang="en-US" sz="1600" dirty="0">
                <a:solidFill>
                  <a:schemeClr val="accent3"/>
                </a:solidFill>
              </a:rPr>
              <a:t>MJ</a:t>
            </a:r>
            <a:endParaRPr lang="en-US" sz="1600" dirty="0"/>
          </a:p>
        </p:txBody>
      </p:sp>
      <p:sp>
        <p:nvSpPr>
          <p:cNvPr id="159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9971" y="3974159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Rectangle 159"/>
          <p:cNvSpPr/>
          <p:nvPr/>
        </p:nvSpPr>
        <p:spPr>
          <a:xfrm>
            <a:off x="8727723" y="4402732"/>
            <a:ext cx="22846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1.40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 /</a:t>
            </a:r>
            <a:r>
              <a:rPr lang="en-US" altLang="en-US" sz="1600" dirty="0" err="1">
                <a:solidFill>
                  <a:schemeClr val="accent3"/>
                </a:solidFill>
              </a:rPr>
              <a:t>kg</a:t>
            </a:r>
            <a:r>
              <a:rPr lang="en-US" altLang="en-US" sz="1600" baseline="-25000" dirty="0" err="1">
                <a:solidFill>
                  <a:schemeClr val="accent3"/>
                </a:solidFill>
              </a:rPr>
              <a:t>anode</a:t>
            </a:r>
            <a:endParaRPr lang="en-US" sz="1600" dirty="0"/>
          </a:p>
        </p:txBody>
      </p:sp>
      <p:sp>
        <p:nvSpPr>
          <p:cNvPr id="161" name="Rectangle 160"/>
          <p:cNvSpPr/>
          <p:nvPr/>
        </p:nvSpPr>
        <p:spPr>
          <a:xfrm>
            <a:off x="7942848" y="1825010"/>
            <a:ext cx="23855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56.0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 /</a:t>
            </a:r>
            <a:r>
              <a:rPr lang="en-US" altLang="en-US" sz="1600" dirty="0" err="1">
                <a:solidFill>
                  <a:schemeClr val="accent3"/>
                </a:solidFill>
              </a:rPr>
              <a:t>kg</a:t>
            </a:r>
            <a:r>
              <a:rPr lang="en-US" altLang="en-US" sz="1600" baseline="-25000" dirty="0" err="1">
                <a:solidFill>
                  <a:schemeClr val="accent3"/>
                </a:solidFill>
              </a:rPr>
              <a:t>Al</a:t>
            </a:r>
            <a:r>
              <a:rPr lang="en-US" altLang="en-US" sz="1600" baseline="-25000" dirty="0">
                <a:solidFill>
                  <a:schemeClr val="accent3"/>
                </a:solidFill>
              </a:rPr>
              <a:t> liquid</a:t>
            </a:r>
            <a:endParaRPr lang="en-US" sz="1600" dirty="0"/>
          </a:p>
        </p:txBody>
      </p:sp>
      <p:sp>
        <p:nvSpPr>
          <p:cNvPr id="172" name="Text Box 60">
            <a:extLst>
              <a:ext uri="{FF2B5EF4-FFF2-40B4-BE49-F238E27FC236}">
                <a16:creationId xmlns:a16="http://schemas.microsoft.com/office/drawing/2014/main" id="{968D007A-425D-0749-9A0A-764DD2694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0525" y="3987995"/>
            <a:ext cx="35918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0"/>
              </a:spcBef>
              <a:buClrTx/>
              <a:buNone/>
            </a:pPr>
            <a:r>
              <a:rPr lang="en-US" altLang="fr-FR" sz="16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0.038 </a:t>
            </a:r>
            <a:r>
              <a:rPr lang="en-US" altLang="fr-FR" sz="1600" b="0" dirty="0" err="1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MJ</a:t>
            </a:r>
            <a:r>
              <a:rPr lang="en-US" altLang="fr-FR" sz="1600" b="0" baseline="-25000" dirty="0" err="1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heat</a:t>
            </a:r>
            <a:r>
              <a:rPr lang="en-US" altLang="fr-FR" sz="1600" b="0" baseline="-2500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 waste</a:t>
            </a:r>
            <a:r>
              <a:rPr lang="en-US" altLang="fr-FR" sz="16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/</a:t>
            </a:r>
            <a:r>
              <a:rPr lang="en-US" altLang="en-US" sz="1600" b="0" dirty="0" err="1">
                <a:solidFill>
                  <a:srgbClr val="ADA400"/>
                </a:solidFill>
                <a:latin typeface="Arial" panose="020B0604020202020204"/>
              </a:rPr>
              <a:t>kg</a:t>
            </a:r>
            <a:r>
              <a:rPr lang="en-US" altLang="en-US" sz="1600" b="0" baseline="-25000" dirty="0" err="1">
                <a:solidFill>
                  <a:srgbClr val="ADA400"/>
                </a:solidFill>
                <a:latin typeface="Arial" panose="020B0604020202020204"/>
              </a:rPr>
              <a:t>Al</a:t>
            </a:r>
            <a:r>
              <a:rPr lang="en-US" altLang="en-US" sz="1600" b="0" baseline="-25000" dirty="0">
                <a:solidFill>
                  <a:srgbClr val="ADA400"/>
                </a:solidFill>
                <a:latin typeface="Arial" panose="020B0604020202020204"/>
              </a:rPr>
              <a:t> oxide</a:t>
            </a:r>
            <a:endParaRPr lang="en-US" sz="1600" b="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6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7659" y="3997389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1111210" y="1526154"/>
            <a:ext cx="515647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sz="2400" dirty="0">
                <a:solidFill>
                  <a:schemeClr val="tx2"/>
                </a:solidFill>
              </a:rPr>
              <a:t>When building the product system and process tree, we have determined the </a:t>
            </a:r>
            <a:r>
              <a:rPr lang="en-US" sz="2400" dirty="0">
                <a:solidFill>
                  <a:srgbClr val="407EC9"/>
                </a:solidFill>
              </a:rPr>
              <a:t>intermediary </a:t>
            </a:r>
            <a:r>
              <a:rPr lang="en-US" sz="2400" dirty="0">
                <a:solidFill>
                  <a:schemeClr val="tx2"/>
                </a:solidFill>
              </a:rPr>
              <a:t>flow of each unit process per Functional Unit, i.e.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chemeClr val="accent4"/>
                </a:solidFill>
              </a:rPr>
              <a:t>the amount of each unit process per FU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DE9135A-736E-3F48-9EE7-C1A65C49E24C}"/>
              </a:ext>
            </a:extLst>
          </p:cNvPr>
          <p:cNvSpPr txBox="1"/>
          <p:nvPr/>
        </p:nvSpPr>
        <p:spPr>
          <a:xfrm>
            <a:off x="3973372" y="4694584"/>
            <a:ext cx="2555547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 err="1">
                <a:solidFill>
                  <a:schemeClr val="accent5"/>
                </a:solidFill>
              </a:rPr>
              <a:t>kg</a:t>
            </a:r>
            <a:r>
              <a:rPr lang="en-US" sz="2000" baseline="-25000" dirty="0" err="1">
                <a:solidFill>
                  <a:schemeClr val="accent5"/>
                </a:solidFill>
              </a:rPr>
              <a:t>Al</a:t>
            </a:r>
            <a:r>
              <a:rPr lang="en-US" sz="2000" baseline="-25000" dirty="0">
                <a:solidFill>
                  <a:schemeClr val="accent5"/>
                </a:solidFill>
              </a:rPr>
              <a:t> hydroxide</a:t>
            </a:r>
            <a:r>
              <a:rPr lang="en-US" altLang="en-US" sz="2000" dirty="0">
                <a:solidFill>
                  <a:srgbClr val="407EC9"/>
                </a:solidFill>
              </a:rPr>
              <a:t>/</a:t>
            </a:r>
            <a:r>
              <a:rPr lang="en-US" altLang="en-US" sz="2000" dirty="0" err="1">
                <a:solidFill>
                  <a:srgbClr val="407EC9"/>
                </a:solidFill>
              </a:rPr>
              <a:t>kg</a:t>
            </a:r>
            <a:r>
              <a:rPr lang="en-US" altLang="en-US" sz="2000" baseline="-25000" dirty="0" err="1">
                <a:solidFill>
                  <a:srgbClr val="407EC9"/>
                </a:solidFill>
              </a:rPr>
              <a:t>Al</a:t>
            </a:r>
            <a:r>
              <a:rPr lang="en-US" altLang="en-US" sz="2000" baseline="-25000" dirty="0">
                <a:solidFill>
                  <a:srgbClr val="407EC9"/>
                </a:solidFill>
              </a:rPr>
              <a:t> liquid</a:t>
            </a:r>
            <a:endParaRPr lang="en-US" sz="2000" dirty="0">
              <a:solidFill>
                <a:srgbClr val="407EC9"/>
              </a:solidFill>
            </a:endParaRPr>
          </a:p>
          <a:p>
            <a:pPr>
              <a:defRPr/>
            </a:pPr>
            <a:endParaRPr lang="en-US" sz="2000" baseline="-25000" dirty="0">
              <a:solidFill>
                <a:schemeClr val="accent4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666B1D-8298-514A-973D-2AF32CDB43C9}"/>
              </a:ext>
            </a:extLst>
          </p:cNvPr>
          <p:cNvSpPr txBox="1"/>
          <p:nvPr/>
        </p:nvSpPr>
        <p:spPr>
          <a:xfrm>
            <a:off x="3338532" y="4729227"/>
            <a:ext cx="74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accent4"/>
                </a:solidFill>
              </a:rPr>
              <a:t>2.96</a:t>
            </a:r>
            <a:endParaRPr lang="en-US" sz="2000" baseline="-25000" dirty="0">
              <a:solidFill>
                <a:schemeClr val="accent4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25683" y="4513783"/>
            <a:ext cx="19816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407EC9"/>
                </a:solidFill>
              </a:rPr>
              <a:t>Intermediary </a:t>
            </a:r>
            <a:br>
              <a:rPr lang="en-US" sz="2400" dirty="0">
                <a:solidFill>
                  <a:srgbClr val="407EC9"/>
                </a:solidFill>
              </a:rPr>
            </a:br>
            <a:r>
              <a:rPr lang="en-US" sz="2400" dirty="0">
                <a:solidFill>
                  <a:schemeClr val="accent4"/>
                </a:solidFill>
              </a:rPr>
              <a:t>flow per FU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36196" y="5321853"/>
            <a:ext cx="235833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Elementary </a:t>
            </a:r>
            <a:br>
              <a:rPr lang="en-US" sz="2400" dirty="0">
                <a:solidFill>
                  <a:schemeClr val="accent3"/>
                </a:solidFill>
              </a:rPr>
            </a:br>
            <a:r>
              <a:rPr lang="en-US" sz="2400" dirty="0">
                <a:solidFill>
                  <a:schemeClr val="accent3"/>
                </a:solidFill>
              </a:rPr>
              <a:t>flow per unit UP</a:t>
            </a:r>
          </a:p>
        </p:txBody>
      </p:sp>
      <p:cxnSp>
        <p:nvCxnSpPr>
          <p:cNvPr id="123" name="Straight Arrow Connector 207">
            <a:extLst>
              <a:ext uri="{FF2B5EF4-FFF2-40B4-BE49-F238E27FC236}">
                <a16:creationId xmlns:a16="http://schemas.microsoft.com/office/drawing/2014/main" id="{20CA88C2-BC99-C249-B95F-C18CCD27CF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835187" y="2567805"/>
            <a:ext cx="0" cy="179387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4" name="Rectangle 19">
            <a:extLst>
              <a:ext uri="{FF2B5EF4-FFF2-40B4-BE49-F238E27FC236}">
                <a16:creationId xmlns:a16="http://schemas.microsoft.com/office/drawing/2014/main" id="{5F6B774C-6F44-244E-8A58-454D1CDE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8031" y="1739252"/>
            <a:ext cx="1781907" cy="828432"/>
          </a:xfrm>
          <a:prstGeom prst="rect">
            <a:avLst/>
          </a:prstGeom>
          <a:solidFill>
            <a:schemeClr val="accent6">
              <a:alpha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Aluminum, </a:t>
            </a:r>
            <a:r>
              <a:rPr lang="en-US" sz="1600" b="1" kern="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primary,liquid</a:t>
            </a:r>
            <a:endParaRPr lang="en-US" sz="1600" b="1" kern="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600" kern="0" dirty="0" err="1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kg</a:t>
            </a:r>
            <a:r>
              <a:rPr lang="en-US" altLang="en-US" sz="2000" baseline="-25000" dirty="0" err="1">
                <a:solidFill>
                  <a:srgbClr val="407EC9"/>
                </a:solidFill>
              </a:rPr>
              <a:t>Al</a:t>
            </a:r>
            <a:r>
              <a:rPr lang="en-US" altLang="en-US" sz="2000" baseline="-25000" dirty="0">
                <a:solidFill>
                  <a:srgbClr val="407EC9"/>
                </a:solidFill>
              </a:rPr>
              <a:t> liquid </a:t>
            </a:r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FU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6BFA67-232C-8E45-A771-A02B92CD9669}"/>
              </a:ext>
            </a:extLst>
          </p:cNvPr>
          <p:cNvSpPr/>
          <p:nvPr/>
        </p:nvSpPr>
        <p:spPr>
          <a:xfrm>
            <a:off x="980383" y="1422400"/>
            <a:ext cx="5266805" cy="2513677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Line 35">
            <a:extLst>
              <a:ext uri="{FF2B5EF4-FFF2-40B4-BE49-F238E27FC236}">
                <a16:creationId xmlns:a16="http://schemas.microsoft.com/office/drawing/2014/main" id="{21F2C139-BFC7-6643-8E33-8D9D6E278DA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102409" y="2013572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34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6749-8E30-E645-93C6-C20513A5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chemeClr val="tx2"/>
                </a:solidFill>
              </a:rPr>
              <a:t>3. Combine intermediary and elementary flows for each UP</a:t>
            </a:r>
            <a:endParaRPr lang="en-US" sz="3800" dirty="0">
              <a:solidFill>
                <a:schemeClr val="tx2"/>
              </a:solidFill>
            </a:endParaRPr>
          </a:p>
        </p:txBody>
      </p:sp>
      <p:sp>
        <p:nvSpPr>
          <p:cNvPr id="93" name="Rectangle 19">
            <a:extLst>
              <a:ext uri="{FF2B5EF4-FFF2-40B4-BE49-F238E27FC236}">
                <a16:creationId xmlns:a16="http://schemas.microsoft.com/office/drawing/2014/main" id="{95801A3E-2BAC-2B4B-99A9-889BBBC2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775" y="3172763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oxide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1.93 kg/FU</a:t>
            </a:r>
          </a:p>
        </p:txBody>
      </p:sp>
      <p:sp>
        <p:nvSpPr>
          <p:cNvPr id="94" name="Rectangle 19">
            <a:extLst>
              <a:ext uri="{FF2B5EF4-FFF2-40B4-BE49-F238E27FC236}">
                <a16:creationId xmlns:a16="http://schemas.microsoft.com/office/drawing/2014/main" id="{8FFDDB33-5239-AF40-BD72-A23B4D53C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512" y="3172763"/>
            <a:ext cx="18716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Anode, aluminum electrolysis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0.449 kg/FU</a:t>
            </a:r>
          </a:p>
        </p:txBody>
      </p:sp>
      <p:sp>
        <p:nvSpPr>
          <p:cNvPr id="95" name="Rectangle 19">
            <a:extLst>
              <a:ext uri="{FF2B5EF4-FFF2-40B4-BE49-F238E27FC236}">
                <a16:creationId xmlns:a16="http://schemas.microsoft.com/office/drawing/2014/main" id="{C1BB0779-61F1-FC4F-88B8-6E2C7BD37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6863" y="3172763"/>
            <a:ext cx="2052637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Cathode, aluminum electrolysis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0.0181 kg/FU</a:t>
            </a:r>
          </a:p>
        </p:txBody>
      </p:sp>
      <p:sp>
        <p:nvSpPr>
          <p:cNvPr id="96" name="Rectangle 19">
            <a:extLst>
              <a:ext uri="{FF2B5EF4-FFF2-40B4-BE49-F238E27FC236}">
                <a16:creationId xmlns:a16="http://schemas.microsoft.com/office/drawing/2014/main" id="{CCB90FA9-39EE-F04C-9A26-3C170275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0055" y="6046716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Heat,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 fuel oil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14.9 MJ/FU</a:t>
            </a:r>
          </a:p>
        </p:txBody>
      </p:sp>
      <p:sp>
        <p:nvSpPr>
          <p:cNvPr id="97" name="Rectangle 19">
            <a:extLst>
              <a:ext uri="{FF2B5EF4-FFF2-40B4-BE49-F238E27FC236}">
                <a16:creationId xmlns:a16="http://schemas.microsoft.com/office/drawing/2014/main" id="{3022CB08-C5CE-8E47-A457-A19301EA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1225" y="6060305"/>
            <a:ext cx="205841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Transport, transoceanic freight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34.1 </a:t>
            </a:r>
            <a:r>
              <a:rPr lang="en-US" sz="1600" kern="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t∙km</a:t>
            </a: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/FU</a:t>
            </a:r>
          </a:p>
        </p:txBody>
      </p:sp>
      <p:sp>
        <p:nvSpPr>
          <p:cNvPr id="98" name="Rectangle 19">
            <a:extLst>
              <a:ext uri="{FF2B5EF4-FFF2-40B4-BE49-F238E27FC236}">
                <a16:creationId xmlns:a16="http://schemas.microsoft.com/office/drawing/2014/main" id="{438B3182-2539-D74D-B126-E193AD2E4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107" y="3172763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mix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57.4 kg/FU</a:t>
            </a:r>
          </a:p>
        </p:txBody>
      </p:sp>
      <p:cxnSp>
        <p:nvCxnSpPr>
          <p:cNvPr id="99" name="Straight Connector 205">
            <a:extLst>
              <a:ext uri="{FF2B5EF4-FFF2-40B4-BE49-F238E27FC236}">
                <a16:creationId xmlns:a16="http://schemas.microsoft.com/office/drawing/2014/main" id="{06D69943-7789-0647-98A1-939020A875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103725" y="2747192"/>
            <a:ext cx="0" cy="433388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" name="Straight Connector 206">
            <a:extLst>
              <a:ext uri="{FF2B5EF4-FFF2-40B4-BE49-F238E27FC236}">
                <a16:creationId xmlns:a16="http://schemas.microsoft.com/office/drawing/2014/main" id="{2FEC53C3-F3D7-D94B-B82F-A8BD2573E4D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835187" y="2747192"/>
            <a:ext cx="2268538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2" name="Group 208">
            <a:extLst>
              <a:ext uri="{FF2B5EF4-FFF2-40B4-BE49-F238E27FC236}">
                <a16:creationId xmlns:a16="http://schemas.microsoft.com/office/drawing/2014/main" id="{34124118-570F-2741-8B19-AAB13495643F}"/>
              </a:ext>
            </a:extLst>
          </p:cNvPr>
          <p:cNvGrpSpPr>
            <a:grpSpLocks/>
          </p:cNvGrpSpPr>
          <p:nvPr/>
        </p:nvGrpSpPr>
        <p:grpSpPr bwMode="auto">
          <a:xfrm>
            <a:off x="11619287" y="2567805"/>
            <a:ext cx="576263" cy="611187"/>
            <a:chOff x="4860032" y="2097192"/>
            <a:chExt cx="972108" cy="611728"/>
          </a:xfrm>
        </p:grpSpPr>
        <p:cxnSp>
          <p:nvCxnSpPr>
            <p:cNvPr id="103" name="Straight Connector 209">
              <a:extLst>
                <a:ext uri="{FF2B5EF4-FFF2-40B4-BE49-F238E27FC236}">
                  <a16:creationId xmlns:a16="http://schemas.microsoft.com/office/drawing/2014/main" id="{11FC6F00-82EF-A349-9B37-7FBBABC909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Straight Connector 210">
              <a:extLst>
                <a:ext uri="{FF2B5EF4-FFF2-40B4-BE49-F238E27FC236}">
                  <a16:creationId xmlns:a16="http://schemas.microsoft.com/office/drawing/2014/main" id="{7EE9DB23-A6E1-1048-B930-BEB006679F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Straight Arrow Connector 211">
              <a:extLst>
                <a:ext uri="{FF2B5EF4-FFF2-40B4-BE49-F238E27FC236}">
                  <a16:creationId xmlns:a16="http://schemas.microsoft.com/office/drawing/2014/main" id="{029260E1-D65B-5A46-93F9-42BCD61036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6" name="Group 212">
            <a:extLst>
              <a:ext uri="{FF2B5EF4-FFF2-40B4-BE49-F238E27FC236}">
                <a16:creationId xmlns:a16="http://schemas.microsoft.com/office/drawing/2014/main" id="{3C167CEC-C2C0-3F45-9B2B-092E7E583B5D}"/>
              </a:ext>
            </a:extLst>
          </p:cNvPr>
          <p:cNvGrpSpPr>
            <a:grpSpLocks/>
          </p:cNvGrpSpPr>
          <p:nvPr/>
        </p:nvGrpSpPr>
        <p:grpSpPr bwMode="auto">
          <a:xfrm>
            <a:off x="7802937" y="2567805"/>
            <a:ext cx="2754313" cy="611187"/>
            <a:chOff x="971600" y="2097192"/>
            <a:chExt cx="2988332" cy="611728"/>
          </a:xfrm>
        </p:grpSpPr>
        <p:cxnSp>
          <p:nvCxnSpPr>
            <p:cNvPr id="107" name="Straight Connector 213">
              <a:extLst>
                <a:ext uri="{FF2B5EF4-FFF2-40B4-BE49-F238E27FC236}">
                  <a16:creationId xmlns:a16="http://schemas.microsoft.com/office/drawing/2014/main" id="{5A3C90F1-A690-B444-AFD4-E5F38D5DD3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71600" y="2276872"/>
              <a:ext cx="0" cy="43204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Straight Connector 214">
              <a:extLst>
                <a:ext uri="{FF2B5EF4-FFF2-40B4-BE49-F238E27FC236}">
                  <a16:creationId xmlns:a16="http://schemas.microsoft.com/office/drawing/2014/main" id="{97676850-8576-FC4F-96A4-2E718065E6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71600" y="2276872"/>
              <a:ext cx="2988332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Straight Arrow Connector 215">
              <a:extLst>
                <a:ext uri="{FF2B5EF4-FFF2-40B4-BE49-F238E27FC236}">
                  <a16:creationId xmlns:a16="http://schemas.microsoft.com/office/drawing/2014/main" id="{BC643587-F748-1C48-AEFC-31B4875384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59932" y="2097192"/>
              <a:ext cx="0" cy="17968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0" name="Group 216">
            <a:extLst>
              <a:ext uri="{FF2B5EF4-FFF2-40B4-BE49-F238E27FC236}">
                <a16:creationId xmlns:a16="http://schemas.microsoft.com/office/drawing/2014/main" id="{9F2CCBB5-75AA-E54F-AD93-E66FCA131CEC}"/>
              </a:ext>
            </a:extLst>
          </p:cNvPr>
          <p:cNvGrpSpPr>
            <a:grpSpLocks/>
          </p:cNvGrpSpPr>
          <p:nvPr/>
        </p:nvGrpSpPr>
        <p:grpSpPr bwMode="auto">
          <a:xfrm>
            <a:off x="10071475" y="2567805"/>
            <a:ext cx="647700" cy="611187"/>
            <a:chOff x="3311860" y="2096852"/>
            <a:chExt cx="972108" cy="612068"/>
          </a:xfrm>
        </p:grpSpPr>
        <p:cxnSp>
          <p:nvCxnSpPr>
            <p:cNvPr id="111" name="Straight Connector 217">
              <a:extLst>
                <a:ext uri="{FF2B5EF4-FFF2-40B4-BE49-F238E27FC236}">
                  <a16:creationId xmlns:a16="http://schemas.microsoft.com/office/drawing/2014/main" id="{370754BD-4B8B-F147-82B1-0F5C40741F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Straight Connector 218">
              <a:extLst>
                <a:ext uri="{FF2B5EF4-FFF2-40B4-BE49-F238E27FC236}">
                  <a16:creationId xmlns:a16="http://schemas.microsoft.com/office/drawing/2014/main" id="{A99B2FCC-4D4C-9E43-B170-BF64A40FF7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Straight Arrow Connector 219">
              <a:extLst>
                <a:ext uri="{FF2B5EF4-FFF2-40B4-BE49-F238E27FC236}">
                  <a16:creationId xmlns:a16="http://schemas.microsoft.com/office/drawing/2014/main" id="{F06F79AB-ECAC-6D46-A726-F28D02795A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245">
            <a:extLst>
              <a:ext uri="{FF2B5EF4-FFF2-40B4-BE49-F238E27FC236}">
                <a16:creationId xmlns:a16="http://schemas.microsoft.com/office/drawing/2014/main" id="{25293F2B-A6BE-0D43-86F6-9ECAB390F8BA}"/>
              </a:ext>
            </a:extLst>
          </p:cNvPr>
          <p:cNvGrpSpPr>
            <a:grpSpLocks/>
          </p:cNvGrpSpPr>
          <p:nvPr/>
        </p:nvGrpSpPr>
        <p:grpSpPr bwMode="auto">
          <a:xfrm>
            <a:off x="11143037" y="2567805"/>
            <a:ext cx="404813" cy="3492500"/>
            <a:chOff x="4860032" y="2097192"/>
            <a:chExt cx="972108" cy="611728"/>
          </a:xfrm>
        </p:grpSpPr>
        <p:cxnSp>
          <p:nvCxnSpPr>
            <p:cNvPr id="115" name="Straight Connector 246">
              <a:extLst>
                <a:ext uri="{FF2B5EF4-FFF2-40B4-BE49-F238E27FC236}">
                  <a16:creationId xmlns:a16="http://schemas.microsoft.com/office/drawing/2014/main" id="{DB7D1F3D-664B-1147-A081-D23246C244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Straight Connector 247">
              <a:extLst>
                <a:ext uri="{FF2B5EF4-FFF2-40B4-BE49-F238E27FC236}">
                  <a16:creationId xmlns:a16="http://schemas.microsoft.com/office/drawing/2014/main" id="{6CCFD916-9AFF-2B48-B3CE-3BB80BD5FE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Straight Arrow Connector 248">
              <a:extLst>
                <a:ext uri="{FF2B5EF4-FFF2-40B4-BE49-F238E27FC236}">
                  <a16:creationId xmlns:a16="http://schemas.microsoft.com/office/drawing/2014/main" id="{8E260161-858B-254F-AC8B-D0CA35FC35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8" name="Group 257">
            <a:extLst>
              <a:ext uri="{FF2B5EF4-FFF2-40B4-BE49-F238E27FC236}">
                <a16:creationId xmlns:a16="http://schemas.microsoft.com/office/drawing/2014/main" id="{A2A0490C-F5E8-C042-9BF0-4CAC2B974201}"/>
              </a:ext>
            </a:extLst>
          </p:cNvPr>
          <p:cNvGrpSpPr>
            <a:grpSpLocks/>
          </p:cNvGrpSpPr>
          <p:nvPr/>
        </p:nvGrpSpPr>
        <p:grpSpPr bwMode="auto">
          <a:xfrm>
            <a:off x="9747625" y="2567805"/>
            <a:ext cx="1260475" cy="3498850"/>
            <a:chOff x="3815916" y="2097193"/>
            <a:chExt cx="1260140" cy="3498194"/>
          </a:xfrm>
        </p:grpSpPr>
        <p:cxnSp>
          <p:nvCxnSpPr>
            <p:cNvPr id="119" name="Straight Connector 258">
              <a:extLst>
                <a:ext uri="{FF2B5EF4-FFF2-40B4-BE49-F238E27FC236}">
                  <a16:creationId xmlns:a16="http://schemas.microsoft.com/office/drawing/2014/main" id="{88B38334-B778-3444-93B1-68DBC779BD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15916" y="5409220"/>
              <a:ext cx="0" cy="186167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Straight Connector 259">
              <a:extLst>
                <a:ext uri="{FF2B5EF4-FFF2-40B4-BE49-F238E27FC236}">
                  <a16:creationId xmlns:a16="http://schemas.microsoft.com/office/drawing/2014/main" id="{543E06D0-248B-D44D-A9FC-DE0F49EB78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15916" y="5409220"/>
              <a:ext cx="126014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Straight Arrow Connector 260">
              <a:extLst>
                <a:ext uri="{FF2B5EF4-FFF2-40B4-BE49-F238E27FC236}">
                  <a16:creationId xmlns:a16="http://schemas.microsoft.com/office/drawing/2014/main" id="{D62A0FE2-A804-C044-BDAA-1A4390A436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2097193"/>
              <a:ext cx="0" cy="3312027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4" name="Rectangle 19">
            <a:extLst>
              <a:ext uri="{FF2B5EF4-FFF2-40B4-BE49-F238E27FC236}">
                <a16:creationId xmlns:a16="http://schemas.microsoft.com/office/drawing/2014/main" id="{5026C708-C8AA-4547-A023-4C03E667B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863" y="4584001"/>
            <a:ext cx="1655763" cy="828432"/>
          </a:xfrm>
          <a:prstGeom prst="rect">
            <a:avLst/>
          </a:prstGeom>
          <a:solidFill>
            <a:schemeClr val="accent5">
              <a:alpha val="2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hydroxide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2.96 kg/F</a:t>
            </a:r>
            <a:r>
              <a:rPr lang="en-US" sz="1600" b="1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</a:p>
        </p:txBody>
      </p:sp>
      <p:grpSp>
        <p:nvGrpSpPr>
          <p:cNvPr id="135" name="Group 222">
            <a:extLst>
              <a:ext uri="{FF2B5EF4-FFF2-40B4-BE49-F238E27FC236}">
                <a16:creationId xmlns:a16="http://schemas.microsoft.com/office/drawing/2014/main" id="{94B673DE-0ABA-5A49-B193-4941BA924682}"/>
              </a:ext>
            </a:extLst>
          </p:cNvPr>
          <p:cNvGrpSpPr>
            <a:grpSpLocks/>
          </p:cNvGrpSpPr>
          <p:nvPr/>
        </p:nvGrpSpPr>
        <p:grpSpPr bwMode="auto">
          <a:xfrm>
            <a:off x="7575777" y="3972813"/>
            <a:ext cx="323849" cy="611188"/>
            <a:chOff x="3311860" y="2096852"/>
            <a:chExt cx="972108" cy="612068"/>
          </a:xfrm>
        </p:grpSpPr>
        <p:cxnSp>
          <p:nvCxnSpPr>
            <p:cNvPr id="136" name="Straight Connector 223">
              <a:extLst>
                <a:ext uri="{FF2B5EF4-FFF2-40B4-BE49-F238E27FC236}">
                  <a16:creationId xmlns:a16="http://schemas.microsoft.com/office/drawing/2014/main" id="{7F7FC5F5-5FE0-2D42-8E65-B2F2D79732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Straight Connector 224">
              <a:extLst>
                <a:ext uri="{FF2B5EF4-FFF2-40B4-BE49-F238E27FC236}">
                  <a16:creationId xmlns:a16="http://schemas.microsoft.com/office/drawing/2014/main" id="{722AD473-7889-5347-AAC7-14C20E9F53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Straight Arrow Connector 225">
              <a:extLst>
                <a:ext uri="{FF2B5EF4-FFF2-40B4-BE49-F238E27FC236}">
                  <a16:creationId xmlns:a16="http://schemas.microsoft.com/office/drawing/2014/main" id="{845A677A-0AFE-4940-A65F-FADEFB5903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9" name="Group 249">
            <a:extLst>
              <a:ext uri="{FF2B5EF4-FFF2-40B4-BE49-F238E27FC236}">
                <a16:creationId xmlns:a16="http://schemas.microsoft.com/office/drawing/2014/main" id="{690AEE6A-8DCA-DF4F-A648-180865D57129}"/>
              </a:ext>
            </a:extLst>
          </p:cNvPr>
          <p:cNvGrpSpPr>
            <a:grpSpLocks/>
          </p:cNvGrpSpPr>
          <p:nvPr/>
        </p:nvGrpSpPr>
        <p:grpSpPr bwMode="auto">
          <a:xfrm>
            <a:off x="7288438" y="5412676"/>
            <a:ext cx="1206500" cy="611187"/>
            <a:chOff x="1223628" y="4977172"/>
            <a:chExt cx="1476164" cy="611728"/>
          </a:xfrm>
        </p:grpSpPr>
        <p:cxnSp>
          <p:nvCxnSpPr>
            <p:cNvPr id="140" name="Straight Connector 250">
              <a:extLst>
                <a:ext uri="{FF2B5EF4-FFF2-40B4-BE49-F238E27FC236}">
                  <a16:creationId xmlns:a16="http://schemas.microsoft.com/office/drawing/2014/main" id="{F620DC78-0E16-DB45-A3F7-00BE6DEF11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99792" y="5409220"/>
              <a:ext cx="0" cy="17968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Straight Connector 251">
              <a:extLst>
                <a:ext uri="{FF2B5EF4-FFF2-40B4-BE49-F238E27FC236}">
                  <a16:creationId xmlns:a16="http://schemas.microsoft.com/office/drawing/2014/main" id="{BF73BE41-C78F-2149-946A-7F19E31CC4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23628" y="5409220"/>
              <a:ext cx="1476164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Straight Arrow Connector 252">
              <a:extLst>
                <a:ext uri="{FF2B5EF4-FFF2-40B4-BE49-F238E27FC236}">
                  <a16:creationId xmlns:a16="http://schemas.microsoft.com/office/drawing/2014/main" id="{459B9F96-85DA-C64E-9316-4D64C3F96C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23628" y="4977172"/>
              <a:ext cx="0" cy="432048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" name="Group 253">
            <a:extLst>
              <a:ext uri="{FF2B5EF4-FFF2-40B4-BE49-F238E27FC236}">
                <a16:creationId xmlns:a16="http://schemas.microsoft.com/office/drawing/2014/main" id="{0D643083-71EC-EC44-B142-D9D94FFD5518}"/>
              </a:ext>
            </a:extLst>
          </p:cNvPr>
          <p:cNvGrpSpPr>
            <a:grpSpLocks/>
          </p:cNvGrpSpPr>
          <p:nvPr/>
        </p:nvGrpSpPr>
        <p:grpSpPr bwMode="auto">
          <a:xfrm>
            <a:off x="8223476" y="3994078"/>
            <a:ext cx="396875" cy="2052638"/>
            <a:chOff x="4860032" y="2097192"/>
            <a:chExt cx="972108" cy="611728"/>
          </a:xfrm>
        </p:grpSpPr>
        <p:cxnSp>
          <p:nvCxnSpPr>
            <p:cNvPr id="144" name="Straight Connector 254">
              <a:extLst>
                <a:ext uri="{FF2B5EF4-FFF2-40B4-BE49-F238E27FC236}">
                  <a16:creationId xmlns:a16="http://schemas.microsoft.com/office/drawing/2014/main" id="{A07BF6AC-4913-F04D-91E2-261A93AB95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Straight Connector 255">
              <a:extLst>
                <a:ext uri="{FF2B5EF4-FFF2-40B4-BE49-F238E27FC236}">
                  <a16:creationId xmlns:a16="http://schemas.microsoft.com/office/drawing/2014/main" id="{487959D6-B774-B146-83FD-72C868623A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Straight Arrow Connector 256">
              <a:extLst>
                <a:ext uri="{FF2B5EF4-FFF2-40B4-BE49-F238E27FC236}">
                  <a16:creationId xmlns:a16="http://schemas.microsoft.com/office/drawing/2014/main" id="{383F7207-9E47-6544-ADB1-02022AB93F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E350947-1B70-4343-B6D6-9CEF42E55DAA}"/>
              </a:ext>
            </a:extLst>
          </p:cNvPr>
          <p:cNvGrpSpPr/>
          <p:nvPr/>
        </p:nvGrpSpPr>
        <p:grpSpPr>
          <a:xfrm>
            <a:off x="8770831" y="3972813"/>
            <a:ext cx="647700" cy="2052638"/>
            <a:chOff x="18403110" y="6804590"/>
            <a:chExt cx="647700" cy="2052638"/>
          </a:xfrm>
        </p:grpSpPr>
        <p:cxnSp>
          <p:nvCxnSpPr>
            <p:cNvPr id="148" name="Straight Connector 261">
              <a:extLst>
                <a:ext uri="{FF2B5EF4-FFF2-40B4-BE49-F238E27FC236}">
                  <a16:creationId xmlns:a16="http://schemas.microsoft.com/office/drawing/2014/main" id="{DB1775EA-BEB7-6348-A96C-E0EA876760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8403110" y="7020490"/>
              <a:ext cx="0" cy="183673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Straight Connector 262">
              <a:extLst>
                <a:ext uri="{FF2B5EF4-FFF2-40B4-BE49-F238E27FC236}">
                  <a16:creationId xmlns:a16="http://schemas.microsoft.com/office/drawing/2014/main" id="{F8BBF1F4-624B-004D-881E-9E422C3635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8403110" y="7020490"/>
              <a:ext cx="6477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Straight Arrow Connector 263">
              <a:extLst>
                <a:ext uri="{FF2B5EF4-FFF2-40B4-BE49-F238E27FC236}">
                  <a16:creationId xmlns:a16="http://schemas.microsoft.com/office/drawing/2014/main" id="{EDD65DE6-DF07-084D-B627-4E82E27B1D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9050810" y="6804590"/>
              <a:ext cx="0" cy="21590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2" name="Group 241">
            <a:extLst>
              <a:ext uri="{FF2B5EF4-FFF2-40B4-BE49-F238E27FC236}">
                <a16:creationId xmlns:a16="http://schemas.microsoft.com/office/drawing/2014/main" id="{6619EBCB-8E2C-0846-949B-7A67C14E533A}"/>
              </a:ext>
            </a:extLst>
          </p:cNvPr>
          <p:cNvGrpSpPr>
            <a:grpSpLocks/>
          </p:cNvGrpSpPr>
          <p:nvPr/>
        </p:nvGrpSpPr>
        <p:grpSpPr bwMode="auto">
          <a:xfrm>
            <a:off x="7541643" y="5433941"/>
            <a:ext cx="3779837" cy="612775"/>
            <a:chOff x="1475656" y="4977512"/>
            <a:chExt cx="3600400" cy="611728"/>
          </a:xfrm>
        </p:grpSpPr>
        <p:cxnSp>
          <p:nvCxnSpPr>
            <p:cNvPr id="153" name="Straight Connector 242">
              <a:extLst>
                <a:ext uri="{FF2B5EF4-FFF2-40B4-BE49-F238E27FC236}">
                  <a16:creationId xmlns:a16="http://schemas.microsoft.com/office/drawing/2014/main" id="{003BF269-4C03-2448-8925-4810772128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5265204"/>
              <a:ext cx="0" cy="324036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243">
              <a:extLst>
                <a:ext uri="{FF2B5EF4-FFF2-40B4-BE49-F238E27FC236}">
                  <a16:creationId xmlns:a16="http://schemas.microsoft.com/office/drawing/2014/main" id="{B163FFB9-E523-B546-A2D7-C5C6D1D6B3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75656" y="5265204"/>
              <a:ext cx="36004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Arrow Connector 244">
              <a:extLst>
                <a:ext uri="{FF2B5EF4-FFF2-40B4-BE49-F238E27FC236}">
                  <a16:creationId xmlns:a16="http://schemas.microsoft.com/office/drawing/2014/main" id="{E8A30771-3E6C-BA4E-B758-2121FD37CB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475656" y="4977512"/>
              <a:ext cx="0" cy="287692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56" name="Straight Connector 234">
            <a:extLst>
              <a:ext uri="{FF2B5EF4-FFF2-40B4-BE49-F238E27FC236}">
                <a16:creationId xmlns:a16="http://schemas.microsoft.com/office/drawing/2014/main" id="{CCE6BB87-3A7E-7B46-A489-7D2A54FBD3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695161" y="5549239"/>
            <a:ext cx="0" cy="492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" name="Straight Connector 235">
            <a:extLst>
              <a:ext uri="{FF2B5EF4-FFF2-40B4-BE49-F238E27FC236}">
                <a16:creationId xmlns:a16="http://schemas.microsoft.com/office/drawing/2014/main" id="{68D9750A-3829-3F40-816B-F6135695C9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37274" y="5549239"/>
            <a:ext cx="5957887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" name="Straight Arrow Connector 236">
            <a:extLst>
              <a:ext uri="{FF2B5EF4-FFF2-40B4-BE49-F238E27FC236}">
                <a16:creationId xmlns:a16="http://schemas.microsoft.com/office/drawing/2014/main" id="{2E83AB13-A204-8247-89E8-00DAA98654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737274" y="5411088"/>
            <a:ext cx="0" cy="127000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8" name="Rectangle 19">
            <a:extLst>
              <a:ext uri="{FF2B5EF4-FFF2-40B4-BE49-F238E27FC236}">
                <a16:creationId xmlns:a16="http://schemas.microsoft.com/office/drawing/2014/main" id="{B278718F-2F6A-8A46-8CFA-EDC6DAF4D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562" y="6060062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Bauxite</a:t>
            </a:r>
          </a:p>
          <a:p>
            <a:pPr algn="ctr"/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4.14 kg/FU</a:t>
            </a:r>
          </a:p>
        </p:txBody>
      </p:sp>
      <p:cxnSp>
        <p:nvCxnSpPr>
          <p:cNvPr id="169" name="Straight Connector 221">
            <a:extLst>
              <a:ext uri="{FF2B5EF4-FFF2-40B4-BE49-F238E27FC236}">
                <a16:creationId xmlns:a16="http://schemas.microsoft.com/office/drawing/2014/main" id="{D919100D-9ACE-CA44-8EB7-218DEDE7EF3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9127" y="5447287"/>
            <a:ext cx="0" cy="619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8" name="Rectangle 19">
            <a:extLst>
              <a:ext uri="{FF2B5EF4-FFF2-40B4-BE49-F238E27FC236}">
                <a16:creationId xmlns:a16="http://schemas.microsoft.com/office/drawing/2014/main" id="{3022CB08-C5CE-8E47-A457-A19301EA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6855" y="6046716"/>
            <a:ext cx="205841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b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truck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1.21 </a:t>
            </a:r>
            <a:r>
              <a:rPr lang="en-US" sz="1600" kern="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t∙km</a:t>
            </a: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24168" y="5447287"/>
            <a:ext cx="3414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 0.503 </a:t>
            </a:r>
            <a:r>
              <a:rPr lang="en-US" altLang="fr-FR" sz="20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20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20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2000" dirty="0" err="1">
                <a:solidFill>
                  <a:schemeClr val="accent5"/>
                </a:solidFill>
              </a:rPr>
              <a:t>kg</a:t>
            </a:r>
            <a:r>
              <a:rPr lang="en-US" altLang="en-US" sz="2000" baseline="-25000" dirty="0" err="1">
                <a:solidFill>
                  <a:schemeClr val="accent5"/>
                </a:solidFill>
              </a:rPr>
              <a:t>Al</a:t>
            </a:r>
            <a:r>
              <a:rPr lang="en-US" altLang="en-US" sz="2000" baseline="-25000" dirty="0">
                <a:solidFill>
                  <a:schemeClr val="accent5"/>
                </a:solidFill>
              </a:rPr>
              <a:t> hydroxide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88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159" y="5415681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7366" y="6886871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324709" y="7268677"/>
            <a:ext cx="34050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14.9 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× 0.029 = 0.43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87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194" y="6888494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10423241" y="7005184"/>
            <a:ext cx="20842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34.1 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× 0.103 </a:t>
            </a:r>
          </a:p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= 1.68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9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2455" y="6839074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54689" y="3991743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1944725" y="4438931"/>
            <a:ext cx="34628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4"/>
                </a:solidFill>
                <a:cs typeface="Arial" panose="020B0604020202020204" pitchFamily="34" charset="0"/>
              </a:rPr>
              <a:t>57.4 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×  0.049 = 2.82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159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9971" y="3974159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Rectangle 159"/>
          <p:cNvSpPr/>
          <p:nvPr/>
        </p:nvSpPr>
        <p:spPr>
          <a:xfrm>
            <a:off x="8930266" y="4414947"/>
            <a:ext cx="2199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4"/>
                </a:solidFill>
                <a:cs typeface="Arial" panose="020B0604020202020204" pitchFamily="34" charset="0"/>
              </a:rPr>
              <a:t>0.449 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×1.40</a:t>
            </a:r>
          </a:p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= 0.63 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161" name="Rectangle 160"/>
          <p:cNvSpPr/>
          <p:nvPr/>
        </p:nvSpPr>
        <p:spPr>
          <a:xfrm>
            <a:off x="6983208" y="1871750"/>
            <a:ext cx="33698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rgbClr val="407EC9"/>
                </a:solidFill>
                <a:cs typeface="Arial" panose="020B0604020202020204" pitchFamily="34" charset="0"/>
              </a:rPr>
              <a:t>1 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× 56.0 = 56.0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 err="1">
                <a:solidFill>
                  <a:schemeClr val="accent3"/>
                </a:solidFill>
              </a:rPr>
              <a:t>kg</a:t>
            </a:r>
            <a:r>
              <a:rPr lang="en-US" altLang="en-US" sz="1600" baseline="-25000" dirty="0" err="1">
                <a:solidFill>
                  <a:schemeClr val="accent3"/>
                </a:solidFill>
              </a:rPr>
              <a:t>Al</a:t>
            </a:r>
            <a:r>
              <a:rPr lang="en-US" altLang="en-US" sz="1600" baseline="-25000" dirty="0">
                <a:solidFill>
                  <a:schemeClr val="accent3"/>
                </a:solidFill>
              </a:rPr>
              <a:t> liquid</a:t>
            </a:r>
            <a:endParaRPr lang="en-US" sz="1600" dirty="0"/>
          </a:p>
        </p:txBody>
      </p:sp>
      <p:sp>
        <p:nvSpPr>
          <p:cNvPr id="172" name="Text Box 60">
            <a:extLst>
              <a:ext uri="{FF2B5EF4-FFF2-40B4-BE49-F238E27FC236}">
                <a16:creationId xmlns:a16="http://schemas.microsoft.com/office/drawing/2014/main" id="{968D007A-425D-0749-9A0A-764DD2694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581" y="4036645"/>
            <a:ext cx="47451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0"/>
              </a:spcBef>
              <a:buClrTx/>
              <a:buNone/>
            </a:pP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1.93 </a:t>
            </a: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×</a:t>
            </a:r>
            <a:r>
              <a:rPr lang="en-US" altLang="fr-FR" sz="1600" b="0" dirty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lang="en-US" altLang="fr-FR" sz="16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0.038 = </a:t>
            </a: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0.07</a:t>
            </a:r>
            <a:r>
              <a:rPr lang="en-US" altLang="fr-FR" sz="16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 </a:t>
            </a:r>
            <a:r>
              <a:rPr lang="en-US" altLang="fr-FR" sz="1600" b="0" dirty="0" err="1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MJ</a:t>
            </a:r>
            <a:r>
              <a:rPr lang="en-US" altLang="fr-FR" sz="1600" b="0" baseline="-25000" dirty="0" err="1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heat</a:t>
            </a:r>
            <a:r>
              <a:rPr lang="en-US" altLang="fr-FR" sz="1600" b="0" baseline="-2500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 waste</a:t>
            </a:r>
            <a:r>
              <a:rPr lang="en-US" altLang="fr-FR" sz="16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/</a:t>
            </a:r>
            <a:r>
              <a:rPr lang="en-US" altLang="en-US" sz="1600" b="0" dirty="0">
                <a:solidFill>
                  <a:srgbClr val="ADA400"/>
                </a:solidFill>
                <a:latin typeface="Arial" panose="020B0604020202020204"/>
              </a:rPr>
              <a:t>FU</a:t>
            </a:r>
            <a:endParaRPr lang="en-US" sz="1600" b="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6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7659" y="3997389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DE9135A-736E-3F48-9EE7-C1A65C49E24C}"/>
              </a:ext>
            </a:extLst>
          </p:cNvPr>
          <p:cNvSpPr txBox="1"/>
          <p:nvPr/>
        </p:nvSpPr>
        <p:spPr>
          <a:xfrm>
            <a:off x="3973372" y="4694584"/>
            <a:ext cx="2555547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 err="1">
                <a:solidFill>
                  <a:schemeClr val="accent5"/>
                </a:solidFill>
              </a:rPr>
              <a:t>kg</a:t>
            </a:r>
            <a:r>
              <a:rPr lang="en-US" sz="2000" baseline="-25000" dirty="0" err="1">
                <a:solidFill>
                  <a:schemeClr val="accent5"/>
                </a:solidFill>
              </a:rPr>
              <a:t>Al</a:t>
            </a:r>
            <a:r>
              <a:rPr lang="en-US" sz="2000" baseline="-25000" dirty="0">
                <a:solidFill>
                  <a:schemeClr val="accent5"/>
                </a:solidFill>
              </a:rPr>
              <a:t> hydroxide</a:t>
            </a:r>
            <a:r>
              <a:rPr lang="en-US" altLang="en-US" sz="2000" dirty="0">
                <a:solidFill>
                  <a:schemeClr val="accent5"/>
                </a:solidFill>
              </a:rPr>
              <a:t>/</a:t>
            </a:r>
            <a:r>
              <a:rPr lang="en-US" altLang="en-US" sz="2000" dirty="0" err="1">
                <a:solidFill>
                  <a:srgbClr val="407EC9"/>
                </a:solidFill>
              </a:rPr>
              <a:t>kg</a:t>
            </a:r>
            <a:r>
              <a:rPr lang="en-US" altLang="en-US" sz="2000" baseline="-25000" dirty="0" err="1">
                <a:solidFill>
                  <a:srgbClr val="407EC9"/>
                </a:solidFill>
              </a:rPr>
              <a:t>Al</a:t>
            </a:r>
            <a:r>
              <a:rPr lang="en-US" altLang="en-US" sz="2000" baseline="-25000" dirty="0">
                <a:solidFill>
                  <a:srgbClr val="407EC9"/>
                </a:solidFill>
              </a:rPr>
              <a:t> liquid</a:t>
            </a:r>
            <a:endParaRPr lang="en-US" sz="2000" dirty="0">
              <a:solidFill>
                <a:srgbClr val="407EC9"/>
              </a:solidFill>
            </a:endParaRPr>
          </a:p>
          <a:p>
            <a:pPr>
              <a:defRPr/>
            </a:pPr>
            <a:endParaRPr lang="en-US" sz="2000" baseline="-25000" dirty="0">
              <a:solidFill>
                <a:schemeClr val="accent4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666B1D-8298-514A-973D-2AF32CDB43C9}"/>
              </a:ext>
            </a:extLst>
          </p:cNvPr>
          <p:cNvSpPr txBox="1"/>
          <p:nvPr/>
        </p:nvSpPr>
        <p:spPr>
          <a:xfrm>
            <a:off x="3313650" y="4707354"/>
            <a:ext cx="744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accent4"/>
                </a:solidFill>
              </a:rPr>
              <a:t>2.96          ×</a:t>
            </a:r>
            <a:endParaRPr lang="en-US" sz="2000" baseline="-25000" dirty="0">
              <a:solidFill>
                <a:schemeClr val="accent4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069932" y="1529454"/>
            <a:ext cx="493469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The</a:t>
            </a:r>
            <a:r>
              <a:rPr lang="en-US" sz="2400" dirty="0">
                <a:solidFill>
                  <a:srgbClr val="01035B"/>
                </a:solidFill>
                <a:latin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inventory</a:t>
            </a:r>
            <a:r>
              <a:rPr lang="en-US" sz="2400" dirty="0">
                <a:solidFill>
                  <a:srgbClr val="01035B"/>
                </a:solidFill>
                <a:latin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is calculated by multiplying the</a:t>
            </a:r>
            <a:r>
              <a:rPr lang="en-US" sz="2400" dirty="0">
                <a:solidFill>
                  <a:srgbClr val="01035B"/>
                </a:solidFill>
                <a:latin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accent4"/>
                </a:solidFill>
                <a:latin typeface="Arial" panose="020B0604020202020204" pitchFamily="34" charset="0"/>
              </a:rPr>
              <a:t>intermediary</a:t>
            </a:r>
            <a:r>
              <a:rPr lang="en-US" sz="2400" dirty="0">
                <a:solidFill>
                  <a:srgbClr val="01035B"/>
                </a:solidFill>
                <a:latin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accent4"/>
                </a:solidFill>
                <a:latin typeface="Arial" panose="020B0604020202020204" pitchFamily="34" charset="0"/>
              </a:rPr>
              <a:t>flow per FU</a:t>
            </a:r>
            <a:r>
              <a:rPr lang="en-US" sz="2400" dirty="0">
                <a:solidFill>
                  <a:srgbClr val="01035B"/>
                </a:solidFill>
                <a:latin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of each unit process by the </a:t>
            </a:r>
            <a:r>
              <a:rPr 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direct</a:t>
            </a:r>
            <a:r>
              <a:rPr lang="en-US" sz="2400" dirty="0">
                <a:solidFill>
                  <a:schemeClr val="accent3"/>
                </a:solidFill>
                <a:latin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emissions and extractions factors or </a:t>
            </a:r>
            <a:r>
              <a:rPr lang="en-US" sz="2400" dirty="0">
                <a:solidFill>
                  <a:schemeClr val="accent3"/>
                </a:solidFill>
                <a:latin typeface="Arial" panose="020B0604020202020204" pitchFamily="34" charset="0"/>
              </a:rPr>
              <a:t>elementary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flows per unit of this same UP 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5683" y="4490856"/>
            <a:ext cx="19816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407EC9"/>
                </a:solidFill>
              </a:rPr>
              <a:t>Intermediary </a:t>
            </a:r>
            <a:br>
              <a:rPr lang="en-US" sz="2400" dirty="0">
                <a:solidFill>
                  <a:srgbClr val="407EC9"/>
                </a:solidFill>
              </a:rPr>
            </a:br>
            <a:r>
              <a:rPr lang="en-US" sz="2400" dirty="0">
                <a:solidFill>
                  <a:schemeClr val="accent4"/>
                </a:solidFill>
              </a:rPr>
              <a:t>flow per FU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96697" y="5321853"/>
            <a:ext cx="235833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Elementary </a:t>
            </a:r>
            <a:br>
              <a:rPr lang="en-US" sz="2400" dirty="0">
                <a:solidFill>
                  <a:schemeClr val="accent3"/>
                </a:solidFill>
              </a:rPr>
            </a:br>
            <a:r>
              <a:rPr lang="en-US" sz="2400" dirty="0">
                <a:solidFill>
                  <a:schemeClr val="accent3"/>
                </a:solidFill>
              </a:rPr>
              <a:t>flow per unit UP</a:t>
            </a:r>
          </a:p>
        </p:txBody>
      </p:sp>
      <p:cxnSp>
        <p:nvCxnSpPr>
          <p:cNvPr id="123" name="Straight Arrow Connector 207">
            <a:extLst>
              <a:ext uri="{FF2B5EF4-FFF2-40B4-BE49-F238E27FC236}">
                <a16:creationId xmlns:a16="http://schemas.microsoft.com/office/drawing/2014/main" id="{20CA88C2-BC99-C249-B95F-C18CCD27CF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835187" y="2567805"/>
            <a:ext cx="0" cy="179387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4" name="Rectangle 19">
            <a:extLst>
              <a:ext uri="{FF2B5EF4-FFF2-40B4-BE49-F238E27FC236}">
                <a16:creationId xmlns:a16="http://schemas.microsoft.com/office/drawing/2014/main" id="{5F6B774C-6F44-244E-8A58-454D1CDE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8031" y="1739252"/>
            <a:ext cx="1781907" cy="828432"/>
          </a:xfrm>
          <a:prstGeom prst="rect">
            <a:avLst/>
          </a:prstGeom>
          <a:solidFill>
            <a:schemeClr val="accent6">
              <a:alpha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Aluminum, </a:t>
            </a:r>
            <a:r>
              <a:rPr lang="en-US" sz="1600" b="1" kern="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primary,liquid</a:t>
            </a:r>
            <a:endParaRPr lang="en-US" sz="1600" b="1" kern="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600" kern="0" dirty="0" err="1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kg</a:t>
            </a:r>
            <a:r>
              <a:rPr lang="en-US" altLang="en-US" sz="2000" baseline="-25000" dirty="0" err="1">
                <a:solidFill>
                  <a:srgbClr val="407EC9"/>
                </a:solidFill>
              </a:rPr>
              <a:t>Al</a:t>
            </a:r>
            <a:r>
              <a:rPr lang="en-US" altLang="en-US" sz="2000" baseline="-25000" dirty="0">
                <a:solidFill>
                  <a:srgbClr val="407EC9"/>
                </a:solidFill>
              </a:rPr>
              <a:t> liquid </a:t>
            </a:r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FU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6697" y="6233707"/>
            <a:ext cx="182774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Elementary </a:t>
            </a:r>
            <a:br>
              <a:rPr lang="en-US" sz="2400" dirty="0">
                <a:solidFill>
                  <a:schemeClr val="accent3"/>
                </a:solidFill>
              </a:rPr>
            </a:br>
            <a:r>
              <a:rPr lang="en-US" sz="2400" dirty="0">
                <a:solidFill>
                  <a:schemeClr val="accent3"/>
                </a:solidFill>
              </a:rPr>
              <a:t>flow per FU</a:t>
            </a:r>
          </a:p>
        </p:txBody>
      </p:sp>
      <p:cxnSp>
        <p:nvCxnSpPr>
          <p:cNvPr id="127" name="Straight Connector 126"/>
          <p:cNvCxnSpPr/>
          <p:nvPr/>
        </p:nvCxnSpPr>
        <p:spPr>
          <a:xfrm>
            <a:off x="3313650" y="6066412"/>
            <a:ext cx="1969477" cy="0"/>
          </a:xfrm>
          <a:prstGeom prst="line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3255035" y="6335895"/>
            <a:ext cx="29322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 1.49 </a:t>
            </a:r>
            <a:r>
              <a:rPr lang="en-US" altLang="fr-FR" sz="20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20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20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2000" dirty="0" err="1">
                <a:solidFill>
                  <a:srgbClr val="407EC9"/>
                </a:solidFill>
              </a:rPr>
              <a:t>kg</a:t>
            </a:r>
            <a:r>
              <a:rPr lang="en-US" altLang="en-US" sz="2000" baseline="-25000" dirty="0" err="1">
                <a:solidFill>
                  <a:srgbClr val="407EC9"/>
                </a:solidFill>
              </a:rPr>
              <a:t>Al</a:t>
            </a:r>
            <a:r>
              <a:rPr lang="en-US" altLang="en-US" sz="2000" baseline="-25000" dirty="0">
                <a:solidFill>
                  <a:srgbClr val="407EC9"/>
                </a:solidFill>
              </a:rPr>
              <a:t> liquid</a:t>
            </a:r>
            <a:endParaRPr lang="en-US" sz="2000" dirty="0">
              <a:solidFill>
                <a:srgbClr val="407EC9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2770081" y="7005184"/>
            <a:ext cx="21419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1.21 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× 1.38 </a:t>
            </a:r>
          </a:p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= 3.51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A9C826F-D673-5D47-BCAA-948538924C15}"/>
              </a:ext>
            </a:extLst>
          </p:cNvPr>
          <p:cNvSpPr/>
          <p:nvPr/>
        </p:nvSpPr>
        <p:spPr>
          <a:xfrm>
            <a:off x="980384" y="1422400"/>
            <a:ext cx="5093768" cy="2513677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Line 35">
            <a:extLst>
              <a:ext uri="{FF2B5EF4-FFF2-40B4-BE49-F238E27FC236}">
                <a16:creationId xmlns:a16="http://schemas.microsoft.com/office/drawing/2014/main" id="{7B270387-B8C6-C446-A46D-77C7CB36E40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102409" y="2013572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1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6749-8E30-E645-93C6-C20513A5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tx2"/>
                </a:solidFill>
              </a:rPr>
              <a:t>4. Calculate the aggregated inventory flows of the total system per FU 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93" name="Rectangle 19">
            <a:extLst>
              <a:ext uri="{FF2B5EF4-FFF2-40B4-BE49-F238E27FC236}">
                <a16:creationId xmlns:a16="http://schemas.microsoft.com/office/drawing/2014/main" id="{95801A3E-2BAC-2B4B-99A9-889BBBC2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775" y="3172763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oxide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1.93 kg/FU</a:t>
            </a:r>
          </a:p>
        </p:txBody>
      </p:sp>
      <p:sp>
        <p:nvSpPr>
          <p:cNvPr id="94" name="Rectangle 19">
            <a:extLst>
              <a:ext uri="{FF2B5EF4-FFF2-40B4-BE49-F238E27FC236}">
                <a16:creationId xmlns:a16="http://schemas.microsoft.com/office/drawing/2014/main" id="{8FFDDB33-5239-AF40-BD72-A23B4D53C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512" y="3172763"/>
            <a:ext cx="18716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Anode, aluminum electrolysis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19">
            <a:extLst>
              <a:ext uri="{FF2B5EF4-FFF2-40B4-BE49-F238E27FC236}">
                <a16:creationId xmlns:a16="http://schemas.microsoft.com/office/drawing/2014/main" id="{C1BB0779-61F1-FC4F-88B8-6E2C7BD37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6863" y="3172763"/>
            <a:ext cx="2052637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Cathode, aluminum electrolysis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0.0181 kg/FU</a:t>
            </a:r>
          </a:p>
        </p:txBody>
      </p:sp>
      <p:sp>
        <p:nvSpPr>
          <p:cNvPr id="96" name="Rectangle 19">
            <a:extLst>
              <a:ext uri="{FF2B5EF4-FFF2-40B4-BE49-F238E27FC236}">
                <a16:creationId xmlns:a16="http://schemas.microsoft.com/office/drawing/2014/main" id="{CCB90FA9-39EE-F04C-9A26-3C170275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0055" y="6046716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Heat,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 fuel oil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14.9 MJ/FU</a:t>
            </a:r>
          </a:p>
        </p:txBody>
      </p:sp>
      <p:sp>
        <p:nvSpPr>
          <p:cNvPr id="97" name="Rectangle 19">
            <a:extLst>
              <a:ext uri="{FF2B5EF4-FFF2-40B4-BE49-F238E27FC236}">
                <a16:creationId xmlns:a16="http://schemas.microsoft.com/office/drawing/2014/main" id="{3022CB08-C5CE-8E47-A457-A19301EA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1225" y="6060305"/>
            <a:ext cx="205841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Transport, transoceanic freight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34.1 </a:t>
            </a:r>
            <a:r>
              <a:rPr lang="en-US" sz="1600" kern="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t∙km</a:t>
            </a: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/FU</a:t>
            </a:r>
          </a:p>
        </p:txBody>
      </p:sp>
      <p:sp>
        <p:nvSpPr>
          <p:cNvPr id="98" name="Rectangle 19">
            <a:extLst>
              <a:ext uri="{FF2B5EF4-FFF2-40B4-BE49-F238E27FC236}">
                <a16:creationId xmlns:a16="http://schemas.microsoft.com/office/drawing/2014/main" id="{438B3182-2539-D74D-B126-E193AD2E4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107" y="3172763"/>
            <a:ext cx="1655763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mix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57.4 kg/FU</a:t>
            </a:r>
          </a:p>
        </p:txBody>
      </p:sp>
      <p:cxnSp>
        <p:nvCxnSpPr>
          <p:cNvPr id="99" name="Straight Connector 205">
            <a:extLst>
              <a:ext uri="{FF2B5EF4-FFF2-40B4-BE49-F238E27FC236}">
                <a16:creationId xmlns:a16="http://schemas.microsoft.com/office/drawing/2014/main" id="{06D69943-7789-0647-98A1-939020A875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103725" y="2747192"/>
            <a:ext cx="0" cy="433388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" name="Straight Connector 206">
            <a:extLst>
              <a:ext uri="{FF2B5EF4-FFF2-40B4-BE49-F238E27FC236}">
                <a16:creationId xmlns:a16="http://schemas.microsoft.com/office/drawing/2014/main" id="{2FEC53C3-F3D7-D94B-B82F-A8BD2573E4D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835187" y="2747192"/>
            <a:ext cx="2268538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2" name="Group 208">
            <a:extLst>
              <a:ext uri="{FF2B5EF4-FFF2-40B4-BE49-F238E27FC236}">
                <a16:creationId xmlns:a16="http://schemas.microsoft.com/office/drawing/2014/main" id="{34124118-570F-2741-8B19-AAB13495643F}"/>
              </a:ext>
            </a:extLst>
          </p:cNvPr>
          <p:cNvGrpSpPr>
            <a:grpSpLocks/>
          </p:cNvGrpSpPr>
          <p:nvPr/>
        </p:nvGrpSpPr>
        <p:grpSpPr bwMode="auto">
          <a:xfrm>
            <a:off x="11619287" y="2567805"/>
            <a:ext cx="576263" cy="611187"/>
            <a:chOff x="4860032" y="2097192"/>
            <a:chExt cx="972108" cy="611728"/>
          </a:xfrm>
        </p:grpSpPr>
        <p:cxnSp>
          <p:nvCxnSpPr>
            <p:cNvPr id="103" name="Straight Connector 209">
              <a:extLst>
                <a:ext uri="{FF2B5EF4-FFF2-40B4-BE49-F238E27FC236}">
                  <a16:creationId xmlns:a16="http://schemas.microsoft.com/office/drawing/2014/main" id="{11FC6F00-82EF-A349-9B37-7FBBABC909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Straight Connector 210">
              <a:extLst>
                <a:ext uri="{FF2B5EF4-FFF2-40B4-BE49-F238E27FC236}">
                  <a16:creationId xmlns:a16="http://schemas.microsoft.com/office/drawing/2014/main" id="{7EE9DB23-A6E1-1048-B930-BEB006679F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Straight Arrow Connector 211">
              <a:extLst>
                <a:ext uri="{FF2B5EF4-FFF2-40B4-BE49-F238E27FC236}">
                  <a16:creationId xmlns:a16="http://schemas.microsoft.com/office/drawing/2014/main" id="{029260E1-D65B-5A46-93F9-42BCD61036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6" name="Group 212">
            <a:extLst>
              <a:ext uri="{FF2B5EF4-FFF2-40B4-BE49-F238E27FC236}">
                <a16:creationId xmlns:a16="http://schemas.microsoft.com/office/drawing/2014/main" id="{3C167CEC-C2C0-3F45-9B2B-092E7E583B5D}"/>
              </a:ext>
            </a:extLst>
          </p:cNvPr>
          <p:cNvGrpSpPr>
            <a:grpSpLocks/>
          </p:cNvGrpSpPr>
          <p:nvPr/>
        </p:nvGrpSpPr>
        <p:grpSpPr bwMode="auto">
          <a:xfrm>
            <a:off x="7802937" y="2567805"/>
            <a:ext cx="2754313" cy="611187"/>
            <a:chOff x="971600" y="2097192"/>
            <a:chExt cx="2988332" cy="611728"/>
          </a:xfrm>
        </p:grpSpPr>
        <p:cxnSp>
          <p:nvCxnSpPr>
            <p:cNvPr id="107" name="Straight Connector 213">
              <a:extLst>
                <a:ext uri="{FF2B5EF4-FFF2-40B4-BE49-F238E27FC236}">
                  <a16:creationId xmlns:a16="http://schemas.microsoft.com/office/drawing/2014/main" id="{5A3C90F1-A690-B444-AFD4-E5F38D5DD3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71600" y="2276872"/>
              <a:ext cx="0" cy="43204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Straight Connector 214">
              <a:extLst>
                <a:ext uri="{FF2B5EF4-FFF2-40B4-BE49-F238E27FC236}">
                  <a16:creationId xmlns:a16="http://schemas.microsoft.com/office/drawing/2014/main" id="{97676850-8576-FC4F-96A4-2E718065E6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971600" y="2276872"/>
              <a:ext cx="2988332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Straight Arrow Connector 215">
              <a:extLst>
                <a:ext uri="{FF2B5EF4-FFF2-40B4-BE49-F238E27FC236}">
                  <a16:creationId xmlns:a16="http://schemas.microsoft.com/office/drawing/2014/main" id="{BC643587-F748-1C48-AEFC-31B4875384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959932" y="2097192"/>
              <a:ext cx="0" cy="17968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0" name="Group 216">
            <a:extLst>
              <a:ext uri="{FF2B5EF4-FFF2-40B4-BE49-F238E27FC236}">
                <a16:creationId xmlns:a16="http://schemas.microsoft.com/office/drawing/2014/main" id="{9F2CCBB5-75AA-E54F-AD93-E66FCA131CEC}"/>
              </a:ext>
            </a:extLst>
          </p:cNvPr>
          <p:cNvGrpSpPr>
            <a:grpSpLocks/>
          </p:cNvGrpSpPr>
          <p:nvPr/>
        </p:nvGrpSpPr>
        <p:grpSpPr bwMode="auto">
          <a:xfrm>
            <a:off x="10071475" y="2567805"/>
            <a:ext cx="647700" cy="611187"/>
            <a:chOff x="3311860" y="2096852"/>
            <a:chExt cx="972108" cy="612068"/>
          </a:xfrm>
        </p:grpSpPr>
        <p:cxnSp>
          <p:nvCxnSpPr>
            <p:cNvPr id="111" name="Straight Connector 217">
              <a:extLst>
                <a:ext uri="{FF2B5EF4-FFF2-40B4-BE49-F238E27FC236}">
                  <a16:creationId xmlns:a16="http://schemas.microsoft.com/office/drawing/2014/main" id="{370754BD-4B8B-F147-82B1-0F5C40741F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Straight Connector 218">
              <a:extLst>
                <a:ext uri="{FF2B5EF4-FFF2-40B4-BE49-F238E27FC236}">
                  <a16:creationId xmlns:a16="http://schemas.microsoft.com/office/drawing/2014/main" id="{A99B2FCC-4D4C-9E43-B170-BF64A40FF7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Straight Arrow Connector 219">
              <a:extLst>
                <a:ext uri="{FF2B5EF4-FFF2-40B4-BE49-F238E27FC236}">
                  <a16:creationId xmlns:a16="http://schemas.microsoft.com/office/drawing/2014/main" id="{F06F79AB-ECAC-6D46-A726-F28D02795A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245">
            <a:extLst>
              <a:ext uri="{FF2B5EF4-FFF2-40B4-BE49-F238E27FC236}">
                <a16:creationId xmlns:a16="http://schemas.microsoft.com/office/drawing/2014/main" id="{25293F2B-A6BE-0D43-86F6-9ECAB390F8BA}"/>
              </a:ext>
            </a:extLst>
          </p:cNvPr>
          <p:cNvGrpSpPr>
            <a:grpSpLocks/>
          </p:cNvGrpSpPr>
          <p:nvPr/>
        </p:nvGrpSpPr>
        <p:grpSpPr bwMode="auto">
          <a:xfrm>
            <a:off x="11143037" y="2567805"/>
            <a:ext cx="404813" cy="3492500"/>
            <a:chOff x="4860032" y="2097192"/>
            <a:chExt cx="972108" cy="611728"/>
          </a:xfrm>
        </p:grpSpPr>
        <p:cxnSp>
          <p:nvCxnSpPr>
            <p:cNvPr id="115" name="Straight Connector 246">
              <a:extLst>
                <a:ext uri="{FF2B5EF4-FFF2-40B4-BE49-F238E27FC236}">
                  <a16:creationId xmlns:a16="http://schemas.microsoft.com/office/drawing/2014/main" id="{DB7D1F3D-664B-1147-A081-D23246C244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Straight Connector 247">
              <a:extLst>
                <a:ext uri="{FF2B5EF4-FFF2-40B4-BE49-F238E27FC236}">
                  <a16:creationId xmlns:a16="http://schemas.microsoft.com/office/drawing/2014/main" id="{6CCFD916-9AFF-2B48-B3CE-3BB80BD5FE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Straight Arrow Connector 248">
              <a:extLst>
                <a:ext uri="{FF2B5EF4-FFF2-40B4-BE49-F238E27FC236}">
                  <a16:creationId xmlns:a16="http://schemas.microsoft.com/office/drawing/2014/main" id="{8E260161-858B-254F-AC8B-D0CA35FC35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8" name="Group 257">
            <a:extLst>
              <a:ext uri="{FF2B5EF4-FFF2-40B4-BE49-F238E27FC236}">
                <a16:creationId xmlns:a16="http://schemas.microsoft.com/office/drawing/2014/main" id="{A2A0490C-F5E8-C042-9BF0-4CAC2B974201}"/>
              </a:ext>
            </a:extLst>
          </p:cNvPr>
          <p:cNvGrpSpPr>
            <a:grpSpLocks/>
          </p:cNvGrpSpPr>
          <p:nvPr/>
        </p:nvGrpSpPr>
        <p:grpSpPr bwMode="auto">
          <a:xfrm>
            <a:off x="9747625" y="2567805"/>
            <a:ext cx="1260475" cy="3498850"/>
            <a:chOff x="3815916" y="2097193"/>
            <a:chExt cx="1260140" cy="3498194"/>
          </a:xfrm>
        </p:grpSpPr>
        <p:cxnSp>
          <p:nvCxnSpPr>
            <p:cNvPr id="119" name="Straight Connector 258">
              <a:extLst>
                <a:ext uri="{FF2B5EF4-FFF2-40B4-BE49-F238E27FC236}">
                  <a16:creationId xmlns:a16="http://schemas.microsoft.com/office/drawing/2014/main" id="{88B38334-B778-3444-93B1-68DBC779BD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15916" y="5409220"/>
              <a:ext cx="0" cy="186167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Straight Connector 259">
              <a:extLst>
                <a:ext uri="{FF2B5EF4-FFF2-40B4-BE49-F238E27FC236}">
                  <a16:creationId xmlns:a16="http://schemas.microsoft.com/office/drawing/2014/main" id="{543E06D0-248B-D44D-A9FC-DE0F49EB78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15916" y="5409220"/>
              <a:ext cx="126014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Straight Arrow Connector 260">
              <a:extLst>
                <a:ext uri="{FF2B5EF4-FFF2-40B4-BE49-F238E27FC236}">
                  <a16:creationId xmlns:a16="http://schemas.microsoft.com/office/drawing/2014/main" id="{D62A0FE2-A804-C044-BDAA-1A4390A436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2097193"/>
              <a:ext cx="0" cy="3312027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4" name="Rectangle 19">
            <a:extLst>
              <a:ext uri="{FF2B5EF4-FFF2-40B4-BE49-F238E27FC236}">
                <a16:creationId xmlns:a16="http://schemas.microsoft.com/office/drawing/2014/main" id="{5026C708-C8AA-4547-A023-4C03E667B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863" y="4584001"/>
            <a:ext cx="1655763" cy="828432"/>
          </a:xfrm>
          <a:prstGeom prst="rect">
            <a:avLst/>
          </a:prstGeom>
          <a:solidFill>
            <a:schemeClr val="accent5">
              <a:alpha val="2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hydroxide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2.96 kg/F</a:t>
            </a:r>
            <a:r>
              <a:rPr lang="en-US" sz="1600" b="1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</a:p>
        </p:txBody>
      </p:sp>
      <p:grpSp>
        <p:nvGrpSpPr>
          <p:cNvPr id="135" name="Group 222">
            <a:extLst>
              <a:ext uri="{FF2B5EF4-FFF2-40B4-BE49-F238E27FC236}">
                <a16:creationId xmlns:a16="http://schemas.microsoft.com/office/drawing/2014/main" id="{94B673DE-0ABA-5A49-B193-4941BA924682}"/>
              </a:ext>
            </a:extLst>
          </p:cNvPr>
          <p:cNvGrpSpPr>
            <a:grpSpLocks/>
          </p:cNvGrpSpPr>
          <p:nvPr/>
        </p:nvGrpSpPr>
        <p:grpSpPr bwMode="auto">
          <a:xfrm>
            <a:off x="7575777" y="3972813"/>
            <a:ext cx="323849" cy="611188"/>
            <a:chOff x="3311860" y="2096852"/>
            <a:chExt cx="972108" cy="612068"/>
          </a:xfrm>
        </p:grpSpPr>
        <p:cxnSp>
          <p:nvCxnSpPr>
            <p:cNvPr id="136" name="Straight Connector 223">
              <a:extLst>
                <a:ext uri="{FF2B5EF4-FFF2-40B4-BE49-F238E27FC236}">
                  <a16:creationId xmlns:a16="http://schemas.microsoft.com/office/drawing/2014/main" id="{7F7FC5F5-5FE0-2D42-8E65-B2F2D79732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Straight Connector 224">
              <a:extLst>
                <a:ext uri="{FF2B5EF4-FFF2-40B4-BE49-F238E27FC236}">
                  <a16:creationId xmlns:a16="http://schemas.microsoft.com/office/drawing/2014/main" id="{722AD473-7889-5347-AAC7-14C20E9F53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311860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Straight Arrow Connector 225">
              <a:extLst>
                <a:ext uri="{FF2B5EF4-FFF2-40B4-BE49-F238E27FC236}">
                  <a16:creationId xmlns:a16="http://schemas.microsoft.com/office/drawing/2014/main" id="{845A677A-0AFE-4940-A65F-FADEFB5903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283968" y="209685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9" name="Group 249">
            <a:extLst>
              <a:ext uri="{FF2B5EF4-FFF2-40B4-BE49-F238E27FC236}">
                <a16:creationId xmlns:a16="http://schemas.microsoft.com/office/drawing/2014/main" id="{690AEE6A-8DCA-DF4F-A648-180865D57129}"/>
              </a:ext>
            </a:extLst>
          </p:cNvPr>
          <p:cNvGrpSpPr>
            <a:grpSpLocks/>
          </p:cNvGrpSpPr>
          <p:nvPr/>
        </p:nvGrpSpPr>
        <p:grpSpPr bwMode="auto">
          <a:xfrm>
            <a:off x="7288438" y="5412676"/>
            <a:ext cx="1206500" cy="611187"/>
            <a:chOff x="1223628" y="4977172"/>
            <a:chExt cx="1476164" cy="611728"/>
          </a:xfrm>
        </p:grpSpPr>
        <p:cxnSp>
          <p:nvCxnSpPr>
            <p:cNvPr id="140" name="Straight Connector 250">
              <a:extLst>
                <a:ext uri="{FF2B5EF4-FFF2-40B4-BE49-F238E27FC236}">
                  <a16:creationId xmlns:a16="http://schemas.microsoft.com/office/drawing/2014/main" id="{F620DC78-0E16-DB45-A3F7-00BE6DEF11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99792" y="5409220"/>
              <a:ext cx="0" cy="17968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Straight Connector 251">
              <a:extLst>
                <a:ext uri="{FF2B5EF4-FFF2-40B4-BE49-F238E27FC236}">
                  <a16:creationId xmlns:a16="http://schemas.microsoft.com/office/drawing/2014/main" id="{BF73BE41-C78F-2149-946A-7F19E31CC4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23628" y="5409220"/>
              <a:ext cx="1476164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Straight Arrow Connector 252">
              <a:extLst>
                <a:ext uri="{FF2B5EF4-FFF2-40B4-BE49-F238E27FC236}">
                  <a16:creationId xmlns:a16="http://schemas.microsoft.com/office/drawing/2014/main" id="{459B9F96-85DA-C64E-9316-4D64C3F96C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23628" y="4977172"/>
              <a:ext cx="0" cy="432048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" name="Group 253">
            <a:extLst>
              <a:ext uri="{FF2B5EF4-FFF2-40B4-BE49-F238E27FC236}">
                <a16:creationId xmlns:a16="http://schemas.microsoft.com/office/drawing/2014/main" id="{0D643083-71EC-EC44-B142-D9D94FFD5518}"/>
              </a:ext>
            </a:extLst>
          </p:cNvPr>
          <p:cNvGrpSpPr>
            <a:grpSpLocks/>
          </p:cNvGrpSpPr>
          <p:nvPr/>
        </p:nvGrpSpPr>
        <p:grpSpPr bwMode="auto">
          <a:xfrm>
            <a:off x="8223476" y="3994078"/>
            <a:ext cx="396875" cy="2052638"/>
            <a:chOff x="4860032" y="2097192"/>
            <a:chExt cx="972108" cy="611728"/>
          </a:xfrm>
        </p:grpSpPr>
        <p:cxnSp>
          <p:nvCxnSpPr>
            <p:cNvPr id="144" name="Straight Connector 254">
              <a:extLst>
                <a:ext uri="{FF2B5EF4-FFF2-40B4-BE49-F238E27FC236}">
                  <a16:creationId xmlns:a16="http://schemas.microsoft.com/office/drawing/2014/main" id="{A07BF6AC-4913-F04D-91E2-261A93AB95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32140" y="2492896"/>
              <a:ext cx="0" cy="216024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Straight Connector 255">
              <a:extLst>
                <a:ext uri="{FF2B5EF4-FFF2-40B4-BE49-F238E27FC236}">
                  <a16:creationId xmlns:a16="http://schemas.microsoft.com/office/drawing/2014/main" id="{487959D6-B774-B146-83FD-72C868623A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0032" y="2492896"/>
              <a:ext cx="972108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Straight Arrow Connector 256">
              <a:extLst>
                <a:ext uri="{FF2B5EF4-FFF2-40B4-BE49-F238E27FC236}">
                  <a16:creationId xmlns:a16="http://schemas.microsoft.com/office/drawing/2014/main" id="{383F7207-9E47-6544-ADB1-02022AB93F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60032" y="2097192"/>
              <a:ext cx="0" cy="395704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E350947-1B70-4343-B6D6-9CEF42E55DAA}"/>
              </a:ext>
            </a:extLst>
          </p:cNvPr>
          <p:cNvGrpSpPr/>
          <p:nvPr/>
        </p:nvGrpSpPr>
        <p:grpSpPr>
          <a:xfrm>
            <a:off x="8770831" y="3972813"/>
            <a:ext cx="647700" cy="2052638"/>
            <a:chOff x="18403110" y="6804590"/>
            <a:chExt cx="647700" cy="2052638"/>
          </a:xfrm>
        </p:grpSpPr>
        <p:cxnSp>
          <p:nvCxnSpPr>
            <p:cNvPr id="148" name="Straight Connector 261">
              <a:extLst>
                <a:ext uri="{FF2B5EF4-FFF2-40B4-BE49-F238E27FC236}">
                  <a16:creationId xmlns:a16="http://schemas.microsoft.com/office/drawing/2014/main" id="{DB1775EA-BEB7-6348-A96C-E0EA876760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8403110" y="7020490"/>
              <a:ext cx="0" cy="1836738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Straight Connector 262">
              <a:extLst>
                <a:ext uri="{FF2B5EF4-FFF2-40B4-BE49-F238E27FC236}">
                  <a16:creationId xmlns:a16="http://schemas.microsoft.com/office/drawing/2014/main" id="{F8BBF1F4-624B-004D-881E-9E422C3635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8403110" y="7020490"/>
              <a:ext cx="6477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Straight Arrow Connector 263">
              <a:extLst>
                <a:ext uri="{FF2B5EF4-FFF2-40B4-BE49-F238E27FC236}">
                  <a16:creationId xmlns:a16="http://schemas.microsoft.com/office/drawing/2014/main" id="{EDD65DE6-DF07-084D-B627-4E82E27B1D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9050810" y="6804590"/>
              <a:ext cx="0" cy="215900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2" name="Group 241">
            <a:extLst>
              <a:ext uri="{FF2B5EF4-FFF2-40B4-BE49-F238E27FC236}">
                <a16:creationId xmlns:a16="http://schemas.microsoft.com/office/drawing/2014/main" id="{6619EBCB-8E2C-0846-949B-7A67C14E533A}"/>
              </a:ext>
            </a:extLst>
          </p:cNvPr>
          <p:cNvGrpSpPr>
            <a:grpSpLocks/>
          </p:cNvGrpSpPr>
          <p:nvPr/>
        </p:nvGrpSpPr>
        <p:grpSpPr bwMode="auto">
          <a:xfrm>
            <a:off x="7541643" y="5433941"/>
            <a:ext cx="3779837" cy="612775"/>
            <a:chOff x="1475656" y="4977512"/>
            <a:chExt cx="3600400" cy="611728"/>
          </a:xfrm>
        </p:grpSpPr>
        <p:cxnSp>
          <p:nvCxnSpPr>
            <p:cNvPr id="153" name="Straight Connector 242">
              <a:extLst>
                <a:ext uri="{FF2B5EF4-FFF2-40B4-BE49-F238E27FC236}">
                  <a16:creationId xmlns:a16="http://schemas.microsoft.com/office/drawing/2014/main" id="{003BF269-4C03-2448-8925-4810772128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076056" y="5265204"/>
              <a:ext cx="0" cy="324036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243">
              <a:extLst>
                <a:ext uri="{FF2B5EF4-FFF2-40B4-BE49-F238E27FC236}">
                  <a16:creationId xmlns:a16="http://schemas.microsoft.com/office/drawing/2014/main" id="{B163FFB9-E523-B546-A2D7-C5C6D1D6B3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75656" y="5265204"/>
              <a:ext cx="3600400" cy="0"/>
            </a:xfrm>
            <a:prstGeom prst="line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Arrow Connector 244">
              <a:extLst>
                <a:ext uri="{FF2B5EF4-FFF2-40B4-BE49-F238E27FC236}">
                  <a16:creationId xmlns:a16="http://schemas.microsoft.com/office/drawing/2014/main" id="{E8A30771-3E6C-BA4E-B758-2121FD37CB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475656" y="4977512"/>
              <a:ext cx="0" cy="287692"/>
            </a:xfrm>
            <a:prstGeom prst="straightConnector1">
              <a:avLst/>
            </a:prstGeom>
            <a:noFill/>
            <a:ln w="25400" algn="ctr">
              <a:solidFill>
                <a:schemeClr val="accent4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56" name="Straight Connector 234">
            <a:extLst>
              <a:ext uri="{FF2B5EF4-FFF2-40B4-BE49-F238E27FC236}">
                <a16:creationId xmlns:a16="http://schemas.microsoft.com/office/drawing/2014/main" id="{CCE6BB87-3A7E-7B46-A489-7D2A54FBD3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695161" y="5549239"/>
            <a:ext cx="0" cy="492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" name="Straight Connector 235">
            <a:extLst>
              <a:ext uri="{FF2B5EF4-FFF2-40B4-BE49-F238E27FC236}">
                <a16:creationId xmlns:a16="http://schemas.microsoft.com/office/drawing/2014/main" id="{68D9750A-3829-3F40-816B-F6135695C95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37274" y="5549239"/>
            <a:ext cx="5957887" cy="0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" name="Straight Arrow Connector 236">
            <a:extLst>
              <a:ext uri="{FF2B5EF4-FFF2-40B4-BE49-F238E27FC236}">
                <a16:creationId xmlns:a16="http://schemas.microsoft.com/office/drawing/2014/main" id="{2E83AB13-A204-8247-89E8-00DAA98654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737274" y="5411088"/>
            <a:ext cx="0" cy="127000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8" name="Rectangle 19">
            <a:extLst>
              <a:ext uri="{FF2B5EF4-FFF2-40B4-BE49-F238E27FC236}">
                <a16:creationId xmlns:a16="http://schemas.microsoft.com/office/drawing/2014/main" id="{B278718F-2F6A-8A46-8CFA-EDC6DAF4D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562" y="6060062"/>
            <a:ext cx="1657350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/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Bauxite</a:t>
            </a:r>
          </a:p>
          <a:p>
            <a:pPr algn="ctr"/>
            <a:endParaRPr lang="en-US" sz="1600" kern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4.14 kg/FU</a:t>
            </a:r>
          </a:p>
        </p:txBody>
      </p:sp>
      <p:cxnSp>
        <p:nvCxnSpPr>
          <p:cNvPr id="169" name="Straight Connector 221">
            <a:extLst>
              <a:ext uri="{FF2B5EF4-FFF2-40B4-BE49-F238E27FC236}">
                <a16:creationId xmlns:a16="http://schemas.microsoft.com/office/drawing/2014/main" id="{D919100D-9ACE-CA44-8EB7-218DEDE7EF3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9127" y="5447287"/>
            <a:ext cx="0" cy="619125"/>
          </a:xfrm>
          <a:prstGeom prst="line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8" name="Rectangle 19">
            <a:extLst>
              <a:ext uri="{FF2B5EF4-FFF2-40B4-BE49-F238E27FC236}">
                <a16:creationId xmlns:a16="http://schemas.microsoft.com/office/drawing/2014/main" id="{3022CB08-C5CE-8E47-A457-A19301EA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6855" y="6046716"/>
            <a:ext cx="2058412" cy="828432"/>
          </a:xfrm>
          <a:prstGeom prst="rect">
            <a:avLst/>
          </a:prstGeom>
          <a:solidFill>
            <a:schemeClr val="bg2">
              <a:lumMod val="75000"/>
              <a:alpha val="39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b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truck</a:t>
            </a:r>
          </a:p>
          <a:p>
            <a:pPr algn="ctr">
              <a:defRPr/>
            </a:pP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1.21 </a:t>
            </a:r>
            <a:r>
              <a:rPr lang="en-US" sz="1600" kern="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t∙km</a:t>
            </a:r>
            <a:r>
              <a:rPr lang="en-US" sz="1600" kern="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/FU</a:t>
            </a:r>
          </a:p>
        </p:txBody>
      </p:sp>
      <p:sp>
        <p:nvSpPr>
          <p:cNvPr id="8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7366" y="6886871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8236118" y="7275056"/>
            <a:ext cx="19062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0.43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87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42194" y="6888494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10954272" y="7297571"/>
            <a:ext cx="19062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1.68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9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2455" y="6839074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54689" y="3991743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3329515" y="4414947"/>
            <a:ext cx="19062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2.82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159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29971" y="3974159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" name="Rectangle 159"/>
          <p:cNvSpPr/>
          <p:nvPr/>
        </p:nvSpPr>
        <p:spPr>
          <a:xfrm>
            <a:off x="8930266" y="4414947"/>
            <a:ext cx="1963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0.63 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161" name="Rectangle 160"/>
          <p:cNvSpPr/>
          <p:nvPr/>
        </p:nvSpPr>
        <p:spPr>
          <a:xfrm>
            <a:off x="3408847" y="2980525"/>
            <a:ext cx="17652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0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20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20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20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2000" dirty="0">
                <a:solidFill>
                  <a:schemeClr val="accent3"/>
                </a:solidFill>
              </a:rPr>
              <a:t>FU</a:t>
            </a:r>
            <a:endParaRPr lang="en-US" sz="2000" dirty="0"/>
          </a:p>
        </p:txBody>
      </p:sp>
      <p:sp>
        <p:nvSpPr>
          <p:cNvPr id="172" name="Text Box 60">
            <a:extLst>
              <a:ext uri="{FF2B5EF4-FFF2-40B4-BE49-F238E27FC236}">
                <a16:creationId xmlns:a16="http://schemas.microsoft.com/office/drawing/2014/main" id="{968D007A-425D-0749-9A0A-764DD2694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2623" y="4046821"/>
            <a:ext cx="19794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0"/>
              </a:spcBef>
              <a:buClrTx/>
              <a:buNone/>
            </a:pPr>
            <a:r>
              <a:rPr lang="en-US" altLang="fr-FR" sz="1600" b="0" dirty="0">
                <a:solidFill>
                  <a:schemeClr val="accent3"/>
                </a:solidFill>
                <a:cs typeface="Arial" panose="020B0604020202020204" pitchFamily="34" charset="0"/>
              </a:rPr>
              <a:t>0.07</a:t>
            </a:r>
            <a:r>
              <a:rPr lang="en-US" altLang="fr-FR" sz="16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 </a:t>
            </a:r>
            <a:r>
              <a:rPr lang="en-US" altLang="fr-FR" sz="1600" b="0" dirty="0" err="1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MJ</a:t>
            </a:r>
            <a:r>
              <a:rPr lang="en-US" altLang="fr-FR" sz="1600" b="0" baseline="-25000" dirty="0" err="1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heat</a:t>
            </a:r>
            <a:r>
              <a:rPr lang="en-US" altLang="fr-FR" sz="1600" b="0" baseline="-2500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 waste</a:t>
            </a:r>
            <a:r>
              <a:rPr lang="en-US" altLang="fr-FR" sz="16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/</a:t>
            </a:r>
            <a:r>
              <a:rPr lang="en-US" altLang="en-US" sz="1600" b="0" dirty="0">
                <a:solidFill>
                  <a:srgbClr val="ADA400"/>
                </a:solidFill>
                <a:latin typeface="Arial" panose="020B0604020202020204"/>
              </a:rPr>
              <a:t>FU</a:t>
            </a:r>
            <a:endParaRPr lang="en-US" sz="1600" b="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6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7659" y="3997389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1040676" y="1478867"/>
            <a:ext cx="53296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>
                <a:solidFill>
                  <a:srgbClr val="01035B"/>
                </a:solidFill>
                <a:latin typeface="Arial" panose="020B0604020202020204" pitchFamily="34" charset="0"/>
              </a:rPr>
              <a:t>Sum up all </a:t>
            </a:r>
            <a:r>
              <a:rPr lang="en-US" alt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direct </a:t>
            </a:r>
            <a:r>
              <a:rPr lang="en-US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CORRESPONDING</a:t>
            </a:r>
            <a:r>
              <a:rPr lang="en-US" alt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/>
            </a:r>
            <a:br>
              <a:rPr lang="en-US" alt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</a:br>
            <a:r>
              <a:rPr lang="en-US" altLang="en-US" sz="2400" dirty="0">
                <a:solidFill>
                  <a:schemeClr val="accent3"/>
                </a:solidFill>
                <a:latin typeface="Arial" panose="020B0604020202020204" pitchFamily="34" charset="0"/>
              </a:rPr>
              <a:t>elementary flows per FU</a:t>
            </a:r>
            <a:r>
              <a:rPr lang="en-US" altLang="en-US" sz="2400" dirty="0">
                <a:solidFill>
                  <a:srgbClr val="01035B"/>
                </a:solidFill>
                <a:latin typeface="Arial" panose="020B0604020202020204" pitchFamily="34" charset="0"/>
              </a:rPr>
              <a:t> of all unit processes:</a:t>
            </a:r>
            <a:endParaRPr lang="en-US" sz="2400" dirty="0">
              <a:solidFill>
                <a:srgbClr val="01035B"/>
              </a:solidFill>
              <a:latin typeface="Arial" panose="020B0604020202020204" pitchFamily="34" charset="0"/>
            </a:endParaRPr>
          </a:p>
        </p:txBody>
      </p:sp>
      <p:cxnSp>
        <p:nvCxnSpPr>
          <p:cNvPr id="123" name="Straight Arrow Connector 207">
            <a:extLst>
              <a:ext uri="{FF2B5EF4-FFF2-40B4-BE49-F238E27FC236}">
                <a16:creationId xmlns:a16="http://schemas.microsoft.com/office/drawing/2014/main" id="{20CA88C2-BC99-C249-B95F-C18CCD27CF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835187" y="2567805"/>
            <a:ext cx="0" cy="179387"/>
          </a:xfrm>
          <a:prstGeom prst="straightConnector1">
            <a:avLst/>
          </a:prstGeom>
          <a:noFill/>
          <a:ln w="25400" algn="ctr">
            <a:solidFill>
              <a:schemeClr val="accent4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4" name="Rectangle 19">
            <a:extLst>
              <a:ext uri="{FF2B5EF4-FFF2-40B4-BE49-F238E27FC236}">
                <a16:creationId xmlns:a16="http://schemas.microsoft.com/office/drawing/2014/main" id="{5F6B774C-6F44-244E-8A58-454D1CDE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8031" y="1739252"/>
            <a:ext cx="1781907" cy="828432"/>
          </a:xfrm>
          <a:prstGeom prst="rect">
            <a:avLst/>
          </a:prstGeom>
          <a:solidFill>
            <a:schemeClr val="accent6">
              <a:alpha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488" tIns="44450" rIns="90488" bIns="4445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Aluminum, </a:t>
            </a:r>
            <a:r>
              <a:rPr lang="en-US" sz="1600" b="1" kern="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primary,liquid</a:t>
            </a:r>
            <a:endParaRPr lang="en-US" sz="1600" b="1" kern="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600" kern="0" dirty="0" err="1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kg</a:t>
            </a:r>
            <a:r>
              <a:rPr lang="en-US" altLang="en-US" sz="2000" baseline="-25000" dirty="0" err="1">
                <a:solidFill>
                  <a:srgbClr val="407EC9"/>
                </a:solidFill>
              </a:rPr>
              <a:t>Al</a:t>
            </a:r>
            <a:r>
              <a:rPr lang="en-US" altLang="en-US" sz="2000" baseline="-25000" dirty="0">
                <a:solidFill>
                  <a:srgbClr val="407EC9"/>
                </a:solidFill>
              </a:rPr>
              <a:t> liquid </a:t>
            </a:r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FU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252623" y="5321853"/>
            <a:ext cx="14494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 1.49 </a:t>
            </a:r>
          </a:p>
          <a:p>
            <a:pPr lvl="0"/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3301543" y="7297571"/>
            <a:ext cx="19062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3.51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>
                <a:solidFill>
                  <a:schemeClr val="accent3"/>
                </a:solidFill>
              </a:rPr>
              <a:t>FU</a:t>
            </a:r>
            <a:endParaRPr lang="en-US" sz="1600" dirty="0"/>
          </a:p>
        </p:txBody>
      </p:sp>
      <p:sp>
        <p:nvSpPr>
          <p:cNvPr id="89" name="Line 35">
            <a:extLst>
              <a:ext uri="{FF2B5EF4-FFF2-40B4-BE49-F238E27FC236}">
                <a16:creationId xmlns:a16="http://schemas.microsoft.com/office/drawing/2014/main" id="{CC8A3D27-DF35-034A-80B7-F2C8AD3FE2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159" y="5415681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18754" y="3529855"/>
            <a:ext cx="4504331" cy="4042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liquid </a:t>
            </a:r>
            <a:r>
              <a:rPr lang="en-US" sz="2000" kern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</a:t>
            </a: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kern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56.00</a:t>
            </a:r>
          </a:p>
          <a:p>
            <a:pPr lvl="0">
              <a:spcAft>
                <a:spcPts val="600"/>
              </a:spcAft>
              <a:defRPr/>
            </a:pP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oxide </a:t>
            </a:r>
            <a:r>
              <a:rPr lang="en-US" sz="2000" kern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</a:t>
            </a: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kern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0.07</a:t>
            </a:r>
          </a:p>
          <a:p>
            <a:pPr lvl="0">
              <a:spcAft>
                <a:spcPts val="600"/>
              </a:spcAft>
              <a:defRPr/>
            </a:pP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hydroxide </a:t>
            </a:r>
            <a:r>
              <a:rPr lang="en-US" sz="2000" kern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</a:t>
            </a: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lang="en-US" sz="2000" kern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1.49</a:t>
            </a:r>
          </a:p>
          <a:p>
            <a:pPr lvl="0">
              <a:spcAft>
                <a:spcPts val="600"/>
              </a:spcAft>
              <a:defRPr/>
            </a:pP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Anode 				  </a:t>
            </a:r>
            <a:r>
              <a:rPr lang="en-US" sz="2000" kern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0.63</a:t>
            </a:r>
          </a:p>
          <a:p>
            <a:pPr>
              <a:spcAft>
                <a:spcPts val="600"/>
              </a:spcAft>
              <a:defRPr/>
            </a:pP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mix	 		  </a:t>
            </a:r>
            <a:r>
              <a:rPr lang="en-US" sz="2000" kern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2.82</a:t>
            </a:r>
          </a:p>
          <a:p>
            <a:pPr lvl="0">
              <a:spcAft>
                <a:spcPts val="600"/>
              </a:spcAft>
              <a:defRPr/>
            </a:pP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Heat, light fuel oil		</a:t>
            </a:r>
            <a:r>
              <a:rPr lang="en-US" sz="2000" kern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0.43</a:t>
            </a:r>
          </a:p>
          <a:p>
            <a:pPr>
              <a:spcAft>
                <a:spcPts val="600"/>
              </a:spcAft>
              <a:defRPr/>
            </a:pPr>
            <a:r>
              <a:rPr lang="en-US" sz="20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Transoceanic freight		</a:t>
            </a:r>
            <a:r>
              <a:rPr lang="en-US" sz="2000" kern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1.68</a:t>
            </a:r>
          </a:p>
          <a:p>
            <a:pPr>
              <a:spcAft>
                <a:spcPts val="2000"/>
              </a:spcAft>
              <a:defRPr/>
            </a:pPr>
            <a:r>
              <a:rPr lang="en-US" sz="2000" kern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 truck		  </a:t>
            </a:r>
            <a:r>
              <a:rPr lang="en-US" sz="2000" kern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3.51</a:t>
            </a:r>
          </a:p>
          <a:p>
            <a:pPr lvl="0">
              <a:spcAft>
                <a:spcPts val="600"/>
              </a:spcAft>
              <a:defRPr/>
            </a:pPr>
            <a:r>
              <a:rPr lang="en-US" sz="2000" kern="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Aggregated </a:t>
            </a: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flow</a:t>
            </a:r>
          </a:p>
          <a:p>
            <a:pPr lvl="0">
              <a:spcAft>
                <a:spcPts val="600"/>
              </a:spcAft>
              <a:defRPr/>
            </a:pPr>
            <a:r>
              <a:rPr lang="en-US" sz="2000" kern="0" dirty="0">
                <a:solidFill>
                  <a:srgbClr val="0027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Aluminum liquid 		 </a:t>
            </a:r>
            <a:r>
              <a:rPr lang="en-US" sz="2000" kern="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66.6</a:t>
            </a:r>
          </a:p>
        </p:txBody>
      </p:sp>
      <p:cxnSp>
        <p:nvCxnSpPr>
          <p:cNvPr id="91" name="Straight Connector 90"/>
          <p:cNvCxnSpPr>
            <a:cxnSpLocks/>
          </p:cNvCxnSpPr>
          <p:nvPr/>
        </p:nvCxnSpPr>
        <p:spPr>
          <a:xfrm flipV="1">
            <a:off x="989877" y="6675644"/>
            <a:ext cx="4178081" cy="5581"/>
          </a:xfrm>
          <a:prstGeom prst="line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Line 35">
            <a:extLst>
              <a:ext uri="{FF2B5EF4-FFF2-40B4-BE49-F238E27FC236}">
                <a16:creationId xmlns:a16="http://schemas.microsoft.com/office/drawing/2014/main" id="{BB340D6C-CC22-4844-A70F-7234DF28319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102409" y="2013572"/>
            <a:ext cx="0" cy="464772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0102D57-6A6F-1E4C-9C17-A46049C38762}"/>
              </a:ext>
            </a:extLst>
          </p:cNvPr>
          <p:cNvSpPr/>
          <p:nvPr/>
        </p:nvSpPr>
        <p:spPr>
          <a:xfrm>
            <a:off x="980384" y="1422401"/>
            <a:ext cx="5389936" cy="1361018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7541643" y="2023541"/>
            <a:ext cx="23278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56.0 </a:t>
            </a:r>
            <a:r>
              <a:rPr lang="en-US" altLang="fr-FR" sz="1600" dirty="0" err="1">
                <a:solidFill>
                  <a:schemeClr val="accent3"/>
                </a:solidFill>
                <a:cs typeface="Arial" panose="020B0604020202020204" pitchFamily="34" charset="0"/>
              </a:rPr>
              <a:t>MJ</a:t>
            </a:r>
            <a:r>
              <a:rPr lang="en-US" altLang="fr-FR" sz="1600" baseline="-25000" dirty="0" err="1">
                <a:solidFill>
                  <a:schemeClr val="accent3"/>
                </a:solidFill>
                <a:cs typeface="Arial" panose="020B0604020202020204" pitchFamily="34" charset="0"/>
              </a:rPr>
              <a:t>heat</a:t>
            </a:r>
            <a:r>
              <a:rPr lang="en-US" altLang="fr-FR" sz="1600" baseline="-25000" dirty="0">
                <a:solidFill>
                  <a:schemeClr val="accent3"/>
                </a:solidFill>
                <a:cs typeface="Arial" panose="020B0604020202020204" pitchFamily="34" charset="0"/>
              </a:rPr>
              <a:t> waste</a:t>
            </a:r>
            <a:r>
              <a:rPr lang="en-US" altLang="fr-FR" sz="1600" dirty="0">
                <a:solidFill>
                  <a:schemeClr val="accent3"/>
                </a:solidFill>
                <a:cs typeface="Arial" panose="020B0604020202020204" pitchFamily="34" charset="0"/>
              </a:rPr>
              <a:t>/</a:t>
            </a:r>
            <a:r>
              <a:rPr lang="en-US" altLang="en-US" sz="1600" dirty="0" err="1">
                <a:solidFill>
                  <a:schemeClr val="accent3"/>
                </a:solidFill>
              </a:rPr>
              <a:t>kg</a:t>
            </a:r>
            <a:r>
              <a:rPr lang="en-US" altLang="en-US" sz="1600" baseline="-25000" dirty="0" err="1">
                <a:solidFill>
                  <a:schemeClr val="accent3"/>
                </a:solidFill>
              </a:rPr>
              <a:t>Al</a:t>
            </a:r>
            <a:r>
              <a:rPr lang="en-US" altLang="en-US" sz="1600" baseline="-25000" dirty="0">
                <a:solidFill>
                  <a:schemeClr val="accent3"/>
                </a:solidFill>
              </a:rPr>
              <a:t> liquid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9147690" y="3681053"/>
            <a:ext cx="13019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sz="1600" kern="0" dirty="0">
                <a:solidFill>
                  <a:srgbClr val="407E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0.449 kg/FU</a:t>
            </a:r>
          </a:p>
        </p:txBody>
      </p:sp>
    </p:spTree>
    <p:extLst>
      <p:ext uri="{BB962C8B-B14F-4D97-AF65-F5344CB8AC3E}">
        <p14:creationId xmlns:p14="http://schemas.microsoft.com/office/powerpoint/2010/main" val="783795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4. Aggregated inventory: aluminum primary liquid</a:t>
            </a:r>
          </a:p>
        </p:txBody>
      </p:sp>
      <p:cxnSp>
        <p:nvCxnSpPr>
          <p:cNvPr id="10" name="Straight Arrow Connector 2"/>
          <p:cNvCxnSpPr>
            <a:cxnSpLocks noChangeShapeType="1"/>
            <a:endCxn id="19" idx="1"/>
          </p:cNvCxnSpPr>
          <p:nvPr/>
        </p:nvCxnSpPr>
        <p:spPr bwMode="auto">
          <a:xfrm flipV="1">
            <a:off x="23041299" y="1641861"/>
            <a:ext cx="895589" cy="44763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51">
            <a:extLst>
              <a:ext uri="{FF2B5EF4-FFF2-40B4-BE49-F238E27FC236}">
                <a16:creationId xmlns:a16="http://schemas.microsoft.com/office/drawing/2014/main" id="{F4A87F9E-CE80-8548-9243-C10A5AF58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14348" y="1449832"/>
            <a:ext cx="53448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US" altLang="fr-FR" sz="2000" b="0" dirty="0">
                <a:solidFill>
                  <a:schemeClr val="accent3"/>
                </a:solidFill>
                <a:cs typeface="Arial" panose="020B0604020202020204" pitchFamily="34" charset="0"/>
              </a:rPr>
              <a:t>Heat, waste (0.503 MJ/</a:t>
            </a:r>
            <a:r>
              <a:rPr lang="en-US" altLang="en-US" sz="2000" b="0" dirty="0" err="1">
                <a:solidFill>
                  <a:schemeClr val="accent5"/>
                </a:solidFill>
              </a:rPr>
              <a:t>kg</a:t>
            </a:r>
            <a:r>
              <a:rPr lang="en-US" altLang="en-US" sz="2000" b="0" baseline="-25000" dirty="0" err="1">
                <a:solidFill>
                  <a:schemeClr val="accent5"/>
                </a:solidFill>
              </a:rPr>
              <a:t>Al</a:t>
            </a:r>
            <a:r>
              <a:rPr lang="en-US" altLang="en-US" sz="2000" b="0" baseline="-25000" dirty="0">
                <a:solidFill>
                  <a:schemeClr val="accent5"/>
                </a:solidFill>
              </a:rPr>
              <a:t> hydroxide</a:t>
            </a:r>
            <a:r>
              <a:rPr lang="en-US" altLang="fr-FR" sz="2000" b="0" dirty="0">
                <a:solidFill>
                  <a:schemeClr val="accent3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E5F3B4-E89A-C14B-8CF5-911DA5042D35}"/>
              </a:ext>
            </a:extLst>
          </p:cNvPr>
          <p:cNvSpPr/>
          <p:nvPr/>
        </p:nvSpPr>
        <p:spPr>
          <a:xfrm>
            <a:off x="23936888" y="1434926"/>
            <a:ext cx="4099839" cy="413869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1" name="Text Box 41">
            <a:extLst>
              <a:ext uri="{FF2B5EF4-FFF2-40B4-BE49-F238E27FC236}">
                <a16:creationId xmlns:a16="http://schemas.microsoft.com/office/drawing/2014/main" id="{DD3DF838-959F-3541-A832-153900357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4556" y="2226798"/>
            <a:ext cx="1768475" cy="4616648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Aluminum,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primary,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liquid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cs typeface="Arial" panose="020B0604020202020204" pitchFamily="34" charset="0"/>
              </a:rPr>
              <a:t>1 kg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Line 53">
            <a:extLst>
              <a:ext uri="{FF2B5EF4-FFF2-40B4-BE49-F238E27FC236}">
                <a16:creationId xmlns:a16="http://schemas.microsoft.com/office/drawing/2014/main" id="{2445ECB2-EF1B-C542-916F-0303A2890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5895" y="5409607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54">
            <a:extLst>
              <a:ext uri="{FF2B5EF4-FFF2-40B4-BE49-F238E27FC236}">
                <a16:creationId xmlns:a16="http://schemas.microsoft.com/office/drawing/2014/main" id="{A7EA6D88-922C-F74C-A699-285B202DF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5224647"/>
            <a:ext cx="44232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Methane, biogenic 51.7 mg</a:t>
            </a:r>
          </a:p>
        </p:txBody>
      </p:sp>
      <p:sp>
        <p:nvSpPr>
          <p:cNvPr id="16" name="Line 56">
            <a:extLst>
              <a:ext uri="{FF2B5EF4-FFF2-40B4-BE49-F238E27FC236}">
                <a16:creationId xmlns:a16="http://schemas.microsoft.com/office/drawing/2014/main" id="{AE135A62-E1A7-AF48-ABD9-F3A56326D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4612817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57">
            <a:extLst>
              <a:ext uri="{FF2B5EF4-FFF2-40B4-BE49-F238E27FC236}">
                <a16:creationId xmlns:a16="http://schemas.microsoft.com/office/drawing/2014/main" id="{82B03B0D-D95B-014A-AEA5-EF81035BC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4168313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58">
            <a:extLst>
              <a:ext uri="{FF2B5EF4-FFF2-40B4-BE49-F238E27FC236}">
                <a16:creationId xmlns:a16="http://schemas.microsoft.com/office/drawing/2014/main" id="{93380A87-8B49-9B42-B31C-80B588C28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5242990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59">
            <a:extLst>
              <a:ext uri="{FF2B5EF4-FFF2-40B4-BE49-F238E27FC236}">
                <a16:creationId xmlns:a16="http://schemas.microsoft.com/office/drawing/2014/main" id="{C0D2251F-4BBE-6F4D-9351-3B4AEC26F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7" y="3980698"/>
            <a:ext cx="4516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Uranium in ground 58.3 mg</a:t>
            </a:r>
          </a:p>
        </p:txBody>
      </p:sp>
      <p:sp>
        <p:nvSpPr>
          <p:cNvPr id="23" name="Text Box 60">
            <a:extLst>
              <a:ext uri="{FF2B5EF4-FFF2-40B4-BE49-F238E27FC236}">
                <a16:creationId xmlns:a16="http://schemas.microsoft.com/office/drawing/2014/main" id="{19DEF709-B3B1-D94E-BB23-DF8FDA928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783" y="4342009"/>
            <a:ext cx="5964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Aluminum in ground, </a:t>
            </a:r>
            <a:b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</a:b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24% in bauxite, 11% in crude ore 1.16 kg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4" name="Text Box 61">
            <a:extLst>
              <a:ext uri="{FF2B5EF4-FFF2-40B4-BE49-F238E27FC236}">
                <a16:creationId xmlns:a16="http://schemas.microsoft.com/office/drawing/2014/main" id="{66EEE761-9A65-E943-9B8E-218C6F6B4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739" y="5082509"/>
            <a:ext cx="42299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Occupation, forest, intensive 0.101 m2a</a:t>
            </a:r>
          </a:p>
        </p:txBody>
      </p:sp>
      <p:sp>
        <p:nvSpPr>
          <p:cNvPr id="25" name="Line 57">
            <a:extLst>
              <a:ext uri="{FF2B5EF4-FFF2-40B4-BE49-F238E27FC236}">
                <a16:creationId xmlns:a16="http://schemas.microsoft.com/office/drawing/2014/main" id="{53577352-45D3-8145-8F29-AAD2E4A5F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617" y="3709523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 Box 59">
            <a:extLst>
              <a:ext uri="{FF2B5EF4-FFF2-40B4-BE49-F238E27FC236}">
                <a16:creationId xmlns:a16="http://schemas.microsoft.com/office/drawing/2014/main" id="{9EE6F14C-DE1E-7649-BA73-461DBDC57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101" y="3543266"/>
            <a:ext cx="40046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Crude oil in ground 1.18 kg</a:t>
            </a:r>
          </a:p>
        </p:txBody>
      </p:sp>
      <p:sp>
        <p:nvSpPr>
          <p:cNvPr id="27" name="Line 57">
            <a:extLst>
              <a:ext uri="{FF2B5EF4-FFF2-40B4-BE49-F238E27FC236}">
                <a16:creationId xmlns:a16="http://schemas.microsoft.com/office/drawing/2014/main" id="{23CCC9DD-E723-9A45-AA41-1E014255D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2446870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8" name="Text Box 59">
            <a:extLst>
              <a:ext uri="{FF2B5EF4-FFF2-40B4-BE49-F238E27FC236}">
                <a16:creationId xmlns:a16="http://schemas.microsoft.com/office/drawing/2014/main" id="{628659B2-6C4E-3D47-BAAE-6586BB9D8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669" y="2230970"/>
            <a:ext cx="31280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Natural gas in ground 525 dm</a:t>
            </a:r>
            <a:r>
              <a:rPr lang="en-US" altLang="en-US" sz="1600" b="0" baseline="30000" dirty="0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29" name="Line 57">
            <a:extLst>
              <a:ext uri="{FF2B5EF4-FFF2-40B4-BE49-F238E27FC236}">
                <a16:creationId xmlns:a16="http://schemas.microsoft.com/office/drawing/2014/main" id="{6B81BA49-2FC0-D440-B208-EDAA27C89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2877671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59">
            <a:extLst>
              <a:ext uri="{FF2B5EF4-FFF2-40B4-BE49-F238E27FC236}">
                <a16:creationId xmlns:a16="http://schemas.microsoft.com/office/drawing/2014/main" id="{E56B8E67-9A44-F442-9A06-3A59EF8FD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14" y="2668402"/>
            <a:ext cx="38973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Brown coal in ground 1.20 kg </a:t>
            </a:r>
          </a:p>
        </p:txBody>
      </p:sp>
      <p:sp>
        <p:nvSpPr>
          <p:cNvPr id="31" name="Line 57">
            <a:extLst>
              <a:ext uri="{FF2B5EF4-FFF2-40B4-BE49-F238E27FC236}">
                <a16:creationId xmlns:a16="http://schemas.microsoft.com/office/drawing/2014/main" id="{255E8FBA-53DD-8F46-81D8-6B96A6657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792" y="3311059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Text Box 59">
            <a:extLst>
              <a:ext uri="{FF2B5EF4-FFF2-40B4-BE49-F238E27FC236}">
                <a16:creationId xmlns:a16="http://schemas.microsoft.com/office/drawing/2014/main" id="{C6D53145-01D1-4541-A804-C5F752766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739" y="3105834"/>
            <a:ext cx="42299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Hard coal in ground 2.01 kg</a:t>
            </a:r>
          </a:p>
        </p:txBody>
      </p:sp>
      <p:sp>
        <p:nvSpPr>
          <p:cNvPr id="33" name="Line 53">
            <a:extLst>
              <a:ext uri="{FF2B5EF4-FFF2-40B4-BE49-F238E27FC236}">
                <a16:creationId xmlns:a16="http://schemas.microsoft.com/office/drawing/2014/main" id="{A7C59AFA-F257-EE4D-BD3A-379CE9438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5731680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Text Box 54">
            <a:extLst>
              <a:ext uri="{FF2B5EF4-FFF2-40B4-BE49-F238E27FC236}">
                <a16:creationId xmlns:a16="http://schemas.microsoft.com/office/drawing/2014/main" id="{3C9EC5A9-9A08-9840-86ED-F5195D163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5576114"/>
            <a:ext cx="46039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Nitrogen oxides 19.6 g</a:t>
            </a:r>
          </a:p>
        </p:txBody>
      </p:sp>
      <p:sp>
        <p:nvSpPr>
          <p:cNvPr id="35" name="Line 56">
            <a:extLst>
              <a:ext uri="{FF2B5EF4-FFF2-40B4-BE49-F238E27FC236}">
                <a16:creationId xmlns:a16="http://schemas.microsoft.com/office/drawing/2014/main" id="{0DC4F246-6DEA-3B40-9066-52466CC0F8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5015010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57">
            <a:extLst>
              <a:ext uri="{FF2B5EF4-FFF2-40B4-BE49-F238E27FC236}">
                <a16:creationId xmlns:a16="http://schemas.microsoft.com/office/drawing/2014/main" id="{71158F25-9682-6643-9DBB-EDA4BD4A765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73357" y="3635095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57">
            <a:extLst>
              <a:ext uri="{FF2B5EF4-FFF2-40B4-BE49-F238E27FC236}">
                <a16:creationId xmlns:a16="http://schemas.microsoft.com/office/drawing/2014/main" id="{54972ACE-2C1C-6648-9786-15A1DCFF2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073357" y="3291752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57">
            <a:extLst>
              <a:ext uri="{FF2B5EF4-FFF2-40B4-BE49-F238E27FC236}">
                <a16:creationId xmlns:a16="http://schemas.microsoft.com/office/drawing/2014/main" id="{0AF66C92-F53C-D149-A60F-D272E6765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2261723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57">
            <a:extLst>
              <a:ext uri="{FF2B5EF4-FFF2-40B4-BE49-F238E27FC236}">
                <a16:creationId xmlns:a16="http://schemas.microsoft.com/office/drawing/2014/main" id="{4CBC5FEC-0034-F94C-A551-FF5A57BF6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2605066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57">
            <a:extLst>
              <a:ext uri="{FF2B5EF4-FFF2-40B4-BE49-F238E27FC236}">
                <a16:creationId xmlns:a16="http://schemas.microsoft.com/office/drawing/2014/main" id="{6FFB446A-D4F5-094F-99DF-712A2BD07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2720" y="2948409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Text Box 59">
            <a:extLst>
              <a:ext uri="{FF2B5EF4-FFF2-40B4-BE49-F238E27FC236}">
                <a16:creationId xmlns:a16="http://schemas.microsoft.com/office/drawing/2014/main" id="{697E233A-8BAB-4F4C-9D14-7CA96DF53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3452583"/>
            <a:ext cx="34895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Carbon monoxide, biogenic 91.8 g</a:t>
            </a:r>
          </a:p>
        </p:txBody>
      </p:sp>
      <p:sp>
        <p:nvSpPr>
          <p:cNvPr id="42" name="Text Box 60">
            <a:extLst>
              <a:ext uri="{FF2B5EF4-FFF2-40B4-BE49-F238E27FC236}">
                <a16:creationId xmlns:a16="http://schemas.microsoft.com/office/drawing/2014/main" id="{66EB8808-7BD8-824B-AACE-3DA32403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5067" y="1447734"/>
            <a:ext cx="46039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3"/>
                </a:solidFill>
                <a:cs typeface="Arial" panose="020B0604020202020204" pitchFamily="34" charset="0"/>
              </a:rPr>
              <a:t>Heat, waste 66.6 MJ</a:t>
            </a:r>
            <a:r>
              <a:rPr lang="en-US" altLang="fr-FR" sz="24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/</a:t>
            </a:r>
            <a:r>
              <a:rPr lang="en-US" altLang="en-US" sz="2400" b="0" dirty="0">
                <a:solidFill>
                  <a:srgbClr val="ADA400"/>
                </a:solidFill>
                <a:latin typeface="Arial" panose="020B0604020202020204"/>
              </a:rPr>
              <a:t>kg Al</a:t>
            </a:r>
            <a:r>
              <a:rPr lang="en-US" altLang="en-US" sz="2400" b="0" baseline="-25000" dirty="0">
                <a:solidFill>
                  <a:srgbClr val="ADA400"/>
                </a:solidFill>
                <a:latin typeface="Arial" panose="020B0604020202020204"/>
              </a:rPr>
              <a:t> primary liquid</a:t>
            </a:r>
            <a:endParaRPr lang="en-US" altLang="en-US" sz="20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43" name="Text Box 59">
            <a:extLst>
              <a:ext uri="{FF2B5EF4-FFF2-40B4-BE49-F238E27FC236}">
                <a16:creationId xmlns:a16="http://schemas.microsoft.com/office/drawing/2014/main" id="{3BE99948-75E1-464D-AC04-922653873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3122475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Carbon dioxide, fossil 9.40 kg</a:t>
            </a:r>
          </a:p>
        </p:txBody>
      </p:sp>
      <p:sp>
        <p:nvSpPr>
          <p:cNvPr id="44" name="Text Box 59">
            <a:extLst>
              <a:ext uri="{FF2B5EF4-FFF2-40B4-BE49-F238E27FC236}">
                <a16:creationId xmlns:a16="http://schemas.microsoft.com/office/drawing/2014/main" id="{D9996D40-8828-3F4F-AB99-FBAED1799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2074399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Arsenic 1.88 mg</a:t>
            </a:r>
          </a:p>
        </p:txBody>
      </p:sp>
      <p:sp>
        <p:nvSpPr>
          <p:cNvPr id="45" name="Text Box 59">
            <a:extLst>
              <a:ext uri="{FF2B5EF4-FFF2-40B4-BE49-F238E27FC236}">
                <a16:creationId xmlns:a16="http://schemas.microsoft.com/office/drawing/2014/main" id="{AB691081-EC4B-C04F-8338-2B5EE5E49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2414943"/>
            <a:ext cx="34895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Arsenic, ion 44.0 mg</a:t>
            </a:r>
          </a:p>
        </p:txBody>
      </p:sp>
      <p:sp>
        <p:nvSpPr>
          <p:cNvPr id="46" name="Text Box 59">
            <a:extLst>
              <a:ext uri="{FF2B5EF4-FFF2-40B4-BE49-F238E27FC236}">
                <a16:creationId xmlns:a16="http://schemas.microsoft.com/office/drawing/2014/main" id="{09ECF062-E9CD-3D42-A711-2762712AF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2777645"/>
            <a:ext cx="4025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Benzo[a]pyrene 2.74 mg</a:t>
            </a:r>
          </a:p>
        </p:txBody>
      </p:sp>
      <p:sp>
        <p:nvSpPr>
          <p:cNvPr id="47" name="Line 56">
            <a:extLst>
              <a:ext uri="{FF2B5EF4-FFF2-40B4-BE49-F238E27FC236}">
                <a16:creationId xmlns:a16="http://schemas.microsoft.com/office/drawing/2014/main" id="{E9DEB8B6-FFAF-564A-A2DD-E5FE6C896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3978438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60">
            <a:extLst>
              <a:ext uri="{FF2B5EF4-FFF2-40B4-BE49-F238E27FC236}">
                <a16:creationId xmlns:a16="http://schemas.microsoft.com/office/drawing/2014/main" id="{AFF7A9C4-9AA2-F54A-86D3-7012C9EC6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3794251"/>
            <a:ext cx="17447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CFC-14 252 mg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49" name="Line 56">
            <a:extLst>
              <a:ext uri="{FF2B5EF4-FFF2-40B4-BE49-F238E27FC236}">
                <a16:creationId xmlns:a16="http://schemas.microsoft.com/office/drawing/2014/main" id="{1FB52849-80D3-6844-B020-C156D86F5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81295" y="4321781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Text Box 60">
            <a:extLst>
              <a:ext uri="{FF2B5EF4-FFF2-40B4-BE49-F238E27FC236}">
                <a16:creationId xmlns:a16="http://schemas.microsoft.com/office/drawing/2014/main" id="{1BB75249-A493-8E41-96D0-3C3CBBEA7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4143584"/>
            <a:ext cx="32120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Dioxins 1.74 ng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51" name="Line 56">
            <a:extLst>
              <a:ext uri="{FF2B5EF4-FFF2-40B4-BE49-F238E27FC236}">
                <a16:creationId xmlns:a16="http://schemas.microsoft.com/office/drawing/2014/main" id="{982A4498-7BD6-F54E-83AE-DECD78806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81295" y="4665124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Text Box 60">
            <a:extLst>
              <a:ext uri="{FF2B5EF4-FFF2-40B4-BE49-F238E27FC236}">
                <a16:creationId xmlns:a16="http://schemas.microsoft.com/office/drawing/2014/main" id="{C32B0438-ADE1-7D44-817F-622F12712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4495297"/>
            <a:ext cx="24783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HFC-116 28.2 mg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53" name="Picture 48">
            <a:extLst>
              <a:ext uri="{FF2B5EF4-FFF2-40B4-BE49-F238E27FC236}">
                <a16:creationId xmlns:a16="http://schemas.microsoft.com/office/drawing/2014/main" id="{76D020B5-B787-0243-8281-6B09061A7E7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9506" y="4329442"/>
            <a:ext cx="1309687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522BB786-19DA-FC4C-9E12-E037597870CF}"/>
              </a:ext>
            </a:extLst>
          </p:cNvPr>
          <p:cNvSpPr/>
          <p:nvPr/>
        </p:nvSpPr>
        <p:spPr>
          <a:xfrm>
            <a:off x="9544029" y="1471980"/>
            <a:ext cx="4594466" cy="497121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55" name="Text Box 60">
            <a:extLst>
              <a:ext uri="{FF2B5EF4-FFF2-40B4-BE49-F238E27FC236}">
                <a16:creationId xmlns:a16="http://schemas.microsoft.com/office/drawing/2014/main" id="{6463F731-F07D-B945-86D2-5BD649782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4856805"/>
            <a:ext cx="28850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Hydrogen fluoride 676 mg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56" name="Line 57">
            <a:extLst>
              <a:ext uri="{FF2B5EF4-FFF2-40B4-BE49-F238E27FC236}">
                <a16:creationId xmlns:a16="http://schemas.microsoft.com/office/drawing/2014/main" id="{77BAC1F4-7AC4-E442-B764-0BB7DA75A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6110709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57">
            <a:extLst>
              <a:ext uri="{FF2B5EF4-FFF2-40B4-BE49-F238E27FC236}">
                <a16:creationId xmlns:a16="http://schemas.microsoft.com/office/drawing/2014/main" id="{80ECDB37-A38E-7347-A3D0-5E583EA2B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6432787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28BB80F3-30F6-2A41-A482-0B30FDEE9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2720" y="6754865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Text Box 59">
            <a:extLst>
              <a:ext uri="{FF2B5EF4-FFF2-40B4-BE49-F238E27FC236}">
                <a16:creationId xmlns:a16="http://schemas.microsoft.com/office/drawing/2014/main" id="{97006BDB-03D4-7E47-8F68-ED6E47D80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5923385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PAH 88.7 mg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Box 59">
                <a:extLst>
                  <a:ext uri="{FF2B5EF4-FFF2-40B4-BE49-F238E27FC236}">
                    <a16:creationId xmlns:a16="http://schemas.microsoft.com/office/drawing/2014/main" id="{8151ECE7-15ED-1447-BC6E-4F12FA9E8E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91272" y="6263929"/>
                <a:ext cx="348952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9900"/>
                  </a:buClr>
                  <a:buChar char="•"/>
                  <a:defRPr sz="32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9900"/>
                  </a:buClr>
                  <a:buChar char="–"/>
                  <a:defRPr sz="28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9900"/>
                  </a:buClr>
                  <a:buChar char="•"/>
                  <a:defRPr sz="24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Char char="–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b="0" dirty="0">
                    <a:solidFill>
                      <a:schemeClr val="tx2"/>
                    </a:solidFill>
                    <a:cs typeface="Arial" panose="020B0604020202020204" pitchFamily="34" charset="0"/>
                  </a:rPr>
                  <a:t>Particulates, ,2.5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lang="en-US" altLang="en-US" sz="1600" b="0" dirty="0">
                    <a:solidFill>
                      <a:schemeClr val="tx2"/>
                    </a:solidFill>
                    <a:cs typeface="Arial" panose="020B0604020202020204" pitchFamily="34" charset="0"/>
                  </a:rPr>
                  <a:t>m 4.95 g</a:t>
                </a:r>
              </a:p>
            </p:txBody>
          </p:sp>
        </mc:Choice>
        <mc:Fallback xmlns="">
          <p:sp>
            <p:nvSpPr>
              <p:cNvPr id="60" name="Text Box 59">
                <a:extLst>
                  <a:ext uri="{FF2B5EF4-FFF2-40B4-BE49-F238E27FC236}">
                    <a16:creationId xmlns:a16="http://schemas.microsoft.com/office/drawing/2014/main" id="{8151ECE7-15ED-1447-BC6E-4F12FA9E8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91272" y="6263929"/>
                <a:ext cx="3489527" cy="338554"/>
              </a:xfrm>
              <a:prstGeom prst="rect">
                <a:avLst/>
              </a:prstGeom>
              <a:blipFill>
                <a:blip r:embed="rId4"/>
                <a:stretch>
                  <a:fillRect l="-725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 Box 59">
            <a:extLst>
              <a:ext uri="{FF2B5EF4-FFF2-40B4-BE49-F238E27FC236}">
                <a16:creationId xmlns:a16="http://schemas.microsoft.com/office/drawing/2014/main" id="{83F691A8-95E8-8D42-BA8C-70E8D73AE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6584101"/>
            <a:ext cx="4025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Sulfur dioxide 38.0 g</a:t>
            </a:r>
          </a:p>
        </p:txBody>
      </p:sp>
      <p:sp>
        <p:nvSpPr>
          <p:cNvPr id="62" name="Line 57">
            <a:extLst>
              <a:ext uri="{FF2B5EF4-FFF2-40B4-BE49-F238E27FC236}">
                <a16:creationId xmlns:a16="http://schemas.microsoft.com/office/drawing/2014/main" id="{54B911E1-9943-324A-8A66-AAF9905BCA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0680" y="1721952"/>
            <a:ext cx="530591" cy="41218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37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4. Aggregated inventory: aluminum primary liquid</a:t>
            </a:r>
          </a:p>
        </p:txBody>
      </p:sp>
      <p:cxnSp>
        <p:nvCxnSpPr>
          <p:cNvPr id="10" name="Straight Arrow Connector 2"/>
          <p:cNvCxnSpPr>
            <a:cxnSpLocks noChangeShapeType="1"/>
            <a:endCxn id="19" idx="1"/>
          </p:cNvCxnSpPr>
          <p:nvPr/>
        </p:nvCxnSpPr>
        <p:spPr bwMode="auto">
          <a:xfrm flipV="1">
            <a:off x="23041299" y="1641861"/>
            <a:ext cx="895589" cy="44763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 Box 4">
            <a:extLst>
              <a:ext uri="{FF2B5EF4-FFF2-40B4-BE49-F238E27FC236}">
                <a16:creationId xmlns:a16="http://schemas.microsoft.com/office/drawing/2014/main" id="{537C4823-32FD-7F48-8F8D-4EC5218FF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259" y="7032050"/>
            <a:ext cx="96908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dirty="0"/>
              <a:t>What are the </a:t>
            </a:r>
            <a:r>
              <a:rPr lang="en-US" dirty="0">
                <a:solidFill>
                  <a:schemeClr val="accent4"/>
                </a:solidFill>
              </a:rPr>
              <a:t>intermediary</a:t>
            </a:r>
            <a:r>
              <a:rPr lang="en-US" dirty="0"/>
              <a:t> and </a:t>
            </a:r>
            <a:r>
              <a:rPr lang="en-US" dirty="0">
                <a:solidFill>
                  <a:schemeClr val="accent3"/>
                </a:solidFill>
              </a:rPr>
              <a:t>elementary</a:t>
            </a:r>
            <a:r>
              <a:rPr lang="en-US" dirty="0"/>
              <a:t> flows?</a:t>
            </a:r>
          </a:p>
        </p:txBody>
      </p:sp>
      <p:sp>
        <p:nvSpPr>
          <p:cNvPr id="18" name="Text Box 51">
            <a:extLst>
              <a:ext uri="{FF2B5EF4-FFF2-40B4-BE49-F238E27FC236}">
                <a16:creationId xmlns:a16="http://schemas.microsoft.com/office/drawing/2014/main" id="{F4A87F9E-CE80-8548-9243-C10A5AF58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14348" y="1449832"/>
            <a:ext cx="53448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US" altLang="fr-FR" sz="2000" b="0" dirty="0">
                <a:solidFill>
                  <a:schemeClr val="accent3"/>
                </a:solidFill>
                <a:cs typeface="Arial" panose="020B0604020202020204" pitchFamily="34" charset="0"/>
              </a:rPr>
              <a:t>Heat, waste (0.503 MJ/</a:t>
            </a:r>
            <a:r>
              <a:rPr lang="en-US" altLang="en-US" sz="2000" b="0" dirty="0" err="1">
                <a:solidFill>
                  <a:schemeClr val="accent5"/>
                </a:solidFill>
              </a:rPr>
              <a:t>kg</a:t>
            </a:r>
            <a:r>
              <a:rPr lang="en-US" altLang="en-US" sz="2000" b="0" baseline="-25000" dirty="0" err="1">
                <a:solidFill>
                  <a:schemeClr val="accent5"/>
                </a:solidFill>
              </a:rPr>
              <a:t>Al</a:t>
            </a:r>
            <a:r>
              <a:rPr lang="en-US" altLang="en-US" sz="2000" b="0" baseline="-25000" dirty="0">
                <a:solidFill>
                  <a:schemeClr val="accent5"/>
                </a:solidFill>
              </a:rPr>
              <a:t> hydroxide</a:t>
            </a:r>
            <a:r>
              <a:rPr lang="en-US" altLang="fr-FR" sz="2000" b="0" dirty="0">
                <a:solidFill>
                  <a:schemeClr val="accent3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E5F3B4-E89A-C14B-8CF5-911DA5042D35}"/>
              </a:ext>
            </a:extLst>
          </p:cNvPr>
          <p:cNvSpPr/>
          <p:nvPr/>
        </p:nvSpPr>
        <p:spPr>
          <a:xfrm>
            <a:off x="23936888" y="1434926"/>
            <a:ext cx="4099839" cy="413869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1" name="Text Box 41">
            <a:extLst>
              <a:ext uri="{FF2B5EF4-FFF2-40B4-BE49-F238E27FC236}">
                <a16:creationId xmlns:a16="http://schemas.microsoft.com/office/drawing/2014/main" id="{DD3DF838-959F-3541-A832-153900357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4556" y="2226798"/>
            <a:ext cx="1768475" cy="4616648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Aluminum,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primary,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liquid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cs typeface="Arial" panose="020B0604020202020204" pitchFamily="34" charset="0"/>
              </a:rPr>
              <a:t>1 kg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Line 53">
            <a:extLst>
              <a:ext uri="{FF2B5EF4-FFF2-40B4-BE49-F238E27FC236}">
                <a16:creationId xmlns:a16="http://schemas.microsoft.com/office/drawing/2014/main" id="{2445ECB2-EF1B-C542-916F-0303A2890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5895" y="5409607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54">
            <a:extLst>
              <a:ext uri="{FF2B5EF4-FFF2-40B4-BE49-F238E27FC236}">
                <a16:creationId xmlns:a16="http://schemas.microsoft.com/office/drawing/2014/main" id="{A7EA6D88-922C-F74C-A699-285B202DF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5224647"/>
            <a:ext cx="44232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Methane, biogenic 51.7 mg</a:t>
            </a:r>
          </a:p>
        </p:txBody>
      </p:sp>
      <p:sp>
        <p:nvSpPr>
          <p:cNvPr id="16" name="Line 56">
            <a:extLst>
              <a:ext uri="{FF2B5EF4-FFF2-40B4-BE49-F238E27FC236}">
                <a16:creationId xmlns:a16="http://schemas.microsoft.com/office/drawing/2014/main" id="{AE135A62-E1A7-AF48-ABD9-F3A56326D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4612817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57">
            <a:extLst>
              <a:ext uri="{FF2B5EF4-FFF2-40B4-BE49-F238E27FC236}">
                <a16:creationId xmlns:a16="http://schemas.microsoft.com/office/drawing/2014/main" id="{82B03B0D-D95B-014A-AEA5-EF81035BC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4168313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58">
            <a:extLst>
              <a:ext uri="{FF2B5EF4-FFF2-40B4-BE49-F238E27FC236}">
                <a16:creationId xmlns:a16="http://schemas.microsoft.com/office/drawing/2014/main" id="{93380A87-8B49-9B42-B31C-80B588C28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5242990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59">
            <a:extLst>
              <a:ext uri="{FF2B5EF4-FFF2-40B4-BE49-F238E27FC236}">
                <a16:creationId xmlns:a16="http://schemas.microsoft.com/office/drawing/2014/main" id="{C0D2251F-4BBE-6F4D-9351-3B4AEC26F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7" y="3980698"/>
            <a:ext cx="4516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Uranium in ground 58.3 mg</a:t>
            </a:r>
          </a:p>
        </p:txBody>
      </p:sp>
      <p:sp>
        <p:nvSpPr>
          <p:cNvPr id="23" name="Text Box 60">
            <a:extLst>
              <a:ext uri="{FF2B5EF4-FFF2-40B4-BE49-F238E27FC236}">
                <a16:creationId xmlns:a16="http://schemas.microsoft.com/office/drawing/2014/main" id="{19DEF709-B3B1-D94E-BB23-DF8FDA928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783" y="4342009"/>
            <a:ext cx="5964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Aluminum in ground, </a:t>
            </a:r>
            <a:b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</a:b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24% in bauxite, 11% in crude ore 1.16 kg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4" name="Text Box 61">
            <a:extLst>
              <a:ext uri="{FF2B5EF4-FFF2-40B4-BE49-F238E27FC236}">
                <a16:creationId xmlns:a16="http://schemas.microsoft.com/office/drawing/2014/main" id="{66EEE761-9A65-E943-9B8E-218C6F6B4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739" y="5082509"/>
            <a:ext cx="42299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Occupation, forest, intensive 0.101 m2a</a:t>
            </a:r>
          </a:p>
        </p:txBody>
      </p:sp>
      <p:sp>
        <p:nvSpPr>
          <p:cNvPr id="25" name="Line 57">
            <a:extLst>
              <a:ext uri="{FF2B5EF4-FFF2-40B4-BE49-F238E27FC236}">
                <a16:creationId xmlns:a16="http://schemas.microsoft.com/office/drawing/2014/main" id="{53577352-45D3-8145-8F29-AAD2E4A5F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617" y="3709523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 Box 59">
            <a:extLst>
              <a:ext uri="{FF2B5EF4-FFF2-40B4-BE49-F238E27FC236}">
                <a16:creationId xmlns:a16="http://schemas.microsoft.com/office/drawing/2014/main" id="{9EE6F14C-DE1E-7649-BA73-461DBDC57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101" y="3543266"/>
            <a:ext cx="40046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Crude oil in ground 1.18 kg</a:t>
            </a:r>
          </a:p>
        </p:txBody>
      </p:sp>
      <p:sp>
        <p:nvSpPr>
          <p:cNvPr id="27" name="Line 57">
            <a:extLst>
              <a:ext uri="{FF2B5EF4-FFF2-40B4-BE49-F238E27FC236}">
                <a16:creationId xmlns:a16="http://schemas.microsoft.com/office/drawing/2014/main" id="{23CCC9DD-E723-9A45-AA41-1E014255D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2446870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8" name="Text Box 59">
            <a:extLst>
              <a:ext uri="{FF2B5EF4-FFF2-40B4-BE49-F238E27FC236}">
                <a16:creationId xmlns:a16="http://schemas.microsoft.com/office/drawing/2014/main" id="{628659B2-6C4E-3D47-BAAE-6586BB9D8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669" y="2230970"/>
            <a:ext cx="31280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Natural gas in ground 525 dm</a:t>
            </a:r>
            <a:r>
              <a:rPr lang="en-US" altLang="en-US" sz="1600" b="0" baseline="30000" dirty="0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29" name="Line 57">
            <a:extLst>
              <a:ext uri="{FF2B5EF4-FFF2-40B4-BE49-F238E27FC236}">
                <a16:creationId xmlns:a16="http://schemas.microsoft.com/office/drawing/2014/main" id="{6B81BA49-2FC0-D440-B208-EDAA27C89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2877671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59">
            <a:extLst>
              <a:ext uri="{FF2B5EF4-FFF2-40B4-BE49-F238E27FC236}">
                <a16:creationId xmlns:a16="http://schemas.microsoft.com/office/drawing/2014/main" id="{E56B8E67-9A44-F442-9A06-3A59EF8FD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14" y="2668402"/>
            <a:ext cx="38973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Brown coal in ground 1.20 kg </a:t>
            </a:r>
          </a:p>
        </p:txBody>
      </p:sp>
      <p:sp>
        <p:nvSpPr>
          <p:cNvPr id="31" name="Line 57">
            <a:extLst>
              <a:ext uri="{FF2B5EF4-FFF2-40B4-BE49-F238E27FC236}">
                <a16:creationId xmlns:a16="http://schemas.microsoft.com/office/drawing/2014/main" id="{255E8FBA-53DD-8F46-81D8-6B96A6657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792" y="3311059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Text Box 59">
            <a:extLst>
              <a:ext uri="{FF2B5EF4-FFF2-40B4-BE49-F238E27FC236}">
                <a16:creationId xmlns:a16="http://schemas.microsoft.com/office/drawing/2014/main" id="{C6D53145-01D1-4541-A804-C5F752766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739" y="3105834"/>
            <a:ext cx="42299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Hard coal in ground 2.01 kg</a:t>
            </a:r>
          </a:p>
        </p:txBody>
      </p:sp>
      <p:sp>
        <p:nvSpPr>
          <p:cNvPr id="33" name="Line 53">
            <a:extLst>
              <a:ext uri="{FF2B5EF4-FFF2-40B4-BE49-F238E27FC236}">
                <a16:creationId xmlns:a16="http://schemas.microsoft.com/office/drawing/2014/main" id="{A7C59AFA-F257-EE4D-BD3A-379CE9438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5731680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Text Box 54">
            <a:extLst>
              <a:ext uri="{FF2B5EF4-FFF2-40B4-BE49-F238E27FC236}">
                <a16:creationId xmlns:a16="http://schemas.microsoft.com/office/drawing/2014/main" id="{3C9EC5A9-9A08-9840-86ED-F5195D163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5576114"/>
            <a:ext cx="46039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Nitrogen oxides 19.6 g</a:t>
            </a:r>
          </a:p>
        </p:txBody>
      </p:sp>
      <p:sp>
        <p:nvSpPr>
          <p:cNvPr id="35" name="Line 56">
            <a:extLst>
              <a:ext uri="{FF2B5EF4-FFF2-40B4-BE49-F238E27FC236}">
                <a16:creationId xmlns:a16="http://schemas.microsoft.com/office/drawing/2014/main" id="{0DC4F246-6DEA-3B40-9066-52466CC0F8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5015010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57">
            <a:extLst>
              <a:ext uri="{FF2B5EF4-FFF2-40B4-BE49-F238E27FC236}">
                <a16:creationId xmlns:a16="http://schemas.microsoft.com/office/drawing/2014/main" id="{71158F25-9682-6643-9DBB-EDA4BD4A765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73357" y="3635095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57">
            <a:extLst>
              <a:ext uri="{FF2B5EF4-FFF2-40B4-BE49-F238E27FC236}">
                <a16:creationId xmlns:a16="http://schemas.microsoft.com/office/drawing/2014/main" id="{54972ACE-2C1C-6648-9786-15A1DCFF2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073357" y="3291752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57">
            <a:extLst>
              <a:ext uri="{FF2B5EF4-FFF2-40B4-BE49-F238E27FC236}">
                <a16:creationId xmlns:a16="http://schemas.microsoft.com/office/drawing/2014/main" id="{0AF66C92-F53C-D149-A60F-D272E6765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2261723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57">
            <a:extLst>
              <a:ext uri="{FF2B5EF4-FFF2-40B4-BE49-F238E27FC236}">
                <a16:creationId xmlns:a16="http://schemas.microsoft.com/office/drawing/2014/main" id="{4CBC5FEC-0034-F94C-A551-FF5A57BF6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2605066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57">
            <a:extLst>
              <a:ext uri="{FF2B5EF4-FFF2-40B4-BE49-F238E27FC236}">
                <a16:creationId xmlns:a16="http://schemas.microsoft.com/office/drawing/2014/main" id="{6FFB446A-D4F5-094F-99DF-712A2BD07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2720" y="2948409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Text Box 59">
            <a:extLst>
              <a:ext uri="{FF2B5EF4-FFF2-40B4-BE49-F238E27FC236}">
                <a16:creationId xmlns:a16="http://schemas.microsoft.com/office/drawing/2014/main" id="{697E233A-8BAB-4F4C-9D14-7CA96DF53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3452583"/>
            <a:ext cx="34895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Carbon monoxide, biogenic 91.8 g</a:t>
            </a:r>
          </a:p>
        </p:txBody>
      </p:sp>
      <p:sp>
        <p:nvSpPr>
          <p:cNvPr id="42" name="Text Box 60">
            <a:extLst>
              <a:ext uri="{FF2B5EF4-FFF2-40B4-BE49-F238E27FC236}">
                <a16:creationId xmlns:a16="http://schemas.microsoft.com/office/drawing/2014/main" id="{66EB8808-7BD8-824B-AACE-3DA32403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5067" y="1447734"/>
            <a:ext cx="46039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accent3"/>
                </a:solidFill>
                <a:cs typeface="Arial" panose="020B0604020202020204" pitchFamily="34" charset="0"/>
              </a:rPr>
              <a:t>Heat, waste 66.6 MJ</a:t>
            </a:r>
            <a:r>
              <a:rPr lang="en-US" altLang="fr-FR" sz="2400" b="0" dirty="0">
                <a:solidFill>
                  <a:srgbClr val="ADA400"/>
                </a:solidFill>
                <a:latin typeface="Arial" panose="020B0604020202020204"/>
                <a:cs typeface="Arial" panose="020B0604020202020204" pitchFamily="34" charset="0"/>
              </a:rPr>
              <a:t>/</a:t>
            </a:r>
            <a:r>
              <a:rPr lang="en-US" altLang="en-US" sz="2400" b="0" dirty="0">
                <a:solidFill>
                  <a:srgbClr val="ADA400"/>
                </a:solidFill>
                <a:latin typeface="Arial" panose="020B0604020202020204"/>
              </a:rPr>
              <a:t>kg Al</a:t>
            </a:r>
            <a:r>
              <a:rPr lang="en-US" altLang="en-US" sz="2400" b="0" baseline="-25000" dirty="0">
                <a:solidFill>
                  <a:srgbClr val="ADA400"/>
                </a:solidFill>
                <a:latin typeface="Arial" panose="020B0604020202020204"/>
              </a:rPr>
              <a:t> primary liquid</a:t>
            </a:r>
            <a:endParaRPr lang="en-US" altLang="en-US" sz="20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43" name="Text Box 59">
            <a:extLst>
              <a:ext uri="{FF2B5EF4-FFF2-40B4-BE49-F238E27FC236}">
                <a16:creationId xmlns:a16="http://schemas.microsoft.com/office/drawing/2014/main" id="{3BE99948-75E1-464D-AC04-922653873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3122475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Carbon dioxide, fossil 9.40 kg</a:t>
            </a:r>
          </a:p>
        </p:txBody>
      </p:sp>
      <p:sp>
        <p:nvSpPr>
          <p:cNvPr id="44" name="Text Box 59">
            <a:extLst>
              <a:ext uri="{FF2B5EF4-FFF2-40B4-BE49-F238E27FC236}">
                <a16:creationId xmlns:a16="http://schemas.microsoft.com/office/drawing/2014/main" id="{D9996D40-8828-3F4F-AB99-FBAED1799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2074399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Arsenic 1.88 mg</a:t>
            </a:r>
          </a:p>
        </p:txBody>
      </p:sp>
      <p:sp>
        <p:nvSpPr>
          <p:cNvPr id="45" name="Text Box 59">
            <a:extLst>
              <a:ext uri="{FF2B5EF4-FFF2-40B4-BE49-F238E27FC236}">
                <a16:creationId xmlns:a16="http://schemas.microsoft.com/office/drawing/2014/main" id="{AB691081-EC4B-C04F-8338-2B5EE5E49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2414943"/>
            <a:ext cx="34895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Arsenic, ion 44.0 mg</a:t>
            </a:r>
          </a:p>
        </p:txBody>
      </p:sp>
      <p:sp>
        <p:nvSpPr>
          <p:cNvPr id="46" name="Text Box 59">
            <a:extLst>
              <a:ext uri="{FF2B5EF4-FFF2-40B4-BE49-F238E27FC236}">
                <a16:creationId xmlns:a16="http://schemas.microsoft.com/office/drawing/2014/main" id="{09ECF062-E9CD-3D42-A711-2762712AF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2777645"/>
            <a:ext cx="4025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Benzo[a]pyrene 2.74 mg</a:t>
            </a:r>
          </a:p>
        </p:txBody>
      </p:sp>
      <p:sp>
        <p:nvSpPr>
          <p:cNvPr id="47" name="Line 56">
            <a:extLst>
              <a:ext uri="{FF2B5EF4-FFF2-40B4-BE49-F238E27FC236}">
                <a16:creationId xmlns:a16="http://schemas.microsoft.com/office/drawing/2014/main" id="{E9DEB8B6-FFAF-564A-A2DD-E5FE6C896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3978438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60">
            <a:extLst>
              <a:ext uri="{FF2B5EF4-FFF2-40B4-BE49-F238E27FC236}">
                <a16:creationId xmlns:a16="http://schemas.microsoft.com/office/drawing/2014/main" id="{AFF7A9C4-9AA2-F54A-86D3-7012C9EC6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3794251"/>
            <a:ext cx="17447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CFC-14 252 mg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49" name="Line 56">
            <a:extLst>
              <a:ext uri="{FF2B5EF4-FFF2-40B4-BE49-F238E27FC236}">
                <a16:creationId xmlns:a16="http://schemas.microsoft.com/office/drawing/2014/main" id="{1FB52849-80D3-6844-B020-C156D86F5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81295" y="4321781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Text Box 60">
            <a:extLst>
              <a:ext uri="{FF2B5EF4-FFF2-40B4-BE49-F238E27FC236}">
                <a16:creationId xmlns:a16="http://schemas.microsoft.com/office/drawing/2014/main" id="{1BB75249-A493-8E41-96D0-3C3CBBEA7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4143584"/>
            <a:ext cx="32120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Dioxins 1.74 ng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51" name="Line 56">
            <a:extLst>
              <a:ext uri="{FF2B5EF4-FFF2-40B4-BE49-F238E27FC236}">
                <a16:creationId xmlns:a16="http://schemas.microsoft.com/office/drawing/2014/main" id="{982A4498-7BD6-F54E-83AE-DECD78806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81295" y="4665124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Text Box 60">
            <a:extLst>
              <a:ext uri="{FF2B5EF4-FFF2-40B4-BE49-F238E27FC236}">
                <a16:creationId xmlns:a16="http://schemas.microsoft.com/office/drawing/2014/main" id="{C32B0438-ADE1-7D44-817F-622F12712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4495297"/>
            <a:ext cx="24783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HFC-116 28.2 mg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53" name="Picture 48">
            <a:extLst>
              <a:ext uri="{FF2B5EF4-FFF2-40B4-BE49-F238E27FC236}">
                <a16:creationId xmlns:a16="http://schemas.microsoft.com/office/drawing/2014/main" id="{76D020B5-B787-0243-8281-6B09061A7E7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9506" y="4329442"/>
            <a:ext cx="1309687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522BB786-19DA-FC4C-9E12-E037597870CF}"/>
              </a:ext>
            </a:extLst>
          </p:cNvPr>
          <p:cNvSpPr/>
          <p:nvPr/>
        </p:nvSpPr>
        <p:spPr>
          <a:xfrm>
            <a:off x="9544029" y="1471980"/>
            <a:ext cx="4594466" cy="497121"/>
          </a:xfrm>
          <a:prstGeom prst="rect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55" name="Text Box 60">
            <a:extLst>
              <a:ext uri="{FF2B5EF4-FFF2-40B4-BE49-F238E27FC236}">
                <a16:creationId xmlns:a16="http://schemas.microsoft.com/office/drawing/2014/main" id="{6463F731-F07D-B945-86D2-5BD649782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4856805"/>
            <a:ext cx="28850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Hydrogen fluoride 676 mg</a:t>
            </a:r>
            <a:endParaRPr lang="en-US" altLang="en-US" sz="1600" b="0" baseline="30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56" name="Line 57">
            <a:extLst>
              <a:ext uri="{FF2B5EF4-FFF2-40B4-BE49-F238E27FC236}">
                <a16:creationId xmlns:a16="http://schemas.microsoft.com/office/drawing/2014/main" id="{77BAC1F4-7AC4-E442-B764-0BB7DA75A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6110709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Line 57">
            <a:extLst>
              <a:ext uri="{FF2B5EF4-FFF2-40B4-BE49-F238E27FC236}">
                <a16:creationId xmlns:a16="http://schemas.microsoft.com/office/drawing/2014/main" id="{80ECDB37-A38E-7347-A3D0-5E583EA2B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6432787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Line 57">
            <a:extLst>
              <a:ext uri="{FF2B5EF4-FFF2-40B4-BE49-F238E27FC236}">
                <a16:creationId xmlns:a16="http://schemas.microsoft.com/office/drawing/2014/main" id="{28BB80F3-30F6-2A41-A482-0B30FDEE91D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2720" y="6754865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Text Box 59">
            <a:extLst>
              <a:ext uri="{FF2B5EF4-FFF2-40B4-BE49-F238E27FC236}">
                <a16:creationId xmlns:a16="http://schemas.microsoft.com/office/drawing/2014/main" id="{97006BDB-03D4-7E47-8F68-ED6E47D80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5923385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PAH 88.7 mg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Box 59">
                <a:extLst>
                  <a:ext uri="{FF2B5EF4-FFF2-40B4-BE49-F238E27FC236}">
                    <a16:creationId xmlns:a16="http://schemas.microsoft.com/office/drawing/2014/main" id="{8151ECE7-15ED-1447-BC6E-4F12FA9E8E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91272" y="6263929"/>
                <a:ext cx="348952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9900"/>
                  </a:buClr>
                  <a:buChar char="•"/>
                  <a:defRPr sz="32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9900"/>
                  </a:buClr>
                  <a:buChar char="–"/>
                  <a:defRPr sz="28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9900"/>
                  </a:buClr>
                  <a:buChar char="•"/>
                  <a:defRPr sz="24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Char char="–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b="0" dirty="0">
                    <a:solidFill>
                      <a:schemeClr val="tx2"/>
                    </a:solidFill>
                    <a:cs typeface="Arial" panose="020B0604020202020204" pitchFamily="34" charset="0"/>
                  </a:rPr>
                  <a:t>Particulates, ,2.5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lang="en-US" altLang="en-US" sz="1600" b="0" dirty="0">
                    <a:solidFill>
                      <a:schemeClr val="tx2"/>
                    </a:solidFill>
                    <a:cs typeface="Arial" panose="020B0604020202020204" pitchFamily="34" charset="0"/>
                  </a:rPr>
                  <a:t>m 4.95 g</a:t>
                </a:r>
              </a:p>
            </p:txBody>
          </p:sp>
        </mc:Choice>
        <mc:Fallback xmlns="">
          <p:sp>
            <p:nvSpPr>
              <p:cNvPr id="60" name="Text Box 59">
                <a:extLst>
                  <a:ext uri="{FF2B5EF4-FFF2-40B4-BE49-F238E27FC236}">
                    <a16:creationId xmlns:a16="http://schemas.microsoft.com/office/drawing/2014/main" id="{8151ECE7-15ED-1447-BC6E-4F12FA9E8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91272" y="6263929"/>
                <a:ext cx="3489527" cy="338554"/>
              </a:xfrm>
              <a:prstGeom prst="rect">
                <a:avLst/>
              </a:prstGeom>
              <a:blipFill>
                <a:blip r:embed="rId4"/>
                <a:stretch>
                  <a:fillRect l="-725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 Box 59">
            <a:extLst>
              <a:ext uri="{FF2B5EF4-FFF2-40B4-BE49-F238E27FC236}">
                <a16:creationId xmlns:a16="http://schemas.microsoft.com/office/drawing/2014/main" id="{83F691A8-95E8-8D42-BA8C-70E8D73AE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6584101"/>
            <a:ext cx="4025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  <a:cs typeface="Arial" panose="020B0604020202020204" pitchFamily="34" charset="0"/>
              </a:rPr>
              <a:t>Sulfur dioxide 38.0 g</a:t>
            </a:r>
          </a:p>
        </p:txBody>
      </p:sp>
      <p:sp>
        <p:nvSpPr>
          <p:cNvPr id="62" name="Line 57">
            <a:extLst>
              <a:ext uri="{FF2B5EF4-FFF2-40B4-BE49-F238E27FC236}">
                <a16:creationId xmlns:a16="http://schemas.microsoft.com/office/drawing/2014/main" id="{54B911E1-9943-324A-8A66-AAF9905BCA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60680" y="1721952"/>
            <a:ext cx="530591" cy="41218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15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4. Aggregated inventory: aluminum primary liquid</a:t>
            </a:r>
          </a:p>
        </p:txBody>
      </p:sp>
      <p:sp>
        <p:nvSpPr>
          <p:cNvPr id="2" name="Rectangle 1"/>
          <p:cNvSpPr/>
          <p:nvPr/>
        </p:nvSpPr>
        <p:spPr>
          <a:xfrm>
            <a:off x="1586473" y="6699094"/>
            <a:ext cx="132164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</a:rPr>
              <a:t>These are </a:t>
            </a:r>
            <a:r>
              <a:rPr lang="en-US" sz="2800" b="1" dirty="0">
                <a:solidFill>
                  <a:schemeClr val="accent3"/>
                </a:solidFill>
              </a:rPr>
              <a:t>ALL </a:t>
            </a:r>
            <a:r>
              <a:rPr lang="en-US" sz="2800" dirty="0">
                <a:solidFill>
                  <a:schemeClr val="accent3"/>
                </a:solidFill>
              </a:rPr>
              <a:t>elementary flows </a:t>
            </a:r>
            <a:r>
              <a:rPr lang="en-US" sz="2800" dirty="0">
                <a:solidFill>
                  <a:schemeClr val="tx2"/>
                </a:solidFill>
              </a:rPr>
              <a:t>since by definition the </a:t>
            </a:r>
            <a:r>
              <a:rPr lang="en-US" sz="2800" dirty="0">
                <a:solidFill>
                  <a:schemeClr val="accent5"/>
                </a:solidFill>
              </a:rPr>
              <a:t>aggregated</a:t>
            </a:r>
            <a:r>
              <a:rPr lang="en-US" sz="2800" dirty="0">
                <a:solidFill>
                  <a:schemeClr val="accent3"/>
                </a:solidFill>
              </a:rPr>
              <a:t> inventory </a:t>
            </a:r>
            <a:r>
              <a:rPr lang="en-US" sz="2800" dirty="0">
                <a:solidFill>
                  <a:schemeClr val="tx2"/>
                </a:solidFill>
              </a:rPr>
              <a:t>is the sum of </a:t>
            </a:r>
            <a:r>
              <a:rPr lang="en-US" sz="2800" dirty="0">
                <a:solidFill>
                  <a:schemeClr val="accent3"/>
                </a:solidFill>
              </a:rPr>
              <a:t>all elementary flows per FU </a:t>
            </a:r>
            <a:r>
              <a:rPr lang="en-US" sz="2800" dirty="0">
                <a:solidFill>
                  <a:schemeClr val="tx2"/>
                </a:solidFill>
              </a:rPr>
              <a:t>of all unit processes</a:t>
            </a:r>
          </a:p>
        </p:txBody>
      </p:sp>
      <p:sp>
        <p:nvSpPr>
          <p:cNvPr id="62" name="Text Box 41">
            <a:extLst>
              <a:ext uri="{FF2B5EF4-FFF2-40B4-BE49-F238E27FC236}">
                <a16:creationId xmlns:a16="http://schemas.microsoft.com/office/drawing/2014/main" id="{95BF2285-A8C0-8446-A232-5F885917E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4556" y="1487315"/>
            <a:ext cx="1768475" cy="4924425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Aluminum,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primary,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liquid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cs typeface="Arial" panose="020B0604020202020204" pitchFamily="34" charset="0"/>
              </a:rPr>
              <a:t>1 kg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dirty="0">
              <a:solidFill>
                <a:schemeClr val="tx2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Line 53">
            <a:extLst>
              <a:ext uri="{FF2B5EF4-FFF2-40B4-BE49-F238E27FC236}">
                <a16:creationId xmlns:a16="http://schemas.microsoft.com/office/drawing/2014/main" id="{34E31798-52FA-D243-AB13-F7B8BCDAB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5895" y="5048102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Text Box 54">
            <a:extLst>
              <a:ext uri="{FF2B5EF4-FFF2-40B4-BE49-F238E27FC236}">
                <a16:creationId xmlns:a16="http://schemas.microsoft.com/office/drawing/2014/main" id="{5B0F4106-B1FF-EC4A-8F61-C7CA06961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4863142"/>
            <a:ext cx="44232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Methane, biogenic 51.7 mg</a:t>
            </a:r>
          </a:p>
        </p:txBody>
      </p:sp>
      <p:sp>
        <p:nvSpPr>
          <p:cNvPr id="65" name="Line 56">
            <a:extLst>
              <a:ext uri="{FF2B5EF4-FFF2-40B4-BE49-F238E27FC236}">
                <a16:creationId xmlns:a16="http://schemas.microsoft.com/office/drawing/2014/main" id="{00402967-4DA8-C247-B989-181F6F64D4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4166252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57">
            <a:extLst>
              <a:ext uri="{FF2B5EF4-FFF2-40B4-BE49-F238E27FC236}">
                <a16:creationId xmlns:a16="http://schemas.microsoft.com/office/drawing/2014/main" id="{D607FD61-6D22-154B-9F4D-8AF4C8508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3721748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58">
            <a:extLst>
              <a:ext uri="{FF2B5EF4-FFF2-40B4-BE49-F238E27FC236}">
                <a16:creationId xmlns:a16="http://schemas.microsoft.com/office/drawing/2014/main" id="{C8BB0E7B-358B-8B4F-B43E-0621D3240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4911253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57">
            <a:extLst>
              <a:ext uri="{FF2B5EF4-FFF2-40B4-BE49-F238E27FC236}">
                <a16:creationId xmlns:a16="http://schemas.microsoft.com/office/drawing/2014/main" id="{B4685134-C49A-1945-842D-4A9A27161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617" y="3262958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Text Box 59">
            <a:extLst>
              <a:ext uri="{FF2B5EF4-FFF2-40B4-BE49-F238E27FC236}">
                <a16:creationId xmlns:a16="http://schemas.microsoft.com/office/drawing/2014/main" id="{81DED3B9-9D44-8D41-A53C-09D82E5F3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101" y="3096701"/>
            <a:ext cx="40046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Crude oil in ground 1.18 kg</a:t>
            </a:r>
          </a:p>
        </p:txBody>
      </p:sp>
      <p:sp>
        <p:nvSpPr>
          <p:cNvPr id="70" name="Line 57">
            <a:extLst>
              <a:ext uri="{FF2B5EF4-FFF2-40B4-BE49-F238E27FC236}">
                <a16:creationId xmlns:a16="http://schemas.microsoft.com/office/drawing/2014/main" id="{A2E2A1ED-0F39-FC4E-A90A-6E6FFC772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2000305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1" name="Text Box 59">
            <a:extLst>
              <a:ext uri="{FF2B5EF4-FFF2-40B4-BE49-F238E27FC236}">
                <a16:creationId xmlns:a16="http://schemas.microsoft.com/office/drawing/2014/main" id="{B7B9925E-9F8C-9947-9DDC-696FC7CFD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5669" y="1784405"/>
            <a:ext cx="31280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Natural gas in ground 525 dm</a:t>
            </a:r>
            <a:r>
              <a:rPr lang="en-US" altLang="en-US" sz="1600" b="0" baseline="30000" dirty="0">
                <a:solidFill>
                  <a:schemeClr val="accent3"/>
                </a:solidFill>
                <a:cs typeface="Arial" panose="020B0604020202020204" pitchFamily="34" charset="0"/>
              </a:rPr>
              <a:t>3</a:t>
            </a:r>
          </a:p>
        </p:txBody>
      </p:sp>
      <p:sp>
        <p:nvSpPr>
          <p:cNvPr id="72" name="Line 57">
            <a:extLst>
              <a:ext uri="{FF2B5EF4-FFF2-40B4-BE49-F238E27FC236}">
                <a16:creationId xmlns:a16="http://schemas.microsoft.com/office/drawing/2014/main" id="{DEB983EA-1E06-D94B-AED5-6D8FDFC75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1330" y="2431106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Text Box 59">
            <a:extLst>
              <a:ext uri="{FF2B5EF4-FFF2-40B4-BE49-F238E27FC236}">
                <a16:creationId xmlns:a16="http://schemas.microsoft.com/office/drawing/2014/main" id="{3D6DBEC9-715E-C74B-90DC-B6BAE0642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414" y="2221837"/>
            <a:ext cx="38973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Brown coal in ground 1.20 kg </a:t>
            </a:r>
          </a:p>
        </p:txBody>
      </p:sp>
      <p:sp>
        <p:nvSpPr>
          <p:cNvPr id="74" name="Line 57">
            <a:extLst>
              <a:ext uri="{FF2B5EF4-FFF2-40B4-BE49-F238E27FC236}">
                <a16:creationId xmlns:a16="http://schemas.microsoft.com/office/drawing/2014/main" id="{873364EE-68FB-B94A-9412-D865F235C2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792" y="2864494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Line 53">
            <a:extLst>
              <a:ext uri="{FF2B5EF4-FFF2-40B4-BE49-F238E27FC236}">
                <a16:creationId xmlns:a16="http://schemas.microsoft.com/office/drawing/2014/main" id="{A79B2A22-1C9F-354D-BB05-4C9E15EAF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5370175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Text Box 54">
            <a:extLst>
              <a:ext uri="{FF2B5EF4-FFF2-40B4-BE49-F238E27FC236}">
                <a16:creationId xmlns:a16="http://schemas.microsoft.com/office/drawing/2014/main" id="{27297C70-FAEC-DB4B-B0BE-5F485F535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5214609"/>
            <a:ext cx="46039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Nitrogen oxides 19.6 g</a:t>
            </a:r>
          </a:p>
        </p:txBody>
      </p:sp>
      <p:sp>
        <p:nvSpPr>
          <p:cNvPr id="77" name="Line 56">
            <a:extLst>
              <a:ext uri="{FF2B5EF4-FFF2-40B4-BE49-F238E27FC236}">
                <a16:creationId xmlns:a16="http://schemas.microsoft.com/office/drawing/2014/main" id="{127A268F-F5F7-8440-8ED2-F5FAC21C4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4653505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Line 57">
            <a:extLst>
              <a:ext uri="{FF2B5EF4-FFF2-40B4-BE49-F238E27FC236}">
                <a16:creationId xmlns:a16="http://schemas.microsoft.com/office/drawing/2014/main" id="{35E02431-43BA-1F48-94CC-103E672CB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73357" y="3273590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Line 57">
            <a:extLst>
              <a:ext uri="{FF2B5EF4-FFF2-40B4-BE49-F238E27FC236}">
                <a16:creationId xmlns:a16="http://schemas.microsoft.com/office/drawing/2014/main" id="{C3B25583-81D6-124B-94CA-16572926F5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73357" y="2930247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" name="Line 57">
            <a:extLst>
              <a:ext uri="{FF2B5EF4-FFF2-40B4-BE49-F238E27FC236}">
                <a16:creationId xmlns:a16="http://schemas.microsoft.com/office/drawing/2014/main" id="{A054CFE4-CC5E-B041-908D-CFCB1642ABB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1900218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" name="Line 57">
            <a:extLst>
              <a:ext uri="{FF2B5EF4-FFF2-40B4-BE49-F238E27FC236}">
                <a16:creationId xmlns:a16="http://schemas.microsoft.com/office/drawing/2014/main" id="{1CA06A34-8086-6A44-BD40-70DC29C03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2243561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Line 57">
            <a:extLst>
              <a:ext uri="{FF2B5EF4-FFF2-40B4-BE49-F238E27FC236}">
                <a16:creationId xmlns:a16="http://schemas.microsoft.com/office/drawing/2014/main" id="{0DCD30F9-8516-8C4A-AE9D-FFD1D2B6E1E0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2720" y="2586904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Text Box 59">
            <a:extLst>
              <a:ext uri="{FF2B5EF4-FFF2-40B4-BE49-F238E27FC236}">
                <a16:creationId xmlns:a16="http://schemas.microsoft.com/office/drawing/2014/main" id="{72AA96FC-354B-2F4E-9A67-461C9D576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3091078"/>
            <a:ext cx="34895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Carbon monoxide, biogenic 91.8 g</a:t>
            </a:r>
          </a:p>
        </p:txBody>
      </p:sp>
      <p:sp>
        <p:nvSpPr>
          <p:cNvPr id="84" name="Text Box 60">
            <a:extLst>
              <a:ext uri="{FF2B5EF4-FFF2-40B4-BE49-F238E27FC236}">
                <a16:creationId xmlns:a16="http://schemas.microsoft.com/office/drawing/2014/main" id="{1F31970C-142C-7842-8A66-37A07F670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007" y="1341404"/>
            <a:ext cx="460395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Heat, waste 66.6 MJ</a:t>
            </a:r>
            <a:endParaRPr lang="en-US" altLang="en-US" sz="16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85" name="Text Box 59">
            <a:extLst>
              <a:ext uri="{FF2B5EF4-FFF2-40B4-BE49-F238E27FC236}">
                <a16:creationId xmlns:a16="http://schemas.microsoft.com/office/drawing/2014/main" id="{3E13EAC7-4277-6841-B93E-4C135BA80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2760970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Carbon dioxide, fossil 9.40 kg</a:t>
            </a:r>
          </a:p>
        </p:txBody>
      </p:sp>
      <p:sp>
        <p:nvSpPr>
          <p:cNvPr id="86" name="Text Box 59">
            <a:extLst>
              <a:ext uri="{FF2B5EF4-FFF2-40B4-BE49-F238E27FC236}">
                <a16:creationId xmlns:a16="http://schemas.microsoft.com/office/drawing/2014/main" id="{F5ECB826-1248-FA4E-8E6C-C05186979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1712894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Arsenic 1.88 mg</a:t>
            </a:r>
          </a:p>
        </p:txBody>
      </p:sp>
      <p:sp>
        <p:nvSpPr>
          <p:cNvPr id="87" name="Text Box 59">
            <a:extLst>
              <a:ext uri="{FF2B5EF4-FFF2-40B4-BE49-F238E27FC236}">
                <a16:creationId xmlns:a16="http://schemas.microsoft.com/office/drawing/2014/main" id="{17727255-5844-134E-979D-8F4CBDF4D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2053438"/>
            <a:ext cx="34895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Arsenic, ion 44.0 mg</a:t>
            </a:r>
          </a:p>
        </p:txBody>
      </p:sp>
      <p:sp>
        <p:nvSpPr>
          <p:cNvPr id="88" name="Text Box 59">
            <a:extLst>
              <a:ext uri="{FF2B5EF4-FFF2-40B4-BE49-F238E27FC236}">
                <a16:creationId xmlns:a16="http://schemas.microsoft.com/office/drawing/2014/main" id="{479671E9-0450-7B4D-B10E-CF417C3D0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2416140"/>
            <a:ext cx="4025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Benzo[a]pyrene 2.74 mg</a:t>
            </a:r>
          </a:p>
        </p:txBody>
      </p:sp>
      <p:sp>
        <p:nvSpPr>
          <p:cNvPr id="89" name="Line 56">
            <a:extLst>
              <a:ext uri="{FF2B5EF4-FFF2-40B4-BE49-F238E27FC236}">
                <a16:creationId xmlns:a16="http://schemas.microsoft.com/office/drawing/2014/main" id="{45CCA929-8670-244D-9892-9607C50098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3616933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Text Box 60">
            <a:extLst>
              <a:ext uri="{FF2B5EF4-FFF2-40B4-BE49-F238E27FC236}">
                <a16:creationId xmlns:a16="http://schemas.microsoft.com/office/drawing/2014/main" id="{1963573A-8660-834E-AFAF-61DA19B86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3432746"/>
            <a:ext cx="17447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CFC-14 252 mg</a:t>
            </a:r>
            <a:endParaRPr lang="en-US" altLang="en-US" sz="16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91" name="Line 56">
            <a:extLst>
              <a:ext uri="{FF2B5EF4-FFF2-40B4-BE49-F238E27FC236}">
                <a16:creationId xmlns:a16="http://schemas.microsoft.com/office/drawing/2014/main" id="{5958F852-1B3F-F84F-B451-C04E7AD24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81295" y="3960276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Text Box 60">
            <a:extLst>
              <a:ext uri="{FF2B5EF4-FFF2-40B4-BE49-F238E27FC236}">
                <a16:creationId xmlns:a16="http://schemas.microsoft.com/office/drawing/2014/main" id="{E5BB7F3A-6D7E-B24B-B0CE-8466EF195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3782079"/>
            <a:ext cx="32120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Dioxins 1.74 ng</a:t>
            </a:r>
            <a:endParaRPr lang="en-US" altLang="en-US" sz="16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93" name="Line 56">
            <a:extLst>
              <a:ext uri="{FF2B5EF4-FFF2-40B4-BE49-F238E27FC236}">
                <a16:creationId xmlns:a16="http://schemas.microsoft.com/office/drawing/2014/main" id="{4DEF87BB-C8B4-4145-ABA8-DE23308ED85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81295" y="4303619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Text Box 60">
            <a:extLst>
              <a:ext uri="{FF2B5EF4-FFF2-40B4-BE49-F238E27FC236}">
                <a16:creationId xmlns:a16="http://schemas.microsoft.com/office/drawing/2014/main" id="{1792E6C0-B87C-D640-864E-8A429B166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4133792"/>
            <a:ext cx="24783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HFC-116 28.2 mg</a:t>
            </a:r>
            <a:endParaRPr lang="en-US" altLang="en-US" sz="16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pic>
        <p:nvPicPr>
          <p:cNvPr id="95" name="Picture 48">
            <a:extLst>
              <a:ext uri="{FF2B5EF4-FFF2-40B4-BE49-F238E27FC236}">
                <a16:creationId xmlns:a16="http://schemas.microsoft.com/office/drawing/2014/main" id="{04E3D824-320E-0240-83EC-A2856E13B0B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9506" y="3882877"/>
            <a:ext cx="1309687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Text Box 60">
            <a:extLst>
              <a:ext uri="{FF2B5EF4-FFF2-40B4-BE49-F238E27FC236}">
                <a16:creationId xmlns:a16="http://schemas.microsoft.com/office/drawing/2014/main" id="{6017A572-5419-D34F-A08B-A0D8BB619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4495300"/>
            <a:ext cx="28850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Hydrogen fluoride 676 mg</a:t>
            </a:r>
            <a:endParaRPr lang="en-US" altLang="en-US" sz="16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97" name="Line 57">
            <a:extLst>
              <a:ext uri="{FF2B5EF4-FFF2-40B4-BE49-F238E27FC236}">
                <a16:creationId xmlns:a16="http://schemas.microsoft.com/office/drawing/2014/main" id="{D5F02171-9408-814C-9A0D-DBF818406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5749204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Line 57">
            <a:extLst>
              <a:ext uri="{FF2B5EF4-FFF2-40B4-BE49-F238E27FC236}">
                <a16:creationId xmlns:a16="http://schemas.microsoft.com/office/drawing/2014/main" id="{0AFD67FC-C227-8949-A0DC-6672B043C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6071282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Line 57">
            <a:extLst>
              <a:ext uri="{FF2B5EF4-FFF2-40B4-BE49-F238E27FC236}">
                <a16:creationId xmlns:a16="http://schemas.microsoft.com/office/drawing/2014/main" id="{D053CBD0-5938-9A4B-A503-77DC63CA5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2720" y="6393360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Text Box 59">
            <a:extLst>
              <a:ext uri="{FF2B5EF4-FFF2-40B4-BE49-F238E27FC236}">
                <a16:creationId xmlns:a16="http://schemas.microsoft.com/office/drawing/2014/main" id="{07A55BF5-120C-EA43-9DCB-312A68454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5561880"/>
            <a:ext cx="30506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PAH 88.7 mg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 Box 59">
                <a:extLst>
                  <a:ext uri="{FF2B5EF4-FFF2-40B4-BE49-F238E27FC236}">
                    <a16:creationId xmlns:a16="http://schemas.microsoft.com/office/drawing/2014/main" id="{A0939B35-2D84-EE4C-9CD3-FBE36172B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91272" y="5902424"/>
                <a:ext cx="348952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9900"/>
                  </a:buClr>
                  <a:buChar char="•"/>
                  <a:defRPr sz="32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9900"/>
                  </a:buClr>
                  <a:buChar char="–"/>
                  <a:defRPr sz="28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9900"/>
                  </a:buClr>
                  <a:buChar char="•"/>
                  <a:defRPr sz="24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Char char="–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9900"/>
                  </a:buClr>
                  <a:buChar char="»"/>
                  <a:defRPr sz="2000" b="1">
                    <a:solidFill>
                      <a:srgbClr val="01035B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600" b="0" dirty="0">
                    <a:solidFill>
                      <a:schemeClr val="accent3"/>
                    </a:solidFill>
                    <a:cs typeface="Arial" panose="020B0604020202020204" pitchFamily="34" charset="0"/>
                  </a:rPr>
                  <a:t>Particulates, ,2.5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lang="en-US" altLang="en-US" sz="1600" b="0" dirty="0">
                    <a:solidFill>
                      <a:schemeClr val="accent3"/>
                    </a:solidFill>
                    <a:cs typeface="Arial" panose="020B0604020202020204" pitchFamily="34" charset="0"/>
                  </a:rPr>
                  <a:t>m 4.95 g</a:t>
                </a:r>
              </a:p>
            </p:txBody>
          </p:sp>
        </mc:Choice>
        <mc:Fallback xmlns="">
          <p:sp>
            <p:nvSpPr>
              <p:cNvPr id="101" name="Text Box 59">
                <a:extLst>
                  <a:ext uri="{FF2B5EF4-FFF2-40B4-BE49-F238E27FC236}">
                    <a16:creationId xmlns:a16="http://schemas.microsoft.com/office/drawing/2014/main" id="{A0939B35-2D84-EE4C-9CD3-FBE36172B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91272" y="5902424"/>
                <a:ext cx="3489527" cy="338554"/>
              </a:xfrm>
              <a:prstGeom prst="rect">
                <a:avLst/>
              </a:prstGeom>
              <a:blipFill>
                <a:blip r:embed="rId4"/>
                <a:stretch>
                  <a:fillRect l="-725" t="-3704" b="-259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 Box 59">
            <a:extLst>
              <a:ext uri="{FF2B5EF4-FFF2-40B4-BE49-F238E27FC236}">
                <a16:creationId xmlns:a16="http://schemas.microsoft.com/office/drawing/2014/main" id="{77DB9BFA-C105-DB46-AF95-63CEE1F51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272" y="6222596"/>
            <a:ext cx="4025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Sulfur dioxide 38.0 g</a:t>
            </a:r>
          </a:p>
        </p:txBody>
      </p:sp>
      <p:sp>
        <p:nvSpPr>
          <p:cNvPr id="103" name="Text Box 59">
            <a:extLst>
              <a:ext uri="{FF2B5EF4-FFF2-40B4-BE49-F238E27FC236}">
                <a16:creationId xmlns:a16="http://schemas.microsoft.com/office/drawing/2014/main" id="{0CFE35D7-BF24-1E42-B871-799778091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7" y="3534133"/>
            <a:ext cx="4516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Uranium in ground 58.3 mg</a:t>
            </a:r>
          </a:p>
        </p:txBody>
      </p:sp>
      <p:sp>
        <p:nvSpPr>
          <p:cNvPr id="104" name="Text Box 60">
            <a:extLst>
              <a:ext uri="{FF2B5EF4-FFF2-40B4-BE49-F238E27FC236}">
                <a16:creationId xmlns:a16="http://schemas.microsoft.com/office/drawing/2014/main" id="{4023F160-3690-8045-934B-B450FC919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783" y="3917470"/>
            <a:ext cx="5964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Aluminum in ground, </a:t>
            </a:r>
            <a:b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</a:b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24% in bauxite, 11% in crude ore 1.16 kg</a:t>
            </a:r>
            <a:endParaRPr lang="en-US" altLang="en-US" sz="1600" b="0" baseline="30000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105" name="Text Box 61">
            <a:extLst>
              <a:ext uri="{FF2B5EF4-FFF2-40B4-BE49-F238E27FC236}">
                <a16:creationId xmlns:a16="http://schemas.microsoft.com/office/drawing/2014/main" id="{CBE1CB2E-BF14-574D-8E73-2E8C31ABB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739" y="4750772"/>
            <a:ext cx="42299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600" b="0" dirty="0">
                <a:solidFill>
                  <a:schemeClr val="accent3"/>
                </a:solidFill>
                <a:cs typeface="Arial" panose="020B0604020202020204" pitchFamily="34" charset="0"/>
              </a:rPr>
              <a:t>Occupation, forest, intensive 0.101 m2a</a:t>
            </a:r>
          </a:p>
        </p:txBody>
      </p:sp>
      <p:sp>
        <p:nvSpPr>
          <p:cNvPr id="106" name="Line 57">
            <a:extLst>
              <a:ext uri="{FF2B5EF4-FFF2-40B4-BE49-F238E27FC236}">
                <a16:creationId xmlns:a16="http://schemas.microsoft.com/office/drawing/2014/main" id="{21601D6D-760E-3446-98EF-92F155C76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007" y="1496182"/>
            <a:ext cx="381000" cy="0"/>
          </a:xfrm>
          <a:prstGeom prst="line">
            <a:avLst/>
          </a:prstGeom>
          <a:noFill/>
          <a:ln w="25400">
            <a:solidFill>
              <a:schemeClr val="accent3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E7585-9834-5E43-BC2D-E23BE727D6B1}"/>
              </a:ext>
            </a:extLst>
          </p:cNvPr>
          <p:cNvSpPr/>
          <p:nvPr/>
        </p:nvSpPr>
        <p:spPr>
          <a:xfrm>
            <a:off x="1190847" y="6699094"/>
            <a:ext cx="14034976" cy="950400"/>
          </a:xfrm>
          <a:prstGeom prst="rect">
            <a:avLst/>
          </a:prstGeom>
          <a:noFill/>
          <a:ln w="317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 Box 59">
            <a:extLst>
              <a:ext uri="{FF2B5EF4-FFF2-40B4-BE49-F238E27FC236}">
                <a16:creationId xmlns:a16="http://schemas.microsoft.com/office/drawing/2014/main" id="{C6D53145-01D1-4541-A804-C5F752766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650" y="2708708"/>
            <a:ext cx="42299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spcBef>
                <a:spcPct val="0"/>
              </a:spcBef>
              <a:buClrTx/>
              <a:buFontTx/>
              <a:buNone/>
              <a:defRPr sz="1600" b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Hard coal in ground 2.01 kg</a:t>
            </a:r>
          </a:p>
        </p:txBody>
      </p:sp>
    </p:spTree>
    <p:extLst>
      <p:ext uri="{BB962C8B-B14F-4D97-AF65-F5344CB8AC3E}">
        <p14:creationId xmlns:p14="http://schemas.microsoft.com/office/powerpoint/2010/main" val="22953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Aggregated or unit processes in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3442" y="1405719"/>
            <a:ext cx="12320844" cy="637030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b="1" dirty="0">
                <a:solidFill>
                  <a:schemeClr val="tx2"/>
                </a:solidFill>
              </a:rPr>
              <a:t>The ecoinvent database </a:t>
            </a:r>
            <a:r>
              <a:rPr lang="en-US" dirty="0">
                <a:solidFill>
                  <a:schemeClr val="tx2"/>
                </a:solidFill>
              </a:rPr>
              <a:t>provides two types of data”</a:t>
            </a:r>
          </a:p>
          <a:p>
            <a:pPr marL="914400" lvl="1" indent="-457200"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2"/>
                </a:solidFill>
              </a:rPr>
              <a:t>the </a:t>
            </a:r>
            <a:r>
              <a:rPr lang="en-US" dirty="0">
                <a:solidFill>
                  <a:schemeClr val="accent5"/>
                </a:solidFill>
              </a:rPr>
              <a:t>direct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elementary flows and </a:t>
            </a:r>
            <a:r>
              <a:rPr lang="en-US" dirty="0">
                <a:solidFill>
                  <a:srgbClr val="407EC9"/>
                </a:solidFill>
              </a:rPr>
              <a:t>intermediary </a:t>
            </a:r>
            <a:r>
              <a:rPr lang="en-US" dirty="0">
                <a:solidFill>
                  <a:schemeClr val="tx2"/>
                </a:solidFill>
              </a:rPr>
              <a:t>at unit process level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>
                <a:solidFill>
                  <a:schemeClr val="accent5"/>
                </a:solidFill>
              </a:rPr>
              <a:t>U=UP level</a:t>
            </a:r>
            <a:r>
              <a:rPr lang="en-US" dirty="0">
                <a:solidFill>
                  <a:schemeClr val="tx2"/>
                </a:solidFill>
              </a:rPr>
              <a:t>), and</a:t>
            </a:r>
          </a:p>
          <a:p>
            <a:pPr marL="914400" lvl="1" indent="-457200"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tx2"/>
                </a:solidFill>
              </a:rPr>
              <a:t>the </a:t>
            </a:r>
            <a:r>
              <a:rPr lang="en-US" dirty="0">
                <a:solidFill>
                  <a:schemeClr val="accent5"/>
                </a:solidFill>
              </a:rPr>
              <a:t>aggregated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elementary flows </a:t>
            </a:r>
            <a:r>
              <a:rPr lang="en-US" dirty="0">
                <a:solidFill>
                  <a:schemeClr val="tx2"/>
                </a:solidFill>
              </a:rPr>
              <a:t>of a given product, summed up over the entire supply chain from “cradle to gate” (</a:t>
            </a:r>
            <a:r>
              <a:rPr lang="en-US" dirty="0">
                <a:solidFill>
                  <a:schemeClr val="accent5"/>
                </a:solidFill>
              </a:rPr>
              <a:t>S=system level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lang="en-US" dirty="0"/>
              <a:t>Many other databases only provide </a:t>
            </a:r>
            <a:r>
              <a:rPr lang="en-US" i="1" dirty="0">
                <a:solidFill>
                  <a:schemeClr val="accent5"/>
                </a:solidFill>
              </a:rPr>
              <a:t>aggregated flows </a:t>
            </a:r>
          </a:p>
          <a:p>
            <a:pPr>
              <a:spcBef>
                <a:spcPts val="0"/>
              </a:spcBef>
            </a:pPr>
            <a:r>
              <a:rPr lang="en-US" dirty="0"/>
              <a:t>Such aggregated inventory flows for different processes can be directly used to build the inventory of a new product that combines these different processes</a:t>
            </a:r>
            <a:r>
              <a:rPr lang="en-US" i="1" dirty="0"/>
              <a:t>.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7320C39-7715-0D4C-89A9-CF638F099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2578" y="1554575"/>
            <a:ext cx="1952300" cy="1340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3533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Summary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60404C-E3DD-DB44-9F60-421612D670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6812" y="1639843"/>
            <a:ext cx="14770868" cy="584547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inventory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phase of the LCA determines the </a:t>
            </a:r>
            <a:r>
              <a:rPr lang="en-US" sz="28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elementary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flows or emissions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and extractions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per functional unit, accounting for all processes contributing to the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project function.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800" dirty="0">
                <a:solidFill>
                  <a:srgbClr val="0103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</a:t>
            </a:r>
            <a:r>
              <a:rPr lang="en-US" sz="2800" dirty="0">
                <a:solidFill>
                  <a:srgbClr val="0103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calculated by multiplying the </a:t>
            </a:r>
            <a:r>
              <a:rPr lang="en-US" sz="2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intermediary</a:t>
            </a:r>
            <a:r>
              <a:rPr lang="en-US" sz="2800" dirty="0">
                <a:solidFill>
                  <a:srgbClr val="0103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per FU</a:t>
            </a:r>
            <a:r>
              <a:rPr lang="en-US" sz="2800" dirty="0">
                <a:solidFill>
                  <a:srgbClr val="0103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each unit process by the </a:t>
            </a:r>
            <a:r>
              <a:rPr lang="en-US" sz="2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</a:t>
            </a:r>
            <a:r>
              <a:rPr lang="en-US" sz="28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103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emissions and extractions factors or </a:t>
            </a:r>
            <a:r>
              <a:rPr lang="en-US" sz="28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elementary </a:t>
            </a:r>
            <a:r>
              <a:rPr lang="en-US" sz="2800" dirty="0">
                <a:solidFill>
                  <a:srgbClr val="0103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flows per unit of this same UP.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800" dirty="0">
                <a:solidFill>
                  <a:srgbClr val="0103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important to distinguish </a:t>
            </a:r>
            <a:r>
              <a:rPr lang="en-US" altLang="en-US" sz="2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process level 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data that encompass both </a:t>
            </a:r>
            <a:r>
              <a:rPr lang="en-US" altLang="en-US" sz="2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intermediary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elementary flows, 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en-US" sz="2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level 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data that have already </a:t>
            </a:r>
            <a:r>
              <a:rPr lang="en-US" altLang="en-US" sz="28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aggregated</a:t>
            </a:r>
            <a:r>
              <a:rPr lang="en-US" altLang="en-US" sz="28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elementary flows 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the product system supply chain, from cradle to gate.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alt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Collecting primary </a:t>
            </a:r>
            <a:r>
              <a:rPr lang="en-US" altLang="en-US" sz="2800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data </a:t>
            </a:r>
            <a:r>
              <a:rPr lang="en-US" alt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intermediary and elementary flows is hard work!</a:t>
            </a:r>
          </a:p>
        </p:txBody>
      </p:sp>
    </p:spTree>
    <p:extLst>
      <p:ext uri="{BB962C8B-B14F-4D97-AF65-F5344CB8AC3E}">
        <p14:creationId xmlns:p14="http://schemas.microsoft.com/office/powerpoint/2010/main" val="341613791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18944</TotalTime>
  <Words>2042</Words>
  <Application>Microsoft Office PowerPoint</Application>
  <PresentationFormat>Custom</PresentationFormat>
  <Paragraphs>444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Cambria Math</vt:lpstr>
      <vt:lpstr>Courier New</vt:lpstr>
      <vt:lpstr>Times New Roman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Building the inventory: stepwise procedure</vt:lpstr>
      <vt:lpstr>1. Find the emission and extraction factors: Aluminum primary liquid</vt:lpstr>
      <vt:lpstr>Design of process tree: Fill in each box with the process amount per FU</vt:lpstr>
      <vt:lpstr>1. Find the emission and extraction factors: Aluminum primary liquid</vt:lpstr>
      <vt:lpstr>1. Find the emission and extraction factors: Aluminum primary liquid</vt:lpstr>
      <vt:lpstr>1. Find the emission and extraction factor: repeat for all UP</vt:lpstr>
      <vt:lpstr>2. Identify the intermediary flows per functional unit (FU) for all UPs</vt:lpstr>
      <vt:lpstr>3. Combine intermediary and elementary flows for each UP</vt:lpstr>
      <vt:lpstr>4. Calculate the aggregated inventory flows of the total system per FU </vt:lpstr>
      <vt:lpstr>4. Aggregated inventory: aluminum primary liquid</vt:lpstr>
      <vt:lpstr>4. Aggregated inventory: aluminum primary liquid</vt:lpstr>
      <vt:lpstr>4. Aggregated inventory: aluminum primary liquid</vt:lpstr>
      <vt:lpstr>Aggregated or unit processes in databases</vt:lpstr>
      <vt:lpstr>Summary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Olivier Jolliet</cp:lastModifiedBy>
  <cp:revision>760</cp:revision>
  <cp:lastPrinted>2020-03-06T14:51:20Z</cp:lastPrinted>
  <dcterms:created xsi:type="dcterms:W3CDTF">2017-01-17T22:07:36Z</dcterms:created>
  <dcterms:modified xsi:type="dcterms:W3CDTF">2020-11-24T17:26:38Z</dcterms:modified>
  <cp:category/>
</cp:coreProperties>
</file>