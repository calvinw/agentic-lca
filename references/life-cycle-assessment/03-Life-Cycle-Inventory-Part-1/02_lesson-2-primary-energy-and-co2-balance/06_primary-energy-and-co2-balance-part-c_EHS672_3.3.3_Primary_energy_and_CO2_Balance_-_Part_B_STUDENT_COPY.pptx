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7" r:id="rId1"/>
    <p:sldMasterId id="2147483785" r:id="rId2"/>
    <p:sldMasterId id="2147483806" r:id="rId3"/>
    <p:sldMasterId id="2147483808" r:id="rId4"/>
    <p:sldMasterId id="2147483796" r:id="rId5"/>
  </p:sldMasterIdLst>
  <p:notesMasterIdLst>
    <p:notesMasterId r:id="rId13"/>
  </p:notesMasterIdLst>
  <p:handoutMasterIdLst>
    <p:handoutMasterId r:id="rId14"/>
  </p:handoutMasterIdLst>
  <p:sldIdLst>
    <p:sldId id="535" r:id="rId6"/>
    <p:sldId id="522" r:id="rId7"/>
    <p:sldId id="520" r:id="rId8"/>
    <p:sldId id="531" r:id="rId9"/>
    <p:sldId id="517" r:id="rId10"/>
    <p:sldId id="532" r:id="rId11"/>
    <p:sldId id="538" r:id="rId12"/>
  </p:sldIdLst>
  <p:sldSz cx="16257588" cy="9144000"/>
  <p:notesSz cx="6858000" cy="9144000"/>
  <p:defaultTextStyle>
    <a:defPPr>
      <a:defRPr lang="en-US"/>
    </a:defPPr>
    <a:lvl1pPr marL="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1pPr>
    <a:lvl2pPr marL="81281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2pPr>
    <a:lvl3pPr marL="162562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3pPr>
    <a:lvl4pPr marL="243843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4pPr>
    <a:lvl5pPr marL="325124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5pPr>
    <a:lvl6pPr marL="406405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487686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568967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650248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cture slides" id="{C7F91DBA-90A9-5343-8B43-F0D96459C604}">
          <p14:sldIdLst>
            <p14:sldId id="535"/>
            <p14:sldId id="522"/>
            <p14:sldId id="520"/>
            <p14:sldId id="531"/>
            <p14:sldId id="517"/>
            <p14:sldId id="532"/>
            <p14:sldId id="5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216" userDrawn="1">
          <p15:clr>
            <a:srgbClr val="A4A3A4"/>
          </p15:clr>
        </p15:guide>
        <p15:guide id="2" pos="5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F92"/>
    <a:srgbClr val="00274C"/>
    <a:srgbClr val="E4E1DF"/>
    <a:srgbClr val="B5B5B5"/>
    <a:srgbClr val="050909"/>
    <a:srgbClr val="FFCB05"/>
    <a:srgbClr val="EA6A20"/>
    <a:srgbClr val="06090A"/>
    <a:srgbClr val="090B0B"/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285"/>
    <p:restoredTop sz="80959"/>
  </p:normalViewPr>
  <p:slideViewPr>
    <p:cSldViewPr snapToGrid="0">
      <p:cViewPr varScale="1">
        <p:scale>
          <a:sx n="45" d="100"/>
          <a:sy n="45" d="100"/>
        </p:scale>
        <p:origin x="528" y="43"/>
      </p:cViewPr>
      <p:guideLst>
        <p:guide orient="horz" pos="3216"/>
        <p:guide pos="5120"/>
      </p:guideLst>
    </p:cSldViewPr>
  </p:slid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1" d="100"/>
          <a:sy n="131" d="100"/>
        </p:scale>
        <p:origin x="515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D32C488-5493-244C-B1EB-F7CF3662E0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AD1453-9CD9-5640-A3F8-C0F3421BFA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623C7-AC5F-3A41-B4CB-88972659BBB1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4A9942-DAC7-014E-98D2-7E2678599F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1CB1E6-A261-2741-AFAE-436A65E0D5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EC83E3-4C2A-B644-AB75-B8266C440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1617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733527-EF9E-5940-92CE-307645268EE1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3DB68-E51C-0443-B8CE-2997CF470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93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603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b="0" kern="1200" baseline="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545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090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92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732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7620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79475" y="1405719"/>
            <a:ext cx="14630400" cy="637350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959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94A1462-55F6-494B-8554-951DED06E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783" y="386862"/>
            <a:ext cx="14631828" cy="7389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4544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79475" y="1405719"/>
            <a:ext cx="14630400" cy="637350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8806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notes (not to be 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581665" y="1301578"/>
            <a:ext cx="13007546" cy="58076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7414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27000">
              <a:srgbClr val="ECECEC"/>
            </a:gs>
            <a:gs pos="80000">
              <a:schemeClr val="bg1"/>
            </a:gs>
            <a:gs pos="2000">
              <a:schemeClr val="bg1">
                <a:lumMod val="50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F79A2DE-44A3-E846-BDE0-2432CDF19E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3957" y="0"/>
            <a:ext cx="16271545" cy="7776028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0" y="7674428"/>
            <a:ext cx="16257588" cy="1469571"/>
          </a:xfrm>
          <a:prstGeom prst="rect">
            <a:avLst/>
          </a:prstGeom>
          <a:solidFill>
            <a:srgbClr val="00274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M_SchoolPublicHealth_logo_white.png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9986" y="8007770"/>
            <a:ext cx="5372640" cy="76752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0" y="7623628"/>
            <a:ext cx="16257588" cy="15240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A01CEF-1B1A-0A48-82FA-0DF2D06BC503}"/>
              </a:ext>
            </a:extLst>
          </p:cNvPr>
          <p:cNvSpPr/>
          <p:nvPr userDrawn="1"/>
        </p:nvSpPr>
        <p:spPr>
          <a:xfrm>
            <a:off x="0" y="4767944"/>
            <a:ext cx="16257588" cy="2846366"/>
          </a:xfrm>
          <a:prstGeom prst="rect">
            <a:avLst/>
          </a:prstGeom>
          <a:gradFill flip="none" rotWithShape="1">
            <a:gsLst>
              <a:gs pos="100000">
                <a:srgbClr val="587ABC">
                  <a:lumMod val="74000"/>
                  <a:alpha val="55000"/>
                </a:srgbClr>
              </a:gs>
              <a:gs pos="0">
                <a:schemeClr val="bg1">
                  <a:lumMod val="95000"/>
                </a:schemeClr>
              </a:gs>
              <a:gs pos="66000">
                <a:srgbClr val="EEEEEE"/>
              </a:gs>
            </a:gsLst>
            <a:lin ang="12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F38555-B398-464F-9B4E-17CD401959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hqprint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3957" y="4757918"/>
            <a:ext cx="12192001" cy="289111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3F0919A-AFA5-E147-95FD-08292D7FF4FB}"/>
              </a:ext>
            </a:extLst>
          </p:cNvPr>
          <p:cNvCxnSpPr>
            <a:cxnSpLocks/>
          </p:cNvCxnSpPr>
          <p:nvPr userDrawn="1"/>
        </p:nvCxnSpPr>
        <p:spPr>
          <a:xfrm>
            <a:off x="0" y="6607960"/>
            <a:ext cx="10140043" cy="0"/>
          </a:xfrm>
          <a:prstGeom prst="line">
            <a:avLst/>
          </a:prstGeom>
          <a:ln w="38100">
            <a:solidFill>
              <a:srgbClr val="0027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5ED9A923-5028-2F43-A7E3-007357342122}"/>
              </a:ext>
            </a:extLst>
          </p:cNvPr>
          <p:cNvSpPr/>
          <p:nvPr userDrawn="1"/>
        </p:nvSpPr>
        <p:spPr>
          <a:xfrm>
            <a:off x="0" y="4550950"/>
            <a:ext cx="16257588" cy="224918"/>
          </a:xfrm>
          <a:prstGeom prst="rect">
            <a:avLst/>
          </a:prstGeom>
          <a:gradFill>
            <a:gsLst>
              <a:gs pos="63000">
                <a:schemeClr val="bg1"/>
              </a:gs>
              <a:gs pos="0">
                <a:srgbClr val="587ABC"/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15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78783" y="1405719"/>
            <a:ext cx="14631828" cy="6370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878783" y="272169"/>
            <a:ext cx="14631828" cy="8703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D8E102-C795-3941-9125-C4D5BBD0193F}"/>
              </a:ext>
            </a:extLst>
          </p:cNvPr>
          <p:cNvSpPr/>
          <p:nvPr userDrawn="1"/>
        </p:nvSpPr>
        <p:spPr>
          <a:xfrm>
            <a:off x="0" y="0"/>
            <a:ext cx="16257588" cy="224918"/>
          </a:xfrm>
          <a:prstGeom prst="rect">
            <a:avLst/>
          </a:prstGeom>
          <a:gradFill>
            <a:gsLst>
              <a:gs pos="63000">
                <a:srgbClr val="00274C"/>
              </a:gs>
              <a:gs pos="0">
                <a:srgbClr val="587ABC"/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B45DA2-7C42-8445-AD00-272875B751FD}"/>
              </a:ext>
            </a:extLst>
          </p:cNvPr>
          <p:cNvCxnSpPr>
            <a:cxnSpLocks/>
          </p:cNvCxnSpPr>
          <p:nvPr userDrawn="1"/>
        </p:nvCxnSpPr>
        <p:spPr>
          <a:xfrm>
            <a:off x="1023582" y="1210794"/>
            <a:ext cx="14343797" cy="0"/>
          </a:xfrm>
          <a:prstGeom prst="line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F1E5EF9-7466-AC4A-8B9B-8C26E6EB2668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E2D098-25F8-1B47-A897-734EE7598560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842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E75BEE-68E8-7E41-9537-113B0DA1B9A2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EABBCB0-652C-4D4B-9603-135F326E9486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3FF513C8-0BD3-FA4B-8D9A-FB9C21ECB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8783" y="386862"/>
            <a:ext cx="14631828" cy="7389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2599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78783" y="1405719"/>
            <a:ext cx="9489860" cy="6370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878783" y="272169"/>
            <a:ext cx="9489860" cy="8703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C5F1F8-1280-884E-8894-968C107F09E4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80828F-C4E5-CD4A-8C1F-761E9B421162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462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2084172" y="1066154"/>
            <a:ext cx="12002531" cy="580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	Edit Master text styles</a:t>
            </a:r>
          </a:p>
          <a:p>
            <a:pPr lvl="2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530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None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None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DCE93A83-2E66-F74F-A5CD-47D28E6C7BC3}"/>
              </a:ext>
            </a:extLst>
          </p:cNvPr>
          <p:cNvSpPr txBox="1">
            <a:spLocks/>
          </p:cNvSpPr>
          <p:nvPr/>
        </p:nvSpPr>
        <p:spPr>
          <a:xfrm>
            <a:off x="440871" y="5058674"/>
            <a:ext cx="14799129" cy="1282491"/>
          </a:xfrm>
          <a:prstGeom prst="rect">
            <a:avLst/>
          </a:prstGeom>
        </p:spPr>
        <p:txBody>
          <a:bodyPr anchor="t">
            <a:normAutofit fontScale="92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5400" b="1" dirty="0"/>
              <a:t>Primary energy and CO</a:t>
            </a:r>
            <a:r>
              <a:rPr lang="en-US" altLang="en-US" sz="5400" b="1" baseline="-25000" dirty="0"/>
              <a:t>2</a:t>
            </a:r>
            <a:r>
              <a:rPr lang="en-US" altLang="en-US" sz="5400" b="1" dirty="0"/>
              <a:t> balance: </a:t>
            </a:r>
            <a:r>
              <a:rPr lang="en-US" sz="2800" b="1" dirty="0"/>
              <a:t/>
            </a:r>
            <a:br>
              <a:rPr lang="en-US" sz="2800" b="1" dirty="0"/>
            </a:br>
            <a:r>
              <a:rPr lang="en-US" altLang="en-US" sz="3900" b="1" dirty="0">
                <a:solidFill>
                  <a:schemeClr val="accent5"/>
                </a:solidFill>
              </a:rPr>
              <a:t>Part B data check  gCO</a:t>
            </a:r>
            <a:r>
              <a:rPr lang="en-US" altLang="en-US" sz="3900" b="1" baseline="-25000" dirty="0">
                <a:solidFill>
                  <a:schemeClr val="accent5"/>
                </a:solidFill>
              </a:rPr>
              <a:t>2</a:t>
            </a:r>
            <a:r>
              <a:rPr lang="en-US" altLang="en-US" sz="3900" b="1" dirty="0">
                <a:solidFill>
                  <a:schemeClr val="accent5"/>
                </a:solidFill>
              </a:rPr>
              <a:t> per MJ primary energy</a:t>
            </a:r>
            <a:endParaRPr lang="en-US" altLang="en-US" sz="3900" b="1" kern="0" dirty="0">
              <a:solidFill>
                <a:schemeClr val="accent5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0B5F09-AA9C-0C49-A705-E3ECF1BA7055}"/>
              </a:ext>
            </a:extLst>
          </p:cNvPr>
          <p:cNvSpPr txBox="1"/>
          <p:nvPr/>
        </p:nvSpPr>
        <p:spPr>
          <a:xfrm>
            <a:off x="440871" y="6790584"/>
            <a:ext cx="302198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Olivier Jolliet, PhD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980336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US" altLang="en-US" dirty="0"/>
              <a:t>H:C ratio and CO</a:t>
            </a:r>
            <a:r>
              <a:rPr lang="en-US" altLang="en-US" baseline="-25000" dirty="0"/>
              <a:t>2</a:t>
            </a:r>
            <a:r>
              <a:rPr lang="en-US" altLang="en-US" dirty="0"/>
              <a:t> emissions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D706CA2A-C055-4245-8A3E-A5D12A1FB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78958" y="1367682"/>
            <a:ext cx="4131079" cy="623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6">
            <a:extLst>
              <a:ext uri="{FF2B5EF4-FFF2-40B4-BE49-F238E27FC236}">
                <a16:creationId xmlns:a16="http://schemas.microsoft.com/office/drawing/2014/main" id="{2EB6B3FC-5DB4-7048-806C-FACE274FEC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5482" y="2470357"/>
            <a:ext cx="6843148" cy="403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chemeClr val="tx2"/>
                </a:solidFill>
              </a:rPr>
              <a:t>Energy content </a:t>
            </a:r>
            <a:r>
              <a:rPr lang="en-US" altLang="en-US" b="0" dirty="0">
                <a:solidFill>
                  <a:schemeClr val="tx2"/>
                </a:solidFill>
              </a:rPr>
              <a:t>is associated with the </a:t>
            </a:r>
            <a:r>
              <a:rPr lang="en-US" altLang="en-US" b="0" i="1" dirty="0">
                <a:solidFill>
                  <a:schemeClr val="tx2"/>
                </a:solidFill>
              </a:rPr>
              <a:t>number of H </a:t>
            </a:r>
            <a:r>
              <a:rPr lang="en-US" altLang="en-US" b="0" dirty="0">
                <a:solidFill>
                  <a:schemeClr val="tx2"/>
                </a:solidFill>
              </a:rPr>
              <a:t>- liaisons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b="0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chemeClr val="tx2"/>
                </a:solidFill>
              </a:rPr>
              <a:t>Carbon emissions </a:t>
            </a:r>
            <a:r>
              <a:rPr lang="en-US" altLang="en-US" b="0" dirty="0">
                <a:solidFill>
                  <a:schemeClr val="tx2"/>
                </a:solidFill>
              </a:rPr>
              <a:t>is associated with the </a:t>
            </a:r>
            <a:r>
              <a:rPr lang="en-US" altLang="en-US" b="0" i="1" dirty="0">
                <a:solidFill>
                  <a:schemeClr val="tx2"/>
                </a:solidFill>
              </a:rPr>
              <a:t>number of C </a:t>
            </a:r>
            <a:r>
              <a:rPr lang="en-US" altLang="en-US" b="0" dirty="0">
                <a:solidFill>
                  <a:schemeClr val="tx2"/>
                </a:solidFill>
              </a:rPr>
              <a:t>atoms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b="0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b="0" dirty="0">
                <a:solidFill>
                  <a:schemeClr val="tx2"/>
                </a:solidFill>
              </a:rPr>
              <a:t>The ratio of CO</a:t>
            </a:r>
            <a:r>
              <a:rPr lang="en-US" altLang="en-US" b="0" baseline="-25000" dirty="0">
                <a:solidFill>
                  <a:schemeClr val="tx2"/>
                </a:solidFill>
              </a:rPr>
              <a:t>2</a:t>
            </a:r>
            <a:r>
              <a:rPr lang="en-US" altLang="en-US" b="0" dirty="0">
                <a:solidFill>
                  <a:schemeClr val="tx2"/>
                </a:solidFill>
              </a:rPr>
              <a:t>emission/MJ energy is associated with </a:t>
            </a:r>
            <a:r>
              <a:rPr lang="en-US" altLang="en-US" b="0" i="1" dirty="0">
                <a:solidFill>
                  <a:schemeClr val="tx2"/>
                </a:solidFill>
              </a:rPr>
              <a:t>the ratio of H to C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09BAD68-4DFE-DC44-B9F9-CD50F4ADE2D8}"/>
              </a:ext>
            </a:extLst>
          </p:cNvPr>
          <p:cNvSpPr/>
          <p:nvPr/>
        </p:nvSpPr>
        <p:spPr>
          <a:xfrm>
            <a:off x="963391" y="1483423"/>
            <a:ext cx="511438" cy="511438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98386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US" altLang="en-US" dirty="0"/>
              <a:t>Carbon emissions per unit energy consumption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38" name="Picture 3">
            <a:extLst>
              <a:ext uri="{FF2B5EF4-FFF2-40B4-BE49-F238E27FC236}">
                <a16:creationId xmlns:a16="http://schemas.microsoft.com/office/drawing/2014/main" id="{918973EB-6EF3-2C4C-8E48-D2CE6D1464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-60000">
            <a:off x="3419355" y="1407880"/>
            <a:ext cx="8461692" cy="606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6E99A9-6078-D74F-B799-0B84FBB978D5}"/>
              </a:ext>
            </a:extLst>
          </p:cNvPr>
          <p:cNvSpPr txBox="1"/>
          <p:nvPr/>
        </p:nvSpPr>
        <p:spPr>
          <a:xfrm>
            <a:off x="11736898" y="7392692"/>
            <a:ext cx="3707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Nakicenovic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N. and John, A. (1991)</a:t>
            </a:r>
          </a:p>
        </p:txBody>
      </p:sp>
    </p:spTree>
    <p:extLst>
      <p:ext uri="{BB962C8B-B14F-4D97-AF65-F5344CB8AC3E}">
        <p14:creationId xmlns:p14="http://schemas.microsoft.com/office/powerpoint/2010/main" val="3763457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21D3B-11C1-094C-BA45-77000CB5A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>
                <a:solidFill>
                  <a:schemeClr val="tx2"/>
                </a:solidFill>
              </a:rPr>
              <a:t>Checking</a:t>
            </a:r>
            <a:r>
              <a:rPr lang="en-US" altLang="en-US" sz="3800" dirty="0"/>
              <a:t> your data: g CO</a:t>
            </a:r>
            <a:r>
              <a:rPr lang="en-US" altLang="en-US" sz="3800" baseline="-25000" dirty="0"/>
              <a:t>2</a:t>
            </a:r>
            <a:r>
              <a:rPr lang="en-US" altLang="en-US" sz="3800" dirty="0"/>
              <a:t> per MJ non renewable primary energy</a:t>
            </a:r>
            <a:endParaRPr lang="en-US" sz="38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84A003F-784D-EA40-8813-375766E63694}"/>
              </a:ext>
            </a:extLst>
          </p:cNvPr>
          <p:cNvGrpSpPr/>
          <p:nvPr/>
        </p:nvGrpSpPr>
        <p:grpSpPr>
          <a:xfrm>
            <a:off x="2541119" y="1142554"/>
            <a:ext cx="10120996" cy="6293743"/>
            <a:chOff x="3185651" y="1420505"/>
            <a:chExt cx="8820150" cy="5484812"/>
          </a:xfrm>
        </p:grpSpPr>
        <p:pic>
          <p:nvPicPr>
            <p:cNvPr id="44" name="Picture 3">
              <a:extLst>
                <a:ext uri="{FF2B5EF4-FFF2-40B4-BE49-F238E27FC236}">
                  <a16:creationId xmlns:a16="http://schemas.microsoft.com/office/drawing/2014/main" id="{AD1B80A2-2F1E-AA44-9EBA-18078E4BE8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185651" y="1420505"/>
              <a:ext cx="8820150" cy="5484812"/>
            </a:xfrm>
            <a:prstGeom prst="rect">
              <a:avLst/>
            </a:prstGeom>
            <a:noFill/>
          </p:spPr>
        </p:pic>
        <p:sp>
          <p:nvSpPr>
            <p:cNvPr id="45" name="Text Box 4">
              <a:extLst>
                <a:ext uri="{FF2B5EF4-FFF2-40B4-BE49-F238E27FC236}">
                  <a16:creationId xmlns:a16="http://schemas.microsoft.com/office/drawing/2014/main" id="{87D07FC4-2EC5-4644-903B-35F276C7A1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4851" y="2376180"/>
              <a:ext cx="928688" cy="27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b="0" baseline="-25000">
                  <a:solidFill>
                    <a:srgbClr val="000000"/>
                  </a:solidFill>
                </a:rPr>
                <a:t>Concrete   </a:t>
              </a:r>
            </a:p>
          </p:txBody>
        </p:sp>
        <p:sp>
          <p:nvSpPr>
            <p:cNvPr id="46" name="Text Box 5">
              <a:extLst>
                <a:ext uri="{FF2B5EF4-FFF2-40B4-BE49-F238E27FC236}">
                  <a16:creationId xmlns:a16="http://schemas.microsoft.com/office/drawing/2014/main" id="{46D23382-9A46-B043-9A6D-483EA69E7E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4051" y="1779280"/>
              <a:ext cx="758825" cy="27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b="0" baseline="-25000">
                  <a:solidFill>
                    <a:srgbClr val="000000"/>
                  </a:solidFill>
                </a:rPr>
                <a:t>Cement </a:t>
              </a:r>
            </a:p>
          </p:txBody>
        </p:sp>
        <p:sp>
          <p:nvSpPr>
            <p:cNvPr id="47" name="Text Box 6">
              <a:extLst>
                <a:ext uri="{FF2B5EF4-FFF2-40B4-BE49-F238E27FC236}">
                  <a16:creationId xmlns:a16="http://schemas.microsoft.com/office/drawing/2014/main" id="{EB018437-37E3-8F42-9C60-90263BE8B7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68664" y="3592205"/>
              <a:ext cx="684212" cy="2905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b="0" baseline="-25000">
                  <a:solidFill>
                    <a:srgbClr val="000000"/>
                  </a:solidFill>
                </a:rPr>
                <a:t>Mortar </a:t>
              </a:r>
            </a:p>
          </p:txBody>
        </p:sp>
        <p:sp>
          <p:nvSpPr>
            <p:cNvPr id="48" name="Text Box 7">
              <a:extLst>
                <a:ext uri="{FF2B5EF4-FFF2-40B4-BE49-F238E27FC236}">
                  <a16:creationId xmlns:a16="http://schemas.microsoft.com/office/drawing/2014/main" id="{E1C439E4-75BC-C645-8CCD-E306403423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5664" y="4633605"/>
              <a:ext cx="1081087" cy="4889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b="0" baseline="-25000">
                  <a:solidFill>
                    <a:srgbClr val="000000"/>
                  </a:solidFill>
                </a:rPr>
                <a:t>Bio-based materials</a:t>
              </a:r>
            </a:p>
          </p:txBody>
        </p:sp>
        <p:sp>
          <p:nvSpPr>
            <p:cNvPr id="49" name="Text Box 8">
              <a:extLst>
                <a:ext uri="{FF2B5EF4-FFF2-40B4-BE49-F238E27FC236}">
                  <a16:creationId xmlns:a16="http://schemas.microsoft.com/office/drawing/2014/main" id="{5BF55950-946C-0D45-9BD7-22A30FE2CC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6751" y="5122555"/>
              <a:ext cx="684213" cy="2905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b="0" baseline="-25000">
                  <a:solidFill>
                    <a:srgbClr val="000000"/>
                  </a:solidFill>
                </a:rPr>
                <a:t>Metals</a:t>
              </a:r>
            </a:p>
          </p:txBody>
        </p:sp>
        <p:sp>
          <p:nvSpPr>
            <p:cNvPr id="50" name="Text Box 9">
              <a:extLst>
                <a:ext uri="{FF2B5EF4-FFF2-40B4-BE49-F238E27FC236}">
                  <a16:creationId xmlns:a16="http://schemas.microsoft.com/office/drawing/2014/main" id="{C467DB4D-893F-DA41-A370-2BE8E7D382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0964" y="5132305"/>
              <a:ext cx="989012" cy="4380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b="0" baseline="-25000" dirty="0">
                  <a:solidFill>
                    <a:srgbClr val="000000"/>
                  </a:solidFill>
                </a:rPr>
                <a:t>Oil-based materials</a:t>
              </a:r>
            </a:p>
          </p:txBody>
        </p:sp>
        <p:sp>
          <p:nvSpPr>
            <p:cNvPr id="51" name="Text Box 10">
              <a:extLst>
                <a:ext uri="{FF2B5EF4-FFF2-40B4-BE49-F238E27FC236}">
                  <a16:creationId xmlns:a16="http://schemas.microsoft.com/office/drawing/2014/main" id="{60CFE56C-B048-0443-8DB9-BC3F87718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9976" y="5027305"/>
              <a:ext cx="684213" cy="4889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b="0" baseline="-25000">
                  <a:solidFill>
                    <a:srgbClr val="000000"/>
                  </a:solidFill>
                </a:rPr>
                <a:t>Glass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2000" b="0" baseline="-25000">
                <a:solidFill>
                  <a:srgbClr val="000000"/>
                </a:solidFill>
              </a:endParaRPr>
            </a:p>
          </p:txBody>
        </p:sp>
        <p:sp>
          <p:nvSpPr>
            <p:cNvPr id="52" name="Text Box 11">
              <a:extLst>
                <a:ext uri="{FF2B5EF4-FFF2-40B4-BE49-F238E27FC236}">
                  <a16:creationId xmlns:a16="http://schemas.microsoft.com/office/drawing/2014/main" id="{DE84B936-8A41-B143-A70D-42A6530EED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73539" y="4538355"/>
              <a:ext cx="804862" cy="2905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b="0" baseline="-25000">
                  <a:solidFill>
                    <a:srgbClr val="000000"/>
                  </a:solidFill>
                </a:rPr>
                <a:t>Coal    </a:t>
              </a:r>
            </a:p>
          </p:txBody>
        </p:sp>
        <p:sp>
          <p:nvSpPr>
            <p:cNvPr id="53" name="Text Box 12">
              <a:extLst>
                <a:ext uri="{FF2B5EF4-FFF2-40B4-BE49-F238E27FC236}">
                  <a16:creationId xmlns:a16="http://schemas.microsoft.com/office/drawing/2014/main" id="{DC39E2D4-177C-A143-929D-AB09A95DA6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75201" y="4947791"/>
              <a:ext cx="604837" cy="2975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b="0" baseline="-25000" dirty="0">
                  <a:solidFill>
                    <a:srgbClr val="000000"/>
                  </a:solidFill>
                </a:rPr>
                <a:t>Oil   </a:t>
              </a:r>
            </a:p>
          </p:txBody>
        </p:sp>
        <p:sp>
          <p:nvSpPr>
            <p:cNvPr id="54" name="Text Box 13">
              <a:extLst>
                <a:ext uri="{FF2B5EF4-FFF2-40B4-BE49-F238E27FC236}">
                  <a16:creationId xmlns:a16="http://schemas.microsoft.com/office/drawing/2014/main" id="{F489E824-A015-8447-84AF-F7E6009EF8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92764" y="4582965"/>
              <a:ext cx="1220787" cy="259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b="0" baseline="-25000" dirty="0">
                  <a:solidFill>
                    <a:srgbClr val="000000"/>
                  </a:solidFill>
                </a:rPr>
                <a:t>Hydraulic</a:t>
              </a:r>
            </a:p>
          </p:txBody>
        </p:sp>
        <p:sp>
          <p:nvSpPr>
            <p:cNvPr id="55" name="Text Box 14">
              <a:extLst>
                <a:ext uri="{FF2B5EF4-FFF2-40B4-BE49-F238E27FC236}">
                  <a16:creationId xmlns:a16="http://schemas.microsoft.com/office/drawing/2014/main" id="{E91BD1E5-07E7-4449-9F27-62C3EF0D88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21251" y="5225742"/>
              <a:ext cx="674688" cy="2905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b="0" baseline="-25000">
                  <a:solidFill>
                    <a:srgbClr val="000000"/>
                  </a:solidFill>
                </a:rPr>
                <a:t>Gas</a:t>
              </a:r>
            </a:p>
          </p:txBody>
        </p:sp>
        <p:sp>
          <p:nvSpPr>
            <p:cNvPr id="56" name="Text Box 15">
              <a:extLst>
                <a:ext uri="{FF2B5EF4-FFF2-40B4-BE49-F238E27FC236}">
                  <a16:creationId xmlns:a16="http://schemas.microsoft.com/office/drawing/2014/main" id="{CDBBDA55-CD85-8147-ACD9-D0206B87A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73701" y="5189230"/>
              <a:ext cx="674688" cy="2905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b="0" baseline="-25000">
                  <a:solidFill>
                    <a:srgbClr val="000000"/>
                  </a:solidFill>
                </a:rPr>
                <a:t>Wood</a:t>
              </a:r>
            </a:p>
          </p:txBody>
        </p:sp>
        <p:sp>
          <p:nvSpPr>
            <p:cNvPr id="57" name="Text Box 16">
              <a:extLst>
                <a:ext uri="{FF2B5EF4-FFF2-40B4-BE49-F238E27FC236}">
                  <a16:creationId xmlns:a16="http://schemas.microsoft.com/office/drawing/2014/main" id="{2CA496FB-4ABD-3046-89E4-ED317B0F81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2851" y="5856267"/>
              <a:ext cx="1081088" cy="4380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b="0" baseline="-25000" dirty="0">
                  <a:solidFill>
                    <a:srgbClr val="000000"/>
                  </a:solidFill>
                </a:rPr>
                <a:t>Fuels without combustion</a:t>
              </a:r>
            </a:p>
          </p:txBody>
        </p:sp>
        <p:sp>
          <p:nvSpPr>
            <p:cNvPr id="58" name="Text Box 17">
              <a:extLst>
                <a:ext uri="{FF2B5EF4-FFF2-40B4-BE49-F238E27FC236}">
                  <a16:creationId xmlns:a16="http://schemas.microsoft.com/office/drawing/2014/main" id="{91AA8601-16DD-2B40-A1DB-8BA5649776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70254" y="6256030"/>
              <a:ext cx="804862" cy="2905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b="0" baseline="-25000" dirty="0">
                  <a:solidFill>
                    <a:srgbClr val="000000"/>
                  </a:solidFill>
                </a:rPr>
                <a:t>Nuclear</a:t>
              </a:r>
            </a:p>
          </p:txBody>
        </p:sp>
        <p:sp>
          <p:nvSpPr>
            <p:cNvPr id="59" name="Text Box 18">
              <a:extLst>
                <a:ext uri="{FF2B5EF4-FFF2-40B4-BE49-F238E27FC236}">
                  <a16:creationId xmlns:a16="http://schemas.microsoft.com/office/drawing/2014/main" id="{74C97E3B-7666-6544-A560-DDE6DAD1C2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75414" y="5079692"/>
              <a:ext cx="674687" cy="2905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b="0" baseline="-25000">
                  <a:solidFill>
                    <a:srgbClr val="000000"/>
                  </a:solidFill>
                </a:rPr>
                <a:t>Road</a:t>
              </a:r>
            </a:p>
          </p:txBody>
        </p:sp>
        <p:sp>
          <p:nvSpPr>
            <p:cNvPr id="60" name="Text Box 19">
              <a:extLst>
                <a:ext uri="{FF2B5EF4-FFF2-40B4-BE49-F238E27FC236}">
                  <a16:creationId xmlns:a16="http://schemas.microsoft.com/office/drawing/2014/main" id="{41299C7A-425F-BD4C-BA52-95316BAC6E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70777" y="4832042"/>
              <a:ext cx="547688" cy="259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b="0" baseline="-25000" dirty="0">
                  <a:solidFill>
                    <a:srgbClr val="000000"/>
                  </a:solidFill>
                </a:rPr>
                <a:t>Ship</a:t>
              </a:r>
            </a:p>
          </p:txBody>
        </p:sp>
        <p:sp>
          <p:nvSpPr>
            <p:cNvPr id="61" name="Text Box 20">
              <a:extLst>
                <a:ext uri="{FF2B5EF4-FFF2-40B4-BE49-F238E27FC236}">
                  <a16:creationId xmlns:a16="http://schemas.microsoft.com/office/drawing/2014/main" id="{0D59440E-AD2E-204C-AC8F-144743580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59676" y="5057768"/>
              <a:ext cx="565126" cy="259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b="0" baseline="-25000" dirty="0">
                  <a:solidFill>
                    <a:srgbClr val="000000"/>
                  </a:solidFill>
                </a:rPr>
                <a:t>Plane</a:t>
              </a:r>
            </a:p>
          </p:txBody>
        </p:sp>
        <p:sp>
          <p:nvSpPr>
            <p:cNvPr id="62" name="Text Box 21">
              <a:extLst>
                <a:ext uri="{FF2B5EF4-FFF2-40B4-BE49-F238E27FC236}">
                  <a16:creationId xmlns:a16="http://schemas.microsoft.com/office/drawing/2014/main" id="{42BB1E15-9FCF-1F4C-9247-D186B9DDBF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979276" y="3813729"/>
              <a:ext cx="5146175" cy="6169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800" b="0" baseline="-25000" dirty="0">
                  <a:solidFill>
                    <a:srgbClr val="000000"/>
                  </a:solidFill>
                </a:rPr>
                <a:t>Emissions [g CO2 / MJ non </a:t>
              </a:r>
              <a:r>
                <a:rPr lang="en-US" altLang="en-US" b="0" baseline="-25000" dirty="0">
                  <a:solidFill>
                    <a:srgbClr val="000000"/>
                  </a:solidFill>
                </a:rPr>
                <a:t> </a:t>
              </a:r>
              <a:r>
                <a:rPr lang="en-US" altLang="en-US" sz="2800" b="0" baseline="-25000" dirty="0">
                  <a:solidFill>
                    <a:srgbClr val="000000"/>
                  </a:solidFill>
                </a:rPr>
                <a:t>renewable]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800" b="0" baseline="-25000" dirty="0">
                  <a:solidFill>
                    <a:srgbClr val="000000"/>
                  </a:solidFill>
                </a:rPr>
                <a:t>                                                       </a:t>
              </a:r>
            </a:p>
          </p:txBody>
        </p:sp>
      </p:grpSp>
      <p:sp>
        <p:nvSpPr>
          <p:cNvPr id="63" name="TextBox 1">
            <a:extLst>
              <a:ext uri="{FF2B5EF4-FFF2-40B4-BE49-F238E27FC236}">
                <a16:creationId xmlns:a16="http://schemas.microsoft.com/office/drawing/2014/main" id="{5B0151ED-3777-2D42-8600-63FBCFDB5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13041" y="7335032"/>
            <a:ext cx="414408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Extracted from </a:t>
            </a:r>
            <a:r>
              <a:rPr lang="en-US" altLang="en-US" sz="1400" b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ecoinvent</a:t>
            </a:r>
            <a:r>
              <a:rPr lang="en-US" altLang="en-US" sz="14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2.2 by Jolliet et al., 2016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EB8D47-5295-A94D-96AE-64AC5F07FC02}"/>
              </a:ext>
            </a:extLst>
          </p:cNvPr>
          <p:cNvSpPr/>
          <p:nvPr/>
        </p:nvSpPr>
        <p:spPr>
          <a:xfrm>
            <a:off x="6138846" y="4920189"/>
            <a:ext cx="1092979" cy="4345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858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GB" altLang="en-US" dirty="0"/>
              <a:t>Energy and CO</a:t>
            </a:r>
            <a:r>
              <a:rPr lang="en-GB" altLang="en-US" baseline="-25000" dirty="0"/>
              <a:t>2</a:t>
            </a:r>
            <a:r>
              <a:rPr lang="en-GB" altLang="en-US" dirty="0"/>
              <a:t> balance: light bulb example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D1C617-6756-7E4C-A46C-9C402C7A6A26}"/>
              </a:ext>
            </a:extLst>
          </p:cNvPr>
          <p:cNvSpPr/>
          <p:nvPr/>
        </p:nvSpPr>
        <p:spPr>
          <a:xfrm>
            <a:off x="3970062" y="1821799"/>
            <a:ext cx="511438" cy="511438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E973CC5-45E2-F04F-90BE-3D01ECA7088D}"/>
              </a:ext>
            </a:extLst>
          </p:cNvPr>
          <p:cNvSpPr/>
          <p:nvPr/>
        </p:nvSpPr>
        <p:spPr>
          <a:xfrm>
            <a:off x="6863096" y="1821799"/>
            <a:ext cx="511438" cy="511438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E5FBBAB-738B-0045-A5A7-25CA145C5CBD}"/>
              </a:ext>
            </a:extLst>
          </p:cNvPr>
          <p:cNvSpPr/>
          <p:nvPr/>
        </p:nvSpPr>
        <p:spPr>
          <a:xfrm>
            <a:off x="10779010" y="1821799"/>
            <a:ext cx="511438" cy="511438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8BC1D0-17A4-FB4C-BFF2-0B8BF3B45572}"/>
              </a:ext>
            </a:extLst>
          </p:cNvPr>
          <p:cNvSpPr txBox="1"/>
          <p:nvPr/>
        </p:nvSpPr>
        <p:spPr>
          <a:xfrm>
            <a:off x="6894093" y="1877245"/>
            <a:ext cx="4804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2a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609D09-378B-204A-85F1-1ED8E20FDB39}"/>
              </a:ext>
            </a:extLst>
          </p:cNvPr>
          <p:cNvSpPr txBox="1"/>
          <p:nvPr/>
        </p:nvSpPr>
        <p:spPr>
          <a:xfrm>
            <a:off x="10810007" y="1877245"/>
            <a:ext cx="4804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2b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7797EEE-FE44-9946-B229-90483DB68FEF}"/>
              </a:ext>
            </a:extLst>
          </p:cNvPr>
          <p:cNvSpPr/>
          <p:nvPr/>
        </p:nvSpPr>
        <p:spPr>
          <a:xfrm>
            <a:off x="7483029" y="6571259"/>
            <a:ext cx="511438" cy="511438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F77E4B-F882-6F42-9CAE-139ACF3FD811}"/>
              </a:ext>
            </a:extLst>
          </p:cNvPr>
          <p:cNvSpPr txBox="1"/>
          <p:nvPr/>
        </p:nvSpPr>
        <p:spPr>
          <a:xfrm>
            <a:off x="7514026" y="6626705"/>
            <a:ext cx="4804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3a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5AFE513-C45D-D746-BCF6-19199D851901}"/>
              </a:ext>
            </a:extLst>
          </p:cNvPr>
          <p:cNvSpPr/>
          <p:nvPr/>
        </p:nvSpPr>
        <p:spPr>
          <a:xfrm>
            <a:off x="11419599" y="6571259"/>
            <a:ext cx="511438" cy="511438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030003-5F4D-294B-AEBA-AD48FD6D250F}"/>
              </a:ext>
            </a:extLst>
          </p:cNvPr>
          <p:cNvSpPr txBox="1"/>
          <p:nvPr/>
        </p:nvSpPr>
        <p:spPr>
          <a:xfrm>
            <a:off x="11450596" y="6626705"/>
            <a:ext cx="4804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3b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C4B8F1-9907-F74A-81E8-934B5238DB6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2880" y="2560797"/>
            <a:ext cx="14631828" cy="3805727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E3E3CEFC-EA92-A04E-806C-306CA2E00B7A}"/>
              </a:ext>
            </a:extLst>
          </p:cNvPr>
          <p:cNvSpPr/>
          <p:nvPr/>
        </p:nvSpPr>
        <p:spPr>
          <a:xfrm>
            <a:off x="14257062" y="1821799"/>
            <a:ext cx="511438" cy="511438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57C6DA-0043-F74B-832F-A587C05A10A8}"/>
              </a:ext>
            </a:extLst>
          </p:cNvPr>
          <p:cNvSpPr txBox="1"/>
          <p:nvPr/>
        </p:nvSpPr>
        <p:spPr>
          <a:xfrm>
            <a:off x="-849086" y="6645729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23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6CD0A-04D1-884F-A68D-B38E24EE9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000" dirty="0"/>
              <a:t>Check data: interpreting the ratio of g CO</a:t>
            </a:r>
            <a:r>
              <a:rPr lang="en-US" altLang="en-US" sz="3000" baseline="-25000" dirty="0"/>
              <a:t>2</a:t>
            </a:r>
            <a:r>
              <a:rPr lang="en-US" altLang="en-US" sz="3000" dirty="0"/>
              <a:t> per MJ non-renewable primary energy</a:t>
            </a:r>
            <a:endParaRPr lang="en-US" sz="30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758ECFB-0CAF-7F4C-AC87-1B9980FA9577}"/>
              </a:ext>
            </a:extLst>
          </p:cNvPr>
          <p:cNvSpPr/>
          <p:nvPr/>
        </p:nvSpPr>
        <p:spPr>
          <a:xfrm>
            <a:off x="963391" y="1374937"/>
            <a:ext cx="511438" cy="511438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B49351-917F-2341-8EA3-E7A0A64ED6FF}"/>
              </a:ext>
            </a:extLst>
          </p:cNvPr>
          <p:cNvSpPr/>
          <p:nvPr/>
        </p:nvSpPr>
        <p:spPr>
          <a:xfrm>
            <a:off x="1194743" y="6381820"/>
            <a:ext cx="140845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800" b="1" dirty="0">
                <a:solidFill>
                  <a:schemeClr val="accent2"/>
                </a:solidFill>
              </a:rPr>
              <a:t>Problem detection:</a:t>
            </a:r>
          </a:p>
          <a:p>
            <a:pPr marL="285750" indent="-285750">
              <a:spcBef>
                <a:spcPct val="0"/>
              </a:spcBef>
              <a:buClrTx/>
              <a:buFont typeface="Wingdings" pitchFamily="2" charset="2"/>
              <a:buChar char="§"/>
            </a:pPr>
            <a:r>
              <a:rPr lang="en-US" altLang="en-US" sz="1800" dirty="0">
                <a:solidFill>
                  <a:schemeClr val="tx2"/>
                </a:solidFill>
              </a:rPr>
              <a:t>If diesel, oil around 10 gCO</a:t>
            </a:r>
            <a:r>
              <a:rPr lang="en-US" altLang="en-US" sz="1800" baseline="-25000" dirty="0">
                <a:solidFill>
                  <a:schemeClr val="tx2"/>
                </a:solidFill>
              </a:rPr>
              <a:t>2</a:t>
            </a:r>
            <a:r>
              <a:rPr lang="en-US" altLang="en-US" sz="1800" dirty="0">
                <a:solidFill>
                  <a:schemeClr val="tx2"/>
                </a:solidFill>
              </a:rPr>
              <a:t>/MJ: combustion is not considered</a:t>
            </a:r>
          </a:p>
          <a:p>
            <a:pPr marL="285750" indent="-285750">
              <a:spcBef>
                <a:spcPct val="0"/>
              </a:spcBef>
              <a:buClrTx/>
              <a:buFont typeface="Wingdings" pitchFamily="2" charset="2"/>
              <a:buChar char="§"/>
            </a:pPr>
            <a:r>
              <a:rPr lang="en-US" altLang="en-US" sz="1800" dirty="0">
                <a:solidFill>
                  <a:schemeClr val="tx2"/>
                </a:solidFill>
              </a:rPr>
              <a:t>If plastics around 30 gCO</a:t>
            </a:r>
            <a:r>
              <a:rPr lang="en-US" altLang="en-US" sz="1800" baseline="-25000" dirty="0">
                <a:solidFill>
                  <a:schemeClr val="tx2"/>
                </a:solidFill>
              </a:rPr>
              <a:t>2</a:t>
            </a:r>
            <a:r>
              <a:rPr lang="en-US" altLang="en-US" sz="1800" dirty="0">
                <a:solidFill>
                  <a:schemeClr val="tx2"/>
                </a:solidFill>
              </a:rPr>
              <a:t>/MJ, end-of-life (EOL) incineration emissions have been neglected or plastic is deposited in landfill.</a:t>
            </a:r>
          </a:p>
          <a:p>
            <a:pPr marL="285750" indent="-285750">
              <a:spcBef>
                <a:spcPct val="0"/>
              </a:spcBef>
              <a:buClrTx/>
              <a:buFont typeface="Wingdings" pitchFamily="2" charset="2"/>
              <a:buChar char="§"/>
            </a:pPr>
            <a:r>
              <a:rPr lang="en-US" altLang="en-US" sz="1800" dirty="0">
                <a:solidFill>
                  <a:schemeClr val="tx2"/>
                </a:solidFill>
              </a:rPr>
              <a:t>If renewable negative, EOL not considered, only fixation of non-fossil CO</a:t>
            </a:r>
            <a:r>
              <a:rPr lang="en-US" altLang="en-US" sz="1800" baseline="-25000" dirty="0">
                <a:solidFill>
                  <a:schemeClr val="tx2"/>
                </a:solidFill>
              </a:rPr>
              <a:t>2</a:t>
            </a:r>
            <a:endParaRPr lang="en-US" sz="1800" baseline="-25000" dirty="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8535DB-D0E6-704E-8547-2E798E2A1DEA}"/>
              </a:ext>
            </a:extLst>
          </p:cNvPr>
          <p:cNvSpPr/>
          <p:nvPr/>
        </p:nvSpPr>
        <p:spPr>
          <a:xfrm>
            <a:off x="963391" y="6319827"/>
            <a:ext cx="14547220" cy="1351833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66D1F7-0B16-E446-95D6-682BBD649061}"/>
              </a:ext>
            </a:extLst>
          </p:cNvPr>
          <p:cNvSpPr/>
          <p:nvPr/>
        </p:nvSpPr>
        <p:spPr>
          <a:xfrm>
            <a:off x="1844297" y="1434720"/>
            <a:ext cx="3921071" cy="391872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000" b="1" dirty="0">
                <a:solidFill>
                  <a:schemeClr val="bg1"/>
                </a:solidFill>
              </a:rPr>
              <a:t>Fossil fuels (transport + heat):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47B2B0-C127-2A4C-BFA4-9C73FCAC24E3}"/>
              </a:ext>
            </a:extLst>
          </p:cNvPr>
          <p:cNvSpPr/>
          <p:nvPr/>
        </p:nvSpPr>
        <p:spPr>
          <a:xfrm>
            <a:off x="1844297" y="4031271"/>
            <a:ext cx="3921071" cy="391872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000" b="1" dirty="0">
                <a:solidFill>
                  <a:schemeClr val="bg1"/>
                </a:solidFill>
              </a:rPr>
              <a:t>Materials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AC68D5-32BF-244C-86C8-468469669070}"/>
              </a:ext>
            </a:extLst>
          </p:cNvPr>
          <p:cNvSpPr/>
          <p:nvPr/>
        </p:nvSpPr>
        <p:spPr>
          <a:xfrm>
            <a:off x="2185260" y="1887314"/>
            <a:ext cx="392107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</a:pPr>
            <a:r>
              <a:rPr lang="en-US" altLang="en-US" sz="1800" dirty="0">
                <a:solidFill>
                  <a:schemeClr val="tx2"/>
                </a:solidFill>
              </a:rPr>
              <a:t>Oil, diesel, petrol, kerosene</a:t>
            </a:r>
          </a:p>
          <a:p>
            <a:pPr>
              <a:spcBef>
                <a:spcPct val="0"/>
              </a:spcBef>
              <a:buClrTx/>
            </a:pPr>
            <a:endParaRPr lang="en-US" altLang="en-US" sz="1800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buClrTx/>
            </a:pPr>
            <a:r>
              <a:rPr lang="en-US" altLang="en-US" sz="1800" dirty="0">
                <a:solidFill>
                  <a:schemeClr val="tx2"/>
                </a:solidFill>
              </a:rPr>
              <a:t>Natural gas</a:t>
            </a:r>
          </a:p>
          <a:p>
            <a:pPr>
              <a:spcBef>
                <a:spcPct val="0"/>
              </a:spcBef>
              <a:buClrTx/>
            </a:pPr>
            <a:r>
              <a:rPr lang="en-US" altLang="en-US" sz="1800" dirty="0">
                <a:solidFill>
                  <a:schemeClr val="tx2"/>
                </a:solidFill>
              </a:rPr>
              <a:t>Coke</a:t>
            </a:r>
          </a:p>
          <a:p>
            <a:pPr>
              <a:spcBef>
                <a:spcPct val="0"/>
              </a:spcBef>
              <a:buClrTx/>
            </a:pPr>
            <a:r>
              <a:rPr lang="en-US" altLang="en-US" sz="1800" dirty="0">
                <a:solidFill>
                  <a:schemeClr val="tx2"/>
                </a:solidFill>
              </a:rPr>
              <a:t>Electricity US</a:t>
            </a:r>
          </a:p>
          <a:p>
            <a:pPr>
              <a:spcBef>
                <a:spcPct val="0"/>
              </a:spcBef>
              <a:buClrTx/>
            </a:pPr>
            <a:r>
              <a:rPr lang="en-US" altLang="en-US" sz="1800" dirty="0">
                <a:solidFill>
                  <a:schemeClr val="tx2"/>
                </a:solidFill>
              </a:rPr>
              <a:t>Electricity Europe</a:t>
            </a:r>
          </a:p>
          <a:p>
            <a:pPr>
              <a:spcBef>
                <a:spcPct val="0"/>
              </a:spcBef>
              <a:buClrTx/>
            </a:pPr>
            <a:r>
              <a:rPr lang="en-US" altLang="en-US" sz="1800" dirty="0">
                <a:solidFill>
                  <a:schemeClr val="tx2"/>
                </a:solidFill>
              </a:rPr>
              <a:t>Electricity Switzerland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41E4F4-927A-9040-9743-19F06CA023A6}"/>
              </a:ext>
            </a:extLst>
          </p:cNvPr>
          <p:cNvSpPr/>
          <p:nvPr/>
        </p:nvSpPr>
        <p:spPr>
          <a:xfrm>
            <a:off x="2185260" y="4452869"/>
            <a:ext cx="452550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</a:pPr>
            <a:r>
              <a:rPr lang="en-US" altLang="en-US" sz="1800" dirty="0">
                <a:solidFill>
                  <a:schemeClr val="tx2"/>
                </a:solidFill>
              </a:rPr>
              <a:t>Fossil materials: plastics, etc.</a:t>
            </a:r>
          </a:p>
          <a:p>
            <a:pPr>
              <a:spcBef>
                <a:spcPct val="0"/>
              </a:spcBef>
              <a:buClrTx/>
            </a:pPr>
            <a:endParaRPr lang="en-US" altLang="en-US" sz="1800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buClrTx/>
            </a:pPr>
            <a:r>
              <a:rPr lang="en-US" altLang="en-US" sz="1800" dirty="0">
                <a:solidFill>
                  <a:schemeClr val="tx2"/>
                </a:solidFill>
              </a:rPr>
              <a:t>Metals: depends on % electricity and mix</a:t>
            </a:r>
          </a:p>
          <a:p>
            <a:pPr>
              <a:spcBef>
                <a:spcPct val="0"/>
              </a:spcBef>
              <a:buClrTx/>
            </a:pPr>
            <a:r>
              <a:rPr lang="en-US" altLang="en-US" sz="1800" dirty="0">
                <a:solidFill>
                  <a:schemeClr val="tx2"/>
                </a:solidFill>
              </a:rPr>
              <a:t>Concrete</a:t>
            </a:r>
          </a:p>
          <a:p>
            <a:pPr>
              <a:spcBef>
                <a:spcPct val="0"/>
              </a:spcBef>
              <a:buClrTx/>
            </a:pPr>
            <a:r>
              <a:rPr lang="en-US" altLang="en-US" sz="1800" dirty="0">
                <a:solidFill>
                  <a:schemeClr val="tx2"/>
                </a:solidFill>
              </a:rPr>
              <a:t>Cement</a:t>
            </a:r>
          </a:p>
          <a:p>
            <a:pPr>
              <a:spcBef>
                <a:spcPct val="0"/>
              </a:spcBef>
              <a:buClrTx/>
            </a:pPr>
            <a:r>
              <a:rPr lang="en-US" altLang="en-US" sz="1800" dirty="0">
                <a:solidFill>
                  <a:schemeClr val="tx2"/>
                </a:solidFill>
              </a:rPr>
              <a:t>Wood, cardboard, renewable energy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7E9C9E-3D98-2145-9C62-FBC4F9B8B7AE}"/>
              </a:ext>
            </a:extLst>
          </p:cNvPr>
          <p:cNvSpPr/>
          <p:nvPr/>
        </p:nvSpPr>
        <p:spPr>
          <a:xfrm>
            <a:off x="6850249" y="1902812"/>
            <a:ext cx="392107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</a:pPr>
            <a:r>
              <a:rPr lang="en-US" altLang="en-US" sz="1800" dirty="0">
                <a:solidFill>
                  <a:schemeClr val="tx2"/>
                </a:solidFill>
              </a:rPr>
              <a:t>57-70 gCO</a:t>
            </a:r>
            <a:r>
              <a:rPr lang="en-US" altLang="en-US" sz="1800" baseline="-25000" dirty="0">
                <a:solidFill>
                  <a:schemeClr val="tx2"/>
                </a:solidFill>
              </a:rPr>
              <a:t>2</a:t>
            </a:r>
            <a:r>
              <a:rPr lang="en-US" altLang="en-US" sz="1800" dirty="0">
                <a:solidFill>
                  <a:schemeClr val="tx2"/>
                </a:solidFill>
              </a:rPr>
              <a:t>/MJ</a:t>
            </a:r>
            <a:br>
              <a:rPr lang="en-US" altLang="en-US" sz="1800" dirty="0">
                <a:solidFill>
                  <a:schemeClr val="tx2"/>
                </a:solidFill>
              </a:rPr>
            </a:br>
            <a:r>
              <a:rPr lang="en-US" altLang="en-US" sz="1800" dirty="0">
                <a:solidFill>
                  <a:schemeClr val="tx2"/>
                </a:solidFill>
              </a:rPr>
              <a:t>(incl. 10g pre-combustion)</a:t>
            </a:r>
            <a:br>
              <a:rPr lang="en-US" altLang="en-US" sz="1800" dirty="0">
                <a:solidFill>
                  <a:schemeClr val="tx2"/>
                </a:solidFill>
              </a:rPr>
            </a:br>
            <a:r>
              <a:rPr lang="en-US" altLang="en-US" sz="1800" dirty="0">
                <a:solidFill>
                  <a:schemeClr val="tx2"/>
                </a:solidFill>
              </a:rPr>
              <a:t>50 gCO</a:t>
            </a:r>
            <a:r>
              <a:rPr lang="en-US" altLang="en-US" sz="1800" baseline="-25000" dirty="0">
                <a:solidFill>
                  <a:schemeClr val="tx2"/>
                </a:solidFill>
              </a:rPr>
              <a:t>2</a:t>
            </a:r>
            <a:r>
              <a:rPr lang="en-US" altLang="en-US" sz="1800" dirty="0">
                <a:solidFill>
                  <a:schemeClr val="tx2"/>
                </a:solidFill>
              </a:rPr>
              <a:t>/MJ</a:t>
            </a:r>
          </a:p>
          <a:p>
            <a:pPr>
              <a:spcBef>
                <a:spcPct val="0"/>
              </a:spcBef>
              <a:buClrTx/>
            </a:pPr>
            <a:r>
              <a:rPr lang="en-US" altLang="en-US" sz="1800" dirty="0">
                <a:solidFill>
                  <a:schemeClr val="tx2"/>
                </a:solidFill>
              </a:rPr>
              <a:t>74-94 gCO</a:t>
            </a:r>
            <a:r>
              <a:rPr lang="en-US" altLang="en-US" sz="1800" baseline="-25000" dirty="0">
                <a:solidFill>
                  <a:schemeClr val="tx2"/>
                </a:solidFill>
              </a:rPr>
              <a:t>2</a:t>
            </a:r>
            <a:r>
              <a:rPr lang="en-US" altLang="en-US" sz="1800" dirty="0">
                <a:solidFill>
                  <a:schemeClr val="tx2"/>
                </a:solidFill>
              </a:rPr>
              <a:t>/MJ</a:t>
            </a:r>
          </a:p>
          <a:p>
            <a:pPr>
              <a:spcBef>
                <a:spcPct val="0"/>
              </a:spcBef>
            </a:pPr>
            <a:r>
              <a:rPr lang="en-US" altLang="en-US" sz="1800" dirty="0">
                <a:solidFill>
                  <a:schemeClr val="tx2"/>
                </a:solidFill>
              </a:rPr>
              <a:t>59 gCO</a:t>
            </a:r>
            <a:r>
              <a:rPr lang="en-US" altLang="en-US" sz="1800" baseline="-25000" dirty="0">
                <a:solidFill>
                  <a:schemeClr val="tx2"/>
                </a:solidFill>
              </a:rPr>
              <a:t>2</a:t>
            </a:r>
            <a:r>
              <a:rPr lang="en-US" altLang="en-US" sz="1800" dirty="0">
                <a:solidFill>
                  <a:schemeClr val="tx2"/>
                </a:solidFill>
              </a:rPr>
              <a:t>/MJ</a:t>
            </a:r>
          </a:p>
          <a:p>
            <a:pPr>
              <a:spcBef>
                <a:spcPct val="0"/>
              </a:spcBef>
            </a:pPr>
            <a:r>
              <a:rPr lang="en-US" altLang="en-US" sz="1800" dirty="0">
                <a:solidFill>
                  <a:schemeClr val="tx2"/>
                </a:solidFill>
              </a:rPr>
              <a:t>47 gCO</a:t>
            </a:r>
            <a:r>
              <a:rPr lang="en-US" altLang="en-US" sz="1800" baseline="-25000" dirty="0">
                <a:solidFill>
                  <a:schemeClr val="tx2"/>
                </a:solidFill>
              </a:rPr>
              <a:t>2</a:t>
            </a:r>
            <a:r>
              <a:rPr lang="en-US" altLang="en-US" sz="1800" dirty="0">
                <a:solidFill>
                  <a:schemeClr val="tx2"/>
                </a:solidFill>
              </a:rPr>
              <a:t>/MJ</a:t>
            </a:r>
          </a:p>
          <a:p>
            <a:pPr>
              <a:spcBef>
                <a:spcPct val="0"/>
              </a:spcBef>
            </a:pPr>
            <a:r>
              <a:rPr lang="en-US" altLang="en-US" sz="1800" dirty="0">
                <a:solidFill>
                  <a:schemeClr val="tx2"/>
                </a:solidFill>
              </a:rPr>
              <a:t>13 gCO</a:t>
            </a:r>
            <a:r>
              <a:rPr lang="en-US" altLang="en-US" sz="1800" baseline="-25000" dirty="0">
                <a:solidFill>
                  <a:schemeClr val="tx2"/>
                </a:solidFill>
              </a:rPr>
              <a:t>2</a:t>
            </a:r>
            <a:r>
              <a:rPr lang="en-US" altLang="en-US" sz="1800" dirty="0">
                <a:solidFill>
                  <a:schemeClr val="tx2"/>
                </a:solidFill>
              </a:rPr>
              <a:t>/MJ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5830A-5AEF-3C4F-8B68-EB79B0D5B086}"/>
              </a:ext>
            </a:extLst>
          </p:cNvPr>
          <p:cNvSpPr/>
          <p:nvPr/>
        </p:nvSpPr>
        <p:spPr>
          <a:xfrm>
            <a:off x="6850248" y="4468367"/>
            <a:ext cx="853956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</a:pPr>
            <a:r>
              <a:rPr lang="en-US" altLang="en-US" sz="1800" dirty="0">
                <a:solidFill>
                  <a:schemeClr val="tx2"/>
                </a:solidFill>
              </a:rPr>
              <a:t>60 gCO</a:t>
            </a:r>
            <a:r>
              <a:rPr lang="en-US" altLang="en-US" sz="1800" baseline="-25000" dirty="0">
                <a:solidFill>
                  <a:schemeClr val="tx2"/>
                </a:solidFill>
              </a:rPr>
              <a:t>2</a:t>
            </a:r>
            <a:r>
              <a:rPr lang="en-US" altLang="en-US" sz="1800" dirty="0">
                <a:solidFill>
                  <a:schemeClr val="tx2"/>
                </a:solidFill>
              </a:rPr>
              <a:t>/MJ</a:t>
            </a:r>
            <a:br>
              <a:rPr lang="en-US" altLang="en-US" sz="1800" dirty="0">
                <a:solidFill>
                  <a:schemeClr val="tx2"/>
                </a:solidFill>
              </a:rPr>
            </a:br>
            <a:r>
              <a:rPr lang="en-US" altLang="en-US" sz="1800" dirty="0">
                <a:solidFill>
                  <a:schemeClr val="tx2"/>
                </a:solidFill>
              </a:rPr>
              <a:t>(30g manufacturing, 30g elimination)</a:t>
            </a:r>
            <a:br>
              <a:rPr lang="en-US" altLang="en-US" sz="1800" dirty="0">
                <a:solidFill>
                  <a:schemeClr val="tx2"/>
                </a:solidFill>
              </a:rPr>
            </a:br>
            <a:r>
              <a:rPr lang="en-US" altLang="en-US" sz="1800" dirty="0" err="1">
                <a:solidFill>
                  <a:schemeClr val="tx2"/>
                </a:solidFill>
              </a:rPr>
              <a:t>Env</a:t>
            </a:r>
            <a:r>
              <a:rPr lang="en-US" altLang="en-US" sz="1800" dirty="0">
                <a:solidFill>
                  <a:schemeClr val="tx2"/>
                </a:solidFill>
              </a:rPr>
              <a:t>. 50 gCO</a:t>
            </a:r>
            <a:r>
              <a:rPr lang="en-US" altLang="en-US" sz="1800" baseline="-25000" dirty="0">
                <a:solidFill>
                  <a:schemeClr val="tx2"/>
                </a:solidFill>
              </a:rPr>
              <a:t>2</a:t>
            </a:r>
            <a:r>
              <a:rPr lang="en-US" altLang="en-US" sz="1800" dirty="0">
                <a:solidFill>
                  <a:schemeClr val="tx2"/>
                </a:solidFill>
              </a:rPr>
              <a:t>/MJ</a:t>
            </a:r>
          </a:p>
          <a:p>
            <a:pPr>
              <a:spcBef>
                <a:spcPct val="0"/>
              </a:spcBef>
              <a:buClrTx/>
            </a:pPr>
            <a:r>
              <a:rPr lang="en-US" altLang="en-US" sz="1800" dirty="0">
                <a:solidFill>
                  <a:schemeClr val="tx2"/>
                </a:solidFill>
              </a:rPr>
              <a:t>192 gCO</a:t>
            </a:r>
            <a:r>
              <a:rPr lang="en-US" altLang="en-US" sz="1800" baseline="-25000" dirty="0">
                <a:solidFill>
                  <a:schemeClr val="tx2"/>
                </a:solidFill>
              </a:rPr>
              <a:t>2</a:t>
            </a:r>
            <a:r>
              <a:rPr lang="en-US" altLang="en-US" sz="1800" dirty="0">
                <a:solidFill>
                  <a:schemeClr val="tx2"/>
                </a:solidFill>
              </a:rPr>
              <a:t>/MJ</a:t>
            </a:r>
          </a:p>
          <a:p>
            <a:pPr>
              <a:spcBef>
                <a:spcPct val="0"/>
              </a:spcBef>
            </a:pPr>
            <a:r>
              <a:rPr lang="en-US" altLang="en-US" sz="1800" dirty="0">
                <a:solidFill>
                  <a:schemeClr val="tx2"/>
                </a:solidFill>
              </a:rPr>
              <a:t>227 gCO</a:t>
            </a:r>
            <a:r>
              <a:rPr lang="en-US" altLang="en-US" sz="1800" baseline="-25000" dirty="0">
                <a:solidFill>
                  <a:schemeClr val="tx2"/>
                </a:solidFill>
              </a:rPr>
              <a:t>2</a:t>
            </a:r>
            <a:r>
              <a:rPr lang="en-US" altLang="en-US" sz="1800" dirty="0">
                <a:solidFill>
                  <a:schemeClr val="tx2"/>
                </a:solidFill>
              </a:rPr>
              <a:t>/MJ</a:t>
            </a:r>
          </a:p>
          <a:p>
            <a:pPr>
              <a:spcBef>
                <a:spcPct val="0"/>
              </a:spcBef>
            </a:pPr>
            <a:r>
              <a:rPr lang="en-US" altLang="en-US" sz="1800" dirty="0">
                <a:solidFill>
                  <a:schemeClr val="tx2"/>
                </a:solidFill>
              </a:rPr>
              <a:t>Also about 65 gCO</a:t>
            </a:r>
            <a:r>
              <a:rPr lang="en-US" altLang="en-US" sz="1800" baseline="-25000" dirty="0">
                <a:solidFill>
                  <a:schemeClr val="tx2"/>
                </a:solidFill>
              </a:rPr>
              <a:t>2</a:t>
            </a:r>
            <a:r>
              <a:rPr lang="en-US" altLang="en-US" sz="1800" dirty="0">
                <a:solidFill>
                  <a:schemeClr val="tx2"/>
                </a:solidFill>
              </a:rPr>
              <a:t>/MJ non-renewable fixation not considered: only fossil CO</a:t>
            </a:r>
            <a:r>
              <a:rPr lang="en-US" altLang="en-US" sz="1800" baseline="-25000" dirty="0">
                <a:solidFill>
                  <a:schemeClr val="tx2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3146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US" altLang="en-US" dirty="0">
                <a:solidFill>
                  <a:schemeClr val="tx2"/>
                </a:solidFill>
              </a:rPr>
              <a:t>Summary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860404C-E3DD-DB44-9F60-421612D670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0211" y="1666903"/>
            <a:ext cx="14630400" cy="5810193"/>
          </a:xfrm>
        </p:spPr>
        <p:txBody>
          <a:bodyPr>
            <a:normAutofit/>
          </a:bodyPr>
          <a:lstStyle/>
          <a:p>
            <a:pPr marL="693738" indent="-681038">
              <a:spcAft>
                <a:spcPts val="32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altLang="en-US" kern="0" dirty="0">
                <a:solidFill>
                  <a:schemeClr val="tx2"/>
                </a:solidFill>
              </a:rPr>
              <a:t>The primary energy balance and inventory of CO</a:t>
            </a:r>
            <a:r>
              <a:rPr lang="en-US" altLang="en-US" kern="0" baseline="-25000" dirty="0">
                <a:solidFill>
                  <a:schemeClr val="tx2"/>
                </a:solidFill>
              </a:rPr>
              <a:t>2</a:t>
            </a:r>
            <a:r>
              <a:rPr lang="en-US" altLang="en-US" kern="0" dirty="0">
                <a:solidFill>
                  <a:schemeClr val="tx2"/>
                </a:solidFill>
              </a:rPr>
              <a:t> emissions is </a:t>
            </a:r>
            <a:br>
              <a:rPr lang="en-US" altLang="en-US" kern="0" dirty="0">
                <a:solidFill>
                  <a:schemeClr val="tx2"/>
                </a:solidFill>
              </a:rPr>
            </a:br>
            <a:r>
              <a:rPr lang="en-US" altLang="en-US" kern="0" dirty="0">
                <a:solidFill>
                  <a:schemeClr val="tx2"/>
                </a:solidFill>
              </a:rPr>
              <a:t>calculated by multiplying the amount of each database process of the </a:t>
            </a:r>
            <a:br>
              <a:rPr lang="en-US" altLang="en-US" kern="0" dirty="0">
                <a:solidFill>
                  <a:schemeClr val="tx2"/>
                </a:solidFill>
              </a:rPr>
            </a:br>
            <a:r>
              <a:rPr lang="en-US" altLang="en-US" kern="0" dirty="0">
                <a:solidFill>
                  <a:schemeClr val="tx2"/>
                </a:solidFill>
              </a:rPr>
              <a:t>process tree by the aggregated emission per unit of this process.</a:t>
            </a:r>
          </a:p>
          <a:p>
            <a:pPr marL="693738" indent="-681038">
              <a:spcAft>
                <a:spcPts val="32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altLang="en-US" kern="0" dirty="0">
                <a:solidFill>
                  <a:schemeClr val="tx2"/>
                </a:solidFill>
              </a:rPr>
              <a:t>Energy content and carbon are related for fossil fuels</a:t>
            </a:r>
          </a:p>
          <a:p>
            <a:pPr marL="693738" indent="-681038">
              <a:spcAft>
                <a:spcPts val="32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altLang="en-US" kern="0" dirty="0">
                <a:solidFill>
                  <a:schemeClr val="tx2"/>
                </a:solidFill>
              </a:rPr>
              <a:t>The ratio of g</a:t>
            </a:r>
            <a:r>
              <a:rPr lang="en-US" altLang="en-US" kern="0" baseline="-25000" dirty="0">
                <a:solidFill>
                  <a:schemeClr val="tx2"/>
                </a:solidFill>
              </a:rPr>
              <a:t>CO2</a:t>
            </a:r>
            <a:r>
              <a:rPr lang="en-US" altLang="en-US" kern="0" dirty="0">
                <a:solidFill>
                  <a:schemeClr val="tx2"/>
                </a:solidFill>
              </a:rPr>
              <a:t>/</a:t>
            </a:r>
            <a:r>
              <a:rPr lang="en-US" altLang="en-US" kern="0" dirty="0" err="1">
                <a:solidFill>
                  <a:schemeClr val="tx2"/>
                </a:solidFill>
              </a:rPr>
              <a:t>MJ</a:t>
            </a:r>
            <a:r>
              <a:rPr lang="en-US" altLang="en-US" kern="0" baseline="-25000" dirty="0" err="1">
                <a:solidFill>
                  <a:schemeClr val="tx2"/>
                </a:solidFill>
              </a:rPr>
              <a:t>non</a:t>
            </a:r>
            <a:r>
              <a:rPr lang="en-US" altLang="en-US" kern="0" baseline="-25000" dirty="0">
                <a:solidFill>
                  <a:schemeClr val="tx2"/>
                </a:solidFill>
              </a:rPr>
              <a:t> renewable primary energy </a:t>
            </a:r>
            <a:r>
              <a:rPr lang="en-US" altLang="en-US" kern="0" dirty="0">
                <a:solidFill>
                  <a:schemeClr val="tx2"/>
                </a:solidFill>
              </a:rPr>
              <a:t>can be used to check </a:t>
            </a:r>
            <a:br>
              <a:rPr lang="en-US" altLang="en-US" kern="0" dirty="0">
                <a:solidFill>
                  <a:schemeClr val="tx2"/>
                </a:solidFill>
              </a:rPr>
            </a:br>
            <a:r>
              <a:rPr lang="en-US" altLang="en-US" kern="0" dirty="0">
                <a:solidFill>
                  <a:schemeClr val="tx2"/>
                </a:solidFill>
              </a:rPr>
              <a:t>the consistency of inventory data</a:t>
            </a:r>
          </a:p>
          <a:p>
            <a:pPr marL="693738" indent="-681038">
              <a:spcAft>
                <a:spcPts val="32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altLang="en-US" kern="0" dirty="0">
                <a:solidFill>
                  <a:schemeClr val="tx2"/>
                </a:solidFill>
              </a:rPr>
              <a:t>Crucial to account for additional releases during use phase </a:t>
            </a:r>
            <a:br>
              <a:rPr lang="en-US" altLang="en-US" kern="0" dirty="0">
                <a:solidFill>
                  <a:schemeClr val="tx2"/>
                </a:solidFill>
              </a:rPr>
            </a:br>
            <a:r>
              <a:rPr lang="en-US" altLang="en-US" kern="0" dirty="0">
                <a:solidFill>
                  <a:schemeClr val="tx2"/>
                </a:solidFill>
              </a:rPr>
              <a:t>(e.g. combustion emissions) and disposal (e.g. incinerator emissions)</a:t>
            </a:r>
          </a:p>
        </p:txBody>
      </p:sp>
    </p:spTree>
    <p:extLst>
      <p:ext uri="{BB962C8B-B14F-4D97-AF65-F5344CB8AC3E}">
        <p14:creationId xmlns:p14="http://schemas.microsoft.com/office/powerpoint/2010/main" val="733397122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option 2">
  <a:themeElements>
    <a:clrScheme name="SPH brand colors">
      <a:dk1>
        <a:srgbClr val="00274C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3_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Notes (not to be shown in video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AI_PPT_Template_2.potx</Template>
  <TotalTime>17491</TotalTime>
  <Words>403</Words>
  <Application>Microsoft Office PowerPoint</Application>
  <PresentationFormat>Custom</PresentationFormat>
  <Paragraphs>79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Arial</vt:lpstr>
      <vt:lpstr>Arial Bold</vt:lpstr>
      <vt:lpstr>Calibri</vt:lpstr>
      <vt:lpstr>Courier New</vt:lpstr>
      <vt:lpstr>Wingdings</vt:lpstr>
      <vt:lpstr>Title slide option 2</vt:lpstr>
      <vt:lpstr>Content slide (shown in video)</vt:lpstr>
      <vt:lpstr>2_Content slide (shown in video)</vt:lpstr>
      <vt:lpstr>3_Content slide (shown in video)</vt:lpstr>
      <vt:lpstr>Notes (not to be shown in video)</vt:lpstr>
      <vt:lpstr>PowerPoint Presentation</vt:lpstr>
      <vt:lpstr>H:C ratio and CO2 emissions</vt:lpstr>
      <vt:lpstr>Carbon emissions per unit energy consumption</vt:lpstr>
      <vt:lpstr>Checking your data: g CO2 per MJ non renewable primary energy</vt:lpstr>
      <vt:lpstr>Energy and CO2 balance: light bulb example</vt:lpstr>
      <vt:lpstr>Check data: interpreting the ratio of g CO2 per MJ non-renewable primary energy</vt:lpstr>
      <vt:lpstr>Summary</vt:lpstr>
    </vt:vector>
  </TitlesOfParts>
  <Manager/>
  <Company>University of Michigan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Scott Mahler</dc:creator>
  <cp:keywords/>
  <dc:description/>
  <cp:lastModifiedBy>Olivier Jolliet</cp:lastModifiedBy>
  <cp:revision>746</cp:revision>
  <cp:lastPrinted>2020-08-20T17:37:33Z</cp:lastPrinted>
  <dcterms:created xsi:type="dcterms:W3CDTF">2017-01-17T22:07:36Z</dcterms:created>
  <dcterms:modified xsi:type="dcterms:W3CDTF">2020-11-24T17:55:33Z</dcterms:modified>
  <cp:category/>
</cp:coreProperties>
</file>