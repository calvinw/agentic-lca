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8" r:id="rId1"/>
    <p:sldMasterId id="2147483785" r:id="rId2"/>
    <p:sldMasterId id="2147483806" r:id="rId3"/>
    <p:sldMasterId id="2147483808" r:id="rId4"/>
    <p:sldMasterId id="2147483796" r:id="rId5"/>
  </p:sldMasterIdLst>
  <p:notesMasterIdLst>
    <p:notesMasterId r:id="rId15"/>
  </p:notesMasterIdLst>
  <p:handoutMasterIdLst>
    <p:handoutMasterId r:id="rId16"/>
  </p:handoutMasterIdLst>
  <p:sldIdLst>
    <p:sldId id="623" r:id="rId6"/>
    <p:sldId id="607" r:id="rId7"/>
    <p:sldId id="624" r:id="rId8"/>
    <p:sldId id="619" r:id="rId9"/>
    <p:sldId id="621" r:id="rId10"/>
    <p:sldId id="627" r:id="rId11"/>
    <p:sldId id="628" r:id="rId12"/>
    <p:sldId id="629" r:id="rId13"/>
    <p:sldId id="631" r:id="rId14"/>
  </p:sldIdLst>
  <p:sldSz cx="16257588" cy="9144000"/>
  <p:notesSz cx="6858000" cy="9144000"/>
  <p:defaultTextStyle>
    <a:defPPr>
      <a:defRPr lang="en-US"/>
    </a:defPPr>
    <a:lvl1pPr marL="0" algn="l" defTabSz="812810" rtl="0" eaLnBrk="1" latinLnBrk="0" hangingPunct="1">
      <a:defRPr sz="3200" kern="1200">
        <a:solidFill>
          <a:schemeClr val="tx1"/>
        </a:solidFill>
        <a:latin typeface="+mn-lt"/>
        <a:ea typeface="+mn-ea"/>
        <a:cs typeface="+mn-cs"/>
      </a:defRPr>
    </a:lvl1pPr>
    <a:lvl2pPr marL="812810" algn="l" defTabSz="812810" rtl="0" eaLnBrk="1" latinLnBrk="0" hangingPunct="1">
      <a:defRPr sz="3200" kern="1200">
        <a:solidFill>
          <a:schemeClr val="tx1"/>
        </a:solidFill>
        <a:latin typeface="+mn-lt"/>
        <a:ea typeface="+mn-ea"/>
        <a:cs typeface="+mn-cs"/>
      </a:defRPr>
    </a:lvl2pPr>
    <a:lvl3pPr marL="1625620" algn="l" defTabSz="812810" rtl="0" eaLnBrk="1" latinLnBrk="0" hangingPunct="1">
      <a:defRPr sz="3200" kern="1200">
        <a:solidFill>
          <a:schemeClr val="tx1"/>
        </a:solidFill>
        <a:latin typeface="+mn-lt"/>
        <a:ea typeface="+mn-ea"/>
        <a:cs typeface="+mn-cs"/>
      </a:defRPr>
    </a:lvl3pPr>
    <a:lvl4pPr marL="2438430" algn="l" defTabSz="812810" rtl="0" eaLnBrk="1" latinLnBrk="0" hangingPunct="1">
      <a:defRPr sz="3200" kern="1200">
        <a:solidFill>
          <a:schemeClr val="tx1"/>
        </a:solidFill>
        <a:latin typeface="+mn-lt"/>
        <a:ea typeface="+mn-ea"/>
        <a:cs typeface="+mn-cs"/>
      </a:defRPr>
    </a:lvl4pPr>
    <a:lvl5pPr marL="3251241" algn="l" defTabSz="812810" rtl="0" eaLnBrk="1" latinLnBrk="0" hangingPunct="1">
      <a:defRPr sz="3200" kern="1200">
        <a:solidFill>
          <a:schemeClr val="tx1"/>
        </a:solidFill>
        <a:latin typeface="+mn-lt"/>
        <a:ea typeface="+mn-ea"/>
        <a:cs typeface="+mn-cs"/>
      </a:defRPr>
    </a:lvl5pPr>
    <a:lvl6pPr marL="4064051" algn="l" defTabSz="812810" rtl="0" eaLnBrk="1" latinLnBrk="0" hangingPunct="1">
      <a:defRPr sz="3200" kern="1200">
        <a:solidFill>
          <a:schemeClr val="tx1"/>
        </a:solidFill>
        <a:latin typeface="+mn-lt"/>
        <a:ea typeface="+mn-ea"/>
        <a:cs typeface="+mn-cs"/>
      </a:defRPr>
    </a:lvl6pPr>
    <a:lvl7pPr marL="4876861" algn="l" defTabSz="812810" rtl="0" eaLnBrk="1" latinLnBrk="0" hangingPunct="1">
      <a:defRPr sz="3200" kern="1200">
        <a:solidFill>
          <a:schemeClr val="tx1"/>
        </a:solidFill>
        <a:latin typeface="+mn-lt"/>
        <a:ea typeface="+mn-ea"/>
        <a:cs typeface="+mn-cs"/>
      </a:defRPr>
    </a:lvl7pPr>
    <a:lvl8pPr marL="5689671" algn="l" defTabSz="812810" rtl="0" eaLnBrk="1" latinLnBrk="0" hangingPunct="1">
      <a:defRPr sz="3200" kern="1200">
        <a:solidFill>
          <a:schemeClr val="tx1"/>
        </a:solidFill>
        <a:latin typeface="+mn-lt"/>
        <a:ea typeface="+mn-ea"/>
        <a:cs typeface="+mn-cs"/>
      </a:defRPr>
    </a:lvl8pPr>
    <a:lvl9pPr marL="6502481" algn="l" defTabSz="812810" rtl="0" eaLnBrk="1" latinLnBrk="0" hangingPunct="1">
      <a:defRPr sz="3200" kern="1200">
        <a:solidFill>
          <a:schemeClr val="tx1"/>
        </a:solidFill>
        <a:latin typeface="+mn-lt"/>
        <a:ea typeface="+mn-ea"/>
        <a:cs typeface="+mn-cs"/>
      </a:defRPr>
    </a:lvl9pPr>
  </p:defaultTextStyle>
  <p:extLst>
    <p:ext uri="{521415D9-36F7-43E2-AB2F-B90AF26B5E84}">
      <p14:sectionLst xmlns:p14="http://schemas.microsoft.com/office/powerpoint/2010/main">
        <p14:section name="Lecture slides" id="{C7F91DBA-90A9-5343-8B43-F0D96459C604}">
          <p14:sldIdLst>
            <p14:sldId id="623"/>
            <p14:sldId id="607"/>
            <p14:sldId id="624"/>
            <p14:sldId id="619"/>
            <p14:sldId id="621"/>
            <p14:sldId id="627"/>
            <p14:sldId id="628"/>
            <p14:sldId id="629"/>
            <p14:sldId id="631"/>
          </p14:sldIdLst>
        </p14:section>
      </p14:sectionLst>
    </p:ext>
    <p:ext uri="{EFAFB233-063F-42B5-8137-9DF3F51BA10A}">
      <p15:sldGuideLst xmlns:p15="http://schemas.microsoft.com/office/powerpoint/2012/main">
        <p15:guide id="1" orient="horz" pos="3216" userDrawn="1">
          <p15:clr>
            <a:srgbClr val="A4A3A4"/>
          </p15:clr>
        </p15:guide>
        <p15:guide id="2" pos="51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2F92"/>
    <a:srgbClr val="00274C"/>
    <a:srgbClr val="E4E1DF"/>
    <a:srgbClr val="B5B5B5"/>
    <a:srgbClr val="050909"/>
    <a:srgbClr val="FFCB05"/>
    <a:srgbClr val="EA6A20"/>
    <a:srgbClr val="06090A"/>
    <a:srgbClr val="090B0B"/>
    <a:srgbClr val="EBEBE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809"/>
    <p:restoredTop sz="95071" autoAdjust="0"/>
  </p:normalViewPr>
  <p:slideViewPr>
    <p:cSldViewPr snapToGrid="0">
      <p:cViewPr varScale="1">
        <p:scale>
          <a:sx n="96" d="100"/>
          <a:sy n="96" d="100"/>
        </p:scale>
        <p:origin x="272" y="176"/>
      </p:cViewPr>
      <p:guideLst>
        <p:guide orient="horz" pos="3216"/>
        <p:guide pos="5120"/>
      </p:guideLst>
    </p:cSldViewPr>
  </p:slideViewPr>
  <p:notesTextViewPr>
    <p:cViewPr>
      <p:scale>
        <a:sx n="114" d="100"/>
        <a:sy n="114" d="100"/>
      </p:scale>
      <p:origin x="0" y="0"/>
    </p:cViewPr>
  </p:notesTextViewPr>
  <p:sorterViewPr>
    <p:cViewPr>
      <p:scale>
        <a:sx n="100" d="100"/>
        <a:sy n="100" d="100"/>
      </p:scale>
      <p:origin x="0" y="0"/>
    </p:cViewPr>
  </p:sorterViewPr>
  <p:notesViewPr>
    <p:cSldViewPr snapToGrid="0">
      <p:cViewPr varScale="1">
        <p:scale>
          <a:sx n="131" d="100"/>
          <a:sy n="131" d="100"/>
        </p:scale>
        <p:origin x="5152"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D32C488-5493-244C-B1EB-F7CF3662E0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1AD1453-9CD9-5640-A3F8-C0F3421BFA0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D5623C7-AC5F-3A41-B4CB-88972659BBB1}" type="datetimeFigureOut">
              <a:rPr lang="en-US" smtClean="0"/>
              <a:t>10/27/21</a:t>
            </a:fld>
            <a:endParaRPr lang="en-US"/>
          </a:p>
        </p:txBody>
      </p:sp>
      <p:sp>
        <p:nvSpPr>
          <p:cNvPr id="4" name="Footer Placeholder 3">
            <a:extLst>
              <a:ext uri="{FF2B5EF4-FFF2-40B4-BE49-F238E27FC236}">
                <a16:creationId xmlns:a16="http://schemas.microsoft.com/office/drawing/2014/main" id="{514A9942-DAC7-014E-98D2-7E2678599FF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01CB1E6-A261-2741-AFAE-436A65E0D5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0EC83E3-4C2A-B644-AB75-B8266C440FBE}" type="slidenum">
              <a:rPr lang="en-US" smtClean="0"/>
              <a:t>‹#›</a:t>
            </a:fld>
            <a:endParaRPr lang="en-US"/>
          </a:p>
        </p:txBody>
      </p:sp>
    </p:spTree>
    <p:extLst>
      <p:ext uri="{BB962C8B-B14F-4D97-AF65-F5344CB8AC3E}">
        <p14:creationId xmlns:p14="http://schemas.microsoft.com/office/powerpoint/2010/main" val="31721617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733527-EF9E-5940-92CE-307645268EE1}" type="datetimeFigureOut">
              <a:rPr lang="en-US" smtClean="0"/>
              <a:t>10/27/21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73DB68-E51C-0443-B8CE-2997CF470B35}" type="slidenum">
              <a:rPr lang="en-US" smtClean="0"/>
              <a:t>‹#›</a:t>
            </a:fld>
            <a:endParaRPr lang="en-US"/>
          </a:p>
        </p:txBody>
      </p:sp>
    </p:spTree>
    <p:extLst>
      <p:ext uri="{BB962C8B-B14F-4D97-AF65-F5344CB8AC3E}">
        <p14:creationId xmlns:p14="http://schemas.microsoft.com/office/powerpoint/2010/main" val="720693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Faculty Note:</a:t>
            </a:r>
          </a:p>
          <a:p>
            <a:endParaRPr lang="en-US" b="0" u="none" dirty="0"/>
          </a:p>
          <a:p>
            <a:r>
              <a:rPr lang="en-US" b="0" u="none" dirty="0"/>
              <a:t>Enter lecture title, and subtitle if present, in the text box above. Enter name and credentials on the second line as shown. The slide background graphic for this introduction slide can be replaced with an alternate image more suited to the topic or department (this step will be handled by our graphics team in the production phase).</a:t>
            </a:r>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9357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Faculty Note:</a:t>
            </a:r>
          </a:p>
          <a:p>
            <a:endParaRPr lang="en-US" b="0" u="none" dirty="0"/>
          </a:p>
          <a:p>
            <a:r>
              <a:rPr lang="en-US" b="0" u="none" dirty="0"/>
              <a:t>Please use this area to provide notes to our design team about the content contained on the slide. Notes can include instructions on how content will be presented; types of imagery needed or desired; plan on how to describe visuals; etc.</a:t>
            </a:r>
          </a:p>
          <a:p>
            <a:endParaRPr lang="en-US" b="0" u="none" dirty="0"/>
          </a:p>
          <a:p>
            <a:r>
              <a:rPr lang="en-US" b="0" u="none" dirty="0"/>
              <a:t>Content slides come in two options depending upon what is needed – Content slide with title / Content slide without title. All content slides have a faded line and light gradient at the bottom of the slide which is meant to be empty space to display subtitles and the Michigan logo. Please keep all information out of this bottom gradient area.</a:t>
            </a:r>
          </a:p>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3</a:t>
            </a:fld>
            <a:endParaRPr lang="en-US"/>
          </a:p>
        </p:txBody>
      </p:sp>
    </p:spTree>
    <p:extLst>
      <p:ext uri="{BB962C8B-B14F-4D97-AF65-F5344CB8AC3E}">
        <p14:creationId xmlns:p14="http://schemas.microsoft.com/office/powerpoint/2010/main" val="33729754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Faculty Note:</a:t>
            </a:r>
          </a:p>
          <a:p>
            <a:endParaRPr lang="en-US" b="0" u="none" dirty="0"/>
          </a:p>
          <a:p>
            <a:r>
              <a:rPr lang="en-US" b="0" u="none" dirty="0"/>
              <a:t>Please use this area to provide notes to our design team about the content contained on the slide. Notes can include instructions on how content will be presented; types of imagery needed or desired; plan on how to describe visuals; etc.</a:t>
            </a:r>
          </a:p>
          <a:p>
            <a:endParaRPr lang="en-US" b="0" u="none" dirty="0"/>
          </a:p>
          <a:p>
            <a:r>
              <a:rPr lang="en-US" b="0" u="none" dirty="0"/>
              <a:t>Content slides come in two options depending upon what is needed – Content slide with title / Content slide without title. All content slides have a faded line and light gradient at the bottom of the slide which is meant to be empty space to display subtitles and the Michigan logo. Please keep all information out of this bottom gradient area.</a:t>
            </a:r>
          </a:p>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4</a:t>
            </a:fld>
            <a:endParaRPr lang="en-US"/>
          </a:p>
        </p:txBody>
      </p:sp>
    </p:spTree>
    <p:extLst>
      <p:ext uri="{BB962C8B-B14F-4D97-AF65-F5344CB8AC3E}">
        <p14:creationId xmlns:p14="http://schemas.microsoft.com/office/powerpoint/2010/main" val="3852648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3298559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Faculty Note:</a:t>
            </a:r>
          </a:p>
          <a:p>
            <a:endParaRPr lang="en-US" b="0" u="none" dirty="0"/>
          </a:p>
          <a:p>
            <a:r>
              <a:rPr lang="en-US" b="0" u="none" dirty="0"/>
              <a:t>Please use this area to provide notes to our design team about the content contained on the slide. Notes can include instructions on how content will be presented; types of imagery needed or desired; plan on how to describe visuals; etc.</a:t>
            </a:r>
          </a:p>
          <a:p>
            <a:endParaRPr lang="en-US" b="0" u="none" dirty="0"/>
          </a:p>
          <a:p>
            <a:r>
              <a:rPr lang="en-US" b="0" u="none" dirty="0"/>
              <a:t>Content slides come in two options depending upon what is needed – Content slide with title / Content slide without title. All content slides have a faded line and light gradient at the bottom of the slide which is meant to be empty space to display subtitles and the Michigan logo. Please keep all information out of this bottom gradient area.</a:t>
            </a:r>
          </a:p>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6</a:t>
            </a:fld>
            <a:endParaRPr lang="en-US"/>
          </a:p>
        </p:txBody>
      </p:sp>
    </p:spTree>
    <p:extLst>
      <p:ext uri="{BB962C8B-B14F-4D97-AF65-F5344CB8AC3E}">
        <p14:creationId xmlns:p14="http://schemas.microsoft.com/office/powerpoint/2010/main" val="26099269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Faculty Note:</a:t>
            </a:r>
          </a:p>
          <a:p>
            <a:endParaRPr lang="en-US" b="0" u="none" dirty="0"/>
          </a:p>
          <a:p>
            <a:r>
              <a:rPr lang="en-US" b="0" u="none" dirty="0"/>
              <a:t>Please use this area to provide notes to our design team about the content contained on the slide. Notes can include instructions on how content will be presented; types of imagery needed or desired; plan on how to describe visuals; etc.</a:t>
            </a:r>
          </a:p>
          <a:p>
            <a:endParaRPr lang="en-US" b="0" u="none" dirty="0"/>
          </a:p>
          <a:p>
            <a:r>
              <a:rPr lang="en-US" b="0" u="none" dirty="0"/>
              <a:t>Content slides come in two options depending upon what is needed – Content slide with title / Content slide without title. All content slides have a faded line and light gradient at the bottom of the slide which is meant to be empty space to display subtitles and the Michigan logo. Please keep all information out of this bottom gradient area.</a:t>
            </a:r>
          </a:p>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7</a:t>
            </a:fld>
            <a:endParaRPr lang="en-US"/>
          </a:p>
        </p:txBody>
      </p:sp>
    </p:spTree>
    <p:extLst>
      <p:ext uri="{BB962C8B-B14F-4D97-AF65-F5344CB8AC3E}">
        <p14:creationId xmlns:p14="http://schemas.microsoft.com/office/powerpoint/2010/main" val="42785851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spect="1" noChangeArrowheads="1" noTextEdit="1"/>
          </p:cNvSpPr>
          <p:nvPr>
            <p:ph type="sldImg"/>
          </p:nvPr>
        </p:nvSpPr>
        <p:spPr>
          <a:xfrm>
            <a:off x="528638" y="806450"/>
            <a:ext cx="5810250" cy="3268663"/>
          </a:xfrm>
          <a:ln/>
        </p:spPr>
      </p:sp>
      <p:sp>
        <p:nvSpPr>
          <p:cNvPr id="921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0213011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noChangeAspect="1" noChangeArrowheads="1" noTextEdit="1"/>
          </p:cNvSpPr>
          <p:nvPr>
            <p:ph type="sldImg"/>
          </p:nvPr>
        </p:nvSpPr>
        <p:spPr>
          <a:xfrm>
            <a:off x="528638" y="806450"/>
            <a:ext cx="5810250" cy="3268663"/>
          </a:xfrm>
          <a:ln/>
        </p:spPr>
      </p:sp>
      <p:sp>
        <p:nvSpPr>
          <p:cNvPr id="1126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SIMAPRO PROCESSES TAKEN FROM SIMAPRO DEMO VERSION (i.e. pre Ecoinvent 2.0):</a:t>
            </a:r>
          </a:p>
          <a:p>
            <a:r>
              <a:rPr lang="en-US" altLang="en-US" sz="800">
                <a:latin typeface="Arial" panose="020B0604020202020204" pitchFamily="34" charset="0"/>
              </a:rPr>
              <a:t>Electricity, production mix DE (Ecoinvent)  [originally, Electricity mix W-D U (ETH-ESU 96), but that didn’t work anymore]</a:t>
            </a:r>
          </a:p>
          <a:p>
            <a:r>
              <a:rPr lang="en-US" altLang="en-US" sz="800">
                <a:latin typeface="Arial" panose="020B0604020202020204" pitchFamily="34" charset="0"/>
              </a:rPr>
              <a:t>PP ETH U (ETH-ESU 96)</a:t>
            </a:r>
          </a:p>
          <a:p>
            <a:r>
              <a:rPr lang="en-US" altLang="en-US" sz="800">
                <a:latin typeface="Arial" panose="020B0604020202020204" pitchFamily="34" charset="0"/>
              </a:rPr>
              <a:t>Cast iron ETH U (ETH-ESU 96)</a:t>
            </a:r>
          </a:p>
          <a:p>
            <a:r>
              <a:rPr lang="en-US" altLang="en-US" sz="800">
                <a:latin typeface="Arial" panose="020B0604020202020204" pitchFamily="34" charset="0"/>
              </a:rPr>
              <a:t>Steel low alloy ETH U (ETH-ESU 96)</a:t>
            </a:r>
          </a:p>
          <a:p>
            <a:r>
              <a:rPr lang="en-US" altLang="en-US" sz="800">
                <a:latin typeface="Arial" panose="020B0604020202020204" pitchFamily="34" charset="0"/>
              </a:rPr>
              <a:t>Paper ETH U (ETH-ESU 96)</a:t>
            </a:r>
          </a:p>
          <a:p>
            <a:r>
              <a:rPr lang="en-US" altLang="en-US" sz="800">
                <a:latin typeface="Arial" panose="020B0604020202020204" pitchFamily="34" charset="0"/>
              </a:rPr>
              <a:t>Transport, lorry 16t/RER U (Ecoinvent unit processes)</a:t>
            </a:r>
          </a:p>
          <a:p>
            <a:r>
              <a:rPr lang="en-US" altLang="en-US" sz="800">
                <a:latin typeface="Arial" panose="020B0604020202020204" pitchFamily="34" charset="0"/>
              </a:rPr>
              <a:t>Disposal, polypropylene, 15.9% water, to sanitary landfill/CH S (Ecoinvent system processes)</a:t>
            </a:r>
          </a:p>
          <a:p>
            <a:r>
              <a:rPr lang="en-US" altLang="en-US" sz="800">
                <a:latin typeface="Arial" panose="020B0604020202020204" pitchFamily="34" charset="0"/>
              </a:rPr>
              <a:t>Disposal, steel, 0% water, to inert material landfill/Ch U (Ecoinvent unit processes)</a:t>
            </a:r>
          </a:p>
          <a:p>
            <a:r>
              <a:rPr lang="en-US" altLang="en-US" sz="800">
                <a:latin typeface="Arial" panose="020B0604020202020204" pitchFamily="34" charset="0"/>
              </a:rPr>
              <a:t>Disposal, paper, 11.2% water, to sanitary landfill/CH U (Ecoinvent unit processes)</a:t>
            </a:r>
          </a:p>
          <a:p>
            <a:r>
              <a:rPr lang="en-US" altLang="en-US" sz="800">
                <a:latin typeface="Arial" panose="020B0604020202020204" pitchFamily="34" charset="0"/>
              </a:rPr>
              <a:t>Disposal, paper, 11.2% water, to municipal incineration/CH U (Ecoinvent unit processes)</a:t>
            </a:r>
          </a:p>
          <a:p>
            <a:endParaRPr lang="en-US" altLang="en-US" sz="800">
              <a:latin typeface="Arial" panose="020B0604020202020204" pitchFamily="34" charset="0"/>
            </a:endParaRPr>
          </a:p>
        </p:txBody>
      </p:sp>
    </p:spTree>
    <p:extLst>
      <p:ext uri="{BB962C8B-B14F-4D97-AF65-F5344CB8AC3E}">
        <p14:creationId xmlns:p14="http://schemas.microsoft.com/office/powerpoint/2010/main" val="44195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2802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shown in video)">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Click to edit Master title style</a:t>
            </a:r>
          </a:p>
        </p:txBody>
      </p:sp>
      <p:sp>
        <p:nvSpPr>
          <p:cNvPr id="11" name="Text Placeholder 10"/>
          <p:cNvSpPr>
            <a:spLocks noGrp="1"/>
          </p:cNvSpPr>
          <p:nvPr>
            <p:ph type="body" sz="quarter" idx="10"/>
          </p:nvPr>
        </p:nvSpPr>
        <p:spPr>
          <a:xfrm>
            <a:off x="879475" y="1405719"/>
            <a:ext cx="14630400" cy="6373505"/>
          </a:xfrm>
        </p:spPr>
        <p:txBody>
          <a:bodyPr/>
          <a:lstStyle/>
          <a:p>
            <a:pPr lvl="0"/>
            <a:r>
              <a:rPr lang="en-US" dirty="0"/>
              <a:t>Edit Master text styles</a:t>
            </a:r>
          </a:p>
        </p:txBody>
      </p:sp>
    </p:spTree>
    <p:extLst>
      <p:ext uri="{BB962C8B-B14F-4D97-AF65-F5344CB8AC3E}">
        <p14:creationId xmlns:p14="http://schemas.microsoft.com/office/powerpoint/2010/main" val="869590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sldNum" sz="quarter" idx="10"/>
          </p:nvPr>
        </p:nvSpPr>
        <p:spPr>
          <a:ln/>
        </p:spPr>
        <p:txBody>
          <a:bodyPr/>
          <a:lstStyle>
            <a:lvl1pPr>
              <a:defRPr/>
            </a:lvl1pPr>
          </a:lstStyle>
          <a:p>
            <a:pPr>
              <a:defRPr/>
            </a:pPr>
            <a:fld id="{A3B33E8A-D9FE-4ADA-A6F9-338849F03302}" type="slidenum">
              <a:rPr lang="en-US" altLang="en-US"/>
              <a:pPr>
                <a:defRPr/>
              </a:pPr>
              <a:t>‹#›</a:t>
            </a:fld>
            <a:endParaRPr lang="en-US" altLang="en-US"/>
          </a:p>
        </p:txBody>
      </p:sp>
      <p:sp>
        <p:nvSpPr>
          <p:cNvPr id="5" name="Rectangle 10"/>
          <p:cNvSpPr>
            <a:spLocks noGrp="1" noChangeArrowheads="1"/>
          </p:cNvSpPr>
          <p:nvPr>
            <p:ph type="ftr" sz="quarter" idx="11"/>
          </p:nvPr>
        </p:nvSpPr>
        <p:spPr>
          <a:ln/>
        </p:spPr>
        <p:txBody>
          <a:bodyPr/>
          <a:lstStyle>
            <a:lvl1pPr>
              <a:defRPr/>
            </a:lvl1pPr>
          </a:lstStyle>
          <a:p>
            <a:pPr>
              <a:defRPr/>
            </a:pPr>
            <a:r>
              <a:rPr lang="en-US"/>
              <a:t>iMod Group – Prof. Olivier Jolliet</a:t>
            </a:r>
          </a:p>
        </p:txBody>
      </p:sp>
    </p:spTree>
    <p:extLst>
      <p:ext uri="{BB962C8B-B14F-4D97-AF65-F5344CB8AC3E}">
        <p14:creationId xmlns:p14="http://schemas.microsoft.com/office/powerpoint/2010/main" val="2026276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 y="347133"/>
            <a:ext cx="16251943" cy="1176867"/>
          </a:xfrm>
        </p:spPr>
        <p:txBody>
          <a:bodyPr/>
          <a:lstStyle/>
          <a:p>
            <a:r>
              <a:rPr lang="en-US"/>
              <a:t>Click to edit Master title style</a:t>
            </a:r>
          </a:p>
        </p:txBody>
      </p:sp>
      <p:sp>
        <p:nvSpPr>
          <p:cNvPr id="3" name="Text Placeholder 2"/>
          <p:cNvSpPr>
            <a:spLocks noGrp="1"/>
          </p:cNvSpPr>
          <p:nvPr>
            <p:ph type="body" sz="half" idx="1"/>
          </p:nvPr>
        </p:nvSpPr>
        <p:spPr>
          <a:xfrm>
            <a:off x="812879" y="2133601"/>
            <a:ext cx="7180435" cy="60346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8264274" y="2133600"/>
            <a:ext cx="7180435" cy="2914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8264274" y="5251451"/>
            <a:ext cx="7180435" cy="29167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sldNum" sz="quarter" idx="10"/>
          </p:nvPr>
        </p:nvSpPr>
        <p:spPr>
          <a:ln/>
        </p:spPr>
        <p:txBody>
          <a:bodyPr/>
          <a:lstStyle>
            <a:lvl1pPr>
              <a:defRPr/>
            </a:lvl1pPr>
          </a:lstStyle>
          <a:p>
            <a:pPr>
              <a:defRPr/>
            </a:pPr>
            <a:fld id="{D117F4C4-609F-4EF2-BA7E-D0D5DD9807F4}" type="slidenum">
              <a:rPr lang="en-US" altLang="en-US"/>
              <a:pPr>
                <a:defRPr/>
              </a:pPr>
              <a:t>‹#›</a:t>
            </a:fld>
            <a:endParaRPr lang="en-US" altLang="en-US"/>
          </a:p>
        </p:txBody>
      </p:sp>
      <p:sp>
        <p:nvSpPr>
          <p:cNvPr id="7" name="Rectangle 10"/>
          <p:cNvSpPr>
            <a:spLocks noGrp="1" noChangeArrowheads="1"/>
          </p:cNvSpPr>
          <p:nvPr>
            <p:ph type="ftr" sz="quarter" idx="11"/>
          </p:nvPr>
        </p:nvSpPr>
        <p:spPr>
          <a:ln/>
        </p:spPr>
        <p:txBody>
          <a:bodyPr/>
          <a:lstStyle>
            <a:lvl1pPr>
              <a:defRPr/>
            </a:lvl1pPr>
          </a:lstStyle>
          <a:p>
            <a:pPr>
              <a:defRPr/>
            </a:pPr>
            <a:r>
              <a:rPr lang="en-US"/>
              <a:t>iMod Group – Prof. Olivier Jolliet</a:t>
            </a:r>
          </a:p>
        </p:txBody>
      </p:sp>
    </p:spTree>
    <p:extLst>
      <p:ext uri="{BB962C8B-B14F-4D97-AF65-F5344CB8AC3E}">
        <p14:creationId xmlns:p14="http://schemas.microsoft.com/office/powerpoint/2010/main" val="2356048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ln/>
        </p:spPr>
        <p:txBody>
          <a:bodyPr/>
          <a:lstStyle>
            <a:lvl1pPr>
              <a:defRPr/>
            </a:lvl1pPr>
          </a:lstStyle>
          <a:p>
            <a:fld id="{E93B372D-7977-4D07-ADCE-3545590E25A9}" type="slidenum">
              <a:rPr lang="en-US" altLang="en-US">
                <a:solidFill>
                  <a:srgbClr val="000000"/>
                </a:solidFill>
              </a:rPr>
              <a:pPr/>
              <a:t>‹#›</a:t>
            </a:fld>
            <a:endParaRPr lang="en-US" altLang="en-US">
              <a:solidFill>
                <a:srgbClr val="000000"/>
              </a:solidFill>
            </a:endParaRPr>
          </a:p>
        </p:txBody>
      </p:sp>
      <p:sp>
        <p:nvSpPr>
          <p:cNvPr id="3" name="Rectangle 10"/>
          <p:cNvSpPr>
            <a:spLocks noGrp="1" noChangeArrowheads="1"/>
          </p:cNvSpPr>
          <p:nvPr>
            <p:ph type="ftr" sz="quarter" idx="11"/>
          </p:nvPr>
        </p:nvSpPr>
        <p:spPr>
          <a:ln/>
        </p:spPr>
        <p:txBody>
          <a:bodyPr/>
          <a:lstStyle>
            <a:lvl1pPr>
              <a:defRPr/>
            </a:lvl1pPr>
          </a:lstStyle>
          <a:p>
            <a:pPr>
              <a:defRPr/>
            </a:pPr>
            <a:r>
              <a:rPr lang="en-US"/>
              <a:t>iMod Group – Prof. Olivier Jolliet</a:t>
            </a:r>
          </a:p>
        </p:txBody>
      </p:sp>
    </p:spTree>
    <p:extLst>
      <p:ext uri="{BB962C8B-B14F-4D97-AF65-F5344CB8AC3E}">
        <p14:creationId xmlns:p14="http://schemas.microsoft.com/office/powerpoint/2010/main" val="2547532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 y="347133"/>
            <a:ext cx="16251943" cy="1176867"/>
          </a:xfrm>
        </p:spPr>
        <p:txBody>
          <a:bodyPr/>
          <a:lstStyle/>
          <a:p>
            <a:r>
              <a:rPr lang="en-US"/>
              <a:t>Click to edit Master title style</a:t>
            </a:r>
          </a:p>
        </p:txBody>
      </p:sp>
      <p:sp>
        <p:nvSpPr>
          <p:cNvPr id="3" name="Table Placeholder 2"/>
          <p:cNvSpPr>
            <a:spLocks noGrp="1"/>
          </p:cNvSpPr>
          <p:nvPr>
            <p:ph type="tbl" idx="1"/>
          </p:nvPr>
        </p:nvSpPr>
        <p:spPr>
          <a:xfrm>
            <a:off x="812880" y="2133602"/>
            <a:ext cx="14631829" cy="6034617"/>
          </a:xfrm>
        </p:spPr>
        <p:txBody>
          <a:bodyPr/>
          <a:lstStyle/>
          <a:p>
            <a:pPr lvl="0"/>
            <a:endParaRPr lang="en-US" noProof="0"/>
          </a:p>
        </p:txBody>
      </p:sp>
      <p:sp>
        <p:nvSpPr>
          <p:cNvPr id="4" name="Rectangle 4"/>
          <p:cNvSpPr>
            <a:spLocks noGrp="1" noChangeArrowheads="1"/>
          </p:cNvSpPr>
          <p:nvPr>
            <p:ph type="sldNum" sz="quarter" idx="10"/>
          </p:nvPr>
        </p:nvSpPr>
        <p:spPr>
          <a:ln/>
        </p:spPr>
        <p:txBody>
          <a:bodyPr/>
          <a:lstStyle>
            <a:lvl1pPr>
              <a:defRPr/>
            </a:lvl1pPr>
          </a:lstStyle>
          <a:p>
            <a:fld id="{EC3CAD2F-489C-4185-A600-C01CA78C618A}" type="slidenum">
              <a:rPr lang="en-US" altLang="en-US"/>
              <a:pPr/>
              <a:t>‹#›</a:t>
            </a:fld>
            <a:endParaRPr lang="en-US" altLang="en-US"/>
          </a:p>
        </p:txBody>
      </p:sp>
      <p:sp>
        <p:nvSpPr>
          <p:cNvPr id="5" name="Rectangle 10"/>
          <p:cNvSpPr>
            <a:spLocks noGrp="1" noChangeArrowheads="1"/>
          </p:cNvSpPr>
          <p:nvPr>
            <p:ph type="ftr" sz="quarter" idx="11"/>
          </p:nvPr>
        </p:nvSpPr>
        <p:spPr>
          <a:ln/>
        </p:spPr>
        <p:txBody>
          <a:bodyPr/>
          <a:lstStyle>
            <a:lvl1pPr>
              <a:defRPr/>
            </a:lvl1pPr>
          </a:lstStyle>
          <a:p>
            <a:pPr>
              <a:defRPr/>
            </a:pPr>
            <a:r>
              <a:rPr lang="en-US"/>
              <a:t>iMod Group – Prof. Olivier Jolliet</a:t>
            </a:r>
          </a:p>
        </p:txBody>
      </p:sp>
    </p:spTree>
    <p:extLst>
      <p:ext uri="{BB962C8B-B14F-4D97-AF65-F5344CB8AC3E}">
        <p14:creationId xmlns:p14="http://schemas.microsoft.com/office/powerpoint/2010/main" val="1615601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slide (shown in video)">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B94A1462-55F6-494B-8554-951DED06E28A}"/>
              </a:ext>
            </a:extLst>
          </p:cNvPr>
          <p:cNvSpPr>
            <a:spLocks noGrp="1"/>
          </p:cNvSpPr>
          <p:nvPr>
            <p:ph idx="1"/>
          </p:nvPr>
        </p:nvSpPr>
        <p:spPr>
          <a:xfrm>
            <a:off x="878783" y="386862"/>
            <a:ext cx="14631828" cy="7389165"/>
          </a:xfrm>
          <a:prstGeom prst="rect">
            <a:avLst/>
          </a:prstGeom>
        </p:spPr>
        <p:txBody>
          <a:bodyPr vert="horz" lIns="91440" tIns="45720" rIns="91440" bIns="45720" rtlCol="0">
            <a:normAutofit/>
          </a:bodyPr>
          <a:lstStyle/>
          <a:p>
            <a:pPr lvl="0"/>
            <a:r>
              <a:rPr lang="en-US" dirty="0"/>
              <a:t>Edit Master text styles</a:t>
            </a:r>
          </a:p>
        </p:txBody>
      </p:sp>
    </p:spTree>
    <p:extLst>
      <p:ext uri="{BB962C8B-B14F-4D97-AF65-F5344CB8AC3E}">
        <p14:creationId xmlns:p14="http://schemas.microsoft.com/office/powerpoint/2010/main" val="3604544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slide (shown in video)">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Click to edit Master title style</a:t>
            </a:r>
          </a:p>
        </p:txBody>
      </p:sp>
      <p:sp>
        <p:nvSpPr>
          <p:cNvPr id="11" name="Text Placeholder 10"/>
          <p:cNvSpPr>
            <a:spLocks noGrp="1"/>
          </p:cNvSpPr>
          <p:nvPr>
            <p:ph type="body" sz="quarter" idx="10"/>
          </p:nvPr>
        </p:nvSpPr>
        <p:spPr>
          <a:xfrm>
            <a:off x="879475" y="1405719"/>
            <a:ext cx="14630400" cy="6373505"/>
          </a:xfrm>
        </p:spPr>
        <p:txBody>
          <a:bodyPr/>
          <a:lstStyle/>
          <a:p>
            <a:pPr lvl="0"/>
            <a:r>
              <a:rPr lang="en-US" dirty="0"/>
              <a:t>Edit Master text styles</a:t>
            </a:r>
          </a:p>
        </p:txBody>
      </p:sp>
    </p:spTree>
    <p:extLst>
      <p:ext uri="{BB962C8B-B14F-4D97-AF65-F5344CB8AC3E}">
        <p14:creationId xmlns:p14="http://schemas.microsoft.com/office/powerpoint/2010/main" val="2738806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resenter notes (not to be shown in video)">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581665" y="1301578"/>
            <a:ext cx="13007546" cy="5807676"/>
          </a:xfrm>
        </p:spPr>
        <p:txBody>
          <a:bodyPr/>
          <a:lstStyle>
            <a:lvl1pPr marL="0" indent="0">
              <a:buNone/>
              <a:defRPr/>
            </a:lvl1pPr>
          </a:lstStyle>
          <a:p>
            <a:pPr lvl="0"/>
            <a:r>
              <a:rPr lang="en-US" dirty="0"/>
              <a:t>Edit Master text styles</a:t>
            </a:r>
          </a:p>
        </p:txBody>
      </p:sp>
    </p:spTree>
    <p:extLst>
      <p:ext uri="{BB962C8B-B14F-4D97-AF65-F5344CB8AC3E}">
        <p14:creationId xmlns:p14="http://schemas.microsoft.com/office/powerpoint/2010/main" val="13474145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7.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8.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27000">
              <a:srgbClr val="ECECEC"/>
            </a:gs>
            <a:gs pos="80000">
              <a:schemeClr val="bg1"/>
            </a:gs>
            <a:gs pos="2000">
              <a:schemeClr val="bg1">
                <a:lumMod val="50000"/>
              </a:schemeClr>
            </a:gs>
          </a:gsLst>
          <a:lin ang="16200000" scaled="0"/>
          <a:tileRect/>
        </a:gra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3"/>
          <a:srcRect l="329" r="247"/>
          <a:stretch/>
        </p:blipFill>
        <p:spPr>
          <a:xfrm>
            <a:off x="0" y="-3810"/>
            <a:ext cx="16284389" cy="9151620"/>
          </a:xfrm>
          <a:prstGeom prst="rect">
            <a:avLst/>
          </a:prstGeom>
        </p:spPr>
      </p:pic>
    </p:spTree>
    <p:extLst>
      <p:ext uri="{BB962C8B-B14F-4D97-AF65-F5344CB8AC3E}">
        <p14:creationId xmlns:p14="http://schemas.microsoft.com/office/powerpoint/2010/main" val="799904919"/>
      </p:ext>
    </p:extLst>
  </p:cSld>
  <p:clrMap bg1="lt1" tx1="dk1" bg2="lt2" tx2="dk2" accent1="accent1" accent2="accent2" accent3="accent3" accent4="accent4" accent5="accent5" accent6="accent6" hlink="hlink" folHlink="folHlink"/>
  <p:sldLayoutIdLst>
    <p:sldLayoutId id="2147483819"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78783" y="1405719"/>
            <a:ext cx="14631828" cy="6370308"/>
          </a:xfrm>
          <a:prstGeom prst="rect">
            <a:avLst/>
          </a:prstGeom>
        </p:spPr>
        <p:txBody>
          <a:bodyPr vert="horz" lIns="91440" tIns="45720" rIns="91440" bIns="45720" rtlCol="0">
            <a:normAutofit/>
          </a:bodyPr>
          <a:lstStyle/>
          <a:p>
            <a:pPr lvl="0"/>
            <a:r>
              <a:rPr lang="en-US" dirty="0"/>
              <a:t>Edit Master text styles</a:t>
            </a:r>
          </a:p>
        </p:txBody>
      </p:sp>
      <p:sp>
        <p:nvSpPr>
          <p:cNvPr id="3" name="Title Placeholder 2"/>
          <p:cNvSpPr>
            <a:spLocks noGrp="1"/>
          </p:cNvSpPr>
          <p:nvPr>
            <p:ph type="title"/>
          </p:nvPr>
        </p:nvSpPr>
        <p:spPr>
          <a:xfrm>
            <a:off x="878783" y="272169"/>
            <a:ext cx="14631828" cy="870385"/>
          </a:xfrm>
          <a:prstGeom prst="rect">
            <a:avLst/>
          </a:prstGeom>
        </p:spPr>
        <p:txBody>
          <a:bodyPr vert="horz" lIns="91440" tIns="45720" rIns="91440" bIns="45720" rtlCol="0" anchor="ctr">
            <a:noAutofit/>
          </a:bodyPr>
          <a:lstStyle/>
          <a:p>
            <a:r>
              <a:rPr lang="en-US" dirty="0"/>
              <a:t>Click to edit Master title style</a:t>
            </a:r>
          </a:p>
        </p:txBody>
      </p:sp>
      <p:sp>
        <p:nvSpPr>
          <p:cNvPr id="10" name="Rectangle 9">
            <a:extLst>
              <a:ext uri="{FF2B5EF4-FFF2-40B4-BE49-F238E27FC236}">
                <a16:creationId xmlns:a16="http://schemas.microsoft.com/office/drawing/2014/main" id="{E0D8E102-C795-3941-9125-C4D5BBD0193F}"/>
              </a:ext>
            </a:extLst>
          </p:cNvPr>
          <p:cNvSpPr/>
          <p:nvPr userDrawn="1"/>
        </p:nvSpPr>
        <p:spPr>
          <a:xfrm>
            <a:off x="0" y="0"/>
            <a:ext cx="16257588" cy="224918"/>
          </a:xfrm>
          <a:prstGeom prst="rect">
            <a:avLst/>
          </a:prstGeom>
          <a:gradFill>
            <a:gsLst>
              <a:gs pos="63000">
                <a:srgbClr val="00274C"/>
              </a:gs>
              <a:gs pos="0">
                <a:srgbClr val="587ABC"/>
              </a:gs>
            </a:gsLst>
            <a:lin ang="0" scaled="0"/>
          </a:gra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9BB45DA2-7C42-8445-AD00-272875B751FD}"/>
              </a:ext>
            </a:extLst>
          </p:cNvPr>
          <p:cNvCxnSpPr>
            <a:cxnSpLocks/>
          </p:cNvCxnSpPr>
          <p:nvPr userDrawn="1"/>
        </p:nvCxnSpPr>
        <p:spPr>
          <a:xfrm>
            <a:off x="1023582" y="1210794"/>
            <a:ext cx="14343797" cy="0"/>
          </a:xfrm>
          <a:prstGeom prst="line">
            <a:avLst/>
          </a:prstGeom>
          <a:ln w="381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BF1E5EF9-7466-AC4A-8B9B-8C26E6EB2668}"/>
              </a:ext>
            </a:extLst>
          </p:cNvPr>
          <p:cNvSpPr/>
          <p:nvPr userDrawn="1"/>
        </p:nvSpPr>
        <p:spPr>
          <a:xfrm>
            <a:off x="0" y="7776027"/>
            <a:ext cx="16257588" cy="1367973"/>
          </a:xfrm>
          <a:prstGeom prst="rect">
            <a:avLst/>
          </a:prstGeom>
          <a:gradFill>
            <a:gsLst>
              <a:gs pos="100000">
                <a:schemeClr val="bg1"/>
              </a:gs>
              <a:gs pos="8000">
                <a:srgbClr val="E4E1DF"/>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50E2D098-25F8-1B47-A897-734EE7598560}"/>
              </a:ext>
            </a:extLst>
          </p:cNvPr>
          <p:cNvCxnSpPr/>
          <p:nvPr userDrawn="1"/>
        </p:nvCxnSpPr>
        <p:spPr>
          <a:xfrm>
            <a:off x="0" y="7758806"/>
            <a:ext cx="16257588" cy="0"/>
          </a:xfrm>
          <a:prstGeom prst="line">
            <a:avLst/>
          </a:prstGeom>
          <a:ln w="9525">
            <a:solidFill>
              <a:srgbClr val="E4E1DF">
                <a:alpha val="30000"/>
              </a:srgb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6842840"/>
      </p:ext>
    </p:extLst>
  </p:cSld>
  <p:clrMap bg1="lt1" tx1="dk1" bg2="lt2" tx2="dk2" accent1="accent1" accent2="accent2" accent3="accent3" accent4="accent4" accent5="accent5" accent6="accent6" hlink="hlink" folHlink="folHlink"/>
  <p:sldLayoutIdLst>
    <p:sldLayoutId id="2147483791" r:id="rId1"/>
    <p:sldLayoutId id="2147483810" r:id="rId2"/>
    <p:sldLayoutId id="2147483812" r:id="rId3"/>
    <p:sldLayoutId id="2147483820" r:id="rId4"/>
    <p:sldLayoutId id="2147483821" r:id="rId5"/>
  </p:sldLayoutIdLst>
  <p:txStyles>
    <p:titleStyle>
      <a:lvl1pPr algn="l" defTabSz="457200" rtl="0" eaLnBrk="1" latinLnBrk="0" hangingPunct="1">
        <a:spcBef>
          <a:spcPct val="0"/>
        </a:spcBef>
        <a:buNone/>
        <a:defRPr sz="4400" kern="1200">
          <a:solidFill>
            <a:srgbClr val="00274C"/>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E75BEE-68E8-7E41-9537-113B0DA1B9A2}"/>
              </a:ext>
            </a:extLst>
          </p:cNvPr>
          <p:cNvSpPr/>
          <p:nvPr userDrawn="1"/>
        </p:nvSpPr>
        <p:spPr>
          <a:xfrm>
            <a:off x="0" y="7776027"/>
            <a:ext cx="16257588" cy="1367973"/>
          </a:xfrm>
          <a:prstGeom prst="rect">
            <a:avLst/>
          </a:prstGeom>
          <a:gradFill>
            <a:gsLst>
              <a:gs pos="100000">
                <a:schemeClr val="bg1"/>
              </a:gs>
              <a:gs pos="8000">
                <a:srgbClr val="E4E1DF"/>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AEABBCB0-652C-4D4B-9603-135F326E9486}"/>
              </a:ext>
            </a:extLst>
          </p:cNvPr>
          <p:cNvCxnSpPr/>
          <p:nvPr userDrawn="1"/>
        </p:nvCxnSpPr>
        <p:spPr>
          <a:xfrm>
            <a:off x="0" y="7758806"/>
            <a:ext cx="16257588" cy="0"/>
          </a:xfrm>
          <a:prstGeom prst="line">
            <a:avLst/>
          </a:prstGeom>
          <a:ln w="9525">
            <a:solidFill>
              <a:srgbClr val="E4E1DF">
                <a:alpha val="30000"/>
              </a:srgbClr>
            </a:solidFill>
          </a:ln>
        </p:spPr>
        <p:style>
          <a:lnRef idx="2">
            <a:schemeClr val="accent1"/>
          </a:lnRef>
          <a:fillRef idx="0">
            <a:schemeClr val="accent1"/>
          </a:fillRef>
          <a:effectRef idx="1">
            <a:schemeClr val="accent1"/>
          </a:effectRef>
          <a:fontRef idx="minor">
            <a:schemeClr val="tx1"/>
          </a:fontRef>
        </p:style>
      </p:cxnSp>
      <p:sp>
        <p:nvSpPr>
          <p:cNvPr id="6" name="Text Placeholder 1">
            <a:extLst>
              <a:ext uri="{FF2B5EF4-FFF2-40B4-BE49-F238E27FC236}">
                <a16:creationId xmlns:a16="http://schemas.microsoft.com/office/drawing/2014/main" id="{3FF513C8-0BD3-FA4B-8D9A-FB9C21ECBC36}"/>
              </a:ext>
            </a:extLst>
          </p:cNvPr>
          <p:cNvSpPr>
            <a:spLocks noGrp="1"/>
          </p:cNvSpPr>
          <p:nvPr>
            <p:ph type="body" idx="1"/>
          </p:nvPr>
        </p:nvSpPr>
        <p:spPr>
          <a:xfrm>
            <a:off x="878783" y="386862"/>
            <a:ext cx="14631828" cy="7389165"/>
          </a:xfrm>
          <a:prstGeom prst="rect">
            <a:avLst/>
          </a:prstGeom>
        </p:spPr>
        <p:txBody>
          <a:bodyPr vert="horz" lIns="91440" tIns="45720" rIns="91440" bIns="45720" rtlCol="0">
            <a:normAutofit/>
          </a:bodyPr>
          <a:lstStyle/>
          <a:p>
            <a:pPr lvl="0"/>
            <a:r>
              <a:rPr lang="en-US" dirty="0"/>
              <a:t>Edit Master text styles</a:t>
            </a:r>
          </a:p>
        </p:txBody>
      </p:sp>
    </p:spTree>
    <p:extLst>
      <p:ext uri="{BB962C8B-B14F-4D97-AF65-F5344CB8AC3E}">
        <p14:creationId xmlns:p14="http://schemas.microsoft.com/office/powerpoint/2010/main" val="1262599898"/>
      </p:ext>
    </p:extLst>
  </p:cSld>
  <p:clrMap bg1="lt1" tx1="dk1" bg2="lt2" tx2="dk2" accent1="accent1" accent2="accent2" accent3="accent3" accent4="accent4" accent5="accent5" accent6="accent6" hlink="hlink" folHlink="folHlink"/>
  <p:sldLayoutIdLst>
    <p:sldLayoutId id="2147483807" r:id="rId1"/>
  </p:sldLayoutIdLst>
  <p:txStyles>
    <p:titleStyle>
      <a:lvl1pPr algn="l" defTabSz="457200" rtl="0" eaLnBrk="1" latinLnBrk="0" hangingPunct="1">
        <a:spcBef>
          <a:spcPct val="0"/>
        </a:spcBef>
        <a:buNone/>
        <a:defRPr sz="4400" kern="1200">
          <a:solidFill>
            <a:srgbClr val="00274C"/>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78783" y="1405719"/>
            <a:ext cx="9489860" cy="6370308"/>
          </a:xfrm>
          <a:prstGeom prst="rect">
            <a:avLst/>
          </a:prstGeom>
        </p:spPr>
        <p:txBody>
          <a:bodyPr vert="horz" lIns="91440" tIns="45720" rIns="91440" bIns="45720" rtlCol="0">
            <a:normAutofit/>
          </a:bodyPr>
          <a:lstStyle/>
          <a:p>
            <a:pPr lvl="0"/>
            <a:r>
              <a:rPr lang="en-US" dirty="0"/>
              <a:t>Edit Master text styles</a:t>
            </a:r>
          </a:p>
        </p:txBody>
      </p:sp>
      <p:sp>
        <p:nvSpPr>
          <p:cNvPr id="3" name="Title Placeholder 2"/>
          <p:cNvSpPr>
            <a:spLocks noGrp="1"/>
          </p:cNvSpPr>
          <p:nvPr>
            <p:ph type="title"/>
          </p:nvPr>
        </p:nvSpPr>
        <p:spPr>
          <a:xfrm>
            <a:off x="878783" y="272169"/>
            <a:ext cx="9489860" cy="870385"/>
          </a:xfrm>
          <a:prstGeom prst="rect">
            <a:avLst/>
          </a:prstGeom>
        </p:spPr>
        <p:txBody>
          <a:bodyPr vert="horz" lIns="91440" tIns="45720" rIns="91440" bIns="45720" rtlCol="0" anchor="ctr">
            <a:noAutofit/>
          </a:bodyPr>
          <a:lstStyle/>
          <a:p>
            <a:r>
              <a:rPr lang="en-US" dirty="0"/>
              <a:t>Click to edit Master title style</a:t>
            </a:r>
          </a:p>
        </p:txBody>
      </p:sp>
      <p:sp>
        <p:nvSpPr>
          <p:cNvPr id="6" name="Rectangle 5">
            <a:extLst>
              <a:ext uri="{FF2B5EF4-FFF2-40B4-BE49-F238E27FC236}">
                <a16:creationId xmlns:a16="http://schemas.microsoft.com/office/drawing/2014/main" id="{22C5F1F8-1280-884E-8894-968C107F09E4}"/>
              </a:ext>
            </a:extLst>
          </p:cNvPr>
          <p:cNvSpPr/>
          <p:nvPr userDrawn="1"/>
        </p:nvSpPr>
        <p:spPr>
          <a:xfrm>
            <a:off x="0" y="7776027"/>
            <a:ext cx="16257588" cy="1367973"/>
          </a:xfrm>
          <a:prstGeom prst="rect">
            <a:avLst/>
          </a:prstGeom>
          <a:gradFill>
            <a:gsLst>
              <a:gs pos="100000">
                <a:schemeClr val="bg1"/>
              </a:gs>
              <a:gs pos="8000">
                <a:srgbClr val="E4E1DF"/>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7" name="Straight Connector 6">
            <a:extLst>
              <a:ext uri="{FF2B5EF4-FFF2-40B4-BE49-F238E27FC236}">
                <a16:creationId xmlns:a16="http://schemas.microsoft.com/office/drawing/2014/main" id="{1F80828F-C4E5-CD4A-8C1F-761E9B421162}"/>
              </a:ext>
            </a:extLst>
          </p:cNvPr>
          <p:cNvCxnSpPr/>
          <p:nvPr userDrawn="1"/>
        </p:nvCxnSpPr>
        <p:spPr>
          <a:xfrm>
            <a:off x="0" y="7758806"/>
            <a:ext cx="16257588" cy="0"/>
          </a:xfrm>
          <a:prstGeom prst="line">
            <a:avLst/>
          </a:prstGeom>
          <a:ln w="9525">
            <a:solidFill>
              <a:srgbClr val="E4E1DF">
                <a:alpha val="30000"/>
              </a:srgb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0462567"/>
      </p:ext>
    </p:extLst>
  </p:cSld>
  <p:clrMap bg1="lt1" tx1="dk1" bg2="lt2" tx2="dk2" accent1="accent1" accent2="accent2" accent3="accent3" accent4="accent4" accent5="accent5" accent6="accent6" hlink="hlink" folHlink="folHlink"/>
  <p:sldLayoutIdLst>
    <p:sldLayoutId id="2147483809" r:id="rId1"/>
  </p:sldLayoutIdLst>
  <p:txStyles>
    <p:titleStyle>
      <a:lvl1pPr algn="l" defTabSz="457200" rtl="0" eaLnBrk="1" latinLnBrk="0" hangingPunct="1">
        <a:spcBef>
          <a:spcPct val="0"/>
        </a:spcBef>
        <a:buNone/>
        <a:defRPr sz="4400" kern="1200">
          <a:solidFill>
            <a:srgbClr val="00274C"/>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7" name="Text Placeholder 6"/>
          <p:cNvSpPr>
            <a:spLocks noGrp="1"/>
          </p:cNvSpPr>
          <p:nvPr>
            <p:ph type="body" idx="1"/>
          </p:nvPr>
        </p:nvSpPr>
        <p:spPr>
          <a:xfrm>
            <a:off x="2084172" y="1066154"/>
            <a:ext cx="12002531" cy="5802312"/>
          </a:xfrm>
          <a:prstGeom prst="rect">
            <a:avLst/>
          </a:prstGeom>
        </p:spPr>
        <p:txBody>
          <a:bodyPr vert="horz" lIns="91440" tIns="45720" rIns="91440" bIns="45720" rtlCol="0">
            <a:normAutofit/>
          </a:bodyPr>
          <a:lstStyle/>
          <a:p>
            <a:pPr lvl="0"/>
            <a:r>
              <a:rPr lang="en-US" dirty="0"/>
              <a:t>Edit Master text styles</a:t>
            </a:r>
          </a:p>
          <a:p>
            <a:pPr lvl="1"/>
            <a:r>
              <a:rPr lang="en-US" dirty="0"/>
              <a:t>	Edit Master text styles</a:t>
            </a:r>
          </a:p>
          <a:p>
            <a:pPr lvl="2"/>
            <a:r>
              <a:rPr lang="en-US" dirty="0"/>
              <a:t>Edit Master Text styles</a:t>
            </a:r>
          </a:p>
        </p:txBody>
      </p:sp>
    </p:spTree>
    <p:extLst>
      <p:ext uri="{BB962C8B-B14F-4D97-AF65-F5344CB8AC3E}">
        <p14:creationId xmlns:p14="http://schemas.microsoft.com/office/powerpoint/2010/main" val="1365302262"/>
      </p:ext>
    </p:extLst>
  </p:cSld>
  <p:clrMap bg1="lt1" tx1="dk1" bg2="lt2" tx2="dk2" accent1="accent1" accent2="accent2" accent3="accent3" accent4="accent4" accent5="accent5" accent6="accent6" hlink="hlink" folHlink="folHlink"/>
  <p:sldLayoutIdLst>
    <p:sldLayoutId id="21474837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Courier New" panose="02070309020205020404" pitchFamily="49" charset="0"/>
        <a:buNone/>
        <a:defRPr sz="2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2000" kern="1200" baseline="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DCE93A83-2E66-F74F-A5CD-47D28E6C7BC3}"/>
              </a:ext>
            </a:extLst>
          </p:cNvPr>
          <p:cNvSpPr txBox="1">
            <a:spLocks/>
          </p:cNvSpPr>
          <p:nvPr/>
        </p:nvSpPr>
        <p:spPr>
          <a:xfrm>
            <a:off x="140623" y="4967887"/>
            <a:ext cx="15922794" cy="1583039"/>
          </a:xfrm>
          <a:prstGeom prst="rect">
            <a:avLst/>
          </a:prstGeom>
        </p:spPr>
        <p:txBody>
          <a:bodyPr anchor="t">
            <a:normAutofit fontScale="925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lgn="l">
              <a:defRPr/>
            </a:pPr>
            <a:r>
              <a:rPr lang="en-US" sz="5400" b="1" dirty="0">
                <a:solidFill>
                  <a:schemeClr val="tx2"/>
                </a:solidFill>
              </a:rPr>
              <a:t>Activity 15 – see indications slide 8</a:t>
            </a:r>
          </a:p>
          <a:p>
            <a:pPr lvl="0" algn="l">
              <a:defRPr/>
            </a:pPr>
            <a:r>
              <a:rPr lang="en-US" sz="5400" b="1" dirty="0">
                <a:solidFill>
                  <a:schemeClr val="accent5"/>
                </a:solidFill>
              </a:rPr>
              <a:t>Hands drying: CO</a:t>
            </a:r>
            <a:r>
              <a:rPr lang="en-US" sz="5400" b="1" baseline="-25000" dirty="0">
                <a:solidFill>
                  <a:schemeClr val="accent5"/>
                </a:solidFill>
              </a:rPr>
              <a:t>2</a:t>
            </a:r>
            <a:r>
              <a:rPr lang="en-US" sz="5400" b="1" dirty="0">
                <a:solidFill>
                  <a:schemeClr val="accent5"/>
                </a:solidFill>
              </a:rPr>
              <a:t> and energy balance</a:t>
            </a:r>
            <a:endParaRPr lang="en-US" altLang="en-US" sz="3600" b="1" dirty="0">
              <a:solidFill>
                <a:schemeClr val="accent5"/>
              </a:solidFill>
            </a:endParaRPr>
          </a:p>
        </p:txBody>
      </p:sp>
      <p:sp>
        <p:nvSpPr>
          <p:cNvPr id="3" name="TextBox 2">
            <a:extLst>
              <a:ext uri="{FF2B5EF4-FFF2-40B4-BE49-F238E27FC236}">
                <a16:creationId xmlns:a16="http://schemas.microsoft.com/office/drawing/2014/main" id="{F70B5F09-AA9C-0C49-A705-E3ECF1BA7055}"/>
              </a:ext>
            </a:extLst>
          </p:cNvPr>
          <p:cNvSpPr txBox="1"/>
          <p:nvPr/>
        </p:nvSpPr>
        <p:spPr>
          <a:xfrm>
            <a:off x="440871" y="6790584"/>
            <a:ext cx="3021981" cy="477054"/>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00274C"/>
                </a:solidFill>
                <a:effectLst/>
                <a:uLnTx/>
                <a:uFillTx/>
                <a:latin typeface="Arial"/>
                <a:ea typeface="+mn-ea"/>
                <a:cs typeface="+mn-cs"/>
              </a:rPr>
              <a:t>Olivier Jolliet, PhD</a:t>
            </a:r>
            <a:endParaRPr kumimoji="0" lang="en-US" sz="2500" b="0" i="0" u="none" strike="noStrike" kern="1200" cap="none" spc="0" normalizeH="0" baseline="0" noProof="0" dirty="0">
              <a:ln>
                <a:noFill/>
              </a:ln>
              <a:solidFill>
                <a:srgbClr val="00274C"/>
              </a:solidFill>
              <a:effectLst/>
              <a:uLnTx/>
              <a:uFillTx/>
              <a:latin typeface="Arial"/>
              <a:ea typeface="+mn-ea"/>
              <a:cs typeface="+mn-cs"/>
            </a:endParaRPr>
          </a:p>
        </p:txBody>
      </p:sp>
    </p:spTree>
    <p:extLst>
      <p:ext uri="{BB962C8B-B14F-4D97-AF65-F5344CB8AC3E}">
        <p14:creationId xmlns:p14="http://schemas.microsoft.com/office/powerpoint/2010/main" val="783769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Hands dryer: </a:t>
            </a:r>
            <a:r>
              <a:rPr lang="en-US" altLang="en-US" dirty="0"/>
              <a:t>Activity answer key</a:t>
            </a:r>
            <a:endParaRPr lang="en-US" dirty="0">
              <a:solidFill>
                <a:srgbClr val="FF0000"/>
              </a:solidFill>
            </a:endParaRPr>
          </a:p>
        </p:txBody>
      </p:sp>
      <p:sp>
        <p:nvSpPr>
          <p:cNvPr id="3" name="Content Placeholder 2"/>
          <p:cNvSpPr>
            <a:spLocks noGrp="1"/>
          </p:cNvSpPr>
          <p:nvPr>
            <p:ph idx="1"/>
          </p:nvPr>
        </p:nvSpPr>
        <p:spPr>
          <a:xfrm>
            <a:off x="878783" y="1257078"/>
            <a:ext cx="14863738" cy="2243826"/>
          </a:xfrm>
        </p:spPr>
        <p:txBody>
          <a:bodyPr>
            <a:noAutofit/>
          </a:bodyPr>
          <a:lstStyle/>
          <a:p>
            <a:pPr>
              <a:spcBef>
                <a:spcPts val="0"/>
              </a:spcBef>
              <a:spcAft>
                <a:spcPts val="2000"/>
              </a:spcAft>
            </a:pPr>
            <a:r>
              <a:rPr lang="en-US" sz="2800" dirty="0"/>
              <a:t>In public restrooms, different types of hand dryers exist.  What is the best type of hand dryer?  </a:t>
            </a:r>
          </a:p>
          <a:p>
            <a:pPr>
              <a:spcBef>
                <a:spcPts val="0"/>
              </a:spcBef>
              <a:spcAft>
                <a:spcPts val="2000"/>
              </a:spcAft>
            </a:pPr>
            <a:r>
              <a:rPr lang="en-US" sz="2800" dirty="0"/>
              <a:t>Objective: Compare two types of hand drying: </a:t>
            </a:r>
            <a:br>
              <a:rPr lang="en-US" sz="2800" dirty="0"/>
            </a:br>
            <a:r>
              <a:rPr lang="en-US" sz="2800" dirty="0"/>
              <a:t>A. The paper towel</a:t>
            </a:r>
            <a:br>
              <a:rPr lang="en-US" sz="2800" dirty="0"/>
            </a:br>
            <a:r>
              <a:rPr lang="en-US" sz="2800" dirty="0"/>
              <a:t>B. The air-dryer with hot air</a:t>
            </a:r>
          </a:p>
        </p:txBody>
      </p:sp>
      <p:sp>
        <p:nvSpPr>
          <p:cNvPr id="4" name="Rectangle 3">
            <a:extLst>
              <a:ext uri="{FF2B5EF4-FFF2-40B4-BE49-F238E27FC236}">
                <a16:creationId xmlns:a16="http://schemas.microsoft.com/office/drawing/2014/main" id="{4C53867D-86C8-944F-8D47-9D280BFADD50}"/>
              </a:ext>
            </a:extLst>
          </p:cNvPr>
          <p:cNvSpPr/>
          <p:nvPr/>
        </p:nvSpPr>
        <p:spPr>
          <a:xfrm>
            <a:off x="878783" y="3711902"/>
            <a:ext cx="13534436" cy="3877985"/>
          </a:xfrm>
          <a:prstGeom prst="rect">
            <a:avLst/>
          </a:prstGeom>
        </p:spPr>
        <p:txBody>
          <a:bodyPr wrap="square">
            <a:spAutoFit/>
          </a:bodyPr>
          <a:lstStyle/>
          <a:p>
            <a:pPr>
              <a:spcAft>
                <a:spcPts val="2000"/>
              </a:spcAft>
            </a:pPr>
            <a:r>
              <a:rPr lang="en-US" sz="2800" dirty="0"/>
              <a:t>Method:</a:t>
            </a:r>
          </a:p>
          <a:p>
            <a:pPr>
              <a:spcBef>
                <a:spcPts val="0"/>
              </a:spcBef>
              <a:spcAft>
                <a:spcPts val="2000"/>
              </a:spcAft>
            </a:pPr>
            <a:r>
              <a:rPr lang="en-US" sz="2800" dirty="0"/>
              <a:t>1. describe the function of the system (slide 2); </a:t>
            </a:r>
          </a:p>
          <a:p>
            <a:pPr>
              <a:spcBef>
                <a:spcPts val="0"/>
              </a:spcBef>
              <a:spcAft>
                <a:spcPts val="2000"/>
              </a:spcAft>
            </a:pPr>
            <a:r>
              <a:rPr lang="en-US" sz="2800" dirty="0"/>
              <a:t>2. choose the functional unit that represents the function of the system </a:t>
            </a:r>
            <a:br>
              <a:rPr lang="en-US" sz="2800" dirty="0"/>
            </a:br>
            <a:r>
              <a:rPr lang="en-US" sz="2800" dirty="0"/>
              <a:t>(including a number that qualify the FU) – slide 2; </a:t>
            </a:r>
          </a:p>
          <a:p>
            <a:pPr>
              <a:spcBef>
                <a:spcPts val="0"/>
              </a:spcBef>
              <a:spcAft>
                <a:spcPts val="2000"/>
              </a:spcAft>
            </a:pPr>
            <a:r>
              <a:rPr lang="en-US" sz="2800" dirty="0"/>
              <a:t>3. for each scenario, and using the data on slide 4, list the reference flows corresponding to the selected functional unit. Do provide for each reference flow the QUANTITY used per functional unit.</a:t>
            </a:r>
          </a:p>
        </p:txBody>
      </p:sp>
      <p:sp>
        <p:nvSpPr>
          <p:cNvPr id="5" name="Rectangle 4">
            <a:extLst>
              <a:ext uri="{FF2B5EF4-FFF2-40B4-BE49-F238E27FC236}">
                <a16:creationId xmlns:a16="http://schemas.microsoft.com/office/drawing/2014/main" id="{ADFD014E-2934-5949-A120-3FF5DB0E60F6}"/>
              </a:ext>
            </a:extLst>
          </p:cNvPr>
          <p:cNvSpPr/>
          <p:nvPr/>
        </p:nvSpPr>
        <p:spPr>
          <a:xfrm>
            <a:off x="878783" y="3615428"/>
            <a:ext cx="14052884" cy="3974459"/>
          </a:xfrm>
          <a:prstGeom prst="rect">
            <a:avLst/>
          </a:prstGeom>
          <a:noFill/>
          <a:ln w="317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4" descr="sèche-ma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92300" y="1920020"/>
            <a:ext cx="1778000" cy="1462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descr="seche-mainpapi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67715" y="1920020"/>
            <a:ext cx="1564216" cy="156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4190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04FC4DB2-6CDF-5A42-95DB-F7B9760E1BF4}"/>
              </a:ext>
            </a:extLst>
          </p:cNvPr>
          <p:cNvSpPr txBox="1"/>
          <p:nvPr/>
        </p:nvSpPr>
        <p:spPr>
          <a:xfrm>
            <a:off x="7966518" y="8264847"/>
            <a:ext cx="184731" cy="369332"/>
          </a:xfrm>
          <a:prstGeom prst="rect">
            <a:avLst/>
          </a:prstGeom>
          <a:noFill/>
        </p:spPr>
        <p:txBody>
          <a:bodyPr wrap="none" rtlCol="0">
            <a:spAutoFit/>
          </a:bodyPr>
          <a:lstStyle/>
          <a:p>
            <a:endParaRPr lang="en-US" dirty="0"/>
          </a:p>
        </p:txBody>
      </p:sp>
      <p:sp>
        <p:nvSpPr>
          <p:cNvPr id="44" name="Rectangle 43">
            <a:extLst>
              <a:ext uri="{FF2B5EF4-FFF2-40B4-BE49-F238E27FC236}">
                <a16:creationId xmlns:a16="http://schemas.microsoft.com/office/drawing/2014/main" id="{D0A456B8-5E35-1441-97A2-026CB857662B}"/>
              </a:ext>
            </a:extLst>
          </p:cNvPr>
          <p:cNvSpPr/>
          <p:nvPr/>
        </p:nvSpPr>
        <p:spPr>
          <a:xfrm>
            <a:off x="2844266" y="3924298"/>
            <a:ext cx="1978708" cy="1478214"/>
          </a:xfrm>
          <a:prstGeom prst="rect">
            <a:avLst/>
          </a:prstGeom>
          <a:solidFill>
            <a:schemeClr val="accent6">
              <a:alpha val="29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D9CEB1C-999A-1142-9DF9-90742F2B7A4D}"/>
              </a:ext>
            </a:extLst>
          </p:cNvPr>
          <p:cNvSpPr/>
          <p:nvPr/>
        </p:nvSpPr>
        <p:spPr>
          <a:xfrm>
            <a:off x="3042133" y="3309008"/>
            <a:ext cx="1672351" cy="338052"/>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a:solidFill>
                  <a:schemeClr val="tx2"/>
                </a:solidFill>
              </a:rPr>
              <a:t>PRODUCTS</a:t>
            </a:r>
          </a:p>
        </p:txBody>
      </p:sp>
      <p:sp>
        <p:nvSpPr>
          <p:cNvPr id="53" name="Rectangle 52">
            <a:extLst>
              <a:ext uri="{FF2B5EF4-FFF2-40B4-BE49-F238E27FC236}">
                <a16:creationId xmlns:a16="http://schemas.microsoft.com/office/drawing/2014/main" id="{B38207BB-5785-DE4D-83A6-89ADC75E6F09}"/>
              </a:ext>
            </a:extLst>
          </p:cNvPr>
          <p:cNvSpPr/>
          <p:nvPr/>
        </p:nvSpPr>
        <p:spPr>
          <a:xfrm>
            <a:off x="5790344" y="3324506"/>
            <a:ext cx="2022678" cy="351286"/>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a:solidFill>
                  <a:schemeClr val="tx2"/>
                </a:solidFill>
              </a:rPr>
              <a:t>MAIN FUNCTION</a:t>
            </a:r>
          </a:p>
        </p:txBody>
      </p:sp>
      <p:cxnSp>
        <p:nvCxnSpPr>
          <p:cNvPr id="56" name="Straight Connector 55">
            <a:extLst>
              <a:ext uri="{FF2B5EF4-FFF2-40B4-BE49-F238E27FC236}">
                <a16:creationId xmlns:a16="http://schemas.microsoft.com/office/drawing/2014/main" id="{70A3846F-C647-EC41-ABCE-3FAADA05B775}"/>
              </a:ext>
            </a:extLst>
          </p:cNvPr>
          <p:cNvCxnSpPr>
            <a:cxnSpLocks/>
          </p:cNvCxnSpPr>
          <p:nvPr/>
        </p:nvCxnSpPr>
        <p:spPr>
          <a:xfrm>
            <a:off x="2844266" y="3911552"/>
            <a:ext cx="10412044" cy="0"/>
          </a:xfrm>
          <a:prstGeom prst="line">
            <a:avLst/>
          </a:prstGeom>
          <a:ln w="38100">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58" name="Rectangle 57">
            <a:extLst>
              <a:ext uri="{FF2B5EF4-FFF2-40B4-BE49-F238E27FC236}">
                <a16:creationId xmlns:a16="http://schemas.microsoft.com/office/drawing/2014/main" id="{F053C79B-8F47-8E4A-9776-E167F0F62FF9}"/>
              </a:ext>
            </a:extLst>
          </p:cNvPr>
          <p:cNvSpPr/>
          <p:nvPr/>
        </p:nvSpPr>
        <p:spPr>
          <a:xfrm>
            <a:off x="8821536" y="3207732"/>
            <a:ext cx="4419275"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lgn="ctr"/>
            <a:r>
              <a:rPr lang="en-US" sz="1600" b="1" dirty="0">
                <a:solidFill>
                  <a:schemeClr val="tx2"/>
                </a:solidFill>
              </a:rPr>
              <a:t>SECONDARY FUNCTION &amp; </a:t>
            </a:r>
            <a:br>
              <a:rPr lang="en-US" sz="1600" b="1" dirty="0">
                <a:solidFill>
                  <a:schemeClr val="tx2"/>
                </a:solidFill>
              </a:rPr>
            </a:br>
            <a:r>
              <a:rPr lang="en-US" sz="1600" b="1" dirty="0">
                <a:solidFill>
                  <a:schemeClr val="tx2"/>
                </a:solidFill>
              </a:rPr>
              <a:t>OTHER PERFORMANCES</a:t>
            </a:r>
          </a:p>
        </p:txBody>
      </p:sp>
      <p:sp>
        <p:nvSpPr>
          <p:cNvPr id="60" name="Rectangle 59">
            <a:extLst>
              <a:ext uri="{FF2B5EF4-FFF2-40B4-BE49-F238E27FC236}">
                <a16:creationId xmlns:a16="http://schemas.microsoft.com/office/drawing/2014/main" id="{0F6810AE-D525-C14D-AC7D-69242E6A0B6F}"/>
              </a:ext>
            </a:extLst>
          </p:cNvPr>
          <p:cNvSpPr/>
          <p:nvPr/>
        </p:nvSpPr>
        <p:spPr>
          <a:xfrm>
            <a:off x="3008206" y="3955654"/>
            <a:ext cx="1659784"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1600" b="1" dirty="0">
                <a:solidFill>
                  <a:schemeClr val="tx2"/>
                </a:solidFill>
              </a:rPr>
              <a:t>Paper towel</a:t>
            </a:r>
          </a:p>
        </p:txBody>
      </p:sp>
      <p:sp>
        <p:nvSpPr>
          <p:cNvPr id="61" name="Rectangle 60">
            <a:extLst>
              <a:ext uri="{FF2B5EF4-FFF2-40B4-BE49-F238E27FC236}">
                <a16:creationId xmlns:a16="http://schemas.microsoft.com/office/drawing/2014/main" id="{1933C772-478B-5B46-83B3-0F663A1DB1E2}"/>
              </a:ext>
            </a:extLst>
          </p:cNvPr>
          <p:cNvSpPr/>
          <p:nvPr/>
        </p:nvSpPr>
        <p:spPr>
          <a:xfrm>
            <a:off x="3008206" y="4690280"/>
            <a:ext cx="1659784"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1600" b="1" dirty="0">
                <a:solidFill>
                  <a:schemeClr val="tx2"/>
                </a:solidFill>
              </a:rPr>
              <a:t>Air dryer</a:t>
            </a:r>
          </a:p>
        </p:txBody>
      </p:sp>
      <p:cxnSp>
        <p:nvCxnSpPr>
          <p:cNvPr id="63" name="Straight Connector 62">
            <a:extLst>
              <a:ext uri="{FF2B5EF4-FFF2-40B4-BE49-F238E27FC236}">
                <a16:creationId xmlns:a16="http://schemas.microsoft.com/office/drawing/2014/main" id="{D45188D7-D319-0D44-8DF3-A32F029ED678}"/>
              </a:ext>
            </a:extLst>
          </p:cNvPr>
          <p:cNvCxnSpPr>
            <a:cxnSpLocks/>
          </p:cNvCxnSpPr>
          <p:nvPr/>
        </p:nvCxnSpPr>
        <p:spPr>
          <a:xfrm>
            <a:off x="4822974" y="3154024"/>
            <a:ext cx="0" cy="2260863"/>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63100A33-6483-8340-899F-5D30D624704F}"/>
              </a:ext>
            </a:extLst>
          </p:cNvPr>
          <p:cNvCxnSpPr>
            <a:cxnSpLocks/>
          </p:cNvCxnSpPr>
          <p:nvPr/>
        </p:nvCxnSpPr>
        <p:spPr>
          <a:xfrm>
            <a:off x="8837035" y="3154024"/>
            <a:ext cx="0" cy="2260863"/>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65" name="Rectangle 64">
            <a:extLst>
              <a:ext uri="{FF2B5EF4-FFF2-40B4-BE49-F238E27FC236}">
                <a16:creationId xmlns:a16="http://schemas.microsoft.com/office/drawing/2014/main" id="{85FCB4A6-66B1-D741-8ED3-0D94C04830A5}"/>
              </a:ext>
            </a:extLst>
          </p:cNvPr>
          <p:cNvSpPr/>
          <p:nvPr/>
        </p:nvSpPr>
        <p:spPr>
          <a:xfrm>
            <a:off x="2844266" y="3154024"/>
            <a:ext cx="10412044" cy="2248488"/>
          </a:xfrm>
          <a:prstGeom prst="rect">
            <a:avLst/>
          </a:prstGeom>
          <a:noFill/>
          <a:ln w="254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Title 1">
            <a:extLst>
              <a:ext uri="{FF2B5EF4-FFF2-40B4-BE49-F238E27FC236}">
                <a16:creationId xmlns:a16="http://schemas.microsoft.com/office/drawing/2014/main" id="{FD8439A4-B037-4F4E-AFCE-96000C7C1237}"/>
              </a:ext>
            </a:extLst>
          </p:cNvPr>
          <p:cNvSpPr txBox="1">
            <a:spLocks/>
          </p:cNvSpPr>
          <p:nvPr/>
        </p:nvSpPr>
        <p:spPr>
          <a:xfrm>
            <a:off x="1041339" y="288697"/>
            <a:ext cx="14631828" cy="870385"/>
          </a:xfrm>
          <a:prstGeom prst="rect">
            <a:avLst/>
          </a:prstGeom>
        </p:spPr>
        <p:txBody>
          <a:bodyPr vert="horz" lIns="91440" tIns="45720" rIns="91440" bIns="45720" rtlCol="0" anchor="ctr">
            <a:noAutofit/>
          </a:bodyPr>
          <a:lstStyle>
            <a:lvl1pPr algn="l" defTabSz="457200" rtl="0" eaLnBrk="1" latinLnBrk="0" hangingPunct="1">
              <a:spcBef>
                <a:spcPct val="0"/>
              </a:spcBef>
              <a:buNone/>
              <a:defRPr sz="4400" kern="1200">
                <a:solidFill>
                  <a:srgbClr val="00274C"/>
                </a:solidFill>
                <a:latin typeface="+mj-lt"/>
                <a:ea typeface="+mj-ea"/>
                <a:cs typeface="+mj-cs"/>
              </a:defRPr>
            </a:lvl1pPr>
          </a:lstStyle>
          <a:p>
            <a:r>
              <a:rPr lang="en-US" altLang="en-US" dirty="0"/>
              <a:t>Function and functional unit</a:t>
            </a:r>
            <a:endParaRPr lang="en-US" dirty="0">
              <a:solidFill>
                <a:schemeClr val="tx2"/>
              </a:solidFill>
            </a:endParaRPr>
          </a:p>
        </p:txBody>
      </p:sp>
      <p:pic>
        <p:nvPicPr>
          <p:cNvPr id="28" name="Picture 4" descr="sèche-ma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1875" y="4709109"/>
            <a:ext cx="1125721" cy="926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5" descr="seche-mainpapi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1635" y="3750148"/>
            <a:ext cx="870524" cy="87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Rectangle 29">
            <a:extLst>
              <a:ext uri="{FF2B5EF4-FFF2-40B4-BE49-F238E27FC236}">
                <a16:creationId xmlns:a16="http://schemas.microsoft.com/office/drawing/2014/main" id="{0F6810AE-D525-C14D-AC7D-69242E6A0B6F}"/>
              </a:ext>
            </a:extLst>
          </p:cNvPr>
          <p:cNvSpPr/>
          <p:nvPr/>
        </p:nvSpPr>
        <p:spPr>
          <a:xfrm>
            <a:off x="5074660" y="4269538"/>
            <a:ext cx="3674561"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31470" indent="-285750">
              <a:buFont typeface="Arial" panose="020B0604020202020204" pitchFamily="34" charset="0"/>
              <a:buChar char="•"/>
            </a:pPr>
            <a:r>
              <a:rPr lang="en-US" sz="1600" b="1" dirty="0">
                <a:solidFill>
                  <a:srgbClr val="FF0000"/>
                </a:solidFill>
              </a:rPr>
              <a:t>Dry hands after washing</a:t>
            </a:r>
          </a:p>
        </p:txBody>
      </p:sp>
      <p:sp>
        <p:nvSpPr>
          <p:cNvPr id="31" name="Rectangle 30">
            <a:extLst>
              <a:ext uri="{FF2B5EF4-FFF2-40B4-BE49-F238E27FC236}">
                <a16:creationId xmlns:a16="http://schemas.microsoft.com/office/drawing/2014/main" id="{0F6810AE-D525-C14D-AC7D-69242E6A0B6F}"/>
              </a:ext>
            </a:extLst>
          </p:cNvPr>
          <p:cNvSpPr/>
          <p:nvPr/>
        </p:nvSpPr>
        <p:spPr>
          <a:xfrm>
            <a:off x="9155891" y="4310680"/>
            <a:ext cx="3307651"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31470" indent="-285750">
              <a:buFont typeface="Arial" panose="020B0604020202020204" pitchFamily="34" charset="0"/>
              <a:buChar char="•"/>
            </a:pPr>
            <a:r>
              <a:rPr lang="en-US" sz="1600" b="1" dirty="0">
                <a:solidFill>
                  <a:srgbClr val="FF0000"/>
                </a:solidFill>
              </a:rPr>
              <a:t>Clean up a spill</a:t>
            </a:r>
          </a:p>
          <a:p>
            <a:pPr marL="331470" indent="-285750">
              <a:buFont typeface="Arial" panose="020B0604020202020204" pitchFamily="34" charset="0"/>
              <a:buChar char="•"/>
            </a:pPr>
            <a:r>
              <a:rPr lang="en-US" sz="1600" b="1" dirty="0">
                <a:solidFill>
                  <a:srgbClr val="FF0000"/>
                </a:solidFill>
              </a:rPr>
              <a:t>Blow nose</a:t>
            </a:r>
          </a:p>
          <a:p>
            <a:pPr marL="331470" indent="-285750">
              <a:buFont typeface="Arial" panose="020B0604020202020204" pitchFamily="34" charset="0"/>
              <a:buChar char="•"/>
            </a:pPr>
            <a:r>
              <a:rPr lang="en-US" sz="1600" b="1" dirty="0">
                <a:solidFill>
                  <a:srgbClr val="FF0000"/>
                </a:solidFill>
              </a:rPr>
              <a:t>Take to eat food in car</a:t>
            </a:r>
          </a:p>
          <a:p>
            <a:pPr marL="331470" indent="-285750">
              <a:buFont typeface="Arial" panose="020B0604020202020204" pitchFamily="34" charset="0"/>
              <a:buChar char="•"/>
            </a:pPr>
            <a:r>
              <a:rPr lang="en-US" sz="1600" b="1" dirty="0">
                <a:solidFill>
                  <a:srgbClr val="FF0000"/>
                </a:solidFill>
              </a:rPr>
              <a:t>Noise level</a:t>
            </a:r>
          </a:p>
          <a:p>
            <a:pPr marL="331470" indent="-285750">
              <a:buFont typeface="Arial" panose="020B0604020202020204" pitchFamily="34" charset="0"/>
              <a:buChar char="•"/>
            </a:pPr>
            <a:r>
              <a:rPr lang="en-US" sz="1600" b="1" dirty="0">
                <a:solidFill>
                  <a:srgbClr val="FF0000"/>
                </a:solidFill>
              </a:rPr>
              <a:t>Dry wet hair or clothes</a:t>
            </a:r>
          </a:p>
          <a:p>
            <a:pPr marL="331470" indent="-285750">
              <a:buFont typeface="Arial" panose="020B0604020202020204" pitchFamily="34" charset="0"/>
              <a:buChar char="•"/>
            </a:pPr>
            <a:r>
              <a:rPr lang="en-US" sz="1600" b="1" dirty="0">
                <a:solidFill>
                  <a:srgbClr val="FF0000"/>
                </a:solidFill>
              </a:rPr>
              <a:t>Heat the building in Winter</a:t>
            </a:r>
          </a:p>
        </p:txBody>
      </p:sp>
      <p:sp>
        <p:nvSpPr>
          <p:cNvPr id="2" name="Rectangle 1"/>
          <p:cNvSpPr/>
          <p:nvPr/>
        </p:nvSpPr>
        <p:spPr>
          <a:xfrm>
            <a:off x="1041339" y="5635149"/>
            <a:ext cx="11456983" cy="1815882"/>
          </a:xfrm>
          <a:prstGeom prst="rect">
            <a:avLst/>
          </a:prstGeom>
        </p:spPr>
        <p:txBody>
          <a:bodyPr wrap="none">
            <a:spAutoFit/>
          </a:bodyPr>
          <a:lstStyle/>
          <a:p>
            <a:r>
              <a:rPr lang="en-US" sz="2800" dirty="0"/>
              <a:t>2. choose the functional unit that represents the function of the system </a:t>
            </a:r>
          </a:p>
          <a:p>
            <a:r>
              <a:rPr lang="en-US" sz="2800" dirty="0"/>
              <a:t>(including a number that qualify the FU) </a:t>
            </a:r>
          </a:p>
          <a:p>
            <a:endParaRPr lang="en-US" sz="2800" dirty="0"/>
          </a:p>
          <a:p>
            <a:r>
              <a:rPr lang="en-US" sz="2800" dirty="0"/>
              <a:t>Selected functional unit : </a:t>
            </a:r>
            <a:r>
              <a:rPr lang="en-US" sz="2800" dirty="0">
                <a:solidFill>
                  <a:srgbClr val="FF0000"/>
                </a:solidFill>
              </a:rPr>
              <a:t>1 pair of dried hands</a:t>
            </a:r>
          </a:p>
        </p:txBody>
      </p:sp>
      <p:sp>
        <p:nvSpPr>
          <p:cNvPr id="3" name="Rectangle 2"/>
          <p:cNvSpPr/>
          <p:nvPr/>
        </p:nvSpPr>
        <p:spPr>
          <a:xfrm>
            <a:off x="996340" y="1371723"/>
            <a:ext cx="11221342" cy="1877437"/>
          </a:xfrm>
          <a:prstGeom prst="rect">
            <a:avLst/>
          </a:prstGeom>
        </p:spPr>
        <p:txBody>
          <a:bodyPr wrap="none">
            <a:spAutoFit/>
          </a:bodyPr>
          <a:lstStyle/>
          <a:p>
            <a:r>
              <a:rPr lang="en-US" sz="2800" dirty="0"/>
              <a:t>1. describe the function of the system by filling the table below </a:t>
            </a:r>
            <a:br>
              <a:rPr lang="en-US" sz="2800" dirty="0"/>
            </a:br>
            <a:r>
              <a:rPr lang="en-US" sz="2800" dirty="0"/>
              <a:t>(</a:t>
            </a:r>
            <a:r>
              <a:rPr lang="en-US" altLang="en-US" sz="2800" dirty="0"/>
              <a:t>For each scenario, find a secondary function that might save energy </a:t>
            </a:r>
            <a:br>
              <a:rPr lang="en-US" altLang="en-US" sz="2800" dirty="0"/>
            </a:br>
            <a:r>
              <a:rPr lang="en-US" altLang="en-US" sz="2800" dirty="0"/>
              <a:t>beyond the main hand drying function)</a:t>
            </a:r>
            <a:endParaRPr lang="en-US" altLang="en-US" sz="2800" dirty="0">
              <a:solidFill>
                <a:srgbClr val="FF0000"/>
              </a:solidFill>
            </a:endParaRPr>
          </a:p>
          <a:p>
            <a:endParaRPr lang="en-US" dirty="0"/>
          </a:p>
        </p:txBody>
      </p:sp>
    </p:spTree>
    <p:extLst>
      <p:ext uri="{BB962C8B-B14F-4D97-AF65-F5344CB8AC3E}">
        <p14:creationId xmlns:p14="http://schemas.microsoft.com/office/powerpoint/2010/main" val="2792084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216734" y="2432246"/>
            <a:ext cx="13869029" cy="5057259"/>
          </a:xfrm>
          <a:prstGeom prst="rect">
            <a:avLst/>
          </a:prstGeom>
        </p:spPr>
      </p:pic>
      <p:sp>
        <p:nvSpPr>
          <p:cNvPr id="35" name="TextBox 34">
            <a:extLst>
              <a:ext uri="{FF2B5EF4-FFF2-40B4-BE49-F238E27FC236}">
                <a16:creationId xmlns:a16="http://schemas.microsoft.com/office/drawing/2014/main" id="{04FC4DB2-6CDF-5A42-95DB-F7B9760E1BF4}"/>
              </a:ext>
            </a:extLst>
          </p:cNvPr>
          <p:cNvSpPr txBox="1"/>
          <p:nvPr/>
        </p:nvSpPr>
        <p:spPr>
          <a:xfrm>
            <a:off x="7966518" y="8264847"/>
            <a:ext cx="184731" cy="369332"/>
          </a:xfrm>
          <a:prstGeom prst="rect">
            <a:avLst/>
          </a:prstGeom>
          <a:noFill/>
        </p:spPr>
        <p:txBody>
          <a:bodyPr wrap="none" rtlCol="0">
            <a:spAutoFit/>
          </a:bodyPr>
          <a:lstStyle/>
          <a:p>
            <a:endParaRPr lang="en-US" dirty="0"/>
          </a:p>
        </p:txBody>
      </p:sp>
      <p:sp>
        <p:nvSpPr>
          <p:cNvPr id="77" name="Rectangle 76">
            <a:extLst>
              <a:ext uri="{FF2B5EF4-FFF2-40B4-BE49-F238E27FC236}">
                <a16:creationId xmlns:a16="http://schemas.microsoft.com/office/drawing/2014/main" id="{CF6374D5-C9C2-AE45-8C51-D4497FBF8B9E}"/>
              </a:ext>
            </a:extLst>
          </p:cNvPr>
          <p:cNvSpPr/>
          <p:nvPr/>
        </p:nvSpPr>
        <p:spPr>
          <a:xfrm>
            <a:off x="1302534" y="3676649"/>
            <a:ext cx="1659784" cy="333602"/>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a:solidFill>
                  <a:schemeClr val="tx2"/>
                </a:solidFill>
              </a:rPr>
              <a:t>Paper towel</a:t>
            </a:r>
          </a:p>
        </p:txBody>
      </p:sp>
      <p:sp>
        <p:nvSpPr>
          <p:cNvPr id="78" name="Rectangle 77">
            <a:extLst>
              <a:ext uri="{FF2B5EF4-FFF2-40B4-BE49-F238E27FC236}">
                <a16:creationId xmlns:a16="http://schemas.microsoft.com/office/drawing/2014/main" id="{C094E664-CCF6-D147-80EE-713A4CDC09FD}"/>
              </a:ext>
            </a:extLst>
          </p:cNvPr>
          <p:cNvSpPr/>
          <p:nvPr/>
        </p:nvSpPr>
        <p:spPr>
          <a:xfrm>
            <a:off x="1302534" y="5598747"/>
            <a:ext cx="1659784" cy="328470"/>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a:solidFill>
                  <a:schemeClr val="tx2"/>
                </a:solidFill>
              </a:rPr>
              <a:t>Air dryer</a:t>
            </a:r>
          </a:p>
        </p:txBody>
      </p:sp>
      <p:sp>
        <p:nvSpPr>
          <p:cNvPr id="39" name="Title 1">
            <a:extLst>
              <a:ext uri="{FF2B5EF4-FFF2-40B4-BE49-F238E27FC236}">
                <a16:creationId xmlns:a16="http://schemas.microsoft.com/office/drawing/2014/main" id="{FD8439A4-B037-4F4E-AFCE-96000C7C1237}"/>
              </a:ext>
            </a:extLst>
          </p:cNvPr>
          <p:cNvSpPr txBox="1">
            <a:spLocks/>
          </p:cNvSpPr>
          <p:nvPr/>
        </p:nvSpPr>
        <p:spPr>
          <a:xfrm>
            <a:off x="1041339" y="288697"/>
            <a:ext cx="14631828" cy="870385"/>
          </a:xfrm>
          <a:prstGeom prst="rect">
            <a:avLst/>
          </a:prstGeom>
        </p:spPr>
        <p:txBody>
          <a:bodyPr vert="horz" lIns="91440" tIns="45720" rIns="91440" bIns="45720" rtlCol="0" anchor="ctr">
            <a:noAutofit/>
          </a:bodyPr>
          <a:lstStyle>
            <a:lvl1pPr algn="l" defTabSz="457200" rtl="0" eaLnBrk="1" latinLnBrk="0" hangingPunct="1">
              <a:spcBef>
                <a:spcPct val="0"/>
              </a:spcBef>
              <a:buNone/>
              <a:defRPr sz="4400" kern="1200">
                <a:solidFill>
                  <a:srgbClr val="00274C"/>
                </a:solidFill>
                <a:latin typeface="+mj-lt"/>
                <a:ea typeface="+mj-ea"/>
                <a:cs typeface="+mj-cs"/>
              </a:defRPr>
            </a:lvl1pPr>
          </a:lstStyle>
          <a:p>
            <a:r>
              <a:rPr lang="en-US" altLang="en-US" dirty="0"/>
              <a:t>Reference flows and key environmental parameters</a:t>
            </a:r>
            <a:endParaRPr lang="en-US" dirty="0">
              <a:solidFill>
                <a:schemeClr val="tx2"/>
              </a:solidFill>
            </a:endParaRPr>
          </a:p>
        </p:txBody>
      </p:sp>
      <p:sp>
        <p:nvSpPr>
          <p:cNvPr id="30" name="Rectangle 29"/>
          <p:cNvSpPr/>
          <p:nvPr/>
        </p:nvSpPr>
        <p:spPr>
          <a:xfrm>
            <a:off x="887104" y="1323869"/>
            <a:ext cx="14575809" cy="1384995"/>
          </a:xfrm>
          <a:prstGeom prst="rect">
            <a:avLst/>
          </a:prstGeom>
        </p:spPr>
        <p:txBody>
          <a:bodyPr wrap="square">
            <a:spAutoFit/>
          </a:bodyPr>
          <a:lstStyle/>
          <a:p>
            <a:r>
              <a:rPr lang="en-US" sz="2800" dirty="0"/>
              <a:t>To make your life easier to compare with the answer keys, I have now selected a functional unit of 1 pair of dried hands:  </a:t>
            </a:r>
            <a:r>
              <a:rPr lang="en-US" sz="2800" dirty="0">
                <a:solidFill>
                  <a:srgbClr val="FF0000"/>
                </a:solidFill>
              </a:rPr>
              <a:t>keep your reference flows simple, only what you directly buy!</a:t>
            </a:r>
          </a:p>
          <a:p>
            <a:endParaRPr lang="en-US" sz="2800" dirty="0"/>
          </a:p>
        </p:txBody>
      </p:sp>
      <p:sp>
        <p:nvSpPr>
          <p:cNvPr id="31" name="Rectangle 30">
            <a:extLst>
              <a:ext uri="{FF2B5EF4-FFF2-40B4-BE49-F238E27FC236}">
                <a16:creationId xmlns:a16="http://schemas.microsoft.com/office/drawing/2014/main" id="{CF6374D5-C9C2-AE45-8C51-D4497FBF8B9E}"/>
              </a:ext>
            </a:extLst>
          </p:cNvPr>
          <p:cNvSpPr/>
          <p:nvPr/>
        </p:nvSpPr>
        <p:spPr>
          <a:xfrm>
            <a:off x="4047378" y="4987084"/>
            <a:ext cx="1659784" cy="333602"/>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a:solidFill>
                  <a:schemeClr val="tx2"/>
                </a:solidFill>
              </a:rPr>
              <a:t>1 pair of dried hands</a:t>
            </a:r>
          </a:p>
        </p:txBody>
      </p:sp>
      <p:sp>
        <p:nvSpPr>
          <p:cNvPr id="23" name="Rectangle 22">
            <a:extLst>
              <a:ext uri="{FF2B5EF4-FFF2-40B4-BE49-F238E27FC236}">
                <a16:creationId xmlns:a16="http://schemas.microsoft.com/office/drawing/2014/main" id="{CF6374D5-C9C2-AE45-8C51-D4497FBF8B9E}"/>
              </a:ext>
            </a:extLst>
          </p:cNvPr>
          <p:cNvSpPr/>
          <p:nvPr/>
        </p:nvSpPr>
        <p:spPr>
          <a:xfrm>
            <a:off x="6209731" y="3703023"/>
            <a:ext cx="3586278" cy="1384671"/>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a:solidFill>
                  <a:srgbClr val="FF0000"/>
                </a:solidFill>
              </a:rPr>
              <a:t>1.5 towels /FU</a:t>
            </a:r>
          </a:p>
          <a:p>
            <a:pPr marL="45720"/>
            <a:endParaRPr lang="en-US" sz="1600" b="1" dirty="0">
              <a:solidFill>
                <a:srgbClr val="FF0000"/>
              </a:solidFill>
            </a:endParaRPr>
          </a:p>
          <a:p>
            <a:pPr marL="45720"/>
            <a:r>
              <a:rPr lang="en-US" sz="1600" dirty="0">
                <a:solidFill>
                  <a:srgbClr val="FF0000"/>
                </a:solidFill>
              </a:rPr>
              <a:t>1/(365*10*50)/FU = </a:t>
            </a:r>
          </a:p>
          <a:p>
            <a:pPr marL="45720"/>
            <a:r>
              <a:rPr lang="en-US" sz="1600" b="1" dirty="0">
                <a:solidFill>
                  <a:srgbClr val="FF0000"/>
                </a:solidFill>
              </a:rPr>
              <a:t>(1/182500) plastic distributor/FU</a:t>
            </a:r>
          </a:p>
        </p:txBody>
      </p:sp>
      <p:sp>
        <p:nvSpPr>
          <p:cNvPr id="24" name="Rectangle 23">
            <a:extLst>
              <a:ext uri="{FF2B5EF4-FFF2-40B4-BE49-F238E27FC236}">
                <a16:creationId xmlns:a16="http://schemas.microsoft.com/office/drawing/2014/main" id="{CF6374D5-C9C2-AE45-8C51-D4497FBF8B9E}"/>
              </a:ext>
            </a:extLst>
          </p:cNvPr>
          <p:cNvSpPr/>
          <p:nvPr/>
        </p:nvSpPr>
        <p:spPr>
          <a:xfrm>
            <a:off x="6029228" y="5565336"/>
            <a:ext cx="3766781" cy="1384671"/>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dirty="0">
                <a:solidFill>
                  <a:srgbClr val="FF0000"/>
                </a:solidFill>
              </a:rPr>
              <a:t>1800 W ∙ 30s/FU = 54000 J  (or W∙s)</a:t>
            </a:r>
          </a:p>
          <a:p>
            <a:pPr marL="45720"/>
            <a:r>
              <a:rPr lang="en-US" sz="1600" dirty="0">
                <a:solidFill>
                  <a:srgbClr val="FF0000"/>
                </a:solidFill>
              </a:rPr>
              <a:t>= 54000 W∙s /(3600 s/h) / (1000 W/kW)</a:t>
            </a:r>
          </a:p>
          <a:p>
            <a:pPr marL="45720"/>
            <a:r>
              <a:rPr lang="en-US" sz="1600" b="1" dirty="0">
                <a:solidFill>
                  <a:srgbClr val="FF0000"/>
                </a:solidFill>
              </a:rPr>
              <a:t>= 0.015 kWh/FU electricity</a:t>
            </a:r>
          </a:p>
          <a:p>
            <a:pPr marL="45720"/>
            <a:endParaRPr lang="en-US" sz="1600" b="1" dirty="0">
              <a:solidFill>
                <a:srgbClr val="FF0000"/>
              </a:solidFill>
            </a:endParaRPr>
          </a:p>
          <a:p>
            <a:pPr marL="45720"/>
            <a:r>
              <a:rPr lang="en-US" sz="1600" dirty="0">
                <a:solidFill>
                  <a:srgbClr val="FF0000"/>
                </a:solidFill>
              </a:rPr>
              <a:t>1/(365*20*50)/FU = </a:t>
            </a:r>
          </a:p>
          <a:p>
            <a:pPr marL="45720"/>
            <a:r>
              <a:rPr lang="en-US" sz="1600" b="1" dirty="0">
                <a:solidFill>
                  <a:srgbClr val="FF0000"/>
                </a:solidFill>
              </a:rPr>
              <a:t>(1/365000) air dryer device /FU</a:t>
            </a:r>
          </a:p>
        </p:txBody>
      </p:sp>
      <p:sp>
        <p:nvSpPr>
          <p:cNvPr id="25" name="Rectangle 24">
            <a:extLst>
              <a:ext uri="{FF2B5EF4-FFF2-40B4-BE49-F238E27FC236}">
                <a16:creationId xmlns:a16="http://schemas.microsoft.com/office/drawing/2014/main" id="{CF6374D5-C9C2-AE45-8C51-D4497FBF8B9E}"/>
              </a:ext>
            </a:extLst>
          </p:cNvPr>
          <p:cNvSpPr/>
          <p:nvPr/>
        </p:nvSpPr>
        <p:spPr>
          <a:xfrm>
            <a:off x="9836000" y="3703023"/>
            <a:ext cx="5209771" cy="2726071"/>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331470" indent="-285750">
              <a:buFont typeface="Arial" panose="020B0604020202020204" pitchFamily="34" charset="0"/>
              <a:buChar char="•"/>
            </a:pPr>
            <a:r>
              <a:rPr lang="en-US" sz="1600" b="1" dirty="0">
                <a:solidFill>
                  <a:srgbClr val="FF0000"/>
                </a:solidFill>
              </a:rPr>
              <a:t>Number of towels used to dry 1 pair of hand</a:t>
            </a:r>
            <a:r>
              <a:rPr lang="en-US" sz="1600" dirty="0">
                <a:solidFill>
                  <a:srgbClr val="FF0000"/>
                </a:solidFill>
              </a:rPr>
              <a:t>: According to a screening survey at our Swiss University, 1 towel/pair of dry hands in the men bathroom, 2 towels/pair of dry hands in the women bathroom, thus 1.5 on average)</a:t>
            </a:r>
          </a:p>
          <a:p>
            <a:pPr marL="45720"/>
            <a:endParaRPr lang="en-US" sz="300" dirty="0">
              <a:solidFill>
                <a:srgbClr val="FF0000"/>
              </a:solidFill>
            </a:endParaRPr>
          </a:p>
          <a:p>
            <a:pPr marL="331470" indent="-285750">
              <a:buFont typeface="Arial" panose="020B0604020202020204" pitchFamily="34" charset="0"/>
              <a:buChar char="•"/>
            </a:pPr>
            <a:r>
              <a:rPr lang="en-US" sz="1600" b="1" dirty="0">
                <a:solidFill>
                  <a:srgbClr val="FF0000"/>
                </a:solidFill>
              </a:rPr>
              <a:t>Weight of a paper towel </a:t>
            </a:r>
            <a:r>
              <a:rPr lang="en-US" sz="1600" dirty="0">
                <a:solidFill>
                  <a:srgbClr val="FF0000"/>
                </a:solidFill>
              </a:rPr>
              <a:t>(material extraction and manufacturing)</a:t>
            </a:r>
          </a:p>
          <a:p>
            <a:pPr marL="331470" indent="-285750">
              <a:buFont typeface="Arial" panose="020B0604020202020204" pitchFamily="34" charset="0"/>
              <a:buChar char="•"/>
            </a:pPr>
            <a:endParaRPr lang="en-US" sz="300" dirty="0">
              <a:solidFill>
                <a:srgbClr val="FF0000"/>
              </a:solidFill>
            </a:endParaRPr>
          </a:p>
          <a:p>
            <a:pPr marL="331470" indent="-285750">
              <a:buFont typeface="Arial" panose="020B0604020202020204" pitchFamily="34" charset="0"/>
              <a:buChar char="•"/>
            </a:pPr>
            <a:r>
              <a:rPr lang="en-US" sz="1600" i="1" dirty="0">
                <a:solidFill>
                  <a:srgbClr val="FF0000"/>
                </a:solidFill>
              </a:rPr>
              <a:t>Lifespan of the devices and amount and type of materials per device, plastic or iron </a:t>
            </a:r>
            <a:r>
              <a:rPr lang="en-US" sz="1600" dirty="0">
                <a:solidFill>
                  <a:srgbClr val="FF0000"/>
                </a:solidFill>
              </a:rPr>
              <a:t>(material extraction and manufacturing stages: whereas the fraction is so low that it does not really matter much)</a:t>
            </a:r>
          </a:p>
          <a:p>
            <a:pPr marL="331470" indent="-285750">
              <a:buFont typeface="Arial" panose="020B0604020202020204" pitchFamily="34" charset="0"/>
              <a:buChar char="•"/>
            </a:pPr>
            <a:endParaRPr lang="en-US" sz="300" dirty="0">
              <a:solidFill>
                <a:srgbClr val="FF0000"/>
              </a:solidFill>
            </a:endParaRPr>
          </a:p>
          <a:p>
            <a:pPr marL="331470" indent="-285750">
              <a:buFont typeface="Arial" panose="020B0604020202020204" pitchFamily="34" charset="0"/>
              <a:buChar char="•"/>
            </a:pPr>
            <a:r>
              <a:rPr lang="en-US" sz="1600" b="1" dirty="0">
                <a:solidFill>
                  <a:srgbClr val="FF0000"/>
                </a:solidFill>
              </a:rPr>
              <a:t>Duration of the air drying (use stage: newer dryers with high flow only need 10s)</a:t>
            </a:r>
          </a:p>
          <a:p>
            <a:pPr marL="331470" indent="-285750">
              <a:buFont typeface="Arial" panose="020B0604020202020204" pitchFamily="34" charset="0"/>
              <a:buChar char="•"/>
            </a:pPr>
            <a:endParaRPr lang="en-US" sz="1600" b="1" dirty="0">
              <a:solidFill>
                <a:schemeClr val="tx2"/>
              </a:solidFill>
            </a:endParaRPr>
          </a:p>
          <a:p>
            <a:pPr marL="45720"/>
            <a:endParaRPr lang="en-US" sz="1600" b="1" dirty="0">
              <a:solidFill>
                <a:schemeClr val="tx2"/>
              </a:solidFill>
            </a:endParaRPr>
          </a:p>
        </p:txBody>
      </p:sp>
      <p:pic>
        <p:nvPicPr>
          <p:cNvPr id="26" name="Picture 12" descr="sèche-mai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1293" y="6227224"/>
            <a:ext cx="1116374" cy="91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3" descr="seche-mainpapi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6880" y="4133732"/>
            <a:ext cx="844304" cy="844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6387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Char char="•"/>
              <a:defRPr sz="4267" b="1">
                <a:solidFill>
                  <a:srgbClr val="01035B"/>
                </a:solidFill>
                <a:latin typeface="Arial" panose="020B0604020202020204" pitchFamily="34" charset="0"/>
              </a:defRPr>
            </a:lvl1pPr>
            <a:lvl2pPr marL="990575" indent="-380990">
              <a:spcBef>
                <a:spcPct val="20000"/>
              </a:spcBef>
              <a:buClr>
                <a:srgbClr val="FF9900"/>
              </a:buClr>
              <a:buChar char="–"/>
              <a:defRPr sz="3733" b="1">
                <a:solidFill>
                  <a:srgbClr val="01035B"/>
                </a:solidFill>
                <a:latin typeface="Arial" panose="020B0604020202020204" pitchFamily="34" charset="0"/>
              </a:defRPr>
            </a:lvl2pPr>
            <a:lvl3pPr marL="1523962" indent="-304792">
              <a:spcBef>
                <a:spcPct val="20000"/>
              </a:spcBef>
              <a:buClr>
                <a:srgbClr val="FF9900"/>
              </a:buClr>
              <a:buChar char="•"/>
              <a:defRPr sz="3200" b="1">
                <a:solidFill>
                  <a:srgbClr val="01035B"/>
                </a:solidFill>
                <a:latin typeface="Arial" panose="020B0604020202020204" pitchFamily="34" charset="0"/>
              </a:defRPr>
            </a:lvl3pPr>
            <a:lvl4pPr marL="2133547" indent="-304792">
              <a:spcBef>
                <a:spcPct val="20000"/>
              </a:spcBef>
              <a:buClr>
                <a:srgbClr val="FF9900"/>
              </a:buClr>
              <a:buChar char="–"/>
              <a:defRPr sz="2667" b="1">
                <a:solidFill>
                  <a:srgbClr val="01035B"/>
                </a:solidFill>
                <a:latin typeface="Arial" panose="020B0604020202020204" pitchFamily="34" charset="0"/>
              </a:defRPr>
            </a:lvl4pPr>
            <a:lvl5pPr marL="2743131" indent="-304792">
              <a:spcBef>
                <a:spcPct val="20000"/>
              </a:spcBef>
              <a:buClr>
                <a:srgbClr val="FF9900"/>
              </a:buClr>
              <a:buChar char="»"/>
              <a:defRPr sz="2667" b="1">
                <a:solidFill>
                  <a:srgbClr val="01035B"/>
                </a:solidFill>
                <a:latin typeface="Arial" panose="020B0604020202020204" pitchFamily="34" charset="0"/>
              </a:defRPr>
            </a:lvl5pPr>
            <a:lvl6pPr marL="3352716" indent="-304792" eaLnBrk="0" fontAlgn="base" hangingPunct="0">
              <a:spcBef>
                <a:spcPct val="20000"/>
              </a:spcBef>
              <a:spcAft>
                <a:spcPct val="0"/>
              </a:spcAft>
              <a:buClr>
                <a:srgbClr val="FF9900"/>
              </a:buClr>
              <a:buChar char="»"/>
              <a:defRPr sz="2667" b="1">
                <a:solidFill>
                  <a:srgbClr val="01035B"/>
                </a:solidFill>
                <a:latin typeface="Arial" panose="020B0604020202020204" pitchFamily="34" charset="0"/>
              </a:defRPr>
            </a:lvl6pPr>
            <a:lvl7pPr marL="3962301" indent="-304792" eaLnBrk="0" fontAlgn="base" hangingPunct="0">
              <a:spcBef>
                <a:spcPct val="20000"/>
              </a:spcBef>
              <a:spcAft>
                <a:spcPct val="0"/>
              </a:spcAft>
              <a:buClr>
                <a:srgbClr val="FF9900"/>
              </a:buClr>
              <a:buChar char="»"/>
              <a:defRPr sz="2667" b="1">
                <a:solidFill>
                  <a:srgbClr val="01035B"/>
                </a:solidFill>
                <a:latin typeface="Arial" panose="020B0604020202020204" pitchFamily="34" charset="0"/>
              </a:defRPr>
            </a:lvl7pPr>
            <a:lvl8pPr marL="4571886" indent="-304792" eaLnBrk="0" fontAlgn="base" hangingPunct="0">
              <a:spcBef>
                <a:spcPct val="20000"/>
              </a:spcBef>
              <a:spcAft>
                <a:spcPct val="0"/>
              </a:spcAft>
              <a:buClr>
                <a:srgbClr val="FF9900"/>
              </a:buClr>
              <a:buChar char="»"/>
              <a:defRPr sz="2667" b="1">
                <a:solidFill>
                  <a:srgbClr val="01035B"/>
                </a:solidFill>
                <a:latin typeface="Arial" panose="020B0604020202020204" pitchFamily="34" charset="0"/>
              </a:defRPr>
            </a:lvl8pPr>
            <a:lvl9pPr marL="5181470" indent="-304792" eaLnBrk="0" fontAlgn="base" hangingPunct="0">
              <a:spcBef>
                <a:spcPct val="20000"/>
              </a:spcBef>
              <a:spcAft>
                <a:spcPct val="0"/>
              </a:spcAft>
              <a:buClr>
                <a:srgbClr val="FF9900"/>
              </a:buClr>
              <a:buChar char="»"/>
              <a:defRPr sz="2667" b="1">
                <a:solidFill>
                  <a:srgbClr val="01035B"/>
                </a:solidFill>
                <a:latin typeface="Arial" panose="020B0604020202020204" pitchFamily="34" charset="0"/>
              </a:defRPr>
            </a:lvl9pPr>
          </a:lstStyle>
          <a:p>
            <a:pPr>
              <a:spcBef>
                <a:spcPct val="0"/>
              </a:spcBef>
              <a:buClrTx/>
              <a:buFontTx/>
              <a:buNone/>
            </a:pPr>
            <a:fld id="{D0FA91AE-63A9-4136-AFFF-24EAFB373D13}" type="slidenum">
              <a:rPr lang="en-US" altLang="en-US" sz="1867" b="0">
                <a:solidFill>
                  <a:schemeClr val="tx1"/>
                </a:solidFill>
              </a:rPr>
              <a:pPr>
                <a:spcBef>
                  <a:spcPct val="0"/>
                </a:spcBef>
                <a:buClrTx/>
                <a:buFontTx/>
                <a:buNone/>
              </a:pPr>
              <a:t>5</a:t>
            </a:fld>
            <a:endParaRPr lang="en-US" altLang="en-US" sz="1867" b="0">
              <a:solidFill>
                <a:schemeClr val="tx1"/>
              </a:solidFill>
            </a:endParaRPr>
          </a:p>
        </p:txBody>
      </p:sp>
      <p:sp>
        <p:nvSpPr>
          <p:cNvPr id="15363" name="Rectangle 2"/>
          <p:cNvSpPr>
            <a:spLocks noGrp="1" noChangeArrowheads="1"/>
          </p:cNvSpPr>
          <p:nvPr>
            <p:ph type="title"/>
          </p:nvPr>
        </p:nvSpPr>
        <p:spPr>
          <a:xfrm>
            <a:off x="846163" y="139085"/>
            <a:ext cx="16251943" cy="1176867"/>
          </a:xfrm>
        </p:spPr>
        <p:txBody>
          <a:bodyPr/>
          <a:lstStyle/>
          <a:p>
            <a:pPr eaLnBrk="1" hangingPunct="1"/>
            <a:r>
              <a:rPr lang="en-US" altLang="en-US" sz="4267" dirty="0"/>
              <a:t>Hand Dryers – Intermediary Flows</a:t>
            </a:r>
          </a:p>
        </p:txBody>
      </p:sp>
      <p:graphicFrame>
        <p:nvGraphicFramePr>
          <p:cNvPr id="3106870" name="Group 54"/>
          <p:cNvGraphicFramePr>
            <a:graphicFrameLocks noGrp="1"/>
          </p:cNvGraphicFramePr>
          <p:nvPr>
            <p:ph sz="quarter" idx="2"/>
            <p:extLst>
              <p:ext uri="{D42A27DB-BD31-4B8C-83A1-F6EECF244321}">
                <p14:modId xmlns:p14="http://schemas.microsoft.com/office/powerpoint/2010/main" val="4000052364"/>
              </p:ext>
            </p:extLst>
          </p:nvPr>
        </p:nvGraphicFramePr>
        <p:xfrm>
          <a:off x="9922719" y="1485822"/>
          <a:ext cx="5384800" cy="3906136"/>
        </p:xfrm>
        <a:graphic>
          <a:graphicData uri="http://schemas.openxmlformats.org/drawingml/2006/table">
            <a:tbl>
              <a:tblPr/>
              <a:tblGrid>
                <a:gridCol w="2495551">
                  <a:extLst>
                    <a:ext uri="{9D8B030D-6E8A-4147-A177-3AD203B41FA5}">
                      <a16:colId xmlns:a16="http://schemas.microsoft.com/office/drawing/2014/main" val="20000"/>
                    </a:ext>
                  </a:extLst>
                </a:gridCol>
                <a:gridCol w="2889249">
                  <a:extLst>
                    <a:ext uri="{9D8B030D-6E8A-4147-A177-3AD203B41FA5}">
                      <a16:colId xmlns:a16="http://schemas.microsoft.com/office/drawing/2014/main" val="20001"/>
                    </a:ext>
                  </a:extLst>
                </a:gridCol>
              </a:tblGrid>
              <a:tr h="547694">
                <a:tc>
                  <a:txBody>
                    <a:bodyPr/>
                    <a:lstStyle/>
                    <a:p>
                      <a:pPr marL="0" marR="0" lvl="0" indent="0" algn="l" defTabSz="914400" rtl="0" eaLnBrk="1" fontAlgn="base" latinLnBrk="0" hangingPunct="1">
                        <a:lnSpc>
                          <a:spcPct val="100000"/>
                        </a:lnSpc>
                        <a:spcBef>
                          <a:spcPts val="0"/>
                        </a:spcBef>
                        <a:spcAft>
                          <a:spcPct val="0"/>
                        </a:spcAft>
                        <a:buClr>
                          <a:srgbClr val="FF9900"/>
                        </a:buClr>
                        <a:buSzTx/>
                        <a:buFontTx/>
                        <a:buNone/>
                        <a:tabLst/>
                      </a:pPr>
                      <a:endParaRPr kumimoji="0" lang="en-US" sz="4300" b="1" i="0" u="none" strike="noStrike" cap="none" normalizeH="0" baseline="0" dirty="0">
                        <a:ln>
                          <a:noFill/>
                        </a:ln>
                        <a:solidFill>
                          <a:srgbClr val="01035B"/>
                        </a:solidFill>
                        <a:effectLst/>
                        <a:latin typeface="Arial" charset="0"/>
                      </a:endParaRPr>
                    </a:p>
                  </a:txBody>
                  <a:tcPr marL="121920" marR="121920" marT="60936" marB="609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ts val="0"/>
                        </a:spcBef>
                        <a:spcAft>
                          <a:spcPct val="0"/>
                        </a:spcAft>
                        <a:buClrTx/>
                        <a:buSzTx/>
                        <a:buFontTx/>
                        <a:buNone/>
                        <a:tabLst/>
                      </a:pPr>
                      <a:r>
                        <a:rPr kumimoji="0" lang="en-US" sz="2100" b="1" i="0" u="none" strike="noStrike" cap="none" normalizeH="0" baseline="0" dirty="0">
                          <a:ln>
                            <a:noFill/>
                          </a:ln>
                          <a:solidFill>
                            <a:schemeClr val="tx1"/>
                          </a:solidFill>
                          <a:effectLst/>
                          <a:latin typeface="+mn-lt"/>
                          <a:cs typeface="Times New Roman" pitchFamily="18" charset="0"/>
                        </a:rPr>
                        <a:t>Hot air hand dryer</a:t>
                      </a:r>
                      <a:endParaRPr kumimoji="0" lang="en-US" sz="3700" b="0" i="0" u="none" strike="noStrike" cap="none" normalizeH="0" baseline="0" dirty="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Weight</a:t>
                      </a:r>
                      <a:endParaRPr kumimoji="0" lang="en-US" sz="3700" b="0" i="0" u="none" strike="noStrike" cap="none" normalizeH="0" baseline="0" dirty="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a:ln>
                            <a:noFill/>
                          </a:ln>
                          <a:solidFill>
                            <a:schemeClr val="tx1"/>
                          </a:solidFill>
                          <a:effectLst/>
                          <a:latin typeface="+mn-lt"/>
                          <a:cs typeface="Times New Roman" pitchFamily="18" charset="0"/>
                        </a:rPr>
                        <a:t>12 kg</a:t>
                      </a:r>
                      <a:endParaRPr kumimoji="0" lang="en-US" sz="3700" b="0" i="0" u="none" strike="noStrike" cap="none" normalizeH="0" baseline="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Carcass</a:t>
                      </a:r>
                      <a:endParaRPr kumimoji="0" lang="en-US" sz="3700" b="0" i="0" u="none" strike="noStrike" cap="none" normalizeH="0" baseline="0" dirty="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8 kg Cast iron</a:t>
                      </a:r>
                      <a:endParaRPr kumimoji="0" lang="en-US" sz="3700" b="0" i="0" u="none" strike="noStrike" cap="none" normalizeH="0" baseline="0" dirty="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Base</a:t>
                      </a:r>
                      <a:endParaRPr kumimoji="0" lang="en-US" sz="3700" b="0" i="0" u="none" strike="noStrike" cap="none" normalizeH="0" baseline="0" dirty="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4 kg steel</a:t>
                      </a:r>
                      <a:endParaRPr kumimoji="0" lang="en-US" sz="3700" b="0" i="0" u="none" strike="noStrike" cap="none" normalizeH="0" baseline="0" dirty="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a:ln>
                            <a:noFill/>
                          </a:ln>
                          <a:solidFill>
                            <a:schemeClr val="tx1"/>
                          </a:solidFill>
                          <a:effectLst/>
                          <a:latin typeface="+mn-lt"/>
                          <a:cs typeface="Times New Roman" pitchFamily="18" charset="0"/>
                        </a:rPr>
                        <a:t>Device Life time</a:t>
                      </a:r>
                      <a:endParaRPr kumimoji="0" lang="en-US" sz="3700" b="0" i="0" u="none" strike="noStrike" cap="none" normalizeH="0" baseline="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20 years</a:t>
                      </a:r>
                      <a:endParaRPr kumimoji="0" lang="en-US" sz="3700" b="0" i="0" u="none" strike="noStrike" cap="none" normalizeH="0" baseline="0" dirty="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a:ln>
                            <a:noFill/>
                          </a:ln>
                          <a:solidFill>
                            <a:schemeClr val="tx1"/>
                          </a:solidFill>
                          <a:effectLst/>
                          <a:latin typeface="+mn-lt"/>
                          <a:cs typeface="Times New Roman" pitchFamily="18" charset="0"/>
                        </a:rPr>
                        <a:t>Electricity rate</a:t>
                      </a:r>
                      <a:endParaRPr kumimoji="0" lang="en-US" sz="3700" b="0" i="0" u="none" strike="noStrike" cap="none" normalizeH="0" baseline="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1800 W</a:t>
                      </a:r>
                      <a:endParaRPr kumimoji="0" lang="en-US" sz="3700" b="0" i="0" u="none" strike="noStrike" cap="none" normalizeH="0" baseline="0" dirty="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a:ln>
                            <a:noFill/>
                          </a:ln>
                          <a:solidFill>
                            <a:schemeClr val="tx1"/>
                          </a:solidFill>
                          <a:effectLst/>
                          <a:latin typeface="+mn-lt"/>
                          <a:cs typeface="Times New Roman" pitchFamily="18" charset="0"/>
                        </a:rPr>
                        <a:t>Drying time</a:t>
                      </a:r>
                      <a:endParaRPr kumimoji="0" lang="en-US" sz="3700" b="0" i="0" u="none" strike="noStrike" cap="none" normalizeH="0" baseline="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30 s</a:t>
                      </a:r>
                      <a:endParaRPr kumimoji="0" lang="en-US" sz="3700" b="0" i="0" u="none" strike="noStrike" cap="none" normalizeH="0" baseline="0" dirty="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a:ln>
                            <a:noFill/>
                          </a:ln>
                          <a:solidFill>
                            <a:schemeClr val="tx1"/>
                          </a:solidFill>
                          <a:effectLst/>
                          <a:latin typeface="+mn-lt"/>
                          <a:cs typeface="Times New Roman" pitchFamily="18" charset="0"/>
                        </a:rPr>
                        <a:t>Transport</a:t>
                      </a:r>
                      <a:endParaRPr kumimoji="0" lang="en-US" sz="3700" b="0" i="0" u="none" strike="noStrike" cap="none" normalizeH="0" baseline="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100km truck</a:t>
                      </a:r>
                      <a:endParaRPr kumimoji="0" lang="en-US" sz="3700" b="0" i="0" u="none" strike="noStrike" cap="none" normalizeH="0" baseline="0" dirty="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3106849" name="Group 33"/>
          <p:cNvGraphicFramePr>
            <a:graphicFrameLocks noGrp="1"/>
          </p:cNvGraphicFramePr>
          <p:nvPr>
            <p:ph sz="quarter" idx="3"/>
            <p:extLst>
              <p:ext uri="{D42A27DB-BD31-4B8C-83A1-F6EECF244321}">
                <p14:modId xmlns:p14="http://schemas.microsoft.com/office/powerpoint/2010/main" val="2111474818"/>
              </p:ext>
            </p:extLst>
          </p:nvPr>
        </p:nvGraphicFramePr>
        <p:xfrm>
          <a:off x="9922719" y="5561828"/>
          <a:ext cx="5384800" cy="2453240"/>
        </p:xfrm>
        <a:graphic>
          <a:graphicData uri="http://schemas.openxmlformats.org/drawingml/2006/table">
            <a:tbl>
              <a:tblPr/>
              <a:tblGrid>
                <a:gridCol w="3433233">
                  <a:extLst>
                    <a:ext uri="{9D8B030D-6E8A-4147-A177-3AD203B41FA5}">
                      <a16:colId xmlns:a16="http://schemas.microsoft.com/office/drawing/2014/main" val="20000"/>
                    </a:ext>
                  </a:extLst>
                </a:gridCol>
                <a:gridCol w="1951567">
                  <a:extLst>
                    <a:ext uri="{9D8B030D-6E8A-4147-A177-3AD203B41FA5}">
                      <a16:colId xmlns:a16="http://schemas.microsoft.com/office/drawing/2014/main" val="20001"/>
                    </a:ext>
                  </a:extLst>
                </a:gridCol>
              </a:tblGrid>
              <a:tr h="585559">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endParaRPr kumimoji="0" lang="en-US" sz="3700" b="0" i="0" u="none" strike="noStrike" cap="none" normalizeH="0" baseline="0" dirty="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100" b="1" i="0" u="none" strike="noStrike" cap="none" normalizeH="0" baseline="0" dirty="0">
                          <a:ln>
                            <a:noFill/>
                          </a:ln>
                          <a:solidFill>
                            <a:schemeClr val="tx1"/>
                          </a:solidFill>
                          <a:effectLst/>
                          <a:latin typeface="+mn-lt"/>
                          <a:cs typeface="Times New Roman" pitchFamily="18" charset="0"/>
                        </a:rPr>
                        <a:t>paper towel</a:t>
                      </a:r>
                      <a:endParaRPr kumimoji="0" lang="en-US" sz="3700" b="1" i="0" u="none" strike="noStrike" cap="none" normalizeH="0" baseline="0" dirty="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6595">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Towel weight</a:t>
                      </a:r>
                      <a:endParaRPr kumimoji="0" lang="en-US" sz="3700" b="0" i="0" u="none" strike="noStrike" cap="none" normalizeH="0" baseline="0" dirty="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3.58 g</a:t>
                      </a:r>
                      <a:endParaRPr kumimoji="0" lang="en-US" sz="3700" b="0" i="0" u="none" strike="noStrike" cap="none" normalizeH="0" baseline="0" dirty="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6595">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Weight of towel container</a:t>
                      </a:r>
                      <a:endParaRPr kumimoji="0" lang="en-US" sz="3700" b="0" i="0" u="none" strike="noStrike" cap="none" normalizeH="0" baseline="0" dirty="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3 kg plastic</a:t>
                      </a:r>
                      <a:endParaRPr kumimoji="0" lang="en-US" sz="3700" b="0" i="0" u="none" strike="noStrike" cap="none" normalizeH="0" baseline="0" dirty="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6595">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Device life-time</a:t>
                      </a:r>
                      <a:endParaRPr kumimoji="0" lang="en-US" sz="3700" b="0" i="0" u="none" strike="noStrike" cap="none" normalizeH="0" baseline="0" dirty="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10 years</a:t>
                      </a:r>
                      <a:endParaRPr kumimoji="0" lang="en-US" sz="3700" b="0" i="0" u="none" strike="noStrike" cap="none" normalizeH="0" baseline="0" dirty="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6595">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Transport</a:t>
                      </a:r>
                      <a:endParaRPr kumimoji="0" lang="en-US" sz="3700" b="0" i="0" u="none" strike="noStrike" cap="none" normalizeH="0" baseline="0" dirty="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a:ln>
                            <a:noFill/>
                          </a:ln>
                          <a:solidFill>
                            <a:schemeClr val="tx1"/>
                          </a:solidFill>
                          <a:effectLst/>
                          <a:latin typeface="+mn-lt"/>
                          <a:cs typeface="Times New Roman" pitchFamily="18" charset="0"/>
                        </a:rPr>
                        <a:t>100km truck</a:t>
                      </a:r>
                      <a:endParaRPr kumimoji="0" lang="en-US" sz="3700" b="0" i="0" u="none" strike="noStrike" cap="none" normalizeH="0" baseline="0" dirty="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 name="Rectangle 6"/>
          <p:cNvSpPr/>
          <p:nvPr/>
        </p:nvSpPr>
        <p:spPr>
          <a:xfrm>
            <a:off x="736981" y="1315952"/>
            <a:ext cx="9185738" cy="8094524"/>
          </a:xfrm>
          <a:prstGeom prst="rect">
            <a:avLst/>
          </a:prstGeom>
        </p:spPr>
        <p:txBody>
          <a:bodyPr wrap="square">
            <a:spAutoFit/>
          </a:bodyPr>
          <a:lstStyle/>
          <a:p>
            <a:r>
              <a:rPr lang="en-US" sz="2800" b="1" dirty="0"/>
              <a:t>For all systems: </a:t>
            </a:r>
          </a:p>
          <a:p>
            <a:r>
              <a:rPr lang="en-US" sz="2800" dirty="0"/>
              <a:t>50 uses per day</a:t>
            </a:r>
          </a:p>
          <a:p>
            <a:endParaRPr lang="en-US" sz="800" dirty="0"/>
          </a:p>
          <a:p>
            <a:r>
              <a:rPr lang="en-US" sz="2800" b="1" dirty="0"/>
              <a:t>Hot air hand-dryer</a:t>
            </a:r>
          </a:p>
          <a:p>
            <a:r>
              <a:rPr lang="en-US" sz="2800" dirty="0"/>
              <a:t>The device is made out of cast iron with white coating (no need to go in the detail of the device composition at this stage; for the reference flows – just give the number of devices per FU). </a:t>
            </a:r>
            <a:r>
              <a:rPr lang="en-US" altLang="en-US" sz="2800" dirty="0">
                <a:solidFill>
                  <a:srgbClr val="C00000"/>
                </a:solidFill>
              </a:rPr>
              <a:t>The device is landfilled at the end of its life.</a:t>
            </a:r>
          </a:p>
          <a:p>
            <a:r>
              <a:rPr lang="en-US" sz="2800" dirty="0"/>
              <a:t>The air dryer is handled by a press button that is regulated for a 30 s usage.</a:t>
            </a:r>
          </a:p>
          <a:p>
            <a:endParaRPr lang="en-US" sz="800" dirty="0"/>
          </a:p>
          <a:p>
            <a:r>
              <a:rPr lang="en-US" sz="2800" b="1" dirty="0"/>
              <a:t>Paper towel </a:t>
            </a:r>
          </a:p>
          <a:p>
            <a:r>
              <a:rPr lang="en-US" sz="2800" dirty="0"/>
              <a:t>Assume 1.5 towel used on average per hands drying</a:t>
            </a:r>
          </a:p>
          <a:p>
            <a:r>
              <a:rPr lang="en-US" sz="2800" dirty="0">
                <a:solidFill>
                  <a:srgbClr val="C00000"/>
                </a:solidFill>
              </a:rPr>
              <a:t>Paper towel are incinerated once used. When incinerated, paper towel produces 18 MJ/kg, of which 25% is recovered as useful electricity and substitute electricity. The plastic dispenser is landfilled at the end of its life</a:t>
            </a:r>
          </a:p>
          <a:p>
            <a:endParaRPr lang="en-US" sz="2800" dirty="0"/>
          </a:p>
        </p:txBody>
      </p:sp>
    </p:spTree>
    <p:extLst>
      <p:ext uri="{BB962C8B-B14F-4D97-AF65-F5344CB8AC3E}">
        <p14:creationId xmlns:p14="http://schemas.microsoft.com/office/powerpoint/2010/main" val="426281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5291478" cy="870385"/>
          </a:xfrm>
        </p:spPr>
        <p:txBody>
          <a:bodyPr/>
          <a:lstStyle/>
          <a:p>
            <a:r>
              <a:rPr lang="en-US" altLang="en-US" sz="3600" dirty="0"/>
              <a:t>Process Tree: Hands drying - paper towel : Activity answer key</a:t>
            </a:r>
            <a:endParaRPr lang="en-US" sz="3600" dirty="0">
              <a:solidFill>
                <a:schemeClr val="tx2"/>
              </a:solidFill>
            </a:endParaRPr>
          </a:p>
        </p:txBody>
      </p:sp>
      <p:sp>
        <p:nvSpPr>
          <p:cNvPr id="13" name="Text Box 41">
            <a:extLst>
              <a:ext uri="{FF2B5EF4-FFF2-40B4-BE49-F238E27FC236}">
                <a16:creationId xmlns:a16="http://schemas.microsoft.com/office/drawing/2014/main" id="{2BAB109B-612E-A149-9127-94CCCF2EE827}"/>
              </a:ext>
            </a:extLst>
          </p:cNvPr>
          <p:cNvSpPr txBox="1">
            <a:spLocks noChangeArrowheads="1"/>
          </p:cNvSpPr>
          <p:nvPr/>
        </p:nvSpPr>
        <p:spPr bwMode="auto">
          <a:xfrm>
            <a:off x="6843520" y="3743951"/>
            <a:ext cx="3956162" cy="1015663"/>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tx2"/>
                </a:solidFill>
                <a:cs typeface="Arial" panose="020B0604020202020204" pitchFamily="34" charset="0"/>
              </a:rPr>
              <a:t>transportation - truck </a:t>
            </a:r>
            <a:br>
              <a:rPr lang="en-US" altLang="en-US" sz="2000" b="0" dirty="0">
                <a:solidFill>
                  <a:schemeClr val="tx2"/>
                </a:solidFill>
                <a:cs typeface="Arial" panose="020B0604020202020204" pitchFamily="34" charset="0"/>
              </a:rPr>
            </a:br>
            <a:r>
              <a:rPr lang="en-US" altLang="en-US" sz="2000" b="0" dirty="0">
                <a:solidFill>
                  <a:schemeClr val="tx2"/>
                </a:solidFill>
                <a:cs typeface="Arial" panose="020B0604020202020204" pitchFamily="34" charset="0"/>
              </a:rPr>
              <a:t>(0.0164 g + 5.37 g) x 100 / 1000 = 0.54 kg.km</a:t>
            </a:r>
          </a:p>
        </p:txBody>
      </p:sp>
      <p:sp>
        <p:nvSpPr>
          <p:cNvPr id="14" name="Text Box 41">
            <a:extLst>
              <a:ext uri="{FF2B5EF4-FFF2-40B4-BE49-F238E27FC236}">
                <a16:creationId xmlns:a16="http://schemas.microsoft.com/office/drawing/2014/main" id="{DCC22E31-971F-6C48-AEB8-7CACEFE36048}"/>
              </a:ext>
            </a:extLst>
          </p:cNvPr>
          <p:cNvSpPr txBox="1">
            <a:spLocks noChangeArrowheads="1"/>
          </p:cNvSpPr>
          <p:nvPr/>
        </p:nvSpPr>
        <p:spPr bwMode="auto">
          <a:xfrm>
            <a:off x="490604" y="3897839"/>
            <a:ext cx="2523000" cy="707886"/>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tx2"/>
                </a:solidFill>
                <a:cs typeface="Arial" panose="020B0604020202020204" pitchFamily="34" charset="0"/>
              </a:rPr>
              <a:t>3 kg x 1000 / 18250 = 0.0164 g plastic</a:t>
            </a:r>
          </a:p>
        </p:txBody>
      </p:sp>
      <p:cxnSp>
        <p:nvCxnSpPr>
          <p:cNvPr id="15" name="Elbow Connector 14">
            <a:extLst>
              <a:ext uri="{FF2B5EF4-FFF2-40B4-BE49-F238E27FC236}">
                <a16:creationId xmlns:a16="http://schemas.microsoft.com/office/drawing/2014/main" id="{3345EECF-6844-1D4F-8B16-504585BA483F}"/>
              </a:ext>
            </a:extLst>
          </p:cNvPr>
          <p:cNvCxnSpPr>
            <a:cxnSpLocks noChangeShapeType="1"/>
            <a:stCxn id="14" idx="3"/>
            <a:endCxn id="18" idx="1"/>
          </p:cNvCxnSpPr>
          <p:nvPr/>
        </p:nvCxnSpPr>
        <p:spPr bwMode="auto">
          <a:xfrm>
            <a:off x="3013604" y="4251782"/>
            <a:ext cx="885754" cy="1"/>
          </a:xfrm>
          <a:prstGeom prst="straightConnector1">
            <a:avLst/>
          </a:prstGeom>
          <a:noFill/>
          <a:ln w="28575" algn="ctr">
            <a:solidFill>
              <a:schemeClr val="accent1"/>
            </a:solidFill>
            <a:round/>
            <a:headEnd/>
            <a:tailEnd type="arrow" w="med" len="med"/>
          </a:ln>
        </p:spPr>
      </p:cxnSp>
      <p:sp>
        <p:nvSpPr>
          <p:cNvPr id="17" name="Text Box 41">
            <a:extLst>
              <a:ext uri="{FF2B5EF4-FFF2-40B4-BE49-F238E27FC236}">
                <a16:creationId xmlns:a16="http://schemas.microsoft.com/office/drawing/2014/main" id="{DEC1D860-E40A-CC4C-A6AC-F667EEBCC8EC}"/>
              </a:ext>
            </a:extLst>
          </p:cNvPr>
          <p:cNvSpPr txBox="1">
            <a:spLocks noChangeArrowheads="1"/>
          </p:cNvSpPr>
          <p:nvPr/>
        </p:nvSpPr>
        <p:spPr bwMode="auto">
          <a:xfrm>
            <a:off x="11683106" y="3897839"/>
            <a:ext cx="2742578" cy="707886"/>
          </a:xfrm>
          <a:prstGeom prst="rect">
            <a:avLst/>
          </a:prstGeom>
          <a:solidFill>
            <a:schemeClr val="accent6">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defRPr/>
            </a:pPr>
            <a:r>
              <a:rPr lang="en-US" altLang="en-US" sz="2000" b="0" dirty="0">
                <a:solidFill>
                  <a:schemeClr val="accent6"/>
                </a:solidFill>
                <a:cs typeface="Arial" panose="020B0604020202020204" pitchFamily="34" charset="0"/>
              </a:rPr>
              <a:t>1 pair of dried hands, paper towel</a:t>
            </a:r>
          </a:p>
        </p:txBody>
      </p:sp>
      <p:sp>
        <p:nvSpPr>
          <p:cNvPr id="18" name="Text Box 41">
            <a:extLst>
              <a:ext uri="{FF2B5EF4-FFF2-40B4-BE49-F238E27FC236}">
                <a16:creationId xmlns:a16="http://schemas.microsoft.com/office/drawing/2014/main" id="{DCC22E31-971F-6C48-AEB8-7CACEFE36048}"/>
              </a:ext>
            </a:extLst>
          </p:cNvPr>
          <p:cNvSpPr txBox="1">
            <a:spLocks noChangeArrowheads="1"/>
          </p:cNvSpPr>
          <p:nvPr/>
        </p:nvSpPr>
        <p:spPr bwMode="auto">
          <a:xfrm>
            <a:off x="3899358" y="3743951"/>
            <a:ext cx="1965336" cy="1015663"/>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None/>
            </a:pPr>
            <a:r>
              <a:rPr lang="en-US" sz="2000" b="0" dirty="0">
                <a:solidFill>
                  <a:schemeClr val="tx2"/>
                </a:solidFill>
                <a:cs typeface="Arial" panose="020B0604020202020204" pitchFamily="34" charset="0"/>
              </a:rPr>
              <a:t>1/182500 plastic distributor</a:t>
            </a:r>
            <a:endParaRPr lang="en-US" altLang="en-US" sz="2000" b="0" dirty="0">
              <a:solidFill>
                <a:schemeClr val="tx2"/>
              </a:solidFill>
              <a:cs typeface="Arial" panose="020B0604020202020204" pitchFamily="34" charset="0"/>
            </a:endParaRPr>
          </a:p>
        </p:txBody>
      </p:sp>
      <p:sp>
        <p:nvSpPr>
          <p:cNvPr id="19" name="Text Box 41">
            <a:extLst>
              <a:ext uri="{FF2B5EF4-FFF2-40B4-BE49-F238E27FC236}">
                <a16:creationId xmlns:a16="http://schemas.microsoft.com/office/drawing/2014/main" id="{2BAB109B-612E-A149-9127-94CCCF2EE827}"/>
              </a:ext>
            </a:extLst>
          </p:cNvPr>
          <p:cNvSpPr txBox="1">
            <a:spLocks noChangeArrowheads="1"/>
          </p:cNvSpPr>
          <p:nvPr/>
        </p:nvSpPr>
        <p:spPr bwMode="auto">
          <a:xfrm>
            <a:off x="3576862" y="1890083"/>
            <a:ext cx="2464694" cy="707886"/>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tx2"/>
                </a:solidFill>
                <a:cs typeface="Arial" panose="020B0604020202020204" pitchFamily="34" charset="0"/>
              </a:rPr>
              <a:t>1.5 x 3.58 = 5.37 g</a:t>
            </a:r>
            <a:br>
              <a:rPr lang="en-US" altLang="en-US" sz="2000" b="0" dirty="0">
                <a:solidFill>
                  <a:schemeClr val="tx2"/>
                </a:solidFill>
                <a:cs typeface="Arial" panose="020B0604020202020204" pitchFamily="34" charset="0"/>
              </a:rPr>
            </a:br>
            <a:r>
              <a:rPr lang="en-US" altLang="en-US" sz="2000" b="0" dirty="0">
                <a:solidFill>
                  <a:schemeClr val="tx2"/>
                </a:solidFill>
                <a:cs typeface="Arial" panose="020B0604020202020204" pitchFamily="34" charset="0"/>
              </a:rPr>
              <a:t>paper towel</a:t>
            </a:r>
          </a:p>
        </p:txBody>
      </p:sp>
      <p:cxnSp>
        <p:nvCxnSpPr>
          <p:cNvPr id="21" name="Elbow Connector 20">
            <a:extLst>
              <a:ext uri="{FF2B5EF4-FFF2-40B4-BE49-F238E27FC236}">
                <a16:creationId xmlns:a16="http://schemas.microsoft.com/office/drawing/2014/main" id="{3345EECF-6844-1D4F-8B16-504585BA483F}"/>
              </a:ext>
            </a:extLst>
          </p:cNvPr>
          <p:cNvCxnSpPr>
            <a:cxnSpLocks noChangeShapeType="1"/>
          </p:cNvCxnSpPr>
          <p:nvPr/>
        </p:nvCxnSpPr>
        <p:spPr bwMode="auto">
          <a:xfrm>
            <a:off x="4781330" y="2610215"/>
            <a:ext cx="0" cy="1011577"/>
          </a:xfrm>
          <a:prstGeom prst="straightConnector1">
            <a:avLst/>
          </a:prstGeom>
          <a:noFill/>
          <a:ln w="28575" algn="ctr">
            <a:solidFill>
              <a:schemeClr val="accent1"/>
            </a:solidFill>
            <a:round/>
            <a:headEnd/>
            <a:tailEnd type="arrow" w="med" len="med"/>
          </a:ln>
        </p:spPr>
      </p:cxnSp>
      <p:cxnSp>
        <p:nvCxnSpPr>
          <p:cNvPr id="22" name="Elbow Connector 14">
            <a:extLst>
              <a:ext uri="{FF2B5EF4-FFF2-40B4-BE49-F238E27FC236}">
                <a16:creationId xmlns:a16="http://schemas.microsoft.com/office/drawing/2014/main" id="{610C96FC-07A4-422B-944F-609B883F58D8}"/>
              </a:ext>
            </a:extLst>
          </p:cNvPr>
          <p:cNvCxnSpPr>
            <a:cxnSpLocks noChangeShapeType="1"/>
            <a:stCxn id="13" idx="3"/>
            <a:endCxn id="17" idx="1"/>
          </p:cNvCxnSpPr>
          <p:nvPr/>
        </p:nvCxnSpPr>
        <p:spPr bwMode="auto">
          <a:xfrm flipV="1">
            <a:off x="10799682" y="4251782"/>
            <a:ext cx="883424" cy="1"/>
          </a:xfrm>
          <a:prstGeom prst="straightConnector1">
            <a:avLst/>
          </a:prstGeom>
          <a:noFill/>
          <a:ln w="28575" algn="ctr">
            <a:solidFill>
              <a:schemeClr val="accent1"/>
            </a:solidFill>
            <a:round/>
            <a:headEnd/>
            <a:tailEnd type="arrow" w="med" len="med"/>
          </a:ln>
        </p:spPr>
      </p:cxnSp>
      <p:cxnSp>
        <p:nvCxnSpPr>
          <p:cNvPr id="12" name="Elbow Connector 14">
            <a:extLst>
              <a:ext uri="{FF2B5EF4-FFF2-40B4-BE49-F238E27FC236}">
                <a16:creationId xmlns:a16="http://schemas.microsoft.com/office/drawing/2014/main" id="{3345EECF-6844-1D4F-8B16-504585BA483F}"/>
              </a:ext>
            </a:extLst>
          </p:cNvPr>
          <p:cNvCxnSpPr>
            <a:cxnSpLocks noChangeShapeType="1"/>
            <a:endCxn id="13" idx="1"/>
          </p:cNvCxnSpPr>
          <p:nvPr/>
        </p:nvCxnSpPr>
        <p:spPr bwMode="auto">
          <a:xfrm>
            <a:off x="5960095" y="4251783"/>
            <a:ext cx="883425" cy="0"/>
          </a:xfrm>
          <a:prstGeom prst="straightConnector1">
            <a:avLst/>
          </a:prstGeom>
          <a:noFill/>
          <a:ln w="28575" algn="ctr">
            <a:solidFill>
              <a:schemeClr val="accent1"/>
            </a:solidFill>
            <a:round/>
            <a:headEnd/>
            <a:tailEnd type="arrow" w="med" len="med"/>
          </a:ln>
        </p:spPr>
      </p:cxnSp>
      <p:sp>
        <p:nvSpPr>
          <p:cNvPr id="23" name="Text Box 41">
            <a:extLst>
              <a:ext uri="{FF2B5EF4-FFF2-40B4-BE49-F238E27FC236}">
                <a16:creationId xmlns:a16="http://schemas.microsoft.com/office/drawing/2014/main" id="{2BAB109B-612E-A149-9127-94CCCF2EE827}"/>
              </a:ext>
            </a:extLst>
          </p:cNvPr>
          <p:cNvSpPr txBox="1">
            <a:spLocks noChangeArrowheads="1"/>
          </p:cNvSpPr>
          <p:nvPr/>
        </p:nvSpPr>
        <p:spPr bwMode="auto">
          <a:xfrm>
            <a:off x="11682484" y="5697856"/>
            <a:ext cx="2743200" cy="707886"/>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tx2"/>
                </a:solidFill>
                <a:cs typeface="Arial" panose="020B0604020202020204" pitchFamily="34" charset="0"/>
              </a:rPr>
              <a:t>landfilled plastic</a:t>
            </a:r>
            <a:br>
              <a:rPr lang="en-US" altLang="en-US" sz="2000" b="0" dirty="0">
                <a:solidFill>
                  <a:schemeClr val="tx2"/>
                </a:solidFill>
                <a:cs typeface="Arial" panose="020B0604020202020204" pitchFamily="34" charset="0"/>
              </a:rPr>
            </a:br>
            <a:r>
              <a:rPr lang="en-US" altLang="en-US" sz="2000" b="0" dirty="0">
                <a:solidFill>
                  <a:schemeClr val="tx2"/>
                </a:solidFill>
                <a:cs typeface="Arial" panose="020B0604020202020204" pitchFamily="34" charset="0"/>
              </a:rPr>
              <a:t> distributor (0.0164 g)</a:t>
            </a:r>
          </a:p>
        </p:txBody>
      </p:sp>
      <p:sp>
        <p:nvSpPr>
          <p:cNvPr id="24" name="Text Box 41">
            <a:extLst>
              <a:ext uri="{FF2B5EF4-FFF2-40B4-BE49-F238E27FC236}">
                <a16:creationId xmlns:a16="http://schemas.microsoft.com/office/drawing/2014/main" id="{2BAB109B-612E-A149-9127-94CCCF2EE827}"/>
              </a:ext>
            </a:extLst>
          </p:cNvPr>
          <p:cNvSpPr txBox="1">
            <a:spLocks noChangeArrowheads="1"/>
          </p:cNvSpPr>
          <p:nvPr/>
        </p:nvSpPr>
        <p:spPr bwMode="auto">
          <a:xfrm>
            <a:off x="11682484" y="1992898"/>
            <a:ext cx="2743200" cy="707886"/>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tx2"/>
                </a:solidFill>
                <a:cs typeface="Arial" panose="020B0604020202020204" pitchFamily="34" charset="0"/>
              </a:rPr>
              <a:t>Incinerated paper towel (5.37 g)</a:t>
            </a:r>
          </a:p>
        </p:txBody>
      </p:sp>
      <p:cxnSp>
        <p:nvCxnSpPr>
          <p:cNvPr id="25" name="Elbow Connector 14">
            <a:extLst>
              <a:ext uri="{FF2B5EF4-FFF2-40B4-BE49-F238E27FC236}">
                <a16:creationId xmlns:a16="http://schemas.microsoft.com/office/drawing/2014/main" id="{610C96FC-07A4-422B-944F-609B883F58D8}"/>
              </a:ext>
            </a:extLst>
          </p:cNvPr>
          <p:cNvCxnSpPr>
            <a:cxnSpLocks noChangeShapeType="1"/>
            <a:stCxn id="17" idx="0"/>
            <a:endCxn id="24" idx="2"/>
          </p:cNvCxnSpPr>
          <p:nvPr/>
        </p:nvCxnSpPr>
        <p:spPr bwMode="auto">
          <a:xfrm flipH="1" flipV="1">
            <a:off x="13054084" y="2700784"/>
            <a:ext cx="311" cy="1197055"/>
          </a:xfrm>
          <a:prstGeom prst="straightConnector1">
            <a:avLst/>
          </a:prstGeom>
          <a:noFill/>
          <a:ln w="28575" algn="ctr">
            <a:solidFill>
              <a:schemeClr val="accent1"/>
            </a:solidFill>
            <a:round/>
            <a:headEnd/>
            <a:tailEnd type="arrow" w="med" len="med"/>
          </a:ln>
        </p:spPr>
      </p:cxnSp>
      <p:cxnSp>
        <p:nvCxnSpPr>
          <p:cNvPr id="29" name="Elbow Connector 10">
            <a:extLst>
              <a:ext uri="{FF2B5EF4-FFF2-40B4-BE49-F238E27FC236}">
                <a16:creationId xmlns:a16="http://schemas.microsoft.com/office/drawing/2014/main" id="{1CE1F663-A9BB-439D-86A2-9C784CE39776}"/>
              </a:ext>
            </a:extLst>
          </p:cNvPr>
          <p:cNvCxnSpPr>
            <a:cxnSpLocks noChangeShapeType="1"/>
            <a:stCxn id="18" idx="2"/>
            <a:endCxn id="23" idx="1"/>
          </p:cNvCxnSpPr>
          <p:nvPr/>
        </p:nvCxnSpPr>
        <p:spPr bwMode="auto">
          <a:xfrm rot="16200000" flipH="1">
            <a:off x="7636163" y="2005477"/>
            <a:ext cx="1292185" cy="6800458"/>
          </a:xfrm>
          <a:prstGeom prst="bentConnector2">
            <a:avLst/>
          </a:prstGeom>
          <a:noFill/>
          <a:ln w="28575" algn="ctr">
            <a:solidFill>
              <a:schemeClr val="accent1"/>
            </a:solidFill>
            <a:round/>
            <a:headEnd/>
            <a:tailEnd type="arrow" w="med" len="med"/>
          </a:ln>
        </p:spPr>
      </p:cxnSp>
      <p:pic>
        <p:nvPicPr>
          <p:cNvPr id="32" name="Picture 5" descr="seche-mainpapi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812" y="1538256"/>
            <a:ext cx="1161054" cy="1161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7239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sz="3600" dirty="0"/>
              <a:t>Process Tree: Hands drying  - air dryer: Activity answer key</a:t>
            </a:r>
            <a:endParaRPr lang="en-US" sz="3600" dirty="0">
              <a:solidFill>
                <a:schemeClr val="tx2"/>
              </a:solidFill>
            </a:endParaRPr>
          </a:p>
        </p:txBody>
      </p:sp>
      <p:sp>
        <p:nvSpPr>
          <p:cNvPr id="26" name="Text Box 41">
            <a:extLst>
              <a:ext uri="{FF2B5EF4-FFF2-40B4-BE49-F238E27FC236}">
                <a16:creationId xmlns:a16="http://schemas.microsoft.com/office/drawing/2014/main" id="{DEC1D860-E40A-CC4C-A6AC-F667EEBCC8EC}"/>
              </a:ext>
            </a:extLst>
          </p:cNvPr>
          <p:cNvSpPr txBox="1">
            <a:spLocks noChangeArrowheads="1"/>
          </p:cNvSpPr>
          <p:nvPr/>
        </p:nvSpPr>
        <p:spPr bwMode="auto">
          <a:xfrm>
            <a:off x="11373038" y="4562354"/>
            <a:ext cx="2135981" cy="707886"/>
          </a:xfrm>
          <a:prstGeom prst="rect">
            <a:avLst/>
          </a:prstGeom>
          <a:solidFill>
            <a:schemeClr val="accent6">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defRPr/>
            </a:pPr>
            <a:r>
              <a:rPr lang="en-US" altLang="en-US" sz="2000" b="0" dirty="0">
                <a:solidFill>
                  <a:schemeClr val="accent6"/>
                </a:solidFill>
                <a:cs typeface="Arial" panose="020B0604020202020204" pitchFamily="34" charset="0"/>
              </a:rPr>
              <a:t>1 pair of dried hands, air dryer</a:t>
            </a:r>
          </a:p>
        </p:txBody>
      </p:sp>
      <p:sp>
        <p:nvSpPr>
          <p:cNvPr id="27" name="Text Box 41">
            <a:extLst>
              <a:ext uri="{FF2B5EF4-FFF2-40B4-BE49-F238E27FC236}">
                <a16:creationId xmlns:a16="http://schemas.microsoft.com/office/drawing/2014/main" id="{DCC22E31-971F-6C48-AEB8-7CACEFE36048}"/>
              </a:ext>
            </a:extLst>
          </p:cNvPr>
          <p:cNvSpPr txBox="1">
            <a:spLocks noChangeArrowheads="1"/>
          </p:cNvSpPr>
          <p:nvPr/>
        </p:nvSpPr>
        <p:spPr bwMode="auto">
          <a:xfrm>
            <a:off x="8836213" y="5722667"/>
            <a:ext cx="1920875" cy="707886"/>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tx2"/>
                </a:solidFill>
                <a:cs typeface="Arial" panose="020B0604020202020204" pitchFamily="34" charset="0"/>
              </a:rPr>
              <a:t>Electricity</a:t>
            </a:r>
          </a:p>
          <a:p>
            <a:pPr algn="ctr">
              <a:spcBef>
                <a:spcPct val="0"/>
              </a:spcBef>
              <a:buClrTx/>
              <a:buFontTx/>
              <a:buNone/>
            </a:pPr>
            <a:r>
              <a:rPr lang="en-US" altLang="en-US" sz="2000" b="0" dirty="0">
                <a:solidFill>
                  <a:schemeClr val="tx2"/>
                </a:solidFill>
                <a:cs typeface="Arial" panose="020B0604020202020204" pitchFamily="34" charset="0"/>
              </a:rPr>
              <a:t>0.015 kWh</a:t>
            </a:r>
          </a:p>
        </p:txBody>
      </p:sp>
      <p:cxnSp>
        <p:nvCxnSpPr>
          <p:cNvPr id="37" name="Elbow Connector 10">
            <a:extLst>
              <a:ext uri="{FF2B5EF4-FFF2-40B4-BE49-F238E27FC236}">
                <a16:creationId xmlns:a16="http://schemas.microsoft.com/office/drawing/2014/main" id="{3345EECF-6844-1D4F-8B16-504585BA483F}"/>
              </a:ext>
            </a:extLst>
          </p:cNvPr>
          <p:cNvCxnSpPr>
            <a:cxnSpLocks noChangeShapeType="1"/>
            <a:stCxn id="27" idx="3"/>
            <a:endCxn id="26" idx="2"/>
          </p:cNvCxnSpPr>
          <p:nvPr/>
        </p:nvCxnSpPr>
        <p:spPr bwMode="auto">
          <a:xfrm flipV="1">
            <a:off x="10757088" y="5270240"/>
            <a:ext cx="1683941" cy="806370"/>
          </a:xfrm>
          <a:prstGeom prst="bentConnector2">
            <a:avLst/>
          </a:prstGeom>
          <a:noFill/>
          <a:ln w="28575" algn="ctr">
            <a:solidFill>
              <a:schemeClr val="accent1"/>
            </a:solidFill>
            <a:round/>
            <a:headEnd/>
            <a:tailEnd type="arrow" w="med" len="med"/>
          </a:ln>
        </p:spPr>
      </p:cxnSp>
      <p:sp>
        <p:nvSpPr>
          <p:cNvPr id="13" name="Text Box 41">
            <a:extLst>
              <a:ext uri="{FF2B5EF4-FFF2-40B4-BE49-F238E27FC236}">
                <a16:creationId xmlns:a16="http://schemas.microsoft.com/office/drawing/2014/main" id="{2BAB109B-612E-A149-9127-94CCCF2EE827}"/>
              </a:ext>
            </a:extLst>
          </p:cNvPr>
          <p:cNvSpPr txBox="1">
            <a:spLocks noChangeArrowheads="1"/>
          </p:cNvSpPr>
          <p:nvPr/>
        </p:nvSpPr>
        <p:spPr bwMode="auto">
          <a:xfrm>
            <a:off x="335902" y="3465408"/>
            <a:ext cx="2553089" cy="1015663"/>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tx2"/>
                </a:solidFill>
                <a:cs typeface="Arial" panose="020B0604020202020204" pitchFamily="34" charset="0"/>
              </a:rPr>
              <a:t>Cast iron</a:t>
            </a:r>
          </a:p>
          <a:p>
            <a:pPr algn="ctr">
              <a:spcBef>
                <a:spcPct val="0"/>
              </a:spcBef>
              <a:buClrTx/>
              <a:buFontTx/>
              <a:buNone/>
            </a:pPr>
            <a:r>
              <a:rPr lang="en-US" altLang="en-US" sz="2000" b="0" dirty="0">
                <a:solidFill>
                  <a:schemeClr val="tx2"/>
                </a:solidFill>
                <a:cs typeface="Arial" panose="020B0604020202020204" pitchFamily="34" charset="0"/>
              </a:rPr>
              <a:t>8 kg x 1000 / 365000 = 0.022 g </a:t>
            </a:r>
          </a:p>
        </p:txBody>
      </p:sp>
      <p:sp>
        <p:nvSpPr>
          <p:cNvPr id="14" name="Text Box 41">
            <a:extLst>
              <a:ext uri="{FF2B5EF4-FFF2-40B4-BE49-F238E27FC236}">
                <a16:creationId xmlns:a16="http://schemas.microsoft.com/office/drawing/2014/main" id="{DCC22E31-971F-6C48-AEB8-7CACEFE36048}"/>
              </a:ext>
            </a:extLst>
          </p:cNvPr>
          <p:cNvSpPr txBox="1">
            <a:spLocks noChangeArrowheads="1"/>
          </p:cNvSpPr>
          <p:nvPr/>
        </p:nvSpPr>
        <p:spPr bwMode="auto">
          <a:xfrm>
            <a:off x="333854" y="5279886"/>
            <a:ext cx="2553088" cy="1015663"/>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tx2"/>
                </a:solidFill>
                <a:cs typeface="Arial" panose="020B0604020202020204" pitchFamily="34" charset="0"/>
              </a:rPr>
              <a:t>Steel</a:t>
            </a:r>
          </a:p>
          <a:p>
            <a:pPr algn="ctr">
              <a:spcBef>
                <a:spcPct val="0"/>
              </a:spcBef>
              <a:buClrTx/>
              <a:buFontTx/>
              <a:buNone/>
            </a:pPr>
            <a:r>
              <a:rPr lang="en-US" altLang="en-US" sz="2000" b="0" dirty="0">
                <a:solidFill>
                  <a:schemeClr val="tx2"/>
                </a:solidFill>
                <a:cs typeface="Arial" panose="020B0604020202020204" pitchFamily="34" charset="0"/>
              </a:rPr>
              <a:t>4 kg x 1000 / 365000 = 0.011 g</a:t>
            </a:r>
          </a:p>
        </p:txBody>
      </p:sp>
      <p:cxnSp>
        <p:nvCxnSpPr>
          <p:cNvPr id="15" name="Elbow Connector 14">
            <a:extLst>
              <a:ext uri="{FF2B5EF4-FFF2-40B4-BE49-F238E27FC236}">
                <a16:creationId xmlns:a16="http://schemas.microsoft.com/office/drawing/2014/main" id="{3345EECF-6844-1D4F-8B16-504585BA483F}"/>
              </a:ext>
            </a:extLst>
          </p:cNvPr>
          <p:cNvCxnSpPr>
            <a:cxnSpLocks noChangeShapeType="1"/>
          </p:cNvCxnSpPr>
          <p:nvPr/>
        </p:nvCxnSpPr>
        <p:spPr bwMode="auto">
          <a:xfrm flipV="1">
            <a:off x="2852167" y="5055638"/>
            <a:ext cx="1561195" cy="849498"/>
          </a:xfrm>
          <a:prstGeom prst="bentConnector3">
            <a:avLst>
              <a:gd name="adj1" fmla="val 50000"/>
            </a:avLst>
          </a:prstGeom>
          <a:noFill/>
          <a:ln w="28575" algn="ctr">
            <a:solidFill>
              <a:schemeClr val="accent1"/>
            </a:solidFill>
            <a:round/>
            <a:headEnd/>
            <a:tailEnd type="arrow" w="med" len="med"/>
          </a:ln>
        </p:spPr>
      </p:cxnSp>
      <p:cxnSp>
        <p:nvCxnSpPr>
          <p:cNvPr id="16" name="Elbow Connector 15">
            <a:extLst>
              <a:ext uri="{FF2B5EF4-FFF2-40B4-BE49-F238E27FC236}">
                <a16:creationId xmlns:a16="http://schemas.microsoft.com/office/drawing/2014/main" id="{3345EECF-6844-1D4F-8B16-504585BA483F}"/>
              </a:ext>
            </a:extLst>
          </p:cNvPr>
          <p:cNvCxnSpPr>
            <a:cxnSpLocks noChangeShapeType="1"/>
            <a:stCxn id="13" idx="3"/>
          </p:cNvCxnSpPr>
          <p:nvPr/>
        </p:nvCxnSpPr>
        <p:spPr bwMode="auto">
          <a:xfrm>
            <a:off x="2888991" y="3973240"/>
            <a:ext cx="1524371" cy="785423"/>
          </a:xfrm>
          <a:prstGeom prst="bentConnector3">
            <a:avLst>
              <a:gd name="adj1" fmla="val 50000"/>
            </a:avLst>
          </a:prstGeom>
          <a:noFill/>
          <a:ln w="28575" algn="ctr">
            <a:solidFill>
              <a:schemeClr val="accent1"/>
            </a:solidFill>
            <a:round/>
            <a:headEnd/>
            <a:tailEnd type="arrow" w="med" len="med"/>
          </a:ln>
        </p:spPr>
      </p:cxnSp>
      <p:sp>
        <p:nvSpPr>
          <p:cNvPr id="17" name="Text Box 41">
            <a:extLst>
              <a:ext uri="{FF2B5EF4-FFF2-40B4-BE49-F238E27FC236}">
                <a16:creationId xmlns:a16="http://schemas.microsoft.com/office/drawing/2014/main" id="{8348A012-B3F3-466D-B125-F4D8EED6A80D}"/>
              </a:ext>
            </a:extLst>
          </p:cNvPr>
          <p:cNvSpPr txBox="1">
            <a:spLocks noChangeArrowheads="1"/>
          </p:cNvSpPr>
          <p:nvPr/>
        </p:nvSpPr>
        <p:spPr bwMode="auto">
          <a:xfrm>
            <a:off x="6966451" y="4408466"/>
            <a:ext cx="3819694" cy="1015663"/>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tx2"/>
                </a:solidFill>
                <a:cs typeface="Arial" panose="020B0604020202020204" pitchFamily="34" charset="0"/>
              </a:rPr>
              <a:t>Transportation - Truck </a:t>
            </a:r>
            <a:br>
              <a:rPr lang="en-US" altLang="en-US" sz="2000" b="0" dirty="0">
                <a:solidFill>
                  <a:schemeClr val="tx2"/>
                </a:solidFill>
                <a:cs typeface="Arial" panose="020B0604020202020204" pitchFamily="34" charset="0"/>
              </a:rPr>
            </a:br>
            <a:r>
              <a:rPr lang="en-US" altLang="en-US" sz="2000" b="0" dirty="0">
                <a:solidFill>
                  <a:schemeClr val="tx2"/>
                </a:solidFill>
                <a:cs typeface="Arial" panose="020B0604020202020204" pitchFamily="34" charset="0"/>
              </a:rPr>
              <a:t>(0.022 g + 0.011 g) x 100 / 1000 = 0.0033 kg.km</a:t>
            </a:r>
          </a:p>
        </p:txBody>
      </p:sp>
      <p:sp>
        <p:nvSpPr>
          <p:cNvPr id="18" name="Text Box 41">
            <a:extLst>
              <a:ext uri="{FF2B5EF4-FFF2-40B4-BE49-F238E27FC236}">
                <a16:creationId xmlns:a16="http://schemas.microsoft.com/office/drawing/2014/main" id="{4E68CE96-445B-4C21-8B27-A644029433A4}"/>
              </a:ext>
            </a:extLst>
          </p:cNvPr>
          <p:cNvSpPr txBox="1">
            <a:spLocks noChangeArrowheads="1"/>
          </p:cNvSpPr>
          <p:nvPr/>
        </p:nvSpPr>
        <p:spPr bwMode="auto">
          <a:xfrm>
            <a:off x="4413362" y="4572000"/>
            <a:ext cx="1920875" cy="707886"/>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None/>
            </a:pPr>
            <a:r>
              <a:rPr lang="en-US" sz="2000" b="0" dirty="0">
                <a:solidFill>
                  <a:schemeClr val="tx2"/>
                </a:solidFill>
                <a:cs typeface="Arial" panose="020B0604020202020204" pitchFamily="34" charset="0"/>
              </a:rPr>
              <a:t>1/365000 device</a:t>
            </a:r>
            <a:endParaRPr lang="en-US" altLang="en-US" sz="2000" b="0" dirty="0">
              <a:solidFill>
                <a:schemeClr val="tx2"/>
              </a:solidFill>
              <a:cs typeface="Arial" panose="020B0604020202020204" pitchFamily="34" charset="0"/>
            </a:endParaRPr>
          </a:p>
        </p:txBody>
      </p:sp>
      <p:cxnSp>
        <p:nvCxnSpPr>
          <p:cNvPr id="21" name="Elbow Connector 14">
            <a:extLst>
              <a:ext uri="{FF2B5EF4-FFF2-40B4-BE49-F238E27FC236}">
                <a16:creationId xmlns:a16="http://schemas.microsoft.com/office/drawing/2014/main" id="{FEECD904-B189-4D01-BAF7-D912CE67FD9F}"/>
              </a:ext>
            </a:extLst>
          </p:cNvPr>
          <p:cNvCxnSpPr>
            <a:cxnSpLocks noChangeShapeType="1"/>
          </p:cNvCxnSpPr>
          <p:nvPr/>
        </p:nvCxnSpPr>
        <p:spPr bwMode="auto">
          <a:xfrm>
            <a:off x="10761444" y="4919713"/>
            <a:ext cx="611594" cy="0"/>
          </a:xfrm>
          <a:prstGeom prst="straightConnector1">
            <a:avLst/>
          </a:prstGeom>
          <a:noFill/>
          <a:ln w="28575" algn="ctr">
            <a:solidFill>
              <a:schemeClr val="accent1"/>
            </a:solidFill>
            <a:round/>
            <a:headEnd/>
            <a:tailEnd type="arrow" w="med" len="med"/>
          </a:ln>
        </p:spPr>
      </p:cxnSp>
      <p:cxnSp>
        <p:nvCxnSpPr>
          <p:cNvPr id="19" name="Elbow Connector 14">
            <a:extLst>
              <a:ext uri="{FF2B5EF4-FFF2-40B4-BE49-F238E27FC236}">
                <a16:creationId xmlns:a16="http://schemas.microsoft.com/office/drawing/2014/main" id="{FEECD904-B189-4D01-BAF7-D912CE67FD9F}"/>
              </a:ext>
            </a:extLst>
          </p:cNvPr>
          <p:cNvCxnSpPr>
            <a:cxnSpLocks noChangeShapeType="1"/>
            <a:stCxn id="18" idx="3"/>
            <a:endCxn id="17" idx="1"/>
          </p:cNvCxnSpPr>
          <p:nvPr/>
        </p:nvCxnSpPr>
        <p:spPr bwMode="auto">
          <a:xfrm flipV="1">
            <a:off x="6334237" y="4916298"/>
            <a:ext cx="632214" cy="9645"/>
          </a:xfrm>
          <a:prstGeom prst="straightConnector1">
            <a:avLst/>
          </a:prstGeom>
          <a:noFill/>
          <a:ln w="28575" algn="ctr">
            <a:solidFill>
              <a:schemeClr val="accent1"/>
            </a:solidFill>
            <a:round/>
            <a:headEnd/>
            <a:tailEnd type="arrow" w="med" len="med"/>
          </a:ln>
        </p:spPr>
      </p:cxnSp>
      <p:sp>
        <p:nvSpPr>
          <p:cNvPr id="22" name="Text Box 41">
            <a:extLst>
              <a:ext uri="{FF2B5EF4-FFF2-40B4-BE49-F238E27FC236}">
                <a16:creationId xmlns:a16="http://schemas.microsoft.com/office/drawing/2014/main" id="{2BAB109B-612E-A149-9127-94CCCF2EE827}"/>
              </a:ext>
            </a:extLst>
          </p:cNvPr>
          <p:cNvSpPr txBox="1">
            <a:spLocks noChangeArrowheads="1"/>
          </p:cNvSpPr>
          <p:nvPr/>
        </p:nvSpPr>
        <p:spPr bwMode="auto">
          <a:xfrm>
            <a:off x="11373038" y="2679098"/>
            <a:ext cx="2135981" cy="707886"/>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tx2"/>
                </a:solidFill>
                <a:cs typeface="Arial" panose="020B0604020202020204" pitchFamily="34" charset="0"/>
              </a:rPr>
              <a:t>0.022 g cast iron to landfill </a:t>
            </a:r>
          </a:p>
        </p:txBody>
      </p:sp>
      <p:cxnSp>
        <p:nvCxnSpPr>
          <p:cNvPr id="23" name="Elbow Connector 22">
            <a:extLst>
              <a:ext uri="{FF2B5EF4-FFF2-40B4-BE49-F238E27FC236}">
                <a16:creationId xmlns:a16="http://schemas.microsoft.com/office/drawing/2014/main" id="{3345EECF-6844-1D4F-8B16-504585BA483F}"/>
              </a:ext>
            </a:extLst>
          </p:cNvPr>
          <p:cNvCxnSpPr>
            <a:cxnSpLocks noChangeShapeType="1"/>
            <a:stCxn id="13" idx="0"/>
            <a:endCxn id="22" idx="1"/>
          </p:cNvCxnSpPr>
          <p:nvPr/>
        </p:nvCxnSpPr>
        <p:spPr bwMode="auto">
          <a:xfrm rot="5400000" flipH="1" flipV="1">
            <a:off x="6276559" y="-1631070"/>
            <a:ext cx="432367" cy="9760591"/>
          </a:xfrm>
          <a:prstGeom prst="bentConnector2">
            <a:avLst/>
          </a:prstGeom>
          <a:noFill/>
          <a:ln w="28575" algn="ctr">
            <a:solidFill>
              <a:schemeClr val="accent1"/>
            </a:solidFill>
            <a:round/>
            <a:headEnd/>
            <a:tailEnd type="arrow" w="med" len="med"/>
          </a:ln>
        </p:spPr>
      </p:cxnSp>
      <p:sp>
        <p:nvSpPr>
          <p:cNvPr id="28" name="Text Box 41">
            <a:extLst>
              <a:ext uri="{FF2B5EF4-FFF2-40B4-BE49-F238E27FC236}">
                <a16:creationId xmlns:a16="http://schemas.microsoft.com/office/drawing/2014/main" id="{2BAB109B-612E-A149-9127-94CCCF2EE827}"/>
              </a:ext>
            </a:extLst>
          </p:cNvPr>
          <p:cNvSpPr txBox="1">
            <a:spLocks noChangeArrowheads="1"/>
          </p:cNvSpPr>
          <p:nvPr/>
        </p:nvSpPr>
        <p:spPr bwMode="auto">
          <a:xfrm>
            <a:off x="11373038" y="6796694"/>
            <a:ext cx="2135981" cy="707886"/>
          </a:xfrm>
          <a:prstGeom prst="rect">
            <a:avLst/>
          </a:prstGeom>
          <a:solidFill>
            <a:schemeClr val="accent4">
              <a:alpha val="20000"/>
            </a:schemeClr>
          </a:solidFill>
          <a:ln w="9525">
            <a:noFill/>
            <a:miter lim="800000"/>
            <a:headEnd/>
            <a:tailEnd/>
          </a:ln>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r>
              <a:rPr lang="en-US" altLang="en-US" sz="2000" b="0" dirty="0">
                <a:solidFill>
                  <a:schemeClr val="tx2"/>
                </a:solidFill>
                <a:cs typeface="Arial" panose="020B0604020202020204" pitchFamily="34" charset="0"/>
              </a:rPr>
              <a:t>0.011 g steel</a:t>
            </a:r>
            <a:br>
              <a:rPr lang="en-US" altLang="en-US" sz="2000" b="0" dirty="0">
                <a:solidFill>
                  <a:schemeClr val="tx2"/>
                </a:solidFill>
                <a:cs typeface="Arial" panose="020B0604020202020204" pitchFamily="34" charset="0"/>
              </a:rPr>
            </a:br>
            <a:r>
              <a:rPr lang="en-US" altLang="en-US" sz="2000" b="0" dirty="0">
                <a:solidFill>
                  <a:schemeClr val="tx2"/>
                </a:solidFill>
                <a:cs typeface="Arial" panose="020B0604020202020204" pitchFamily="34" charset="0"/>
              </a:rPr>
              <a:t>to landfill </a:t>
            </a:r>
          </a:p>
        </p:txBody>
      </p:sp>
      <p:cxnSp>
        <p:nvCxnSpPr>
          <p:cNvPr id="29" name="Elbow Connector 28">
            <a:extLst>
              <a:ext uri="{FF2B5EF4-FFF2-40B4-BE49-F238E27FC236}">
                <a16:creationId xmlns:a16="http://schemas.microsoft.com/office/drawing/2014/main" id="{3345EECF-6844-1D4F-8B16-504585BA483F}"/>
              </a:ext>
            </a:extLst>
          </p:cNvPr>
          <p:cNvCxnSpPr>
            <a:cxnSpLocks noChangeShapeType="1"/>
            <a:stCxn id="14" idx="2"/>
            <a:endCxn id="28" idx="1"/>
          </p:cNvCxnSpPr>
          <p:nvPr/>
        </p:nvCxnSpPr>
        <p:spPr bwMode="auto">
          <a:xfrm rot="16200000" flipH="1">
            <a:off x="6064174" y="1841773"/>
            <a:ext cx="855088" cy="9762640"/>
          </a:xfrm>
          <a:prstGeom prst="bentConnector2">
            <a:avLst/>
          </a:prstGeom>
          <a:noFill/>
          <a:ln w="28575" algn="ctr">
            <a:solidFill>
              <a:schemeClr val="accent1"/>
            </a:solidFill>
            <a:round/>
            <a:headEnd/>
            <a:tailEnd type="arrow" w="med" len="med"/>
          </a:ln>
        </p:spPr>
      </p:cxnSp>
      <p:pic>
        <p:nvPicPr>
          <p:cNvPr id="30" name="Picture 4" descr="sèche-ma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880" y="1662132"/>
            <a:ext cx="1359648" cy="1118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6036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990575" indent="-380990" eaLnBrk="0" hangingPunct="0">
              <a:defRPr>
                <a:solidFill>
                  <a:schemeClr val="tx1"/>
                </a:solidFill>
                <a:latin typeface="Arial" panose="020B0604020202020204" pitchFamily="34" charset="0"/>
              </a:defRPr>
            </a:lvl2pPr>
            <a:lvl3pPr marL="1523962" indent="-304792" eaLnBrk="0" hangingPunct="0">
              <a:defRPr>
                <a:solidFill>
                  <a:schemeClr val="tx1"/>
                </a:solidFill>
                <a:latin typeface="Arial" panose="020B0604020202020204" pitchFamily="34" charset="0"/>
              </a:defRPr>
            </a:lvl3pPr>
            <a:lvl4pPr marL="2133547" indent="-304792" eaLnBrk="0" hangingPunct="0">
              <a:defRPr>
                <a:solidFill>
                  <a:schemeClr val="tx1"/>
                </a:solidFill>
                <a:latin typeface="Arial" panose="020B0604020202020204" pitchFamily="34" charset="0"/>
              </a:defRPr>
            </a:lvl4pPr>
            <a:lvl5pPr marL="2743131" indent="-304792" eaLnBrk="0" hangingPunct="0">
              <a:defRPr>
                <a:solidFill>
                  <a:schemeClr val="tx1"/>
                </a:solidFill>
                <a:latin typeface="Arial" panose="020B0604020202020204" pitchFamily="34" charset="0"/>
              </a:defRPr>
            </a:lvl5pPr>
            <a:lvl6pPr marL="3352716" indent="-304792" eaLnBrk="0" fontAlgn="base" hangingPunct="0">
              <a:spcBef>
                <a:spcPct val="0"/>
              </a:spcBef>
              <a:spcAft>
                <a:spcPct val="0"/>
              </a:spcAft>
              <a:defRPr>
                <a:solidFill>
                  <a:schemeClr val="tx1"/>
                </a:solidFill>
                <a:latin typeface="Arial" panose="020B0604020202020204" pitchFamily="34" charset="0"/>
              </a:defRPr>
            </a:lvl6pPr>
            <a:lvl7pPr marL="3962301" indent="-304792" eaLnBrk="0" fontAlgn="base" hangingPunct="0">
              <a:spcBef>
                <a:spcPct val="0"/>
              </a:spcBef>
              <a:spcAft>
                <a:spcPct val="0"/>
              </a:spcAft>
              <a:defRPr>
                <a:solidFill>
                  <a:schemeClr val="tx1"/>
                </a:solidFill>
                <a:latin typeface="Arial" panose="020B0604020202020204" pitchFamily="34" charset="0"/>
              </a:defRPr>
            </a:lvl7pPr>
            <a:lvl8pPr marL="4571886" indent="-304792" eaLnBrk="0" fontAlgn="base" hangingPunct="0">
              <a:spcBef>
                <a:spcPct val="0"/>
              </a:spcBef>
              <a:spcAft>
                <a:spcPct val="0"/>
              </a:spcAft>
              <a:defRPr>
                <a:solidFill>
                  <a:schemeClr val="tx1"/>
                </a:solidFill>
                <a:latin typeface="Arial" panose="020B0604020202020204" pitchFamily="34" charset="0"/>
              </a:defRPr>
            </a:lvl8pPr>
            <a:lvl9pPr marL="5181470" indent="-304792"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638436B-AE62-4CA0-A501-F76DD15F9FFA}" type="slidenum">
              <a:rPr lang="en-US" altLang="en-US"/>
              <a:pPr eaLnBrk="1" hangingPunct="1"/>
              <a:t>8</a:t>
            </a:fld>
            <a:endParaRPr lang="en-US" altLang="en-US" dirty="0"/>
          </a:p>
        </p:txBody>
      </p:sp>
      <p:sp>
        <p:nvSpPr>
          <p:cNvPr id="5124" name="Rectangle 2"/>
          <p:cNvSpPr>
            <a:spLocks noGrp="1" noChangeArrowheads="1"/>
          </p:cNvSpPr>
          <p:nvPr>
            <p:ph type="title" idx="4294967295"/>
          </p:nvPr>
        </p:nvSpPr>
        <p:spPr>
          <a:xfrm>
            <a:off x="1050877" y="45508"/>
            <a:ext cx="15205917" cy="1176867"/>
          </a:xfrm>
        </p:spPr>
        <p:txBody>
          <a:bodyPr/>
          <a:lstStyle/>
          <a:p>
            <a:pPr eaLnBrk="1" hangingPunct="1"/>
            <a:r>
              <a:rPr lang="en-US" altLang="en-US" sz="3733" dirty="0"/>
              <a:t>Activity 15 Part 2 Hand Dryers – Energy and CO2 balance</a:t>
            </a:r>
          </a:p>
        </p:txBody>
      </p:sp>
      <p:sp>
        <p:nvSpPr>
          <p:cNvPr id="5125" name="Rectangle 3"/>
          <p:cNvSpPr>
            <a:spLocks noGrp="1" noChangeArrowheads="1"/>
          </p:cNvSpPr>
          <p:nvPr>
            <p:ph type="body" idx="4294967295"/>
          </p:nvPr>
        </p:nvSpPr>
        <p:spPr>
          <a:xfrm>
            <a:off x="584847" y="1202538"/>
            <a:ext cx="15033319" cy="6538383"/>
          </a:xfrm>
        </p:spPr>
        <p:txBody>
          <a:bodyPr/>
          <a:lstStyle/>
          <a:p>
            <a:pPr>
              <a:lnSpc>
                <a:spcPct val="90000"/>
              </a:lnSpc>
              <a:spcBef>
                <a:spcPct val="55000"/>
              </a:spcBef>
            </a:pPr>
            <a:r>
              <a:rPr lang="en-US" altLang="en-US" sz="2400" dirty="0"/>
              <a:t>Given</a:t>
            </a:r>
          </a:p>
          <a:p>
            <a:pPr marL="999042" lvl="1" indent="-366175">
              <a:lnSpc>
                <a:spcPct val="90000"/>
              </a:lnSpc>
              <a:spcBef>
                <a:spcPct val="55000"/>
              </a:spcBef>
            </a:pPr>
            <a:r>
              <a:rPr lang="en-US" altLang="en-US" sz="2400" dirty="0"/>
              <a:t>The hand dryer scenarios discussed in previous exercise (see slide 2 to 5 above, including end of life (EOL) scenarios on slide 5)</a:t>
            </a:r>
          </a:p>
          <a:p>
            <a:pPr marL="999042" lvl="1" indent="-366175">
              <a:lnSpc>
                <a:spcPct val="90000"/>
              </a:lnSpc>
              <a:spcBef>
                <a:spcPct val="55000"/>
              </a:spcBef>
            </a:pPr>
            <a:r>
              <a:rPr lang="en-US" altLang="en-US" sz="2400" dirty="0"/>
              <a:t>The intermediary flows and the process tree from activity 3.3.2C on slides 6 and 7</a:t>
            </a:r>
          </a:p>
          <a:p>
            <a:pPr marL="999042" lvl="1" indent="-366175">
              <a:lnSpc>
                <a:spcPct val="90000"/>
              </a:lnSpc>
              <a:spcBef>
                <a:spcPct val="55000"/>
              </a:spcBef>
            </a:pPr>
            <a:r>
              <a:rPr lang="en-US" altLang="en-US" sz="2400" dirty="0"/>
              <a:t>The energy use and emissions factor of database processes on slide 9</a:t>
            </a:r>
          </a:p>
          <a:p>
            <a:pPr lvl="0">
              <a:lnSpc>
                <a:spcPct val="90000"/>
              </a:lnSpc>
              <a:spcBef>
                <a:spcPct val="55000"/>
              </a:spcBef>
              <a:buFont typeface="+mj-lt"/>
              <a:buAutoNum type="arabicPeriod"/>
            </a:pPr>
            <a:r>
              <a:rPr lang="en-US" altLang="en-US" sz="2400" dirty="0"/>
              <a:t>Find in the ecoinvent database - file EHS672_Activity 3.3.2 Ecoinvent Energy and CO2 data 1a.xlsx the primary energy and CO</a:t>
            </a:r>
            <a:r>
              <a:rPr lang="en-US" altLang="en-US" sz="2400" baseline="-25000" dirty="0"/>
              <a:t>2</a:t>
            </a:r>
            <a:r>
              <a:rPr lang="en-US" altLang="en-US" sz="2400" dirty="0"/>
              <a:t> for the two transport processes defined in the table of slide 4 (</a:t>
            </a:r>
            <a:r>
              <a:rPr lang="en-US" sz="2400" dirty="0">
                <a:latin typeface="Arial" charset="0"/>
              </a:rPr>
              <a:t>lorry 3.5-7.5t, EURO4, and , lorry &gt;32t, EURO3) as well as disposal of Polypropylene (PP).</a:t>
            </a:r>
            <a:endParaRPr lang="en-US" altLang="en-US" sz="2400" dirty="0"/>
          </a:p>
          <a:p>
            <a:pPr>
              <a:lnSpc>
                <a:spcPct val="90000"/>
              </a:lnSpc>
              <a:spcBef>
                <a:spcPct val="55000"/>
              </a:spcBef>
              <a:buFont typeface="+mj-lt"/>
              <a:buAutoNum type="arabicPeriod"/>
            </a:pPr>
            <a:r>
              <a:rPr lang="en-US" altLang="en-US" sz="2400" dirty="0"/>
              <a:t>Estimate the energy used and CO</a:t>
            </a:r>
            <a:r>
              <a:rPr lang="en-US" altLang="en-US" sz="2400" baseline="-25000" dirty="0"/>
              <a:t>2</a:t>
            </a:r>
            <a:r>
              <a:rPr lang="en-US" altLang="en-US" sz="2400" dirty="0"/>
              <a:t> emissions due to the two different hand drying scenarios, by completing the excel template “EHS672_Activity_3.3.3_Energy and CO2 balance Hands drying template 1a.xlsx”.</a:t>
            </a:r>
          </a:p>
          <a:p>
            <a:pPr eaLnBrk="1" hangingPunct="1">
              <a:lnSpc>
                <a:spcPct val="90000"/>
              </a:lnSpc>
              <a:spcBef>
                <a:spcPct val="55000"/>
              </a:spcBef>
              <a:buFont typeface="+mj-lt"/>
              <a:buAutoNum type="arabicPeriod"/>
            </a:pPr>
            <a:r>
              <a:rPr lang="en-US" altLang="en-US" sz="2400" dirty="0"/>
              <a:t>Briefly discuss the results, identifying for each scenario the dominant contributions and ranking between the two scenarios, filling in your answer in cells B39-B41 of the excel sheet.</a:t>
            </a:r>
          </a:p>
          <a:p>
            <a:pPr eaLnBrk="1" hangingPunct="1">
              <a:lnSpc>
                <a:spcPct val="90000"/>
              </a:lnSpc>
              <a:spcBef>
                <a:spcPct val="55000"/>
              </a:spcBef>
              <a:buFont typeface="+mj-lt"/>
              <a:buAutoNum type="arabicPeriod"/>
            </a:pPr>
            <a:r>
              <a:rPr lang="en-US" altLang="en-US" sz="2400" dirty="0"/>
              <a:t>Discuss in cell B42 whether the ratios gCO2/MJ in column J make sense, and what you learn from them</a:t>
            </a:r>
          </a:p>
          <a:p>
            <a:pPr>
              <a:lnSpc>
                <a:spcPct val="90000"/>
              </a:lnSpc>
              <a:spcBef>
                <a:spcPct val="55000"/>
              </a:spcBef>
              <a:buFont typeface="+mj-lt"/>
              <a:buAutoNum type="arabicPeriod"/>
            </a:pPr>
            <a:r>
              <a:rPr lang="en-US" altLang="en-US" sz="2400" dirty="0"/>
              <a:t> (a bit more difficult) Try to complete cell B18 to calculate for the hand scenario the reduction in primary energy and CO2 obtained by incinerating the hand towel (18 MJ/kg, of which 25% is recovered as useful electricity - </a:t>
            </a:r>
            <a:r>
              <a:rPr lang="en-US" altLang="en-US" sz="2400" i="1" dirty="0"/>
              <a:t>hint convert this to kWh</a:t>
            </a:r>
            <a:r>
              <a:rPr lang="en-US" altLang="en-US" sz="2400" dirty="0"/>
              <a:t>) via heat recovery and production of electricity, which substitute US electricity mix. Discuss in cell B43 the importance of this heat recovery and electricity substitution compared to the primary energy consumed and CO2 emitted per FU.</a:t>
            </a:r>
          </a:p>
          <a:p>
            <a:pPr>
              <a:lnSpc>
                <a:spcPct val="90000"/>
              </a:lnSpc>
              <a:spcBef>
                <a:spcPct val="55000"/>
              </a:spcBef>
            </a:pPr>
            <a:r>
              <a:rPr lang="en-US" altLang="en-US" sz="2400" dirty="0"/>
              <a:t>Upload your excel file under EHS672_Activity_3.3.3 part 2.</a:t>
            </a:r>
            <a:endParaRPr lang="en-US" altLang="en-US" sz="2667" dirty="0"/>
          </a:p>
        </p:txBody>
      </p:sp>
      <p:pic>
        <p:nvPicPr>
          <p:cNvPr id="5126" name="Picture 4" descr="sèche-ma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58518" y="2346104"/>
            <a:ext cx="1359648" cy="1118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7" name="Picture 5" descr="seche-mainpapi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07873" y="2303522"/>
            <a:ext cx="1161054" cy="1161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325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990575" indent="-380990" eaLnBrk="0" hangingPunct="0">
              <a:defRPr>
                <a:solidFill>
                  <a:schemeClr val="tx1"/>
                </a:solidFill>
                <a:latin typeface="Arial" panose="020B0604020202020204" pitchFamily="34" charset="0"/>
              </a:defRPr>
            </a:lvl2pPr>
            <a:lvl3pPr marL="1523962" indent="-304792" eaLnBrk="0" hangingPunct="0">
              <a:defRPr>
                <a:solidFill>
                  <a:schemeClr val="tx1"/>
                </a:solidFill>
                <a:latin typeface="Arial" panose="020B0604020202020204" pitchFamily="34" charset="0"/>
              </a:defRPr>
            </a:lvl3pPr>
            <a:lvl4pPr marL="2133547" indent="-304792" eaLnBrk="0" hangingPunct="0">
              <a:defRPr>
                <a:solidFill>
                  <a:schemeClr val="tx1"/>
                </a:solidFill>
                <a:latin typeface="Arial" panose="020B0604020202020204" pitchFamily="34" charset="0"/>
              </a:defRPr>
            </a:lvl4pPr>
            <a:lvl5pPr marL="2743131" indent="-304792" eaLnBrk="0" hangingPunct="0">
              <a:defRPr>
                <a:solidFill>
                  <a:schemeClr val="tx1"/>
                </a:solidFill>
                <a:latin typeface="Arial" panose="020B0604020202020204" pitchFamily="34" charset="0"/>
              </a:defRPr>
            </a:lvl5pPr>
            <a:lvl6pPr marL="3352716" indent="-304792" eaLnBrk="0" fontAlgn="base" hangingPunct="0">
              <a:spcBef>
                <a:spcPct val="0"/>
              </a:spcBef>
              <a:spcAft>
                <a:spcPct val="0"/>
              </a:spcAft>
              <a:defRPr>
                <a:solidFill>
                  <a:schemeClr val="tx1"/>
                </a:solidFill>
                <a:latin typeface="Arial" panose="020B0604020202020204" pitchFamily="34" charset="0"/>
              </a:defRPr>
            </a:lvl6pPr>
            <a:lvl7pPr marL="3962301" indent="-304792" eaLnBrk="0" fontAlgn="base" hangingPunct="0">
              <a:spcBef>
                <a:spcPct val="0"/>
              </a:spcBef>
              <a:spcAft>
                <a:spcPct val="0"/>
              </a:spcAft>
              <a:defRPr>
                <a:solidFill>
                  <a:schemeClr val="tx1"/>
                </a:solidFill>
                <a:latin typeface="Arial" panose="020B0604020202020204" pitchFamily="34" charset="0"/>
              </a:defRPr>
            </a:lvl7pPr>
            <a:lvl8pPr marL="4571886" indent="-304792" eaLnBrk="0" fontAlgn="base" hangingPunct="0">
              <a:spcBef>
                <a:spcPct val="0"/>
              </a:spcBef>
              <a:spcAft>
                <a:spcPct val="0"/>
              </a:spcAft>
              <a:defRPr>
                <a:solidFill>
                  <a:schemeClr val="tx1"/>
                </a:solidFill>
                <a:latin typeface="Arial" panose="020B0604020202020204" pitchFamily="34" charset="0"/>
              </a:defRPr>
            </a:lvl8pPr>
            <a:lvl9pPr marL="5181470" indent="-304792"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D0B12CB-A80D-4FFE-838F-B91C720D0D10}" type="slidenum">
              <a:rPr lang="en-US" altLang="en-US"/>
              <a:pPr eaLnBrk="1" hangingPunct="1"/>
              <a:t>9</a:t>
            </a:fld>
            <a:endParaRPr lang="en-US" altLang="en-US"/>
          </a:p>
        </p:txBody>
      </p:sp>
      <p:sp>
        <p:nvSpPr>
          <p:cNvPr id="7171" name="Rectangle 2"/>
          <p:cNvSpPr>
            <a:spLocks noGrp="1" noChangeArrowheads="1"/>
          </p:cNvSpPr>
          <p:nvPr>
            <p:ph type="title"/>
          </p:nvPr>
        </p:nvSpPr>
        <p:spPr>
          <a:xfrm>
            <a:off x="2" y="347133"/>
            <a:ext cx="16251943" cy="812927"/>
          </a:xfrm>
        </p:spPr>
        <p:txBody>
          <a:bodyPr/>
          <a:lstStyle/>
          <a:p>
            <a:pPr eaLnBrk="1" hangingPunct="1"/>
            <a:r>
              <a:rPr lang="en-US" altLang="en-US" sz="4267" dirty="0"/>
              <a:t>IN CLASS EXERCISE: Hand dryers – Energy and CO2 data</a:t>
            </a:r>
          </a:p>
        </p:txBody>
      </p:sp>
      <p:graphicFrame>
        <p:nvGraphicFramePr>
          <p:cNvPr id="3636293" name="Group 69"/>
          <p:cNvGraphicFramePr>
            <a:graphicFrameLocks noGrp="1"/>
          </p:cNvGraphicFramePr>
          <p:nvPr>
            <p:ph idx="1"/>
            <p:extLst>
              <p:ext uri="{D42A27DB-BD31-4B8C-83A1-F6EECF244321}">
                <p14:modId xmlns:p14="http://schemas.microsoft.com/office/powerpoint/2010/main" val="1756565686"/>
              </p:ext>
            </p:extLst>
          </p:nvPr>
        </p:nvGraphicFramePr>
        <p:xfrm>
          <a:off x="165732" y="1485837"/>
          <a:ext cx="15920482" cy="7471347"/>
        </p:xfrm>
        <a:graphic>
          <a:graphicData uri="http://schemas.openxmlformats.org/drawingml/2006/table">
            <a:tbl>
              <a:tblPr/>
              <a:tblGrid>
                <a:gridCol w="3082435">
                  <a:extLst>
                    <a:ext uri="{9D8B030D-6E8A-4147-A177-3AD203B41FA5}">
                      <a16:colId xmlns:a16="http://schemas.microsoft.com/office/drawing/2014/main" val="20000"/>
                    </a:ext>
                  </a:extLst>
                </a:gridCol>
                <a:gridCol w="1624084">
                  <a:extLst>
                    <a:ext uri="{9D8B030D-6E8A-4147-A177-3AD203B41FA5}">
                      <a16:colId xmlns:a16="http://schemas.microsoft.com/office/drawing/2014/main" val="20001"/>
                    </a:ext>
                  </a:extLst>
                </a:gridCol>
                <a:gridCol w="6767752">
                  <a:extLst>
                    <a:ext uri="{9D8B030D-6E8A-4147-A177-3AD203B41FA5}">
                      <a16:colId xmlns:a16="http://schemas.microsoft.com/office/drawing/2014/main" val="20002"/>
                    </a:ext>
                  </a:extLst>
                </a:gridCol>
                <a:gridCol w="4446211">
                  <a:extLst>
                    <a:ext uri="{9D8B030D-6E8A-4147-A177-3AD203B41FA5}">
                      <a16:colId xmlns:a16="http://schemas.microsoft.com/office/drawing/2014/main" val="20003"/>
                    </a:ext>
                  </a:extLst>
                </a:gridCol>
              </a:tblGrid>
              <a:tr h="893120">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1" i="0" u="none" strike="noStrike" cap="none" normalizeH="0" baseline="0" dirty="0">
                          <a:ln>
                            <a:noFill/>
                          </a:ln>
                          <a:solidFill>
                            <a:srgbClr val="01035B"/>
                          </a:solidFill>
                          <a:effectLst/>
                          <a:latin typeface="Arial" charset="0"/>
                        </a:rPr>
                        <a:t>Database process</a:t>
                      </a:r>
                    </a:p>
                  </a:txBody>
                  <a:tcPr marL="121920" marR="121920" marT="60956" marB="60956"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1" i="0" u="none" strike="noStrike" cap="none" normalizeH="0" baseline="0">
                          <a:ln>
                            <a:noFill/>
                          </a:ln>
                          <a:solidFill>
                            <a:srgbClr val="01035B"/>
                          </a:solidFill>
                          <a:effectLst/>
                          <a:latin typeface="Arial" charset="0"/>
                        </a:rPr>
                        <a:t>Unit</a:t>
                      </a:r>
                    </a:p>
                  </a:txBody>
                  <a:tcPr marL="121920" marR="121920" marT="60956" marB="60956"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1" i="0" u="none" strike="noStrike" cap="none" normalizeH="0" baseline="0">
                          <a:ln>
                            <a:noFill/>
                          </a:ln>
                          <a:solidFill>
                            <a:srgbClr val="01035B"/>
                          </a:solidFill>
                          <a:effectLst/>
                          <a:latin typeface="Arial" charset="0"/>
                        </a:rPr>
                        <a:t>Energy [MJ/unit]</a:t>
                      </a:r>
                    </a:p>
                  </a:txBody>
                  <a:tcPr marL="121920" marR="121920" marT="60956" marB="6095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1" i="0" u="none" strike="noStrike" cap="none" normalizeH="0" baseline="0">
                          <a:ln>
                            <a:noFill/>
                          </a:ln>
                          <a:solidFill>
                            <a:srgbClr val="01035B"/>
                          </a:solidFill>
                          <a:effectLst/>
                          <a:latin typeface="Arial" charset="0"/>
                        </a:rPr>
                        <a:t>CO2 [kg</a:t>
                      </a:r>
                      <a:r>
                        <a:rPr kumimoji="0" lang="en-US" sz="2400" b="1" i="0" u="none" strike="noStrike" cap="none" normalizeH="0" baseline="-25000">
                          <a:ln>
                            <a:noFill/>
                          </a:ln>
                          <a:solidFill>
                            <a:srgbClr val="01035B"/>
                          </a:solidFill>
                          <a:effectLst/>
                          <a:latin typeface="Arial" charset="0"/>
                        </a:rPr>
                        <a:t>CO2</a:t>
                      </a:r>
                      <a:r>
                        <a:rPr kumimoji="0" lang="en-US" sz="2400" b="1" i="0" u="none" strike="noStrike" cap="none" normalizeH="0" baseline="0">
                          <a:ln>
                            <a:noFill/>
                          </a:ln>
                          <a:solidFill>
                            <a:srgbClr val="01035B"/>
                          </a:solidFill>
                          <a:effectLst/>
                          <a:latin typeface="Arial" charset="0"/>
                        </a:rPr>
                        <a:t>/unit]</a:t>
                      </a:r>
                    </a:p>
                  </a:txBody>
                  <a:tcPr marL="121920" marR="121920" marT="60956" marB="60956"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0383">
                <a:tc>
                  <a:txBody>
                    <a:bodyPr/>
                    <a:lstStyle/>
                    <a:p>
                      <a:pPr marL="0" marR="0" lvl="0" indent="0" algn="l" defTabSz="914400" rtl="0" eaLnBrk="1" fontAlgn="base" latinLnBrk="0" hangingPunct="1">
                        <a:lnSpc>
                          <a:spcPct val="100000"/>
                        </a:lnSpc>
                        <a:spcBef>
                          <a:spcPct val="20000"/>
                        </a:spcBef>
                        <a:spcAft>
                          <a:spcPct val="0"/>
                        </a:spcAft>
                        <a:buClr>
                          <a:srgbClr val="FF9900"/>
                        </a:buClr>
                        <a:buSzTx/>
                        <a:buFontTx/>
                        <a:buNone/>
                        <a:tabLst/>
                      </a:pPr>
                      <a:r>
                        <a:rPr kumimoji="0" lang="en-US" sz="2400" b="1" i="0" u="none" strike="noStrike" cap="none" normalizeH="0" baseline="0">
                          <a:ln>
                            <a:noFill/>
                          </a:ln>
                          <a:solidFill>
                            <a:srgbClr val="01035B"/>
                          </a:solidFill>
                          <a:effectLst/>
                          <a:latin typeface="Arial" charset="0"/>
                        </a:rPr>
                        <a:t>Electricity mix</a:t>
                      </a:r>
                    </a:p>
                  </a:txBody>
                  <a:tcPr marL="121920" marR="121920" marT="60956" marB="60956"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a:ln>
                            <a:noFill/>
                          </a:ln>
                          <a:solidFill>
                            <a:srgbClr val="01035B"/>
                          </a:solidFill>
                          <a:effectLst/>
                          <a:latin typeface="Arial" charset="0"/>
                        </a:rPr>
                        <a:t>1 kWh</a:t>
                      </a:r>
                    </a:p>
                  </a:txBody>
                  <a:tcPr marL="121920" marR="121920" marT="60956" marB="60956"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dirty="0">
                          <a:ln>
                            <a:noFill/>
                          </a:ln>
                          <a:solidFill>
                            <a:srgbClr val="01035B"/>
                          </a:solidFill>
                          <a:effectLst/>
                          <a:latin typeface="Arial" charset="0"/>
                        </a:rPr>
                        <a:t>12.1</a:t>
                      </a:r>
                    </a:p>
                  </a:txBody>
                  <a:tcPr marL="121920" marR="121920" marT="60956" marB="6095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dirty="0">
                          <a:ln>
                            <a:noFill/>
                          </a:ln>
                          <a:solidFill>
                            <a:srgbClr val="01035B"/>
                          </a:solidFill>
                          <a:effectLst/>
                          <a:latin typeface="Arial" charset="0"/>
                        </a:rPr>
                        <a:t>0.71</a:t>
                      </a:r>
                    </a:p>
                  </a:txBody>
                  <a:tcPr marL="121920" marR="121920" marT="60956" marB="60956"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0383">
                <a:tc>
                  <a:txBody>
                    <a:bodyPr/>
                    <a:lstStyle/>
                    <a:p>
                      <a:pPr marL="0" marR="0" lvl="0" indent="0" algn="l" defTabSz="914400" rtl="0" eaLnBrk="1" fontAlgn="base" latinLnBrk="0" hangingPunct="1">
                        <a:lnSpc>
                          <a:spcPct val="100000"/>
                        </a:lnSpc>
                        <a:spcBef>
                          <a:spcPct val="20000"/>
                        </a:spcBef>
                        <a:spcAft>
                          <a:spcPct val="0"/>
                        </a:spcAft>
                        <a:buClr>
                          <a:srgbClr val="FF9900"/>
                        </a:buClr>
                        <a:buSzTx/>
                        <a:buFontTx/>
                        <a:buNone/>
                        <a:tabLst/>
                      </a:pPr>
                      <a:r>
                        <a:rPr kumimoji="0" lang="en-US" sz="2400" b="1" i="0" u="none" strike="noStrike" cap="none" normalizeH="0" baseline="0">
                          <a:ln>
                            <a:noFill/>
                          </a:ln>
                          <a:solidFill>
                            <a:srgbClr val="01035B"/>
                          </a:solidFill>
                          <a:effectLst/>
                          <a:latin typeface="Arial" charset="0"/>
                        </a:rPr>
                        <a:t>PP (plastic)</a:t>
                      </a:r>
                    </a:p>
                  </a:txBody>
                  <a:tcPr marL="121920" marR="121920" marT="60956" marB="60956"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a:ln>
                            <a:noFill/>
                          </a:ln>
                          <a:solidFill>
                            <a:srgbClr val="01035B"/>
                          </a:solidFill>
                          <a:effectLst/>
                          <a:latin typeface="Arial" charset="0"/>
                        </a:rPr>
                        <a:t>1 kg</a:t>
                      </a:r>
                    </a:p>
                  </a:txBody>
                  <a:tcPr marL="121920" marR="121920" marT="60956" marB="60956"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dirty="0">
                          <a:ln>
                            <a:noFill/>
                          </a:ln>
                          <a:solidFill>
                            <a:srgbClr val="01035B"/>
                          </a:solidFill>
                          <a:effectLst/>
                          <a:latin typeface="Arial" charset="0"/>
                        </a:rPr>
                        <a:t>74.6</a:t>
                      </a:r>
                    </a:p>
                  </a:txBody>
                  <a:tcPr marL="121920" marR="121920" marT="60956" marB="6095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dirty="0">
                          <a:ln>
                            <a:noFill/>
                          </a:ln>
                          <a:solidFill>
                            <a:srgbClr val="01035B"/>
                          </a:solidFill>
                          <a:effectLst/>
                          <a:latin typeface="Arial" charset="0"/>
                        </a:rPr>
                        <a:t>1.67</a:t>
                      </a:r>
                    </a:p>
                  </a:txBody>
                  <a:tcPr marL="121920" marR="121920" marT="60956" marB="60956"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0383">
                <a:tc>
                  <a:txBody>
                    <a:bodyPr/>
                    <a:lstStyle/>
                    <a:p>
                      <a:pPr marL="0" marR="0" lvl="0" indent="0" algn="l" defTabSz="914400" rtl="0" eaLnBrk="1" fontAlgn="base" latinLnBrk="0" hangingPunct="1">
                        <a:lnSpc>
                          <a:spcPct val="100000"/>
                        </a:lnSpc>
                        <a:spcBef>
                          <a:spcPct val="20000"/>
                        </a:spcBef>
                        <a:spcAft>
                          <a:spcPct val="0"/>
                        </a:spcAft>
                        <a:buClr>
                          <a:srgbClr val="FF9900"/>
                        </a:buClr>
                        <a:buSzTx/>
                        <a:buFontTx/>
                        <a:buNone/>
                        <a:tabLst/>
                      </a:pPr>
                      <a:r>
                        <a:rPr kumimoji="0" lang="en-US" sz="2400" b="1" i="0" u="none" strike="noStrike" cap="none" normalizeH="0" baseline="0">
                          <a:ln>
                            <a:noFill/>
                          </a:ln>
                          <a:solidFill>
                            <a:srgbClr val="01035B"/>
                          </a:solidFill>
                          <a:effectLst/>
                          <a:latin typeface="Arial" charset="0"/>
                        </a:rPr>
                        <a:t>Cast iron</a:t>
                      </a:r>
                    </a:p>
                  </a:txBody>
                  <a:tcPr marL="121920" marR="121920" marT="60956" marB="60956"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a:ln>
                            <a:noFill/>
                          </a:ln>
                          <a:solidFill>
                            <a:srgbClr val="01035B"/>
                          </a:solidFill>
                          <a:effectLst/>
                          <a:latin typeface="Arial" charset="0"/>
                        </a:rPr>
                        <a:t>1 kg</a:t>
                      </a:r>
                    </a:p>
                  </a:txBody>
                  <a:tcPr marL="121920" marR="121920" marT="60956" marB="60956"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dirty="0">
                          <a:ln>
                            <a:noFill/>
                          </a:ln>
                          <a:solidFill>
                            <a:srgbClr val="01035B"/>
                          </a:solidFill>
                          <a:effectLst/>
                          <a:latin typeface="Arial" charset="0"/>
                        </a:rPr>
                        <a:t>24.5</a:t>
                      </a:r>
                    </a:p>
                  </a:txBody>
                  <a:tcPr marL="121920" marR="121920" marT="60956" marB="6095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dirty="0">
                          <a:ln>
                            <a:noFill/>
                          </a:ln>
                          <a:solidFill>
                            <a:srgbClr val="01035B"/>
                          </a:solidFill>
                          <a:effectLst/>
                          <a:latin typeface="Arial" charset="0"/>
                        </a:rPr>
                        <a:t>1.35</a:t>
                      </a:r>
                    </a:p>
                  </a:txBody>
                  <a:tcPr marL="121920" marR="121920" marT="60956" marB="60956"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0383">
                <a:tc>
                  <a:txBody>
                    <a:bodyPr/>
                    <a:lstStyle/>
                    <a:p>
                      <a:pPr marL="0" marR="0" lvl="0" indent="0" algn="l" defTabSz="914400" rtl="0" eaLnBrk="1" fontAlgn="base" latinLnBrk="0" hangingPunct="1">
                        <a:lnSpc>
                          <a:spcPct val="100000"/>
                        </a:lnSpc>
                        <a:spcBef>
                          <a:spcPct val="20000"/>
                        </a:spcBef>
                        <a:spcAft>
                          <a:spcPct val="0"/>
                        </a:spcAft>
                        <a:buClr>
                          <a:srgbClr val="FF9900"/>
                        </a:buClr>
                        <a:buSzTx/>
                        <a:buFontTx/>
                        <a:buNone/>
                        <a:tabLst/>
                      </a:pPr>
                      <a:r>
                        <a:rPr kumimoji="0" lang="en-US" sz="2400" b="1" i="0" u="none" strike="noStrike" cap="none" normalizeH="0" baseline="0">
                          <a:ln>
                            <a:noFill/>
                          </a:ln>
                          <a:solidFill>
                            <a:srgbClr val="01035B"/>
                          </a:solidFill>
                          <a:effectLst/>
                          <a:latin typeface="Arial" charset="0"/>
                        </a:rPr>
                        <a:t>Steel</a:t>
                      </a:r>
                    </a:p>
                  </a:txBody>
                  <a:tcPr marL="121920" marR="121920" marT="60956" marB="60956"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a:ln>
                            <a:noFill/>
                          </a:ln>
                          <a:solidFill>
                            <a:srgbClr val="01035B"/>
                          </a:solidFill>
                          <a:effectLst/>
                          <a:latin typeface="Arial" charset="0"/>
                        </a:rPr>
                        <a:t>1 kg</a:t>
                      </a:r>
                    </a:p>
                  </a:txBody>
                  <a:tcPr marL="121920" marR="121920" marT="60956" marB="60956"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dirty="0">
                          <a:ln>
                            <a:noFill/>
                          </a:ln>
                          <a:solidFill>
                            <a:srgbClr val="01035B"/>
                          </a:solidFill>
                          <a:effectLst/>
                          <a:latin typeface="Arial" charset="0"/>
                        </a:rPr>
                        <a:t>27.5</a:t>
                      </a:r>
                    </a:p>
                  </a:txBody>
                  <a:tcPr marL="121920" marR="121920" marT="60956" marB="6095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dirty="0">
                          <a:ln>
                            <a:noFill/>
                          </a:ln>
                          <a:solidFill>
                            <a:srgbClr val="01035B"/>
                          </a:solidFill>
                          <a:effectLst/>
                          <a:latin typeface="Arial" charset="0"/>
                        </a:rPr>
                        <a:t>1.63</a:t>
                      </a:r>
                    </a:p>
                  </a:txBody>
                  <a:tcPr marL="121920" marR="121920" marT="60956" marB="60956"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10383">
                <a:tc>
                  <a:txBody>
                    <a:bodyPr/>
                    <a:lstStyle/>
                    <a:p>
                      <a:pPr marL="0" marR="0" lvl="0" indent="0" algn="l" defTabSz="914400" rtl="0" eaLnBrk="1" fontAlgn="base" latinLnBrk="0" hangingPunct="1">
                        <a:lnSpc>
                          <a:spcPct val="100000"/>
                        </a:lnSpc>
                        <a:spcBef>
                          <a:spcPct val="20000"/>
                        </a:spcBef>
                        <a:spcAft>
                          <a:spcPct val="0"/>
                        </a:spcAft>
                        <a:buClr>
                          <a:srgbClr val="FF9900"/>
                        </a:buClr>
                        <a:buSzTx/>
                        <a:buFontTx/>
                        <a:buNone/>
                        <a:tabLst/>
                      </a:pPr>
                      <a:r>
                        <a:rPr kumimoji="0" lang="en-US" sz="2400" b="1" i="0" u="none" strike="noStrike" cap="none" normalizeH="0" baseline="0">
                          <a:ln>
                            <a:noFill/>
                          </a:ln>
                          <a:solidFill>
                            <a:srgbClr val="01035B"/>
                          </a:solidFill>
                          <a:effectLst/>
                          <a:latin typeface="Arial" charset="0"/>
                        </a:rPr>
                        <a:t>Paper towels </a:t>
                      </a:r>
                    </a:p>
                  </a:txBody>
                  <a:tcPr marL="121920" marR="121920" marT="60956" marB="60956"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a:ln>
                            <a:noFill/>
                          </a:ln>
                          <a:solidFill>
                            <a:srgbClr val="01035B"/>
                          </a:solidFill>
                          <a:effectLst/>
                          <a:latin typeface="Arial" charset="0"/>
                        </a:rPr>
                        <a:t>1 kg</a:t>
                      </a:r>
                    </a:p>
                  </a:txBody>
                  <a:tcPr marL="121920" marR="121920" marT="60956" marB="60956"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dirty="0">
                          <a:ln>
                            <a:noFill/>
                          </a:ln>
                          <a:solidFill>
                            <a:srgbClr val="01035B"/>
                          </a:solidFill>
                          <a:effectLst/>
                          <a:latin typeface="Arial" charset="0"/>
                        </a:rPr>
                        <a:t>19.4</a:t>
                      </a:r>
                    </a:p>
                  </a:txBody>
                  <a:tcPr marL="121920" marR="121920" marT="60956" marB="6095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dirty="0">
                          <a:ln>
                            <a:noFill/>
                          </a:ln>
                          <a:solidFill>
                            <a:srgbClr val="01035B"/>
                          </a:solidFill>
                          <a:effectLst/>
                          <a:latin typeface="Arial" charset="0"/>
                        </a:rPr>
                        <a:t>1.03</a:t>
                      </a:r>
                    </a:p>
                  </a:txBody>
                  <a:tcPr marL="121920" marR="121920" marT="60956" marB="60956"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893177">
                <a:tc>
                  <a:txBody>
                    <a:bodyPr/>
                    <a:lstStyle/>
                    <a:p>
                      <a:pPr marL="0" marR="0" lvl="0" indent="0" algn="l" defTabSz="914400" rtl="0" eaLnBrk="1" fontAlgn="base" latinLnBrk="0" hangingPunct="1">
                        <a:lnSpc>
                          <a:spcPct val="100000"/>
                        </a:lnSpc>
                        <a:spcBef>
                          <a:spcPct val="20000"/>
                        </a:spcBef>
                        <a:spcAft>
                          <a:spcPct val="0"/>
                        </a:spcAft>
                        <a:buClr>
                          <a:srgbClr val="FF9900"/>
                        </a:buClr>
                        <a:buSzTx/>
                        <a:buFontTx/>
                        <a:buNone/>
                        <a:tabLst/>
                      </a:pPr>
                      <a:r>
                        <a:rPr kumimoji="0" lang="en-US" sz="2400" b="1" i="0" u="none" strike="noStrike" cap="none" normalizeH="0" baseline="0" dirty="0">
                          <a:ln>
                            <a:noFill/>
                          </a:ln>
                          <a:solidFill>
                            <a:srgbClr val="01035B"/>
                          </a:solidFill>
                          <a:effectLst/>
                          <a:latin typeface="Arial" charset="0"/>
                        </a:rPr>
                        <a:t>Truck transport paper towel</a:t>
                      </a:r>
                    </a:p>
                  </a:txBody>
                  <a:tcPr marL="121920" marR="121920" marT="60956" marB="60956"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a:ln>
                            <a:noFill/>
                          </a:ln>
                          <a:solidFill>
                            <a:srgbClr val="01035B"/>
                          </a:solidFill>
                          <a:effectLst/>
                          <a:latin typeface="Arial" charset="0"/>
                        </a:rPr>
                        <a:t>1 t-km</a:t>
                      </a:r>
                    </a:p>
                  </a:txBody>
                  <a:tcPr marL="121920" marR="121920" marT="60956" marB="60956"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dirty="0">
                          <a:ln>
                            <a:noFill/>
                          </a:ln>
                          <a:solidFill>
                            <a:srgbClr val="01035B"/>
                          </a:solidFill>
                          <a:effectLst/>
                          <a:latin typeface="Arial" charset="0"/>
                        </a:rPr>
                        <a:t>Look in Ecoinvent file </a:t>
                      </a:r>
                      <a:r>
                        <a:rPr lang="en-US" altLang="en-US" sz="2400" dirty="0"/>
                        <a:t>EHS672_Activity 3.3.2 Ecoinvent Energy and CO2 data 1a.xlsx </a:t>
                      </a:r>
                      <a:endParaRPr kumimoji="0" lang="en-US" sz="2400" b="0" i="0" u="none" strike="noStrike" cap="none" normalizeH="0" baseline="0" dirty="0">
                        <a:ln>
                          <a:noFill/>
                        </a:ln>
                        <a:solidFill>
                          <a:srgbClr val="01035B"/>
                        </a:solidFill>
                        <a:effectLst/>
                        <a:latin typeface="Arial" charset="0"/>
                      </a:endParaRPr>
                    </a:p>
                  </a:txBody>
                  <a:tcPr marL="121920" marR="121920" marT="60956" marB="6095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dirty="0">
                          <a:ln>
                            <a:noFill/>
                          </a:ln>
                          <a:solidFill>
                            <a:srgbClr val="01035B"/>
                          </a:solidFill>
                          <a:effectLst/>
                          <a:latin typeface="Arial" charset="0"/>
                        </a:rPr>
                        <a:t>Under process transport, lorry 3.5-7.5t, EURO4</a:t>
                      </a:r>
                    </a:p>
                  </a:txBody>
                  <a:tcPr marL="121920" marR="121920" marT="60956" marB="60956"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893177">
                <a:tc>
                  <a:txBody>
                    <a:bodyPr/>
                    <a:lstStyle/>
                    <a:p>
                      <a:pPr marL="0" marR="0" lvl="0" indent="0" algn="l" defTabSz="914400" rtl="0" eaLnBrk="1" fontAlgn="base" latinLnBrk="0" hangingPunct="1">
                        <a:lnSpc>
                          <a:spcPct val="100000"/>
                        </a:lnSpc>
                        <a:spcBef>
                          <a:spcPct val="20000"/>
                        </a:spcBef>
                        <a:spcAft>
                          <a:spcPct val="0"/>
                        </a:spcAft>
                        <a:buClr>
                          <a:srgbClr val="FF9900"/>
                        </a:buClr>
                        <a:buSzTx/>
                        <a:buFontTx/>
                        <a:buNone/>
                        <a:tabLst/>
                      </a:pPr>
                      <a:r>
                        <a:rPr kumimoji="0" lang="en-US" sz="2400" b="1" i="0" u="none" strike="noStrike" cap="none" normalizeH="0" baseline="0" dirty="0">
                          <a:ln>
                            <a:noFill/>
                          </a:ln>
                          <a:solidFill>
                            <a:srgbClr val="01035B"/>
                          </a:solidFill>
                          <a:effectLst/>
                          <a:latin typeface="Arial" charset="0"/>
                        </a:rPr>
                        <a:t>Truck transport dispenser / dryer</a:t>
                      </a:r>
                    </a:p>
                  </a:txBody>
                  <a:tcPr marL="121920" marR="121920" marT="60956" marB="60956"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a:ln>
                            <a:noFill/>
                          </a:ln>
                          <a:solidFill>
                            <a:srgbClr val="01035B"/>
                          </a:solidFill>
                          <a:effectLst/>
                          <a:latin typeface="Arial" charset="0"/>
                        </a:rPr>
                        <a:t>1 t-km</a:t>
                      </a:r>
                    </a:p>
                  </a:txBody>
                  <a:tcPr marL="121920" marR="121920" marT="60956" marB="60956"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dirty="0">
                          <a:ln>
                            <a:noFill/>
                          </a:ln>
                          <a:solidFill>
                            <a:srgbClr val="01035B"/>
                          </a:solidFill>
                          <a:effectLst/>
                          <a:latin typeface="Arial" charset="0"/>
                        </a:rPr>
                        <a:t>Look in Ecoinvent file </a:t>
                      </a:r>
                      <a:r>
                        <a:rPr lang="en-US" altLang="en-US" sz="2400" dirty="0"/>
                        <a:t>EHS672_Activity 3.3.2 Ecoinvent Energy and CO2 data 1a.xlsx </a:t>
                      </a:r>
                      <a:endParaRPr kumimoji="0" lang="en-US" sz="2400" b="0" i="0" u="none" strike="noStrike" cap="none" normalizeH="0" baseline="0" dirty="0">
                        <a:ln>
                          <a:noFill/>
                        </a:ln>
                        <a:solidFill>
                          <a:srgbClr val="01035B"/>
                        </a:solidFill>
                        <a:effectLst/>
                        <a:latin typeface="Arial" charset="0"/>
                      </a:endParaRPr>
                    </a:p>
                  </a:txBody>
                  <a:tcPr marL="121920" marR="121920" marT="60956" marB="6095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dirty="0">
                          <a:ln>
                            <a:noFill/>
                          </a:ln>
                          <a:solidFill>
                            <a:srgbClr val="01035B"/>
                          </a:solidFill>
                          <a:effectLst/>
                          <a:latin typeface="Arial" charset="0"/>
                        </a:rPr>
                        <a:t>Under process transport, transport, lorry &gt;32t, EURO3</a:t>
                      </a:r>
                    </a:p>
                  </a:txBody>
                  <a:tcPr marL="121920" marR="121920" marT="60956" marB="60956"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0383">
                <a:tc>
                  <a:txBody>
                    <a:bodyPr/>
                    <a:lstStyle/>
                    <a:p>
                      <a:pPr marL="0" marR="0" lvl="0" indent="0" algn="l" defTabSz="914400" rtl="0" eaLnBrk="1" fontAlgn="base" latinLnBrk="0" hangingPunct="1">
                        <a:lnSpc>
                          <a:spcPct val="100000"/>
                        </a:lnSpc>
                        <a:spcBef>
                          <a:spcPct val="20000"/>
                        </a:spcBef>
                        <a:spcAft>
                          <a:spcPct val="0"/>
                        </a:spcAft>
                        <a:buClr>
                          <a:srgbClr val="FF9900"/>
                        </a:buClr>
                        <a:buSzTx/>
                        <a:buFontTx/>
                        <a:buNone/>
                        <a:tabLst/>
                      </a:pPr>
                      <a:r>
                        <a:rPr kumimoji="0" lang="en-US" sz="2400" b="1" i="0" u="none" strike="noStrike" cap="none" normalizeH="0" baseline="0" dirty="0">
                          <a:ln>
                            <a:noFill/>
                          </a:ln>
                          <a:solidFill>
                            <a:srgbClr val="01035B"/>
                          </a:solidFill>
                          <a:effectLst/>
                          <a:latin typeface="Arial" charset="0"/>
                        </a:rPr>
                        <a:t>Landfilled steel</a:t>
                      </a:r>
                    </a:p>
                  </a:txBody>
                  <a:tcPr marL="121920" marR="121920" marT="60956" marB="60956"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dirty="0">
                          <a:ln>
                            <a:noFill/>
                          </a:ln>
                          <a:solidFill>
                            <a:srgbClr val="01035B"/>
                          </a:solidFill>
                          <a:effectLst/>
                          <a:latin typeface="Arial" charset="0"/>
                        </a:rPr>
                        <a:t>1 kg</a:t>
                      </a:r>
                    </a:p>
                  </a:txBody>
                  <a:tcPr marL="121920" marR="121920" marT="60956" marB="60956"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dirty="0">
                          <a:ln>
                            <a:noFill/>
                          </a:ln>
                          <a:solidFill>
                            <a:srgbClr val="01035B"/>
                          </a:solidFill>
                          <a:effectLst/>
                          <a:latin typeface="Arial" charset="0"/>
                        </a:rPr>
                        <a:t>0.32</a:t>
                      </a:r>
                    </a:p>
                  </a:txBody>
                  <a:tcPr marL="121920" marR="121920" marT="60956" marB="6095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dirty="0">
                          <a:ln>
                            <a:noFill/>
                          </a:ln>
                          <a:solidFill>
                            <a:srgbClr val="01035B"/>
                          </a:solidFill>
                          <a:effectLst/>
                          <a:latin typeface="Arial" charset="0"/>
                        </a:rPr>
                        <a:t>0.011</a:t>
                      </a:r>
                    </a:p>
                  </a:txBody>
                  <a:tcPr marL="121920" marR="121920" marT="60956" marB="60956"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853432">
                <a:tc>
                  <a:txBody>
                    <a:bodyPr/>
                    <a:lstStyle/>
                    <a:p>
                      <a:pPr marL="0" marR="0" lvl="0" indent="0" algn="l" defTabSz="914400" rtl="0" eaLnBrk="1" fontAlgn="base" latinLnBrk="0" hangingPunct="1">
                        <a:lnSpc>
                          <a:spcPct val="100000"/>
                        </a:lnSpc>
                        <a:spcBef>
                          <a:spcPct val="20000"/>
                        </a:spcBef>
                        <a:spcAft>
                          <a:spcPct val="0"/>
                        </a:spcAft>
                        <a:buClr>
                          <a:srgbClr val="FF9900"/>
                        </a:buClr>
                        <a:buSzTx/>
                        <a:buFontTx/>
                        <a:buNone/>
                        <a:tabLst/>
                      </a:pPr>
                      <a:r>
                        <a:rPr kumimoji="0" lang="en-US" sz="2400" b="1" i="0" u="none" strike="noStrike" cap="none" normalizeH="0" baseline="0" dirty="0">
                          <a:ln>
                            <a:noFill/>
                          </a:ln>
                          <a:solidFill>
                            <a:srgbClr val="01035B"/>
                          </a:solidFill>
                          <a:effectLst/>
                          <a:latin typeface="Arial" charset="0"/>
                        </a:rPr>
                        <a:t>Landfilled PP</a:t>
                      </a:r>
                    </a:p>
                  </a:txBody>
                  <a:tcPr marL="121920" marR="121920" marT="60956" marB="60956"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a:ln>
                            <a:noFill/>
                          </a:ln>
                          <a:solidFill>
                            <a:srgbClr val="01035B"/>
                          </a:solidFill>
                          <a:effectLst/>
                          <a:latin typeface="Arial" charset="0"/>
                        </a:rPr>
                        <a:t>1 kg</a:t>
                      </a:r>
                    </a:p>
                  </a:txBody>
                  <a:tcPr marL="121920" marR="121920" marT="60956" marB="60956"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defRPr/>
                      </a:pPr>
                      <a:r>
                        <a:rPr kumimoji="0" lang="en-US" sz="2400" b="0" i="0" u="none" strike="noStrike" cap="none" normalizeH="0" baseline="0" dirty="0">
                          <a:ln>
                            <a:noFill/>
                          </a:ln>
                          <a:solidFill>
                            <a:srgbClr val="01035B"/>
                          </a:solidFill>
                          <a:effectLst/>
                          <a:latin typeface="Arial" charset="0"/>
                        </a:rPr>
                        <a:t>Look in Ecoinvent file </a:t>
                      </a:r>
                      <a:r>
                        <a:rPr lang="en-US" altLang="en-US" sz="2400" dirty="0"/>
                        <a:t>EHS672_Activity 3.3.2 Ecoinvent Energy and CO2 data 1a.xlsx </a:t>
                      </a:r>
                      <a:endParaRPr kumimoji="0" lang="en-US" sz="2400" b="0" i="0" u="none" strike="noStrike" cap="none" normalizeH="0" baseline="0" dirty="0">
                        <a:ln>
                          <a:noFill/>
                        </a:ln>
                        <a:solidFill>
                          <a:srgbClr val="01035B"/>
                        </a:solidFill>
                        <a:effectLst/>
                        <a:latin typeface="Arial" charset="0"/>
                      </a:endParaRPr>
                    </a:p>
                  </a:txBody>
                  <a:tcPr marL="121920" marR="121920" marT="60956" marB="6095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defRPr/>
                      </a:pPr>
                      <a:r>
                        <a:rPr kumimoji="0" lang="en-US" sz="2400" b="0" i="0" u="none" strike="noStrike" cap="none" normalizeH="0" baseline="0" dirty="0">
                          <a:ln>
                            <a:noFill/>
                          </a:ln>
                          <a:solidFill>
                            <a:srgbClr val="01035B"/>
                          </a:solidFill>
                          <a:effectLst/>
                          <a:latin typeface="Arial" charset="0"/>
                        </a:rPr>
                        <a:t>Disposal, polypropylene, 15.9% water, to sanitary landfill</a:t>
                      </a:r>
                    </a:p>
                  </a:txBody>
                  <a:tcPr marL="121920" marR="121920" marT="60956" marB="60956"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10383">
                <a:tc>
                  <a:txBody>
                    <a:bodyPr/>
                    <a:lstStyle/>
                    <a:p>
                      <a:pPr marL="0" marR="0" lvl="0" indent="0" algn="l" defTabSz="914400" rtl="0" eaLnBrk="1" fontAlgn="base" latinLnBrk="0" hangingPunct="1">
                        <a:lnSpc>
                          <a:spcPct val="100000"/>
                        </a:lnSpc>
                        <a:spcBef>
                          <a:spcPct val="20000"/>
                        </a:spcBef>
                        <a:spcAft>
                          <a:spcPct val="0"/>
                        </a:spcAft>
                        <a:buClr>
                          <a:srgbClr val="FF9900"/>
                        </a:buClr>
                        <a:buSzTx/>
                        <a:buFontTx/>
                        <a:buNone/>
                        <a:tabLst/>
                      </a:pPr>
                      <a:r>
                        <a:rPr kumimoji="0" lang="en-US" sz="2400" b="1" i="0" u="none" strike="noStrike" cap="none" normalizeH="0" baseline="0">
                          <a:ln>
                            <a:noFill/>
                          </a:ln>
                          <a:solidFill>
                            <a:srgbClr val="01035B"/>
                          </a:solidFill>
                          <a:effectLst/>
                          <a:latin typeface="Arial" charset="0"/>
                        </a:rPr>
                        <a:t>Incinerated paper</a:t>
                      </a:r>
                    </a:p>
                  </a:txBody>
                  <a:tcPr marL="121920" marR="121920" marT="60956" marB="60956"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a:ln>
                            <a:noFill/>
                          </a:ln>
                          <a:solidFill>
                            <a:srgbClr val="01035B"/>
                          </a:solidFill>
                          <a:effectLst/>
                          <a:latin typeface="Arial" charset="0"/>
                        </a:rPr>
                        <a:t>1 kg</a:t>
                      </a:r>
                    </a:p>
                  </a:txBody>
                  <a:tcPr marL="121920" marR="121920" marT="60956" marB="60956"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dirty="0">
                          <a:ln>
                            <a:noFill/>
                          </a:ln>
                          <a:solidFill>
                            <a:srgbClr val="01035B"/>
                          </a:solidFill>
                          <a:effectLst/>
                          <a:latin typeface="Arial" charset="0"/>
                        </a:rPr>
                        <a:t>0.29</a:t>
                      </a:r>
                    </a:p>
                  </a:txBody>
                  <a:tcPr marL="121920" marR="121920" marT="60956" marB="6095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FF9900"/>
                        </a:buClr>
                        <a:buSzTx/>
                        <a:buFontTx/>
                        <a:buNone/>
                        <a:tabLst/>
                      </a:pPr>
                      <a:r>
                        <a:rPr kumimoji="0" lang="en-US" sz="2400" b="0" i="0" u="none" strike="noStrike" cap="none" normalizeH="0" baseline="0" dirty="0">
                          <a:ln>
                            <a:noFill/>
                          </a:ln>
                          <a:solidFill>
                            <a:srgbClr val="01035B"/>
                          </a:solidFill>
                          <a:effectLst/>
                          <a:latin typeface="Arial" charset="0"/>
                        </a:rPr>
                        <a:t>0.018</a:t>
                      </a:r>
                    </a:p>
                  </a:txBody>
                  <a:tcPr marL="121920" marR="121920" marT="60956" marB="60956"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127599170"/>
      </p:ext>
    </p:extLst>
  </p:cSld>
  <p:clrMapOvr>
    <a:masterClrMapping/>
  </p:clrMapOvr>
</p:sld>
</file>

<file path=ppt/theme/theme1.xml><?xml version="1.0" encoding="utf-8"?>
<a:theme xmlns:a="http://schemas.openxmlformats.org/drawingml/2006/main" name="Title slide option 2">
  <a:themeElements>
    <a:clrScheme name="SPH brand colors">
      <a:dk1>
        <a:srgbClr val="00274C"/>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ontent slide (shown in video)">
  <a:themeElements>
    <a:clrScheme name="SPH brand colors">
      <a:dk1>
        <a:srgbClr val="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Content slide (shown in video)">
  <a:themeElements>
    <a:clrScheme name="SPH brand colors">
      <a:dk1>
        <a:srgbClr val="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3_Content slide (shown in video)">
  <a:themeElements>
    <a:clrScheme name="SPH brand colors">
      <a:dk1>
        <a:srgbClr val="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Notes (not to be shown in vide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AI_PPT_Template_2.potx</Template>
  <TotalTime>18299</TotalTime>
  <Words>2017</Words>
  <Application>Microsoft Macintosh PowerPoint</Application>
  <PresentationFormat>Custom</PresentationFormat>
  <Paragraphs>203</Paragraphs>
  <Slides>9</Slides>
  <Notes>8</Notes>
  <HiddenSlides>0</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9</vt:i4>
      </vt:variant>
    </vt:vector>
  </HeadingPairs>
  <TitlesOfParts>
    <vt:vector size="18" baseType="lpstr">
      <vt:lpstr>Arial</vt:lpstr>
      <vt:lpstr>Calibri</vt:lpstr>
      <vt:lpstr>Courier New</vt:lpstr>
      <vt:lpstr>Wingdings</vt:lpstr>
      <vt:lpstr>Title slide option 2</vt:lpstr>
      <vt:lpstr>Content slide (shown in video)</vt:lpstr>
      <vt:lpstr>2_Content slide (shown in video)</vt:lpstr>
      <vt:lpstr>3_Content slide (shown in video)</vt:lpstr>
      <vt:lpstr>Notes (not to be shown in video)</vt:lpstr>
      <vt:lpstr>PowerPoint Presentation</vt:lpstr>
      <vt:lpstr>Hands dryer: Activity answer key</vt:lpstr>
      <vt:lpstr>PowerPoint Presentation</vt:lpstr>
      <vt:lpstr>PowerPoint Presentation</vt:lpstr>
      <vt:lpstr>Hand Dryers – Intermediary Flows</vt:lpstr>
      <vt:lpstr>Process Tree: Hands drying - paper towel : Activity answer key</vt:lpstr>
      <vt:lpstr>Process Tree: Hands drying  - air dryer: Activity answer key</vt:lpstr>
      <vt:lpstr>Activity 15 Part 2 Hand Dryers – Energy and CO2 balance</vt:lpstr>
      <vt:lpstr>IN CLASS EXERCISE: Hand dryers – Energy and CO2 data</vt:lpstr>
    </vt:vector>
  </TitlesOfParts>
  <Manager/>
  <Company>University of Michigan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Scott Mahler</dc:creator>
  <cp:keywords/>
  <dc:description/>
  <cp:lastModifiedBy>Rosen, Monica</cp:lastModifiedBy>
  <cp:revision>824</cp:revision>
  <cp:lastPrinted>2020-03-06T14:51:20Z</cp:lastPrinted>
  <dcterms:created xsi:type="dcterms:W3CDTF">2017-01-17T22:07:36Z</dcterms:created>
  <dcterms:modified xsi:type="dcterms:W3CDTF">2021-10-28T02:52:41Z</dcterms:modified>
  <cp:category/>
</cp:coreProperties>
</file>