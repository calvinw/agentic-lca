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  <p:sldMasterId id="2147483785" r:id="rId2"/>
    <p:sldMasterId id="2147483806" r:id="rId3"/>
    <p:sldMasterId id="2147483808" r:id="rId4"/>
    <p:sldMasterId id="2147483796" r:id="rId5"/>
  </p:sldMasterIdLst>
  <p:notesMasterIdLst>
    <p:notesMasterId r:id="rId18"/>
  </p:notesMasterIdLst>
  <p:handoutMasterIdLst>
    <p:handoutMasterId r:id="rId19"/>
  </p:handoutMasterIdLst>
  <p:sldIdLst>
    <p:sldId id="547" r:id="rId6"/>
    <p:sldId id="551" r:id="rId7"/>
    <p:sldId id="538" r:id="rId8"/>
    <p:sldId id="539" r:id="rId9"/>
    <p:sldId id="540" r:id="rId10"/>
    <p:sldId id="552" r:id="rId11"/>
    <p:sldId id="541" r:id="rId12"/>
    <p:sldId id="542" r:id="rId13"/>
    <p:sldId id="543" r:id="rId14"/>
    <p:sldId id="544" r:id="rId15"/>
    <p:sldId id="545" r:id="rId16"/>
    <p:sldId id="524" r:id="rId17"/>
  </p:sldIdLst>
  <p:sldSz cx="16257588" cy="9144000"/>
  <p:notesSz cx="6858000" cy="9144000"/>
  <p:defaultTextStyle>
    <a:defPPr>
      <a:defRPr lang="en-US"/>
    </a:defPPr>
    <a:lvl1pPr marL="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81281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162562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243843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325124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406405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487686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568967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650248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ture slides" id="{C7F91DBA-90A9-5343-8B43-F0D96459C604}">
          <p14:sldIdLst>
            <p14:sldId id="547"/>
            <p14:sldId id="551"/>
            <p14:sldId id="538"/>
            <p14:sldId id="539"/>
            <p14:sldId id="540"/>
            <p14:sldId id="552"/>
            <p14:sldId id="541"/>
            <p14:sldId id="542"/>
            <p14:sldId id="543"/>
            <p14:sldId id="544"/>
            <p14:sldId id="545"/>
            <p14:sldId id="5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16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F92"/>
    <a:srgbClr val="00274C"/>
    <a:srgbClr val="E4E1DF"/>
    <a:srgbClr val="B5B5B5"/>
    <a:srgbClr val="050909"/>
    <a:srgbClr val="FFCB05"/>
    <a:srgbClr val="EA6A20"/>
    <a:srgbClr val="06090A"/>
    <a:srgbClr val="090B0B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55" autoAdjust="0"/>
    <p:restoredTop sz="88121" autoAdjust="0"/>
  </p:normalViewPr>
  <p:slideViewPr>
    <p:cSldViewPr snapToGrid="0">
      <p:cViewPr varScale="1">
        <p:scale>
          <a:sx n="49" d="100"/>
          <a:sy n="49" d="100"/>
        </p:scale>
        <p:origin x="806" y="72"/>
      </p:cViewPr>
      <p:guideLst>
        <p:guide orient="horz" pos="3216"/>
        <p:guide pos="5120"/>
      </p:guideLst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515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ox%20Sync\Jolliet\Teaching\EHS%20672%20On-line%20master\Powerpoints%20for%20Lecture%20videos\3.4.4C%20Figure%2005X09_Final_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Box%20Sync\Jolliet\Teaching\EHS%20672%20On-line%20master\Powerpoints%20for%20Lecture%20videos\3.4.4C%20Figure%2005X09_Final_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395793316921276"/>
          <c:y val="4.2535552027867775E-2"/>
          <c:w val="0.81703285368974676"/>
          <c:h val="0.5316287968902518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endpoint!$AH$17</c:f>
              <c:strCache>
                <c:ptCount val="1"/>
                <c:pt idx="0">
                  <c:v>Steel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endpoint!$AM$18:$AM$37</c:f>
                <c:numCache>
                  <c:formatCode>General</c:formatCode>
                  <c:ptCount val="20"/>
                  <c:pt idx="0">
                    <c:v>39.62907792</c:v>
                  </c:pt>
                  <c:pt idx="4">
                    <c:v>11.61661694</c:v>
                  </c:pt>
                  <c:pt idx="5">
                    <c:v>0.76664591999999998</c:v>
                  </c:pt>
                  <c:pt idx="9">
                    <c:v>16.586287948051947</c:v>
                  </c:pt>
                  <c:pt idx="10">
                    <c:v>5.7490857350649351</c:v>
                  </c:pt>
                  <c:pt idx="16">
                    <c:v>0.18170858337662335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endpoint!$AG$18:$AG$37</c:f>
              <c:strCache>
                <c:ptCount val="20"/>
                <c:pt idx="0">
                  <c:v>Global warming HH</c:v>
                </c:pt>
                <c:pt idx="1">
                  <c:v>Water use impacts HH</c:v>
                </c:pt>
                <c:pt idx="2">
                  <c:v>Fine particulate</c:v>
                </c:pt>
                <c:pt idx="3">
                  <c:v>Respiratory organics</c:v>
                </c:pt>
                <c:pt idx="4">
                  <c:v>Carcinogens</c:v>
                </c:pt>
                <c:pt idx="5">
                  <c:v>Non-carcinogens</c:v>
                </c:pt>
                <c:pt idx="6">
                  <c:v>Ionizing radiation HH</c:v>
                </c:pt>
                <c:pt idx="7">
                  <c:v>Ozone Layer Depletion</c:v>
                </c:pt>
                <c:pt idx="9">
                  <c:v>Global warming EQ</c:v>
                </c:pt>
                <c:pt idx="10">
                  <c:v>Marine acidification</c:v>
                </c:pt>
                <c:pt idx="11">
                  <c:v>Land occupation</c:v>
                </c:pt>
                <c:pt idx="12">
                  <c:v>Water use EQ</c:v>
                </c:pt>
                <c:pt idx="13">
                  <c:v>Terrestrial acidification</c:v>
                </c:pt>
                <c:pt idx="14">
                  <c:v>Aquatic eutrophication</c:v>
                </c:pt>
                <c:pt idx="15">
                  <c:v>Marine eutrophication</c:v>
                </c:pt>
                <c:pt idx="16">
                  <c:v>Aquatic ecotoxicity</c:v>
                </c:pt>
                <c:pt idx="17">
                  <c:v>Ionizing radiation HH</c:v>
                </c:pt>
                <c:pt idx="19">
                  <c:v>Primary energy</c:v>
                </c:pt>
              </c:strCache>
            </c:strRef>
          </c:cat>
          <c:val>
            <c:numRef>
              <c:f>endpoint!$AH$18:$AH$37</c:f>
              <c:numCache>
                <c:formatCode>0.00E+00</c:formatCode>
                <c:ptCount val="20"/>
                <c:pt idx="0">
                  <c:v>17.371548839999999</c:v>
                </c:pt>
                <c:pt idx="1">
                  <c:v>3.773739076</c:v>
                </c:pt>
                <c:pt idx="2">
                  <c:v>2.5827890699999996</c:v>
                </c:pt>
                <c:pt idx="3">
                  <c:v>3.7072999519999999E-3</c:v>
                </c:pt>
                <c:pt idx="4">
                  <c:v>4.8229444504078183</c:v>
                </c:pt>
                <c:pt idx="5">
                  <c:v>2.5244365955204024</c:v>
                </c:pt>
                <c:pt idx="6">
                  <c:v>2.6068000719999998E-2</c:v>
                </c:pt>
                <c:pt idx="7">
                  <c:v>7.1087604199999996E-3</c:v>
                </c:pt>
                <c:pt idx="9">
                  <c:v>7.3121179792207789</c:v>
                </c:pt>
                <c:pt idx="10">
                  <c:v>0.62407837870129867</c:v>
                </c:pt>
                <c:pt idx="11">
                  <c:v>7.592444041558441E-2</c:v>
                </c:pt>
                <c:pt idx="12">
                  <c:v>0.14779551552045195</c:v>
                </c:pt>
                <c:pt idx="13">
                  <c:v>0.77446527896103889</c:v>
                </c:pt>
                <c:pt idx="14">
                  <c:v>0.22107949246753247</c:v>
                </c:pt>
                <c:pt idx="15">
                  <c:v>3.0117278337662336E-2</c:v>
                </c:pt>
                <c:pt idx="16">
                  <c:v>3.7612420831168829E-2</c:v>
                </c:pt>
                <c:pt idx="17">
                  <c:v>1.5165925246753245E-8</c:v>
                </c:pt>
                <c:pt idx="19">
                  <c:v>17.45616379310345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96-4775-99D9-49450786C92F}"/>
            </c:ext>
          </c:extLst>
        </c:ser>
        <c:ser>
          <c:idx val="1"/>
          <c:order val="1"/>
          <c:tx>
            <c:strRef>
              <c:f>endpoint!$AI$17</c:f>
              <c:strCache>
                <c:ptCount val="1"/>
                <c:pt idx="0">
                  <c:v>Composite</c:v>
                </c:pt>
              </c:strCache>
            </c:strRef>
          </c:tx>
          <c:spPr>
            <a:solidFill>
              <a:schemeClr val="accent4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endpoint!$AN$18:$AN$37</c:f>
                <c:numCache>
                  <c:formatCode>General</c:formatCode>
                  <c:ptCount val="20"/>
                  <c:pt idx="0">
                    <c:v>29.220954240000001</c:v>
                  </c:pt>
                  <c:pt idx="4">
                    <c:v>1.2698787759999999</c:v>
                  </c:pt>
                  <c:pt idx="5">
                    <c:v>0.34026971560000002</c:v>
                  </c:pt>
                  <c:pt idx="9">
                    <c:v>12.230078914285713</c:v>
                  </c:pt>
                  <c:pt idx="10">
                    <c:v>4.2394230233766228</c:v>
                  </c:pt>
                  <c:pt idx="16">
                    <c:v>0.13812046223376623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endpoint!$AG$18:$AG$37</c:f>
              <c:strCache>
                <c:ptCount val="20"/>
                <c:pt idx="0">
                  <c:v>Global warming HH</c:v>
                </c:pt>
                <c:pt idx="1">
                  <c:v>Water use impacts HH</c:v>
                </c:pt>
                <c:pt idx="2">
                  <c:v>Fine particulate</c:v>
                </c:pt>
                <c:pt idx="3">
                  <c:v>Respiratory organics</c:v>
                </c:pt>
                <c:pt idx="4">
                  <c:v>Carcinogens</c:v>
                </c:pt>
                <c:pt idx="5">
                  <c:v>Non-carcinogens</c:v>
                </c:pt>
                <c:pt idx="6">
                  <c:v>Ionizing radiation HH</c:v>
                </c:pt>
                <c:pt idx="7">
                  <c:v>Ozone Layer Depletion</c:v>
                </c:pt>
                <c:pt idx="9">
                  <c:v>Global warming EQ</c:v>
                </c:pt>
                <c:pt idx="10">
                  <c:v>Marine acidification</c:v>
                </c:pt>
                <c:pt idx="11">
                  <c:v>Land occupation</c:v>
                </c:pt>
                <c:pt idx="12">
                  <c:v>Water use EQ</c:v>
                </c:pt>
                <c:pt idx="13">
                  <c:v>Terrestrial acidification</c:v>
                </c:pt>
                <c:pt idx="14">
                  <c:v>Aquatic eutrophication</c:v>
                </c:pt>
                <c:pt idx="15">
                  <c:v>Marine eutrophication</c:v>
                </c:pt>
                <c:pt idx="16">
                  <c:v>Aquatic ecotoxicity</c:v>
                </c:pt>
                <c:pt idx="17">
                  <c:v>Ionizing radiation HH</c:v>
                </c:pt>
                <c:pt idx="19">
                  <c:v>Primary energy</c:v>
                </c:pt>
              </c:strCache>
            </c:strRef>
          </c:cat>
          <c:val>
            <c:numRef>
              <c:f>endpoint!$AI$18:$AI$37</c:f>
              <c:numCache>
                <c:formatCode>0.00E+00</c:formatCode>
                <c:ptCount val="20"/>
                <c:pt idx="0">
                  <c:v>12.839730379999999</c:v>
                </c:pt>
                <c:pt idx="1">
                  <c:v>1.76951316</c:v>
                </c:pt>
                <c:pt idx="2">
                  <c:v>1.5868959600000001</c:v>
                </c:pt>
                <c:pt idx="3">
                  <c:v>2.5906309979999999E-3</c:v>
                </c:pt>
                <c:pt idx="4">
                  <c:v>0.4555114400590764</c:v>
                </c:pt>
                <c:pt idx="5">
                  <c:v>0.47360793313555299</c:v>
                </c:pt>
                <c:pt idx="6">
                  <c:v>9.1411600600000004E-3</c:v>
                </c:pt>
                <c:pt idx="7">
                  <c:v>4.7220854099999992E-3</c:v>
                </c:pt>
                <c:pt idx="9">
                  <c:v>5.4045515688311685</c:v>
                </c:pt>
                <c:pt idx="10">
                  <c:v>0.46020052519480514</c:v>
                </c:pt>
                <c:pt idx="11">
                  <c:v>3.1979807064935063E-2</c:v>
                </c:pt>
                <c:pt idx="12">
                  <c:v>3.2848471419148054E-2</c:v>
                </c:pt>
                <c:pt idx="13">
                  <c:v>0.51083476831168828</c:v>
                </c:pt>
                <c:pt idx="14">
                  <c:v>0.15642216467532469</c:v>
                </c:pt>
                <c:pt idx="15">
                  <c:v>2.0703779532467534E-2</c:v>
                </c:pt>
                <c:pt idx="16">
                  <c:v>1.3729782202597402E-2</c:v>
                </c:pt>
                <c:pt idx="17">
                  <c:v>5.3328739324675322E-9</c:v>
                </c:pt>
                <c:pt idx="19">
                  <c:v>13.201633620689657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96-4775-99D9-49450786C92F}"/>
            </c:ext>
          </c:extLst>
        </c:ser>
        <c:ser>
          <c:idx val="2"/>
          <c:order val="2"/>
          <c:tx>
            <c:strRef>
              <c:f>endpoint!$AJ$17</c:f>
              <c:strCache>
                <c:ptCount val="1"/>
                <c:pt idx="0">
                  <c:v>Aluminum</c:v>
                </c:pt>
              </c:strCache>
            </c:strRef>
          </c:tx>
          <c:spPr>
            <a:solidFill>
              <a:schemeClr val="accent5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endpoint!$AO$18:$AO$37</c:f>
                <c:numCache>
                  <c:formatCode>General</c:formatCode>
                  <c:ptCount val="20"/>
                  <c:pt idx="0">
                    <c:v>22.722425940000001</c:v>
                  </c:pt>
                  <c:pt idx="4">
                    <c:v>9.2051863399999991</c:v>
                  </c:pt>
                  <c:pt idx="5">
                    <c:v>0.939699434</c:v>
                  </c:pt>
                  <c:pt idx="9">
                    <c:v>9.513912015584415</c:v>
                  </c:pt>
                  <c:pt idx="10">
                    <c:v>2.9914166805194804</c:v>
                  </c:pt>
                  <c:pt idx="16">
                    <c:v>0.2399878379220779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endpoint!$AG$18:$AG$37</c:f>
              <c:strCache>
                <c:ptCount val="20"/>
                <c:pt idx="0">
                  <c:v>Global warming HH</c:v>
                </c:pt>
                <c:pt idx="1">
                  <c:v>Water use impacts HH</c:v>
                </c:pt>
                <c:pt idx="2">
                  <c:v>Fine particulate</c:v>
                </c:pt>
                <c:pt idx="3">
                  <c:v>Respiratory organics</c:v>
                </c:pt>
                <c:pt idx="4">
                  <c:v>Carcinogens</c:v>
                </c:pt>
                <c:pt idx="5">
                  <c:v>Non-carcinogens</c:v>
                </c:pt>
                <c:pt idx="6">
                  <c:v>Ionizing radiation HH</c:v>
                </c:pt>
                <c:pt idx="7">
                  <c:v>Ozone Layer Depletion</c:v>
                </c:pt>
                <c:pt idx="9">
                  <c:v>Global warming EQ</c:v>
                </c:pt>
                <c:pt idx="10">
                  <c:v>Marine acidification</c:v>
                </c:pt>
                <c:pt idx="11">
                  <c:v>Land occupation</c:v>
                </c:pt>
                <c:pt idx="12">
                  <c:v>Water use EQ</c:v>
                </c:pt>
                <c:pt idx="13">
                  <c:v>Terrestrial acidification</c:v>
                </c:pt>
                <c:pt idx="14">
                  <c:v>Aquatic eutrophication</c:v>
                </c:pt>
                <c:pt idx="15">
                  <c:v>Marine eutrophication</c:v>
                </c:pt>
                <c:pt idx="16">
                  <c:v>Aquatic ecotoxicity</c:v>
                </c:pt>
                <c:pt idx="17">
                  <c:v>Ionizing radiation HH</c:v>
                </c:pt>
                <c:pt idx="19">
                  <c:v>Primary energy</c:v>
                </c:pt>
              </c:strCache>
            </c:strRef>
          </c:cat>
          <c:val>
            <c:numRef>
              <c:f>endpoint!$AJ$18:$AJ$37</c:f>
              <c:numCache>
                <c:formatCode>0.00E+00</c:formatCode>
                <c:ptCount val="20"/>
                <c:pt idx="0">
                  <c:v>9.5624997799999996</c:v>
                </c:pt>
                <c:pt idx="1">
                  <c:v>2.3963072199999997</c:v>
                </c:pt>
                <c:pt idx="2">
                  <c:v>1.9692629880000001</c:v>
                </c:pt>
                <c:pt idx="3">
                  <c:v>1.7208122800000001E-3</c:v>
                </c:pt>
                <c:pt idx="4">
                  <c:v>2.9365277933220013</c:v>
                </c:pt>
                <c:pt idx="5">
                  <c:v>1.544803216152874</c:v>
                </c:pt>
                <c:pt idx="6">
                  <c:v>3.1985059220000001E-2</c:v>
                </c:pt>
                <c:pt idx="7">
                  <c:v>3.3380780620000002E-3</c:v>
                </c:pt>
                <c:pt idx="9">
                  <c:v>4.0237928883116885</c:v>
                </c:pt>
                <c:pt idx="10">
                  <c:v>0.32472615272727268</c:v>
                </c:pt>
                <c:pt idx="11">
                  <c:v>5.2785157090909092E-2</c:v>
                </c:pt>
                <c:pt idx="12">
                  <c:v>0.73474090354117394</c:v>
                </c:pt>
                <c:pt idx="13">
                  <c:v>0.49871666337662335</c:v>
                </c:pt>
                <c:pt idx="14">
                  <c:v>0.10295967506493506</c:v>
                </c:pt>
                <c:pt idx="15">
                  <c:v>1.4798920207792207E-2</c:v>
                </c:pt>
                <c:pt idx="16">
                  <c:v>2.085653361038961E-2</c:v>
                </c:pt>
                <c:pt idx="17">
                  <c:v>1.8113469662337663E-8</c:v>
                </c:pt>
                <c:pt idx="19">
                  <c:v>9.1431801724137944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F96-4775-99D9-49450786C92F}"/>
            </c:ext>
          </c:extLst>
        </c:ser>
        <c:ser>
          <c:idx val="3"/>
          <c:order val="3"/>
          <c:tx>
            <c:strRef>
              <c:f>endpoint!$AK$17</c:f>
              <c:strCache>
                <c:ptCount val="1"/>
                <c:pt idx="0">
                  <c:v>Recycled Aluminum</c:v>
                </c:pt>
              </c:strCache>
            </c:strRef>
          </c:tx>
          <c:spPr>
            <a:solidFill>
              <a:schemeClr val="accent6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endpoint!$AP$18:$AP$37</c:f>
                <c:numCache>
                  <c:formatCode>General</c:formatCode>
                  <c:ptCount val="20"/>
                  <c:pt idx="0">
                    <c:v>15.509698480000001</c:v>
                  </c:pt>
                  <c:pt idx="4">
                    <c:v>1.0999997880000001</c:v>
                  </c:pt>
                  <c:pt idx="5">
                    <c:v>0.51755862699999999</c:v>
                  </c:pt>
                  <c:pt idx="9">
                    <c:v>6.4913973662337661</c:v>
                  </c:pt>
                  <c:pt idx="10">
                    <c:v>2.2508188831168829</c:v>
                  </c:pt>
                  <c:pt idx="16">
                    <c:v>6.9099105506493494E-2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endpoint!$AG$18:$AG$37</c:f>
              <c:strCache>
                <c:ptCount val="20"/>
                <c:pt idx="0">
                  <c:v>Global warming HH</c:v>
                </c:pt>
                <c:pt idx="1">
                  <c:v>Water use impacts HH</c:v>
                </c:pt>
                <c:pt idx="2">
                  <c:v>Fine particulate</c:v>
                </c:pt>
                <c:pt idx="3">
                  <c:v>Respiratory organics</c:v>
                </c:pt>
                <c:pt idx="4">
                  <c:v>Carcinogens</c:v>
                </c:pt>
                <c:pt idx="5">
                  <c:v>Non-carcinogens</c:v>
                </c:pt>
                <c:pt idx="6">
                  <c:v>Ionizing radiation HH</c:v>
                </c:pt>
                <c:pt idx="7">
                  <c:v>Ozone Layer Depletion</c:v>
                </c:pt>
                <c:pt idx="9">
                  <c:v>Global warming EQ</c:v>
                </c:pt>
                <c:pt idx="10">
                  <c:v>Marine acidification</c:v>
                </c:pt>
                <c:pt idx="11">
                  <c:v>Land occupation</c:v>
                </c:pt>
                <c:pt idx="12">
                  <c:v>Water use EQ</c:v>
                </c:pt>
                <c:pt idx="13">
                  <c:v>Terrestrial acidification</c:v>
                </c:pt>
                <c:pt idx="14">
                  <c:v>Aquatic eutrophication</c:v>
                </c:pt>
                <c:pt idx="15">
                  <c:v>Marine eutrophication</c:v>
                </c:pt>
                <c:pt idx="16">
                  <c:v>Aquatic ecotoxicity</c:v>
                </c:pt>
                <c:pt idx="17">
                  <c:v>Ionizing radiation HH</c:v>
                </c:pt>
                <c:pt idx="19">
                  <c:v>Primary energy</c:v>
                </c:pt>
              </c:strCache>
            </c:strRef>
          </c:cat>
          <c:val>
            <c:numRef>
              <c:f>endpoint!$AK$18:$AK$37</c:f>
              <c:numCache>
                <c:formatCode>0.00E+00</c:formatCode>
                <c:ptCount val="20"/>
                <c:pt idx="0">
                  <c:v>6.7859314240000002</c:v>
                </c:pt>
                <c:pt idx="1">
                  <c:v>1.2753761619999999</c:v>
                </c:pt>
                <c:pt idx="2">
                  <c:v>0.914533292</c:v>
                </c:pt>
                <c:pt idx="3">
                  <c:v>1.399735382E-3</c:v>
                </c:pt>
                <c:pt idx="4">
                  <c:v>0.25474065631507842</c:v>
                </c:pt>
                <c:pt idx="5">
                  <c:v>0.41897624417391222</c:v>
                </c:pt>
                <c:pt idx="6">
                  <c:v>1.3930713860000001E-2</c:v>
                </c:pt>
                <c:pt idx="7">
                  <c:v>2.8289799660000002E-3</c:v>
                </c:pt>
                <c:pt idx="9">
                  <c:v>2.8563748831168829</c:v>
                </c:pt>
                <c:pt idx="10">
                  <c:v>0.24433231324675322</c:v>
                </c:pt>
                <c:pt idx="11">
                  <c:v>2.8899035532467532E-2</c:v>
                </c:pt>
                <c:pt idx="12">
                  <c:v>4.9603247758238954E-2</c:v>
                </c:pt>
                <c:pt idx="13">
                  <c:v>0.30553027480519479</c:v>
                </c:pt>
                <c:pt idx="14">
                  <c:v>8.6904493246753242E-2</c:v>
                </c:pt>
                <c:pt idx="15">
                  <c:v>1.1470794732467532E-2</c:v>
                </c:pt>
                <c:pt idx="16">
                  <c:v>7.077027366233766E-3</c:v>
                </c:pt>
                <c:pt idx="17">
                  <c:v>8.0997458493506489E-9</c:v>
                </c:pt>
                <c:pt idx="19">
                  <c:v>6.948324137931035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F96-4775-99D9-49450786C9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70585976"/>
        <c:axId val="670587616"/>
      </c:barChart>
      <c:catAx>
        <c:axId val="670585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0587616"/>
        <c:crossesAt val="1.0000000000000003E-4"/>
        <c:auto val="1"/>
        <c:lblAlgn val="ctr"/>
        <c:lblOffset val="100"/>
        <c:noMultiLvlLbl val="0"/>
      </c:catAx>
      <c:valAx>
        <c:axId val="670587616"/>
        <c:scaling>
          <c:logBase val="10"/>
          <c:orientation val="minMax"/>
          <c:min val="1.0000000000000002E-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0585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2240050030833842"/>
          <c:y val="1.5169057468148679E-2"/>
          <c:w val="0.56204650712171933"/>
          <c:h val="9.6733140031422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endpoint!$AG$40</c:f>
              <c:strCache>
                <c:ptCount val="1"/>
                <c:pt idx="0">
                  <c:v>Human health (excl. GW)</c:v>
                </c:pt>
              </c:strCache>
            </c:strRef>
          </c:tx>
          <c:spPr>
            <a:pattFill prst="ltHorz">
              <a:fgClr>
                <a:schemeClr val="tx1"/>
              </a:fgClr>
              <a:bgClr>
                <a:schemeClr val="accent3"/>
              </a:bgClr>
            </a:pattFill>
            <a:ln>
              <a:solidFill>
                <a:schemeClr val="tx1">
                  <a:lumMod val="50000"/>
                  <a:lumOff val="50000"/>
                </a:schemeClr>
              </a:solidFill>
            </a:ln>
          </c:spPr>
          <c:invertIfNegative val="0"/>
          <c:dPt>
            <c:idx val="1"/>
            <c:invertIfNegative val="0"/>
            <c:bubble3D val="0"/>
            <c:spPr>
              <a:pattFill prst="ltHorz">
                <a:fgClr>
                  <a:schemeClr val="tx1"/>
                </a:fgClr>
                <a:bgClr>
                  <a:schemeClr val="accent4"/>
                </a:bgClr>
              </a:patt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F98-426D-8AFC-C495B0DF3823}"/>
              </c:ext>
            </c:extLst>
          </c:dPt>
          <c:dPt>
            <c:idx val="2"/>
            <c:invertIfNegative val="0"/>
            <c:bubble3D val="0"/>
            <c:spPr>
              <a:pattFill prst="ltHorz">
                <a:fgClr>
                  <a:schemeClr val="tx1"/>
                </a:fgClr>
                <a:bgClr>
                  <a:schemeClr val="accent5"/>
                </a:bgClr>
              </a:patt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2-6F98-426D-8AFC-C495B0DF3823}"/>
              </c:ext>
            </c:extLst>
          </c:dPt>
          <c:dPt>
            <c:idx val="3"/>
            <c:invertIfNegative val="0"/>
            <c:bubble3D val="0"/>
            <c:spPr>
              <a:pattFill prst="ltHorz">
                <a:fgClr>
                  <a:schemeClr val="tx1"/>
                </a:fgClr>
                <a:bgClr>
                  <a:schemeClr val="accent6"/>
                </a:bgClr>
              </a:patt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F98-426D-8AFC-C495B0DF3823}"/>
              </c:ext>
            </c:extLst>
          </c:dPt>
          <c:cat>
            <c:strRef>
              <c:f>endpoint!$AH$39:$AK$39</c:f>
              <c:strCache>
                <c:ptCount val="4"/>
                <c:pt idx="0">
                  <c:v>Steel</c:v>
                </c:pt>
                <c:pt idx="1">
                  <c:v>Composite</c:v>
                </c:pt>
                <c:pt idx="2">
                  <c:v>Aluminum</c:v>
                </c:pt>
                <c:pt idx="3">
                  <c:v>Recycled Aluminum</c:v>
                </c:pt>
              </c:strCache>
            </c:strRef>
          </c:cat>
          <c:val>
            <c:numRef>
              <c:f>endpoint!$AH$40:$AK$40</c:f>
              <c:numCache>
                <c:formatCode>0.00E+00</c:formatCode>
                <c:ptCount val="4"/>
                <c:pt idx="0">
                  <c:v>13.74079325302022</c:v>
                </c:pt>
                <c:pt idx="1">
                  <c:v>4.30198236966263</c:v>
                </c:pt>
                <c:pt idx="2">
                  <c:v>8.8839451670368756</c:v>
                </c:pt>
                <c:pt idx="3">
                  <c:v>2.8817857836969902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F98-426D-8AFC-C495B0DF3823}"/>
            </c:ext>
          </c:extLst>
        </c:ser>
        <c:ser>
          <c:idx val="1"/>
          <c:order val="1"/>
          <c:tx>
            <c:strRef>
              <c:f>endpoint!$AG$41</c:f>
              <c:strCache>
                <c:ptCount val="1"/>
                <c:pt idx="0">
                  <c:v>HH Global warming</c:v>
                </c:pt>
              </c:strCache>
            </c:strRef>
          </c:tx>
          <c:spPr>
            <a:pattFill prst="ltUpDiag">
              <a:fgClr>
                <a:schemeClr val="tx1"/>
              </a:fgClr>
              <a:bgClr>
                <a:schemeClr val="accent3"/>
              </a:bgClr>
            </a:pattFill>
            <a:ln>
              <a:solidFill>
                <a:schemeClr val="tx1">
                  <a:lumMod val="50000"/>
                  <a:lumOff val="50000"/>
                </a:schemeClr>
              </a:solidFill>
            </a:ln>
          </c:spPr>
          <c:invertIfNegative val="0"/>
          <c:dPt>
            <c:idx val="1"/>
            <c:invertIfNegative val="0"/>
            <c:bubble3D val="0"/>
            <c:spPr>
              <a:pattFill prst="ltUpDiag">
                <a:fgClr>
                  <a:schemeClr val="tx1"/>
                </a:fgClr>
                <a:bgClr>
                  <a:schemeClr val="accent4"/>
                </a:bgClr>
              </a:patt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6-6F98-426D-8AFC-C495B0DF3823}"/>
              </c:ext>
            </c:extLst>
          </c:dPt>
          <c:dPt>
            <c:idx val="2"/>
            <c:invertIfNegative val="0"/>
            <c:bubble3D val="0"/>
            <c:spPr>
              <a:pattFill prst="ltUpDiag">
                <a:fgClr>
                  <a:schemeClr val="tx1"/>
                </a:fgClr>
                <a:bgClr>
                  <a:schemeClr val="accent5"/>
                </a:bgClr>
              </a:patt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F98-426D-8AFC-C495B0DF3823}"/>
              </c:ext>
            </c:extLst>
          </c:dPt>
          <c:dPt>
            <c:idx val="3"/>
            <c:invertIfNegative val="0"/>
            <c:bubble3D val="0"/>
            <c:spPr>
              <a:pattFill prst="ltUpDiag">
                <a:fgClr>
                  <a:schemeClr val="tx1"/>
                </a:fgClr>
                <a:bgClr>
                  <a:schemeClr val="accent6"/>
                </a:bgClr>
              </a:patt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8-6F98-426D-8AFC-C495B0DF3823}"/>
              </c:ext>
            </c:extLst>
          </c:dPt>
          <c:cat>
            <c:strRef>
              <c:f>endpoint!$AH$39:$AK$39</c:f>
              <c:strCache>
                <c:ptCount val="4"/>
                <c:pt idx="0">
                  <c:v>Steel</c:v>
                </c:pt>
                <c:pt idx="1">
                  <c:v>Composite</c:v>
                </c:pt>
                <c:pt idx="2">
                  <c:v>Aluminum</c:v>
                </c:pt>
                <c:pt idx="3">
                  <c:v>Recycled Aluminum</c:v>
                </c:pt>
              </c:strCache>
            </c:strRef>
          </c:cat>
          <c:val>
            <c:numRef>
              <c:f>endpoint!$AH$41:$AK$41</c:f>
              <c:numCache>
                <c:formatCode>0.00E+00</c:formatCode>
                <c:ptCount val="4"/>
                <c:pt idx="0">
                  <c:v>17.371548839999999</c:v>
                </c:pt>
                <c:pt idx="1">
                  <c:v>12.839730379999999</c:v>
                </c:pt>
                <c:pt idx="2">
                  <c:v>9.5624997799999996</c:v>
                </c:pt>
                <c:pt idx="3">
                  <c:v>6.7859314240000002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F98-426D-8AFC-C495B0DF3823}"/>
            </c:ext>
          </c:extLst>
        </c:ser>
        <c:ser>
          <c:idx val="3"/>
          <c:order val="2"/>
          <c:tx>
            <c:strRef>
              <c:f>endpoint!$AG$42</c:f>
              <c:strCache>
                <c:ptCount val="1"/>
                <c:pt idx="0">
                  <c:v>Ecosystem quality (excl. GW)</c:v>
                </c:pt>
              </c:strCache>
            </c:strRef>
          </c:tx>
          <c:spPr>
            <a:pattFill prst="ltVert">
              <a:fgClr>
                <a:schemeClr val="tx1"/>
              </a:fgClr>
              <a:bgClr>
                <a:schemeClr val="accent3"/>
              </a:bgClr>
            </a:pattFill>
            <a:ln>
              <a:solidFill>
                <a:schemeClr val="tx1">
                  <a:lumMod val="50000"/>
                  <a:lumOff val="50000"/>
                </a:schemeClr>
              </a:solidFill>
            </a:ln>
          </c:spPr>
          <c:invertIfNegative val="0"/>
          <c:dPt>
            <c:idx val="1"/>
            <c:invertIfNegative val="0"/>
            <c:bubble3D val="0"/>
            <c:spPr>
              <a:pattFill prst="ltVert">
                <a:fgClr>
                  <a:schemeClr val="tx1"/>
                </a:fgClr>
                <a:bgClr>
                  <a:schemeClr val="accent4"/>
                </a:bgClr>
              </a:patt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B-6F98-426D-8AFC-C495B0DF3823}"/>
              </c:ext>
            </c:extLst>
          </c:dPt>
          <c:dPt>
            <c:idx val="2"/>
            <c:invertIfNegative val="0"/>
            <c:bubble3D val="0"/>
            <c:spPr>
              <a:pattFill prst="ltVert">
                <a:fgClr>
                  <a:schemeClr val="tx1"/>
                </a:fgClr>
                <a:bgClr>
                  <a:schemeClr val="accent5"/>
                </a:bgClr>
              </a:patt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C-6F98-426D-8AFC-C495B0DF3823}"/>
              </c:ext>
            </c:extLst>
          </c:dPt>
          <c:dPt>
            <c:idx val="3"/>
            <c:invertIfNegative val="0"/>
            <c:bubble3D val="0"/>
            <c:spPr>
              <a:pattFill prst="ltVert">
                <a:fgClr>
                  <a:schemeClr val="tx1"/>
                </a:fgClr>
                <a:bgClr>
                  <a:schemeClr val="accent6"/>
                </a:bgClr>
              </a:patt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D-6F98-426D-8AFC-C495B0DF3823}"/>
              </c:ext>
            </c:extLst>
          </c:dPt>
          <c:cat>
            <c:strRef>
              <c:f>endpoint!$AH$39:$AK$39</c:f>
              <c:strCache>
                <c:ptCount val="4"/>
                <c:pt idx="0">
                  <c:v>Steel</c:v>
                </c:pt>
                <c:pt idx="1">
                  <c:v>Composite</c:v>
                </c:pt>
                <c:pt idx="2">
                  <c:v>Aluminum</c:v>
                </c:pt>
                <c:pt idx="3">
                  <c:v>Recycled Aluminum</c:v>
                </c:pt>
              </c:strCache>
            </c:strRef>
          </c:cat>
          <c:val>
            <c:numRef>
              <c:f>endpoint!$AH$42:$AK$42</c:f>
              <c:numCache>
                <c:formatCode>0.00E+00</c:formatCode>
                <c:ptCount val="4"/>
                <c:pt idx="0">
                  <c:v>1.9110728204006628</c:v>
                </c:pt>
                <c:pt idx="1">
                  <c:v>1.2267193037338404</c:v>
                </c:pt>
                <c:pt idx="2">
                  <c:v>1.7495840237325657</c:v>
                </c:pt>
                <c:pt idx="3">
                  <c:v>0.73381719478785468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F98-426D-8AFC-C495B0DF3823}"/>
            </c:ext>
          </c:extLst>
        </c:ser>
        <c:ser>
          <c:idx val="2"/>
          <c:order val="3"/>
          <c:tx>
            <c:strRef>
              <c:f>endpoint!$AG$43</c:f>
              <c:strCache>
                <c:ptCount val="1"/>
                <c:pt idx="0">
                  <c:v>EQ Global warming</c:v>
                </c:pt>
              </c:strCache>
            </c:strRef>
          </c:tx>
          <c:spPr>
            <a:pattFill prst="ltUpDiag">
              <a:fgClr>
                <a:schemeClr val="tx1"/>
              </a:fgClr>
              <a:bgClr>
                <a:schemeClr val="accent5"/>
              </a:bgClr>
            </a:pattFill>
            <a:ln>
              <a:solidFill>
                <a:schemeClr val="tx1">
                  <a:lumMod val="50000"/>
                  <a:lumOff val="50000"/>
                </a:schemeClr>
              </a:solidFill>
            </a:ln>
          </c:spPr>
          <c:invertIfNegative val="0"/>
          <c:dPt>
            <c:idx val="0"/>
            <c:invertIfNegative val="0"/>
            <c:bubble3D val="0"/>
            <c:spPr>
              <a:pattFill prst="ltUpDiag">
                <a:fgClr>
                  <a:schemeClr val="tx1"/>
                </a:fgClr>
                <a:bgClr>
                  <a:schemeClr val="accent3"/>
                </a:bgClr>
              </a:patt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0-6F98-426D-8AFC-C495B0DF3823}"/>
              </c:ext>
            </c:extLst>
          </c:dPt>
          <c:dPt>
            <c:idx val="1"/>
            <c:invertIfNegative val="0"/>
            <c:bubble3D val="0"/>
            <c:spPr>
              <a:pattFill prst="ltUpDiag">
                <a:fgClr>
                  <a:schemeClr val="tx1"/>
                </a:fgClr>
                <a:bgClr>
                  <a:schemeClr val="accent4"/>
                </a:bgClr>
              </a:patt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1-6F98-426D-8AFC-C495B0DF382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2-6F98-426D-8AFC-C495B0DF3823}"/>
              </c:ext>
            </c:extLst>
          </c:dPt>
          <c:dPt>
            <c:idx val="3"/>
            <c:invertIfNegative val="0"/>
            <c:bubble3D val="0"/>
            <c:spPr>
              <a:pattFill prst="ltUpDiag">
                <a:fgClr>
                  <a:schemeClr val="tx1"/>
                </a:fgClr>
                <a:bgClr>
                  <a:schemeClr val="accent6"/>
                </a:bgClr>
              </a:patt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3-6F98-426D-8AFC-C495B0DF3823}"/>
              </c:ext>
            </c:extLst>
          </c:dPt>
          <c:cat>
            <c:strRef>
              <c:f>endpoint!$AH$39:$AK$39</c:f>
              <c:strCache>
                <c:ptCount val="4"/>
                <c:pt idx="0">
                  <c:v>Steel</c:v>
                </c:pt>
                <c:pt idx="1">
                  <c:v>Composite</c:v>
                </c:pt>
                <c:pt idx="2">
                  <c:v>Aluminum</c:v>
                </c:pt>
                <c:pt idx="3">
                  <c:v>Recycled Aluminum</c:v>
                </c:pt>
              </c:strCache>
            </c:strRef>
          </c:cat>
          <c:val>
            <c:numRef>
              <c:f>endpoint!$AH$43:$AK$43</c:f>
              <c:numCache>
                <c:formatCode>0.00E+00</c:formatCode>
                <c:ptCount val="4"/>
                <c:pt idx="0">
                  <c:v>7.3121179792207789</c:v>
                </c:pt>
                <c:pt idx="1">
                  <c:v>5.4045515688311685</c:v>
                </c:pt>
                <c:pt idx="2">
                  <c:v>4.0237928883116885</c:v>
                </c:pt>
                <c:pt idx="3">
                  <c:v>2.8563748831168829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6F98-426D-8AFC-C495B0DF3823}"/>
            </c:ext>
          </c:extLst>
        </c:ser>
        <c:ser>
          <c:idx val="4"/>
          <c:order val="4"/>
          <c:tx>
            <c:strRef>
              <c:f>endpoint!$AG$44</c:f>
              <c:strCache>
                <c:ptCount val="1"/>
                <c:pt idx="0">
                  <c:v>Energy resources</c:v>
                </c:pt>
              </c:strCache>
            </c:strRef>
          </c:tx>
          <c:spPr>
            <a:pattFill prst="pct5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>
                  <a:lumMod val="50000"/>
                  <a:lumOff val="50000"/>
                </a:schemeClr>
              </a:solidFill>
            </a:ln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tx1"/>
                </a:fgClr>
                <a:bgClr>
                  <a:schemeClr val="accent3"/>
                </a:bgClr>
              </a:patt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6-6F98-426D-8AFC-C495B0DF3823}"/>
              </c:ext>
            </c:extLst>
          </c:dPt>
          <c:dPt>
            <c:idx val="1"/>
            <c:invertIfNegative val="0"/>
            <c:bubble3D val="0"/>
            <c:spPr>
              <a:pattFill prst="pct5">
                <a:fgClr>
                  <a:schemeClr val="tx1"/>
                </a:fgClr>
                <a:bgClr>
                  <a:schemeClr val="accent4"/>
                </a:bgClr>
              </a:patt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8-6F98-426D-8AFC-C495B0DF3823}"/>
              </c:ext>
            </c:extLst>
          </c:dPt>
          <c:dPt>
            <c:idx val="2"/>
            <c:invertIfNegative val="0"/>
            <c:bubble3D val="0"/>
            <c:spPr>
              <a:pattFill prst="pct5">
                <a:fgClr>
                  <a:schemeClr val="tx1"/>
                </a:fgClr>
                <a:bgClr>
                  <a:schemeClr val="accent5"/>
                </a:bgClr>
              </a:patt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A-6F98-426D-8AFC-C495B0DF3823}"/>
              </c:ext>
            </c:extLst>
          </c:dPt>
          <c:dPt>
            <c:idx val="3"/>
            <c:invertIfNegative val="0"/>
            <c:bubble3D val="0"/>
            <c:spPr>
              <a:pattFill prst="pct5">
                <a:fgClr>
                  <a:schemeClr val="tx1"/>
                </a:fgClr>
                <a:bgClr>
                  <a:schemeClr val="accent6"/>
                </a:bgClr>
              </a:patt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C-6F98-426D-8AFC-C495B0DF3823}"/>
              </c:ext>
            </c:extLst>
          </c:dPt>
          <c:errBars>
            <c:errBarType val="plus"/>
            <c:errValType val="cust"/>
            <c:noEndCap val="0"/>
            <c:plus>
              <c:numRef>
                <c:f>endpoint!$AM$44:$AP$44</c:f>
                <c:numCache>
                  <c:formatCode>General</c:formatCode>
                  <c:ptCount val="4"/>
                  <c:pt idx="0">
                    <c:v>74.529423046493505</c:v>
                  </c:pt>
                  <c:pt idx="1">
                    <c:v>47.438725131496099</c:v>
                  </c:pt>
                  <c:pt idx="2">
                    <c:v>45.61262824802597</c:v>
                  </c:pt>
                  <c:pt idx="3">
                    <c:v>25.938572249857142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</c:errBars>
          <c:cat>
            <c:strRef>
              <c:f>endpoint!$AH$39:$AK$39</c:f>
              <c:strCache>
                <c:ptCount val="4"/>
                <c:pt idx="0">
                  <c:v>Steel</c:v>
                </c:pt>
                <c:pt idx="1">
                  <c:v>Composite</c:v>
                </c:pt>
                <c:pt idx="2">
                  <c:v>Aluminum</c:v>
                </c:pt>
                <c:pt idx="3">
                  <c:v>Recycled Aluminum</c:v>
                </c:pt>
              </c:strCache>
            </c:strRef>
          </c:cat>
          <c:val>
            <c:numRef>
              <c:f>endpoint!$AH$44:$AK$44</c:f>
              <c:numCache>
                <c:formatCode>0.00E+00</c:formatCode>
                <c:ptCount val="4"/>
                <c:pt idx="0">
                  <c:v>17.45616379310345</c:v>
                </c:pt>
                <c:pt idx="1">
                  <c:v>13.201633620689657</c:v>
                </c:pt>
                <c:pt idx="2">
                  <c:v>9.1431801724137944</c:v>
                </c:pt>
                <c:pt idx="3">
                  <c:v>6.948324137931035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6F98-426D-8AFC-C495B0DF38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0885248"/>
        <c:axId val="121219328"/>
      </c:barChart>
      <c:catAx>
        <c:axId val="12088524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21219328"/>
        <c:crossesAt val="1.0000000000000045E-8"/>
        <c:auto val="1"/>
        <c:lblAlgn val="ctr"/>
        <c:lblOffset val="100"/>
        <c:noMultiLvlLbl val="0"/>
      </c:catAx>
      <c:valAx>
        <c:axId val="121219328"/>
        <c:scaling>
          <c:orientation val="minMax"/>
          <c:max val="140"/>
          <c:min val="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Weighted impacts  (Euro/FU)</a:t>
                </a:r>
              </a:p>
            </c:rich>
          </c:tx>
          <c:layout>
            <c:manualLayout>
              <c:xMode val="edge"/>
              <c:yMode val="edge"/>
              <c:x val="3.542491467521122E-4"/>
              <c:y val="0.13757061818400709"/>
            </c:manualLayout>
          </c:layout>
          <c:overlay val="0"/>
        </c:title>
        <c:numFmt formatCode="#,##0" sourceLinked="0"/>
        <c:majorTickMark val="out"/>
        <c:minorTickMark val="none"/>
        <c:tickLblPos val="nextTo"/>
        <c:crossAx val="120885248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r"/>
      <c:layout>
        <c:manualLayout>
          <c:xMode val="edge"/>
          <c:yMode val="edge"/>
          <c:x val="0.71707250547838486"/>
          <c:y val="4.6164502254221758E-2"/>
          <c:w val="0.27259777445174727"/>
          <c:h val="0.87511528859599974"/>
        </c:manualLayout>
      </c:layout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800">
          <a:latin typeface="+mn-lt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0.05086</cdr:x>
      <cdr:y>0.18269</cdr:y>
    </cdr:from>
    <cdr:to>
      <cdr:x>0.13819</cdr:x>
      <cdr:y>0.57312</cdr:y>
    </cdr:to>
    <cdr:sp macro="" textlink="">
      <cdr:nvSpPr>
        <cdr:cNvPr id="4" name="TextBox 3"/>
        <cdr:cNvSpPr txBox="1"/>
      </cdr:nvSpPr>
      <cdr:spPr>
        <a:xfrm xmlns:a="http://schemas.openxmlformats.org/drawingml/2006/main" rot="16200000">
          <a:off x="-215275" y="1875308"/>
          <a:ext cx="2409812" cy="91433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ctr" rtl="0"/>
          <a:r>
            <a:rPr lang="en-US" sz="1600" dirty="0"/>
            <a:t>Weighted damage per category  [ Euro/FU]</a:t>
          </a:r>
        </a:p>
        <a:p xmlns:a="http://schemas.openxmlformats.org/drawingml/2006/main">
          <a:endParaRPr lang="en-US" sz="1600" dirty="0"/>
        </a:p>
      </cdr:txBody>
    </cdr:sp>
  </cdr:relSizeAnchor>
  <cdr:relSizeAnchor xmlns:cdr="http://schemas.openxmlformats.org/drawingml/2006/chartDrawing">
    <cdr:from>
      <cdr:x>0.85652</cdr:x>
      <cdr:y>0.57537</cdr:y>
    </cdr:from>
    <cdr:to>
      <cdr:x>0.89702</cdr:x>
      <cdr:y>0.64103</cdr:y>
    </cdr:to>
    <cdr:sp macro="" textlink="">
      <cdr:nvSpPr>
        <cdr:cNvPr id="2" name="Rectangle 1"/>
        <cdr:cNvSpPr/>
      </cdr:nvSpPr>
      <cdr:spPr>
        <a:xfrm xmlns:a="http://schemas.openxmlformats.org/drawingml/2006/main">
          <a:off x="8967701" y="3551295"/>
          <a:ext cx="423949" cy="405245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1">
          <a:schemeClr val="accent1"/>
        </a:lnRef>
        <a:fillRef xmlns:a="http://schemas.openxmlformats.org/drawingml/2006/main" idx="3">
          <a:schemeClr val="accent1"/>
        </a:fillRef>
        <a:effectRef xmlns:a="http://schemas.openxmlformats.org/drawingml/2006/main" idx="2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D32C488-5493-244C-B1EB-F7CF3662E0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AD1453-9CD9-5640-A3F8-C0F3421BFA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623C7-AC5F-3A41-B4CB-88972659BBB1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A9942-DAC7-014E-98D2-7E2678599F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CB1E6-A261-2741-AFAE-436A65E0D5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C83E3-4C2A-B644-AB75-B8266C440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617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33527-EF9E-5940-92CE-307645268EE1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3DB68-E51C-0443-B8CE-2997CF470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93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97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67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34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62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959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94A1462-55F6-494B-8554-951DED06E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4544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806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notes (not to be 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581665" y="1301578"/>
            <a:ext cx="13007546" cy="58076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7414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27000">
              <a:srgbClr val="ECECEC"/>
            </a:gs>
            <a:gs pos="80000">
              <a:schemeClr val="bg1"/>
            </a:gs>
            <a:gs pos="2000">
              <a:schemeClr val="bg1">
                <a:lumMod val="50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F79A2DE-44A3-E846-BDE0-2432CDF19E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0"/>
            <a:ext cx="16271545" cy="7776028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0" y="7674428"/>
            <a:ext cx="16257588" cy="1469571"/>
          </a:xfrm>
          <a:prstGeom prst="rect">
            <a:avLst/>
          </a:prstGeom>
          <a:solidFill>
            <a:srgbClr val="00274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_SchoolPublicHealth_logo_white.png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9986" y="8007770"/>
            <a:ext cx="5372640" cy="76752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7623628"/>
            <a:ext cx="16257588" cy="15240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A01CEF-1B1A-0A48-82FA-0DF2D06BC503}"/>
              </a:ext>
            </a:extLst>
          </p:cNvPr>
          <p:cNvSpPr/>
          <p:nvPr userDrawn="1"/>
        </p:nvSpPr>
        <p:spPr>
          <a:xfrm>
            <a:off x="0" y="4767944"/>
            <a:ext cx="16257588" cy="2846366"/>
          </a:xfrm>
          <a:prstGeom prst="rect">
            <a:avLst/>
          </a:prstGeom>
          <a:gradFill flip="none" rotWithShape="1">
            <a:gsLst>
              <a:gs pos="100000">
                <a:srgbClr val="587ABC">
                  <a:lumMod val="74000"/>
                  <a:alpha val="55000"/>
                </a:srgbClr>
              </a:gs>
              <a:gs pos="0">
                <a:schemeClr val="bg1">
                  <a:lumMod val="95000"/>
                </a:schemeClr>
              </a:gs>
              <a:gs pos="66000">
                <a:srgbClr val="EEEEEE"/>
              </a:gs>
            </a:gsLst>
            <a:lin ang="12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F38555-B398-464F-9B4E-17CD401959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hq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4757918"/>
            <a:ext cx="12192001" cy="289111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F0919A-AFA5-E147-95FD-08292D7FF4FB}"/>
              </a:ext>
            </a:extLst>
          </p:cNvPr>
          <p:cNvCxnSpPr>
            <a:cxnSpLocks/>
          </p:cNvCxnSpPr>
          <p:nvPr userDrawn="1"/>
        </p:nvCxnSpPr>
        <p:spPr>
          <a:xfrm>
            <a:off x="0" y="6607960"/>
            <a:ext cx="10140043" cy="0"/>
          </a:xfrm>
          <a:prstGeom prst="line">
            <a:avLst/>
          </a:prstGeom>
          <a:ln w="38100">
            <a:solidFill>
              <a:srgbClr val="0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ED9A923-5028-2F43-A7E3-007357342122}"/>
              </a:ext>
            </a:extLst>
          </p:cNvPr>
          <p:cNvSpPr/>
          <p:nvPr userDrawn="1"/>
        </p:nvSpPr>
        <p:spPr>
          <a:xfrm>
            <a:off x="0" y="4550950"/>
            <a:ext cx="16257588" cy="224918"/>
          </a:xfrm>
          <a:prstGeom prst="rect">
            <a:avLst/>
          </a:prstGeom>
          <a:gradFill>
            <a:gsLst>
              <a:gs pos="63000">
                <a:schemeClr val="bg1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1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14631828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14631828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8E102-C795-3941-9125-C4D5BBD0193F}"/>
              </a:ext>
            </a:extLst>
          </p:cNvPr>
          <p:cNvSpPr/>
          <p:nvPr userDrawn="1"/>
        </p:nvSpPr>
        <p:spPr>
          <a:xfrm>
            <a:off x="0" y="0"/>
            <a:ext cx="16257588" cy="224918"/>
          </a:xfrm>
          <a:prstGeom prst="rect">
            <a:avLst/>
          </a:prstGeom>
          <a:gradFill>
            <a:gsLst>
              <a:gs pos="63000">
                <a:srgbClr val="00274C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45DA2-7C42-8445-AD00-272875B751FD}"/>
              </a:ext>
            </a:extLst>
          </p:cNvPr>
          <p:cNvCxnSpPr>
            <a:cxnSpLocks/>
          </p:cNvCxnSpPr>
          <p:nvPr userDrawn="1"/>
        </p:nvCxnSpPr>
        <p:spPr>
          <a:xfrm>
            <a:off x="1023582" y="1210794"/>
            <a:ext cx="14343797" cy="0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F1E5EF9-7466-AC4A-8B9B-8C26E6EB2668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E2D098-25F8-1B47-A897-734EE7598560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842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E75BEE-68E8-7E41-9537-113B0DA1B9A2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ABBCB0-652C-4D4B-9603-135F326E9486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3FF513C8-0BD3-FA4B-8D9A-FB9C21ECB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2599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9489860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9489860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5F1F8-1280-884E-8894-968C107F09E4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80828F-C4E5-CD4A-8C1F-761E9B421162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462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2084172" y="1066154"/>
            <a:ext cx="12002531" cy="580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	Edit Master text styles</a:t>
            </a:r>
          </a:p>
          <a:p>
            <a:pPr lvl="2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530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None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DCE93A83-2E66-F74F-A5CD-47D28E6C7BC3}"/>
              </a:ext>
            </a:extLst>
          </p:cNvPr>
          <p:cNvSpPr txBox="1">
            <a:spLocks/>
          </p:cNvSpPr>
          <p:nvPr/>
        </p:nvSpPr>
        <p:spPr>
          <a:xfrm>
            <a:off x="440871" y="5058674"/>
            <a:ext cx="14799129" cy="1282491"/>
          </a:xfrm>
          <a:prstGeom prst="rect">
            <a:avLst/>
          </a:prstGeom>
        </p:spPr>
        <p:txBody>
          <a:bodyPr anchor="t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5800" b="1" dirty="0"/>
              <a:t>Life Cycle Impact Assessment in practice</a:t>
            </a:r>
            <a:r>
              <a:rPr lang="en-US" sz="2800" b="1" dirty="0"/>
              <a:t/>
            </a:r>
            <a:br>
              <a:rPr lang="en-US" sz="2800" b="1" dirty="0"/>
            </a:br>
            <a:r>
              <a:rPr lang="en-US" altLang="en-US" sz="3900" b="1" dirty="0">
                <a:solidFill>
                  <a:schemeClr val="accent5"/>
                </a:solidFill>
              </a:rPr>
              <a:t>Car application: Part D W</a:t>
            </a:r>
            <a:r>
              <a:rPr lang="en-US" altLang="en-US" sz="4000" b="1" dirty="0">
                <a:solidFill>
                  <a:schemeClr val="accent5"/>
                </a:solidFill>
              </a:rPr>
              <a:t>eighting</a:t>
            </a:r>
            <a:endParaRPr lang="en-US" altLang="en-US" sz="3900" b="1" kern="0" dirty="0">
              <a:solidFill>
                <a:schemeClr val="accent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B5F09-AA9C-0C49-A705-E3ECF1BA7055}"/>
              </a:ext>
            </a:extLst>
          </p:cNvPr>
          <p:cNvSpPr txBox="1"/>
          <p:nvPr/>
        </p:nvSpPr>
        <p:spPr>
          <a:xfrm>
            <a:off x="440871" y="6790584"/>
            <a:ext cx="302198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Olivier Jolliet, PhD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88765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Learning Objectives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1C63FD6C-8B55-0A4A-A3F9-421E18D7D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0211" y="1596325"/>
            <a:ext cx="14630400" cy="6183824"/>
          </a:xfrm>
        </p:spPr>
        <p:txBody>
          <a:bodyPr>
            <a:normAutofit/>
          </a:bodyPr>
          <a:lstStyle/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dirty="0"/>
              <a:t>Define what is weighting in LCA</a:t>
            </a:r>
          </a:p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dirty="0"/>
              <a:t>Provide guideline for good practice in determining weighting factor</a:t>
            </a:r>
          </a:p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CA" dirty="0"/>
              <a:t>Apply weighting to the damage scores of the car case study</a:t>
            </a:r>
            <a:endParaRPr lang="en-US" dirty="0"/>
          </a:p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dirty="0"/>
              <a:t>Determine and interpret weighted impact scores</a:t>
            </a:r>
          </a:p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dirty="0"/>
              <a:t>Understand what can and cannot be summed up</a:t>
            </a:r>
          </a:p>
        </p:txBody>
      </p:sp>
    </p:spTree>
    <p:extLst>
      <p:ext uri="{BB962C8B-B14F-4D97-AF65-F5344CB8AC3E}">
        <p14:creationId xmlns:p14="http://schemas.microsoft.com/office/powerpoint/2010/main" val="2757499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46F7D-8D00-764F-85B3-05C58E7BA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2"/>
                </a:solidFill>
              </a:rPr>
              <a:t>Weighting – IMPACT World+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A25444C0-1221-684B-BB57-278B61279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7927" y="4836285"/>
            <a:ext cx="2778281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</a:rPr>
              <a:t>No official weights </a:t>
            </a:r>
            <a:br>
              <a:rPr lang="en-US" altLang="en-US" sz="2000" b="0" dirty="0">
                <a:solidFill>
                  <a:schemeClr val="tx2"/>
                </a:solidFill>
              </a:rPr>
            </a:br>
            <a:r>
              <a:rPr lang="en-US" altLang="en-US" sz="2000" b="0" dirty="0">
                <a:solidFill>
                  <a:schemeClr val="tx2"/>
                </a:solidFill>
              </a:rPr>
              <a:t>for </a:t>
            </a:r>
            <a:r>
              <a:rPr lang="en-US" altLang="en-US" sz="2000" b="0" dirty="0" err="1">
                <a:solidFill>
                  <a:schemeClr val="tx2"/>
                </a:solidFill>
              </a:rPr>
              <a:t>ImpactWorld</a:t>
            </a:r>
            <a:r>
              <a:rPr lang="en-US" altLang="en-US" sz="2000" b="0" dirty="0">
                <a:solidFill>
                  <a:schemeClr val="tx2"/>
                </a:solidFill>
              </a:rPr>
              <a:t>+: </a:t>
            </a:r>
            <a:br>
              <a:rPr lang="en-US" altLang="en-US" sz="2000" b="0" dirty="0">
                <a:solidFill>
                  <a:schemeClr val="tx2"/>
                </a:solidFill>
              </a:rPr>
            </a:br>
            <a:r>
              <a:rPr lang="en-US" altLang="en-US" sz="2000" b="0" dirty="0">
                <a:solidFill>
                  <a:schemeClr val="tx2"/>
                </a:solidFill>
              </a:rPr>
              <a:t>may use the weights from Stepwise for </a:t>
            </a:r>
            <a:br>
              <a:rPr lang="en-US" altLang="en-US" sz="2000" b="0" dirty="0">
                <a:solidFill>
                  <a:schemeClr val="tx2"/>
                </a:solidFill>
              </a:rPr>
            </a:br>
            <a:r>
              <a:rPr lang="en-US" altLang="en-US" sz="2000" b="0" dirty="0">
                <a:solidFill>
                  <a:schemeClr val="tx2"/>
                </a:solidFill>
              </a:rPr>
              <a:t>the different damage categories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2000" b="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altLang="en-US" sz="1400" b="0" i="1" dirty="0">
                <a:solidFill>
                  <a:schemeClr val="tx2"/>
                </a:solidFill>
              </a:rPr>
              <a:t>(</a:t>
            </a:r>
            <a:r>
              <a:rPr lang="en-US" altLang="en-US" sz="1400" b="0" i="1" dirty="0" err="1">
                <a:solidFill>
                  <a:schemeClr val="tx2"/>
                </a:solidFill>
              </a:rPr>
              <a:t>Weidema</a:t>
            </a:r>
            <a:r>
              <a:rPr lang="en-US" altLang="en-US" sz="1400" b="0" i="1" dirty="0">
                <a:solidFill>
                  <a:schemeClr val="tx2"/>
                </a:solidFill>
              </a:rPr>
              <a:t> et al., 2009)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34FAFCA-8662-D64B-8741-8893E43E9918}"/>
              </a:ext>
            </a:extLst>
          </p:cNvPr>
          <p:cNvSpPr/>
          <p:nvPr/>
        </p:nvSpPr>
        <p:spPr>
          <a:xfrm>
            <a:off x="1513115" y="1480077"/>
            <a:ext cx="277828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ts val="2400"/>
              </a:spcAft>
            </a:pPr>
            <a:r>
              <a:rPr lang="en-US" altLang="en-US" sz="2800" b="1" dirty="0">
                <a:solidFill>
                  <a:schemeClr val="accent6"/>
                </a:solidFill>
              </a:rPr>
              <a:t>Weighting: </a:t>
            </a:r>
            <a:r>
              <a:rPr lang="en-US" altLang="en-US" sz="2800" i="1" dirty="0">
                <a:solidFill>
                  <a:schemeClr val="accent6"/>
                </a:solidFill>
              </a:rPr>
              <a:t/>
            </a:r>
            <a:br>
              <a:rPr lang="en-US" altLang="en-US" sz="2800" i="1" dirty="0">
                <a:solidFill>
                  <a:schemeClr val="accent6"/>
                </a:solidFill>
              </a:rPr>
            </a:br>
            <a:r>
              <a:rPr lang="en-US" altLang="en-US" sz="2800" dirty="0">
                <a:solidFill>
                  <a:schemeClr val="tx2"/>
                </a:solidFill>
              </a:rPr>
              <a:t>Weight and </a:t>
            </a:r>
            <a:br>
              <a:rPr lang="en-US" altLang="en-US" sz="2800" dirty="0">
                <a:solidFill>
                  <a:schemeClr val="tx2"/>
                </a:solidFill>
              </a:rPr>
            </a:br>
            <a:r>
              <a:rPr lang="en-US" altLang="en-US" sz="2800" dirty="0">
                <a:solidFill>
                  <a:schemeClr val="tx2"/>
                </a:solidFill>
              </a:rPr>
              <a:t>compares the </a:t>
            </a:r>
            <a:br>
              <a:rPr lang="en-US" altLang="en-US" sz="2800" dirty="0">
                <a:solidFill>
                  <a:schemeClr val="tx2"/>
                </a:solidFill>
              </a:rPr>
            </a:br>
            <a:r>
              <a:rPr lang="en-US" altLang="en-US" sz="2800" dirty="0">
                <a:solidFill>
                  <a:schemeClr val="tx2"/>
                </a:solidFill>
              </a:rPr>
              <a:t>damage results </a:t>
            </a:r>
            <a:br>
              <a:rPr lang="en-US" altLang="en-US" sz="2800" dirty="0">
                <a:solidFill>
                  <a:schemeClr val="tx2"/>
                </a:solidFill>
              </a:rPr>
            </a:br>
            <a:r>
              <a:rPr lang="en-US" altLang="en-US" sz="2800" dirty="0">
                <a:solidFill>
                  <a:schemeClr val="tx2"/>
                </a:solidFill>
              </a:rPr>
              <a:t>based on social, </a:t>
            </a:r>
            <a:br>
              <a:rPr lang="en-US" altLang="en-US" sz="2800" dirty="0">
                <a:solidFill>
                  <a:schemeClr val="tx2"/>
                </a:solidFill>
              </a:rPr>
            </a:br>
            <a:r>
              <a:rPr lang="en-US" altLang="en-US" sz="2800" dirty="0">
                <a:solidFill>
                  <a:schemeClr val="tx2"/>
                </a:solidFill>
              </a:rPr>
              <a:t>political, and </a:t>
            </a:r>
            <a:br>
              <a:rPr lang="en-US" altLang="en-US" sz="2800" dirty="0">
                <a:solidFill>
                  <a:schemeClr val="tx2"/>
                </a:solidFill>
              </a:rPr>
            </a:br>
            <a:r>
              <a:rPr lang="en-US" altLang="en-US" sz="2800" dirty="0">
                <a:solidFill>
                  <a:schemeClr val="tx2"/>
                </a:solidFill>
              </a:rPr>
              <a:t>ethical values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D2909B2-CB46-174A-98EA-A462F759E8C2}"/>
              </a:ext>
            </a:extLst>
          </p:cNvPr>
          <p:cNvSpPr/>
          <p:nvPr/>
        </p:nvSpPr>
        <p:spPr>
          <a:xfrm>
            <a:off x="844614" y="1480077"/>
            <a:ext cx="578055" cy="544804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pic>
        <p:nvPicPr>
          <p:cNvPr id="35" name="Image 3">
            <a:extLst>
              <a:ext uri="{FF2B5EF4-FFF2-40B4-BE49-F238E27FC236}">
                <a16:creationId xmlns:a16="http://schemas.microsoft.com/office/drawing/2014/main" id="{9C9F7C9B-F677-3F45-B450-F4B2473294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" b="13754"/>
          <a:stretch/>
        </p:blipFill>
        <p:spPr bwMode="auto">
          <a:xfrm>
            <a:off x="4336206" y="1691091"/>
            <a:ext cx="7642159" cy="5618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D7484B8A-7B64-8745-86D1-8C44C6909932}"/>
              </a:ext>
            </a:extLst>
          </p:cNvPr>
          <p:cNvSpPr/>
          <p:nvPr/>
        </p:nvSpPr>
        <p:spPr>
          <a:xfrm>
            <a:off x="4616290" y="1345391"/>
            <a:ext cx="2963334" cy="5172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FC1DF43-39D9-8A4A-9AB4-3ECB56301AFC}"/>
              </a:ext>
            </a:extLst>
          </p:cNvPr>
          <p:cNvSpPr/>
          <p:nvPr/>
        </p:nvSpPr>
        <p:spPr>
          <a:xfrm>
            <a:off x="4616290" y="1853611"/>
            <a:ext cx="1032934" cy="5172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48D93D5-EADE-E843-A61C-534A5238213B}"/>
              </a:ext>
            </a:extLst>
          </p:cNvPr>
          <p:cNvSpPr/>
          <p:nvPr/>
        </p:nvSpPr>
        <p:spPr>
          <a:xfrm>
            <a:off x="12395473" y="3127194"/>
            <a:ext cx="1626121" cy="870384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6"/>
                </a:solidFill>
              </a:rPr>
              <a:t>Total damage </a:t>
            </a:r>
            <a:br>
              <a:rPr lang="en-US" sz="1600" dirty="0">
                <a:solidFill>
                  <a:schemeClr val="accent6"/>
                </a:solidFill>
              </a:rPr>
            </a:br>
            <a:r>
              <a:rPr lang="en-US" sz="1600" dirty="0">
                <a:solidFill>
                  <a:schemeClr val="accent6"/>
                </a:solidFill>
              </a:rPr>
              <a:t>human health </a:t>
            </a:r>
            <a:br>
              <a:rPr lang="en-US" sz="1600" dirty="0">
                <a:solidFill>
                  <a:schemeClr val="accent6"/>
                </a:solidFill>
              </a:rPr>
            </a:br>
            <a:r>
              <a:rPr lang="en-US" sz="1600" dirty="0">
                <a:solidFill>
                  <a:schemeClr val="accent6"/>
                </a:solidFill>
              </a:rPr>
              <a:t>$/FU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9D75AAE-2880-BA45-B52D-F2264E319F51}"/>
              </a:ext>
            </a:extLst>
          </p:cNvPr>
          <p:cNvCxnSpPr>
            <a:cxnSpLocks/>
          </p:cNvCxnSpPr>
          <p:nvPr/>
        </p:nvCxnSpPr>
        <p:spPr>
          <a:xfrm>
            <a:off x="11948385" y="3567996"/>
            <a:ext cx="391006" cy="0"/>
          </a:xfrm>
          <a:prstGeom prst="straightConnector1">
            <a:avLst/>
          </a:prstGeom>
          <a:ln>
            <a:solidFill>
              <a:schemeClr val="tx2"/>
            </a:solidFill>
            <a:headEnd type="none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C63ADC4-1A86-9147-A778-FBF71816FC4F}"/>
              </a:ext>
            </a:extLst>
          </p:cNvPr>
          <p:cNvSpPr txBox="1"/>
          <p:nvPr/>
        </p:nvSpPr>
        <p:spPr>
          <a:xfrm>
            <a:off x="12369371" y="1873563"/>
            <a:ext cx="18183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Total damage</a:t>
            </a:r>
            <a:br>
              <a:rPr lang="en-US" sz="2000" b="1" dirty="0">
                <a:solidFill>
                  <a:schemeClr val="tx2"/>
                </a:solidFill>
              </a:rPr>
            </a:br>
            <a:r>
              <a:rPr lang="en-US" sz="2000" b="1" dirty="0">
                <a:solidFill>
                  <a:schemeClr val="tx2"/>
                </a:solidFill>
              </a:rPr>
              <a:t>in $/FU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5F2991C-7AA4-DC4C-8D6E-7FDE54EDFAA9}"/>
              </a:ext>
            </a:extLst>
          </p:cNvPr>
          <p:cNvSpPr/>
          <p:nvPr/>
        </p:nvSpPr>
        <p:spPr>
          <a:xfrm>
            <a:off x="12384475" y="5391260"/>
            <a:ext cx="1636627" cy="1113699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6"/>
                </a:solidFill>
              </a:rPr>
              <a:t>Total damage </a:t>
            </a:r>
            <a:br>
              <a:rPr lang="en-US" sz="1600" dirty="0">
                <a:solidFill>
                  <a:schemeClr val="accent6"/>
                </a:solidFill>
              </a:rPr>
            </a:br>
            <a:r>
              <a:rPr lang="en-US" sz="1600" dirty="0">
                <a:solidFill>
                  <a:schemeClr val="accent6"/>
                </a:solidFill>
              </a:rPr>
              <a:t>natural resources</a:t>
            </a:r>
            <a:br>
              <a:rPr lang="en-US" sz="1600" dirty="0">
                <a:solidFill>
                  <a:schemeClr val="accent6"/>
                </a:solidFill>
              </a:rPr>
            </a:br>
            <a:r>
              <a:rPr lang="en-US" sz="1600" dirty="0">
                <a:solidFill>
                  <a:schemeClr val="accent6"/>
                </a:solidFill>
              </a:rPr>
              <a:t>$/FU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D1A13C5-CA2C-D349-8DA2-BB7ACE76D1B1}"/>
              </a:ext>
            </a:extLst>
          </p:cNvPr>
          <p:cNvCxnSpPr>
            <a:cxnSpLocks/>
          </p:cNvCxnSpPr>
          <p:nvPr/>
        </p:nvCxnSpPr>
        <p:spPr>
          <a:xfrm>
            <a:off x="11948385" y="4722238"/>
            <a:ext cx="391006" cy="0"/>
          </a:xfrm>
          <a:prstGeom prst="straightConnector1">
            <a:avLst/>
          </a:prstGeom>
          <a:ln>
            <a:solidFill>
              <a:schemeClr val="tx2"/>
            </a:solidFill>
            <a:headEnd type="none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B4D962D-02CB-824E-AF14-A719E0C4D9C0}"/>
              </a:ext>
            </a:extLst>
          </p:cNvPr>
          <p:cNvCxnSpPr>
            <a:cxnSpLocks/>
          </p:cNvCxnSpPr>
          <p:nvPr/>
        </p:nvCxnSpPr>
        <p:spPr>
          <a:xfrm>
            <a:off x="11948385" y="5876481"/>
            <a:ext cx="391006" cy="0"/>
          </a:xfrm>
          <a:prstGeom prst="straightConnector1">
            <a:avLst/>
          </a:prstGeom>
          <a:ln>
            <a:solidFill>
              <a:schemeClr val="tx2"/>
            </a:solidFill>
            <a:headEnd type="none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71B2924-2339-5E4A-AAF3-6E247EF2A151}"/>
              </a:ext>
            </a:extLst>
          </p:cNvPr>
          <p:cNvSpPr/>
          <p:nvPr/>
        </p:nvSpPr>
        <p:spPr>
          <a:xfrm>
            <a:off x="12395473" y="4296427"/>
            <a:ext cx="1626121" cy="870384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6"/>
                </a:solidFill>
              </a:rPr>
              <a:t>Total damage </a:t>
            </a:r>
            <a:br>
              <a:rPr lang="en-US" sz="1600" dirty="0">
                <a:solidFill>
                  <a:schemeClr val="accent6"/>
                </a:solidFill>
              </a:rPr>
            </a:br>
            <a:r>
              <a:rPr lang="en-US" sz="1600" dirty="0">
                <a:solidFill>
                  <a:schemeClr val="accent6"/>
                </a:solidFill>
              </a:rPr>
              <a:t>ecosystem</a:t>
            </a:r>
            <a:br>
              <a:rPr lang="en-US" sz="1600" dirty="0">
                <a:solidFill>
                  <a:schemeClr val="accent6"/>
                </a:solidFill>
              </a:rPr>
            </a:br>
            <a:r>
              <a:rPr lang="en-US" sz="1600" dirty="0">
                <a:solidFill>
                  <a:schemeClr val="accent6"/>
                </a:solidFill>
              </a:rPr>
              <a:t>$/FU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14504969-C67F-3247-A3FE-782D911FA201}"/>
              </a:ext>
            </a:extLst>
          </p:cNvPr>
          <p:cNvSpPr/>
          <p:nvPr/>
        </p:nvSpPr>
        <p:spPr>
          <a:xfrm>
            <a:off x="14470833" y="4296427"/>
            <a:ext cx="1027443" cy="870384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6"/>
                </a:solidFill>
              </a:rPr>
              <a:t>Single score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$/FU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2D9D485-7C60-8647-801F-F7481EA58CE3}"/>
              </a:ext>
            </a:extLst>
          </p:cNvPr>
          <p:cNvCxnSpPr>
            <a:cxnSpLocks/>
          </p:cNvCxnSpPr>
          <p:nvPr/>
        </p:nvCxnSpPr>
        <p:spPr>
          <a:xfrm>
            <a:off x="14061998" y="4722238"/>
            <a:ext cx="391006" cy="0"/>
          </a:xfrm>
          <a:prstGeom prst="straightConnector1">
            <a:avLst/>
          </a:prstGeom>
          <a:ln>
            <a:solidFill>
              <a:schemeClr val="tx2"/>
            </a:solidFill>
            <a:headEnd type="none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7FE5D00-12F2-0047-9180-92A5C131FC69}"/>
              </a:ext>
            </a:extLst>
          </p:cNvPr>
          <p:cNvCxnSpPr>
            <a:cxnSpLocks/>
            <a:endCxn id="51" idx="1"/>
          </p:cNvCxnSpPr>
          <p:nvPr/>
        </p:nvCxnSpPr>
        <p:spPr>
          <a:xfrm>
            <a:off x="14061998" y="3567996"/>
            <a:ext cx="408835" cy="1163623"/>
          </a:xfrm>
          <a:prstGeom prst="straightConnector1">
            <a:avLst/>
          </a:prstGeom>
          <a:ln>
            <a:solidFill>
              <a:schemeClr val="tx2"/>
            </a:solidFill>
            <a:headEnd type="none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FC0ED49-FAF8-8145-B4F0-DB057278063A}"/>
              </a:ext>
            </a:extLst>
          </p:cNvPr>
          <p:cNvCxnSpPr>
            <a:cxnSpLocks/>
          </p:cNvCxnSpPr>
          <p:nvPr/>
        </p:nvCxnSpPr>
        <p:spPr>
          <a:xfrm flipV="1">
            <a:off x="14061998" y="4722238"/>
            <a:ext cx="408835" cy="1163623"/>
          </a:xfrm>
          <a:prstGeom prst="straightConnector1">
            <a:avLst/>
          </a:prstGeom>
          <a:ln>
            <a:solidFill>
              <a:schemeClr val="tx2"/>
            </a:solidFill>
            <a:headEnd type="none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296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50437C7-CF5C-684F-8ACC-B319CB9DFA80}"/>
              </a:ext>
            </a:extLst>
          </p:cNvPr>
          <p:cNvSpPr/>
          <p:nvPr/>
        </p:nvSpPr>
        <p:spPr>
          <a:xfrm>
            <a:off x="1055871" y="4478216"/>
            <a:ext cx="14454740" cy="3048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D6BC5E-1E63-BD46-BF3F-A6435ADAF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Weighting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0992B12-D302-1F4D-A7DE-66B98376F607}"/>
              </a:ext>
            </a:extLst>
          </p:cNvPr>
          <p:cNvSpPr txBox="1">
            <a:spLocks noChangeArrowheads="1"/>
          </p:cNvSpPr>
          <p:nvPr/>
        </p:nvSpPr>
        <p:spPr>
          <a:xfrm>
            <a:off x="1055871" y="1414462"/>
            <a:ext cx="14454740" cy="3157538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rgbClr val="00274C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b="1" dirty="0">
                <a:solidFill>
                  <a:schemeClr val="tx2"/>
                </a:solidFill>
              </a:rPr>
              <a:t>Social values attributed to the different damages (endpoints) considered:</a:t>
            </a:r>
          </a:p>
          <a:p>
            <a:pPr>
              <a:buFontTx/>
              <a:buNone/>
            </a:pPr>
            <a:endParaRPr lang="en-US" altLang="en-US" sz="2400" dirty="0"/>
          </a:p>
          <a:p>
            <a:pPr lvl="1">
              <a:buClr>
                <a:schemeClr val="accent1"/>
              </a:buClr>
            </a:pPr>
            <a:r>
              <a:rPr lang="en-US" altLang="en-US" dirty="0">
                <a:solidFill>
                  <a:schemeClr val="tx2"/>
                </a:solidFill>
              </a:rPr>
              <a:t>A) Monetary methods (willingness to pay): transform impacts in costs</a:t>
            </a:r>
          </a:p>
          <a:p>
            <a:pPr lvl="1">
              <a:buClr>
                <a:schemeClr val="accent1"/>
              </a:buClr>
            </a:pPr>
            <a:r>
              <a:rPr lang="en-US" altLang="en-US" dirty="0">
                <a:solidFill>
                  <a:schemeClr val="tx2"/>
                </a:solidFill>
              </a:rPr>
              <a:t>B) Methods involving expert panels or interest groups</a:t>
            </a:r>
          </a:p>
          <a:p>
            <a:pPr lvl="1">
              <a:buClr>
                <a:schemeClr val="accent1"/>
              </a:buClr>
            </a:pPr>
            <a:r>
              <a:rPr lang="en-US" altLang="en-US" dirty="0">
                <a:solidFill>
                  <a:schemeClr val="tx2"/>
                </a:solidFill>
              </a:rPr>
              <a:t>C) Distance to target: Comparison to political 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598446-DA5D-124D-A4A9-018338668C6B}"/>
              </a:ext>
            </a:extLst>
          </p:cNvPr>
          <p:cNvSpPr/>
          <p:nvPr/>
        </p:nvSpPr>
        <p:spPr>
          <a:xfrm>
            <a:off x="1645404" y="4701498"/>
            <a:ext cx="1328615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en-US" b="1" dirty="0">
                <a:solidFill>
                  <a:schemeClr val="accent4"/>
                </a:solidFill>
              </a:rPr>
              <a:t>The way to set the problem is crucial: </a:t>
            </a:r>
            <a:r>
              <a:rPr lang="en-US" altLang="en-US" dirty="0">
                <a:solidFill>
                  <a:schemeClr val="tx2"/>
                </a:solidFill>
              </a:rPr>
              <a:t>Much easier to weight a damage than a pollutant quantity or the present level of a given effect; 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- Always define the absolute value of the damage you are comparing.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- Provide panel members with explicit references they can relate to (like total world impact </a:t>
            </a:r>
            <a:r>
              <a:rPr lang="en-US" altLang="en-US" dirty="0">
                <a:solidFill>
                  <a:schemeClr val="tx2"/>
                </a:solidFill>
                <a:sym typeface="Wingdings" panose="05000000000000000000" pitchFamily="2" charset="2"/>
              </a:rPr>
              <a:t> will weight normalized score – not the raw scores)</a:t>
            </a:r>
            <a:endParaRPr lang="en-US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248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FFC4C-0E73-1A43-BD23-B49CBB156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Monetarization: How weighted damage scores are calculated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E0FBC00-AD60-4041-B83F-F6FE6743838C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878783" y="1393351"/>
                <a:ext cx="14631828" cy="6669994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3200" kern="1200">
                    <a:solidFill>
                      <a:srgbClr val="00274C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 sz="2800" b="1" dirty="0">
                    <a:solidFill>
                      <a:schemeClr val="tx2"/>
                    </a:solidFill>
                  </a:rPr>
                  <a:t>The weighted damage score expresses the damage score into a monetary value:</a:t>
                </a:r>
              </a:p>
              <a:p>
                <a:pPr>
                  <a:buFontTx/>
                  <a:buNone/>
                </a:pPr>
                <a:endParaRPr lang="en-US" altLang="en-US" sz="1600" dirty="0"/>
              </a:p>
              <a:p>
                <a:r>
                  <a:rPr lang="en-US" altLang="en-US" sz="2800" dirty="0"/>
                  <a:t>Weighted damage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𝑤𝑒𝑖𝑔h𝑡𝑒𝑑</m:t>
                        </m:r>
                      </m:sup>
                    </m:sSup>
                    <m:r>
                      <a:rPr lang="en-US" altLang="en-US" sz="280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800" dirty="0"/>
                  <a:t>($/FU)</a:t>
                </a:r>
              </a:p>
              <a:p>
                <a:endParaRPr lang="en-US" altLang="en-US" sz="2800" dirty="0"/>
              </a:p>
              <a:p>
                <a:endParaRPr lang="en-US" altLang="en-US" dirty="0"/>
              </a:p>
              <a:p>
                <a:endParaRPr lang="en-US" altLang="en-US" dirty="0"/>
              </a:p>
              <a:p>
                <a:pPr>
                  <a:buFontTx/>
                  <a:buNone/>
                </a:pPr>
                <a:endParaRPr lang="en-US" altLang="en-US" dirty="0"/>
              </a:p>
              <a:p>
                <a:pPr>
                  <a:buFontTx/>
                  <a:buNone/>
                </a:pPr>
                <a:r>
                  <a:rPr lang="en-US" altLang="en-US" sz="2800" b="1" dirty="0"/>
                  <a:t>with:</a:t>
                </a:r>
              </a:p>
              <a:p>
                <a:pPr>
                  <a:buFontTx/>
                  <a:buNone/>
                </a:pPr>
                <a:r>
                  <a:rPr lang="en-US" altLang="en-US" sz="2800" i="1" dirty="0"/>
                  <a:t>w</a:t>
                </a:r>
                <a:r>
                  <a:rPr lang="en-US" altLang="en-US" sz="2800" i="1" baseline="-25000" dirty="0"/>
                  <a:t>d</a:t>
                </a:r>
                <a:r>
                  <a:rPr lang="en-US" altLang="en-US" sz="2800" i="1" dirty="0"/>
                  <a:t> </a:t>
                </a:r>
                <a:r>
                  <a:rPr lang="en-US" altLang="en-US" sz="2800" dirty="0"/>
                  <a:t>($/</a:t>
                </a:r>
                <a:r>
                  <a:rPr lang="en-US" altLang="en-US" sz="2800" dirty="0" err="1"/>
                  <a:t>unit</a:t>
                </a:r>
                <a:r>
                  <a:rPr lang="en-US" altLang="en-US" sz="2800" baseline="-25000" dirty="0" err="1"/>
                  <a:t>d</a:t>
                </a:r>
                <a:r>
                  <a:rPr lang="en-US" altLang="en-US" sz="2800" dirty="0"/>
                  <a:t>): cost or willingness to pay to avoid one unit damage, </a:t>
                </a:r>
                <a:br>
                  <a:rPr lang="en-US" altLang="en-US" sz="2800" dirty="0"/>
                </a:br>
                <a:r>
                  <a:rPr lang="en-US" altLang="en-US" sz="2800" dirty="0"/>
                  <a:t>derived from budget constraint</a:t>
                </a:r>
              </a:p>
              <a:p>
                <a:pPr>
                  <a:buFontTx/>
                  <a:buNone/>
                </a:pPr>
                <a:endParaRPr lang="en-US" altLang="en-US" sz="2800" dirty="0"/>
              </a:p>
              <a:p>
                <a:pPr>
                  <a:buFontTx/>
                  <a:buNone/>
                </a:pPr>
                <a:r>
                  <a:rPr lang="en-US" altLang="en-US" sz="2800" dirty="0" err="1"/>
                  <a:t>S</a:t>
                </a:r>
                <a:r>
                  <a:rPr lang="en-US" altLang="en-US" sz="2800" baseline="-25000" dirty="0" err="1"/>
                  <a:t>d</a:t>
                </a:r>
                <a:r>
                  <a:rPr lang="en-US" altLang="en-US" sz="2800" baseline="30000" dirty="0" err="1"/>
                  <a:t>damage</a:t>
                </a:r>
                <a:r>
                  <a:rPr lang="en-US" altLang="en-US" sz="2800" baseline="30000" dirty="0"/>
                  <a:t> </a:t>
                </a:r>
                <a:r>
                  <a:rPr lang="en-US" altLang="en-US" sz="2800" dirty="0"/>
                  <a:t>(</a:t>
                </a:r>
                <a:r>
                  <a:rPr lang="en-US" altLang="en-US" sz="2800" dirty="0" err="1"/>
                  <a:t>unit</a:t>
                </a:r>
                <a:r>
                  <a:rPr lang="en-US" altLang="en-US" sz="2800" baseline="-25000" dirty="0" err="1"/>
                  <a:t>d</a:t>
                </a:r>
                <a:r>
                  <a:rPr lang="en-US" altLang="en-US" sz="2800" dirty="0"/>
                  <a:t>/FU): damage score in impact category d</a:t>
                </a:r>
              </a:p>
              <a:p>
                <a:pPr>
                  <a:buFontTx/>
                  <a:buNone/>
                </a:pPr>
                <a:endParaRPr lang="en-US" altLang="en-US" sz="2800" dirty="0"/>
              </a:p>
              <a:p>
                <a:pPr>
                  <a:buFontTx/>
                  <a:buNone/>
                </a:pPr>
                <a:r>
                  <a:rPr lang="en-US" altLang="en-US" sz="2800" dirty="0"/>
                  <a:t>			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E0FBC00-AD60-4041-B83F-F6FE67438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783" y="1393351"/>
                <a:ext cx="14631828" cy="6669994"/>
              </a:xfrm>
              <a:prstGeom prst="rect">
                <a:avLst/>
              </a:prstGeom>
              <a:blipFill>
                <a:blip r:embed="rId2"/>
                <a:stretch>
                  <a:fillRect l="-867" t="-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E0C0D56-73AA-D94D-9341-75816094B072}"/>
                  </a:ext>
                </a:extLst>
              </p:cNvPr>
              <p:cNvSpPr/>
              <p:nvPr/>
            </p:nvSpPr>
            <p:spPr>
              <a:xfrm>
                <a:off x="878783" y="3433451"/>
                <a:ext cx="10584892" cy="9309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36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36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en-US" sz="36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𝑤𝑒𝑖𝑔h𝑡𝑒𝑑</m:t>
                        </m:r>
                      </m:sup>
                    </m:sSup>
                    <m:r>
                      <a:rPr lang="en-US" altLang="en-US" sz="36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en-US" sz="36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en-US" sz="36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en-US" sz="3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3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en-US" sz="3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en-US" sz="3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en-US" sz="3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en-US" sz="3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en-US" sz="3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en-US" sz="3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𝑑𝑎𝑚𝑎𝑔𝑒</m:t>
                            </m:r>
                          </m:sup>
                        </m:sSubSup>
                      </m:e>
                    </m:nary>
                    <m:d>
                      <m:dPr>
                        <m:ctrlPr>
                          <a:rPr lang="en-US" altLang="en-US" sz="36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36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en-US" sz="36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en-US" sz="36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en-US" sz="36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. </m:t>
                        </m:r>
                        <m:f>
                          <m:fPr>
                            <m:ctrlPr>
                              <a:rPr lang="en-US" altLang="en-US" sz="3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36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$</m:t>
                            </m:r>
                          </m:num>
                          <m:den>
                            <m:r>
                              <a:rPr lang="en-US" altLang="en-US" sz="3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𝐷𝐴𝐿𝑌</m:t>
                            </m:r>
                          </m:den>
                        </m:f>
                        <m:r>
                          <a:rPr lang="en-US" altLang="en-US" sz="36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en-US" sz="3600" i="1">
                                <a:solidFill>
                                  <a:srgbClr val="0027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3600" i="1">
                                <a:solidFill>
                                  <a:srgbClr val="00274C"/>
                                </a:solidFill>
                                <a:latin typeface="Cambria Math" panose="02040503050406030204" pitchFamily="18" charset="0"/>
                              </a:rPr>
                              <m:t>𝐷𝐴𝐿𝑌</m:t>
                            </m:r>
                          </m:num>
                          <m:den>
                            <m:r>
                              <a:rPr lang="en-US" altLang="en-US" sz="3600" i="1">
                                <a:solidFill>
                                  <a:srgbClr val="00274C"/>
                                </a:solidFill>
                                <a:latin typeface="Cambria Math" panose="02040503050406030204" pitchFamily="18" charset="0"/>
                              </a:rPr>
                              <m:t>𝐹𝑈</m:t>
                            </m:r>
                          </m:den>
                        </m:f>
                        <m:r>
                          <a:rPr lang="en-US" altLang="en-US" sz="36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en-US" sz="3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36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$</m:t>
                            </m:r>
                          </m:num>
                          <m:den>
                            <m:r>
                              <a:rPr lang="en-US" altLang="en-US" sz="36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𝐹𝑈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3600" dirty="0">
                    <a:solidFill>
                      <a:schemeClr val="tx2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E0C0D56-73AA-D94D-9341-75816094B0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783" y="3433451"/>
                <a:ext cx="10584892" cy="930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9">
            <a:extLst>
              <a:ext uri="{FF2B5EF4-FFF2-40B4-BE49-F238E27FC236}">
                <a16:creationId xmlns:a16="http://schemas.microsoft.com/office/drawing/2014/main" id="{196366D3-798E-2D48-A711-F4F17D3F0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3675" y="3031899"/>
            <a:ext cx="4275089" cy="214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667" dirty="0">
                <a:solidFill>
                  <a:schemeClr val="accent4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Also possible to keep </a:t>
            </a:r>
            <a:br>
              <a:rPr lang="en-US" altLang="en-US" sz="2667" dirty="0">
                <a:solidFill>
                  <a:schemeClr val="accent4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altLang="en-US" sz="2667" dirty="0">
                <a:solidFill>
                  <a:schemeClr val="accent4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the score for each impact category m or </a:t>
            </a:r>
            <a:br>
              <a:rPr lang="en-US" altLang="en-US" sz="2667" dirty="0">
                <a:solidFill>
                  <a:schemeClr val="accent4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altLang="en-US" sz="2667" dirty="0">
                <a:solidFill>
                  <a:schemeClr val="accent4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d separate </a:t>
            </a:r>
            <a:r>
              <a:rPr lang="en-US" altLang="en-US" sz="2667" b="0" dirty="0">
                <a:solidFill>
                  <a:schemeClr val="accent4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(do not sum </a:t>
            </a:r>
            <a:br>
              <a:rPr lang="en-US" altLang="en-US" sz="2667" b="0" dirty="0">
                <a:solidFill>
                  <a:schemeClr val="accent4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altLang="en-US" sz="2667" b="0" dirty="0">
                <a:solidFill>
                  <a:schemeClr val="accent4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over m or d)</a:t>
            </a:r>
          </a:p>
        </p:txBody>
      </p:sp>
    </p:spTree>
    <p:extLst>
      <p:ext uri="{BB962C8B-B14F-4D97-AF65-F5344CB8AC3E}">
        <p14:creationId xmlns:p14="http://schemas.microsoft.com/office/powerpoint/2010/main" val="1839024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081E0-7D05-7F43-B96A-B709F9058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Monetarization: Stepwise weighting factors (</a:t>
            </a:r>
            <a:r>
              <a:rPr lang="en-US" altLang="en-US" sz="4000" dirty="0" err="1"/>
              <a:t>Weidema</a:t>
            </a:r>
            <a:r>
              <a:rPr lang="en-US" altLang="en-US" sz="4000" dirty="0"/>
              <a:t>, 2009)</a:t>
            </a:r>
            <a:endParaRPr lang="en-US" sz="4000" dirty="0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A6C199C8-B1BE-7C4E-9FF7-B17AC9351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348689"/>
            <a:ext cx="1554017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600" b="0" dirty="0">
                <a:solidFill>
                  <a:schemeClr val="accent4"/>
                </a:solidFill>
              </a:rPr>
              <a:t>Stepwise weighting factors are compatible with IMPACT World+, derived from budget constraint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F19231-B47C-854B-A7F3-1426F16C31FE}"/>
              </a:ext>
            </a:extLst>
          </p:cNvPr>
          <p:cNvCxnSpPr>
            <a:cxnSpLocks/>
          </p:cNvCxnSpPr>
          <p:nvPr/>
        </p:nvCxnSpPr>
        <p:spPr>
          <a:xfrm>
            <a:off x="2065959" y="2003909"/>
            <a:ext cx="1157021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9E2758-8E4C-BB4C-A606-DA4DECB96696}"/>
              </a:ext>
            </a:extLst>
          </p:cNvPr>
          <p:cNvCxnSpPr>
            <a:cxnSpLocks/>
          </p:cNvCxnSpPr>
          <p:nvPr/>
        </p:nvCxnSpPr>
        <p:spPr>
          <a:xfrm>
            <a:off x="2065959" y="4299332"/>
            <a:ext cx="1157021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6D8796-8960-A844-BD2E-37F29D766068}"/>
              </a:ext>
            </a:extLst>
          </p:cNvPr>
          <p:cNvCxnSpPr>
            <a:cxnSpLocks/>
          </p:cNvCxnSpPr>
          <p:nvPr/>
        </p:nvCxnSpPr>
        <p:spPr>
          <a:xfrm>
            <a:off x="2065959" y="2530382"/>
            <a:ext cx="1157021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6">
            <a:extLst>
              <a:ext uri="{FF2B5EF4-FFF2-40B4-BE49-F238E27FC236}">
                <a16:creationId xmlns:a16="http://schemas.microsoft.com/office/drawing/2014/main" id="{D3C4D346-AE4C-9B47-A3FB-2FEC1BDAD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8882" y="2075617"/>
            <a:ext cx="270798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Weighting factors </a:t>
            </a:r>
            <a:r>
              <a:rPr lang="en-GB" altLang="en-US" sz="2000" dirty="0" err="1">
                <a:solidFill>
                  <a:schemeClr val="tx2"/>
                </a:solidFill>
              </a:rPr>
              <a:t>w</a:t>
            </a:r>
            <a:r>
              <a:rPr lang="en-GB" altLang="en-US" sz="2000" baseline="-25000" dirty="0" err="1">
                <a:solidFill>
                  <a:schemeClr val="tx2"/>
                </a:solidFill>
              </a:rPr>
              <a:t>k</a:t>
            </a:r>
            <a:endParaRPr lang="en-GB" altLang="en-US" sz="2000" baseline="-25000" dirty="0">
              <a:solidFill>
                <a:schemeClr val="tx2"/>
              </a:solidFill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507F1B69-803D-6D4B-B6B2-C16BBD825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7614" y="2050217"/>
            <a:ext cx="8258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Units</a:t>
            </a:r>
            <a:endParaRPr lang="en-GB" altLang="en-US" sz="2000" baseline="-25000" dirty="0">
              <a:solidFill>
                <a:schemeClr val="tx2"/>
              </a:solidFill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21C880E0-AB74-E049-85D2-1366436B5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547" y="2796054"/>
            <a:ext cx="243528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Human health</a:t>
            </a:r>
            <a:endParaRPr lang="en-GB" altLang="en-US" sz="2000" baseline="-250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spcAft>
                <a:spcPts val="1200"/>
              </a:spcAft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Ecosystem quality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Resources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B67429F1-D8F3-DC4C-9F37-9772294DF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2010" y="2796054"/>
            <a:ext cx="1864614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74000</a:t>
            </a:r>
            <a:endParaRPr lang="en-GB" altLang="en-US" sz="2000" baseline="-250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spcAft>
                <a:spcPts val="1200"/>
              </a:spcAft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0.14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0.0043 or 0.86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C9D63EB8-DD67-954F-841E-204A0DA4A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47680" y="2717987"/>
            <a:ext cx="239200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Euro/DALY</a:t>
            </a:r>
            <a:endParaRPr lang="en-GB" altLang="en-US" sz="2000" baseline="-250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spcAft>
                <a:spcPts val="1200"/>
              </a:spcAft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Euro/PDF.m</a:t>
            </a:r>
            <a:r>
              <a:rPr lang="en-GB" altLang="en-US" sz="2000" baseline="30000" dirty="0">
                <a:solidFill>
                  <a:schemeClr val="tx2"/>
                </a:solidFill>
              </a:rPr>
              <a:t>2</a:t>
            </a:r>
            <a:r>
              <a:rPr lang="en-GB" altLang="en-US" sz="2000" dirty="0">
                <a:solidFill>
                  <a:schemeClr val="tx2"/>
                </a:solidFill>
              </a:rPr>
              <a:t>.yr</a:t>
            </a:r>
            <a:endParaRPr lang="en-GB" altLang="en-US" sz="2000" baseline="300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spcAft>
                <a:spcPts val="1200"/>
              </a:spcAft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Euro/MJ or Euro/$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6AE2AE-951C-824A-BD8B-A297ADAC5B93}"/>
              </a:ext>
            </a:extLst>
          </p:cNvPr>
          <p:cNvSpPr/>
          <p:nvPr/>
        </p:nvSpPr>
        <p:spPr>
          <a:xfrm>
            <a:off x="1055871" y="5251266"/>
            <a:ext cx="14454740" cy="214123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BA8D6A37-40FC-3644-A29F-8D410A7CD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861" y="5453514"/>
            <a:ext cx="14319966" cy="1548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800" b="0" i="1" dirty="0">
                <a:solidFill>
                  <a:schemeClr val="tx2"/>
                </a:solidFill>
              </a:rPr>
              <a:t>The total human damage score for the steel panel was </a:t>
            </a:r>
            <a:r>
              <a:rPr lang="en-US" altLang="en-US" sz="2800" dirty="0">
                <a:solidFill>
                  <a:schemeClr val="tx2"/>
                </a:solidFill>
              </a:rPr>
              <a:t>0.00113 DALY/FU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solidFill>
                  <a:schemeClr val="tx2"/>
                </a:solidFill>
              </a:rPr>
              <a:t> </a:t>
            </a:r>
            <a:r>
              <a:rPr lang="en-US" altLang="en-US" sz="2800" b="0" dirty="0">
                <a:solidFill>
                  <a:schemeClr val="tx2"/>
                </a:solidFill>
              </a:rPr>
              <a:t>Calculate the weighted damage score for human health for the steel panel, with its units</a:t>
            </a:r>
          </a:p>
          <a:p>
            <a:pPr eaLnBrk="1" hangingPunct="1"/>
            <a:endParaRPr lang="en-US" altLang="en-US" sz="2800" dirty="0">
              <a:solidFill>
                <a:schemeClr val="tx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51B96F-0A10-4F49-AF42-8D545724E140}"/>
              </a:ext>
            </a:extLst>
          </p:cNvPr>
          <p:cNvSpPr/>
          <p:nvPr/>
        </p:nvSpPr>
        <p:spPr>
          <a:xfrm>
            <a:off x="2611861" y="7723442"/>
            <a:ext cx="1847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US" altLang="en-US" sz="28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BA8D6A37-40FC-3644-A29F-8D410A7CD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571" y="4516329"/>
            <a:ext cx="14629491" cy="918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800" b="0" i="1" dirty="0">
                <a:solidFill>
                  <a:schemeClr val="tx2"/>
                </a:solidFill>
              </a:rPr>
              <a:t>1 DALY on human health, equivalent to 74,000/0.14 = 530,000 pdf m</a:t>
            </a:r>
            <a:r>
              <a:rPr lang="en-US" altLang="en-US" sz="2800" b="0" i="1" baseline="30000" dirty="0">
                <a:solidFill>
                  <a:schemeClr val="tx2"/>
                </a:solidFill>
              </a:rPr>
              <a:t>2</a:t>
            </a:r>
            <a:r>
              <a:rPr lang="en-US" altLang="en-US" sz="2800" b="0" i="1" dirty="0">
                <a:solidFill>
                  <a:schemeClr val="tx2"/>
                </a:solidFill>
              </a:rPr>
              <a:t> year on ecosystems</a:t>
            </a:r>
            <a:endParaRPr lang="en-US" altLang="en-US" sz="2800" b="0" dirty="0">
              <a:solidFill>
                <a:schemeClr val="tx2"/>
              </a:solidFill>
            </a:endParaRPr>
          </a:p>
          <a:p>
            <a:pPr eaLnBrk="1" hangingPunct="1"/>
            <a:endParaRPr lang="en-US" altLang="en-US" sz="28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E0C0D56-73AA-D94D-9341-75816094B072}"/>
                  </a:ext>
                </a:extLst>
              </p:cNvPr>
              <p:cNvSpPr/>
              <p:nvPr/>
            </p:nvSpPr>
            <p:spPr>
              <a:xfrm>
                <a:off x="1068571" y="6652220"/>
                <a:ext cx="5620311" cy="4735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𝑤𝑒𝑖𝑔h𝑡𝑒𝑑</m:t>
                          </m:r>
                        </m:sup>
                      </m:sSup>
                      <m:r>
                        <a:rPr lang="en-US" altLang="en-US" sz="24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E0C0D56-73AA-D94D-9341-75816094B0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571" y="6652220"/>
                <a:ext cx="5620311" cy="4735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6525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081E0-7D05-7F43-B96A-B709F9058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782" y="272169"/>
            <a:ext cx="15378805" cy="870385"/>
          </a:xfrm>
        </p:spPr>
        <p:txBody>
          <a:bodyPr/>
          <a:lstStyle/>
          <a:p>
            <a:r>
              <a:rPr lang="en-US" altLang="en-US" sz="4000" dirty="0"/>
              <a:t>Monetarization: Stepwise weighting factors (</a:t>
            </a:r>
            <a:r>
              <a:rPr lang="en-US" altLang="en-US" sz="4000" dirty="0" err="1"/>
              <a:t>Weidema</a:t>
            </a:r>
            <a:r>
              <a:rPr lang="en-US" altLang="en-US" sz="4000" dirty="0"/>
              <a:t>, 2009)</a:t>
            </a:r>
            <a:endParaRPr lang="en-US" sz="4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6AE2AE-951C-824A-BD8B-A297ADAC5B93}"/>
              </a:ext>
            </a:extLst>
          </p:cNvPr>
          <p:cNvSpPr/>
          <p:nvPr/>
        </p:nvSpPr>
        <p:spPr>
          <a:xfrm>
            <a:off x="1055871" y="5251266"/>
            <a:ext cx="14454740" cy="214123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BA8D6A37-40FC-3644-A29F-8D410A7CD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861" y="5453514"/>
            <a:ext cx="14319966" cy="1548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800" b="0" i="1" dirty="0">
                <a:solidFill>
                  <a:schemeClr val="tx2"/>
                </a:solidFill>
              </a:rPr>
              <a:t>The total human damage score for the steel panel was </a:t>
            </a:r>
            <a:r>
              <a:rPr lang="en-US" altLang="en-US" sz="2800" dirty="0">
                <a:solidFill>
                  <a:schemeClr val="tx2"/>
                </a:solidFill>
              </a:rPr>
              <a:t>0.00113 DALY/FU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solidFill>
                  <a:schemeClr val="tx2"/>
                </a:solidFill>
              </a:rPr>
              <a:t> </a:t>
            </a:r>
            <a:r>
              <a:rPr lang="en-US" altLang="en-US" sz="2800" b="0" dirty="0">
                <a:solidFill>
                  <a:schemeClr val="tx2"/>
                </a:solidFill>
              </a:rPr>
              <a:t>Calculate the weighted damage score for human health for the steel panel, with its units</a:t>
            </a:r>
          </a:p>
          <a:p>
            <a:pPr eaLnBrk="1" hangingPunct="1"/>
            <a:endParaRPr lang="en-US" altLang="en-US" sz="2800" dirty="0">
              <a:solidFill>
                <a:schemeClr val="tx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51B96F-0A10-4F49-AF42-8D545724E140}"/>
              </a:ext>
            </a:extLst>
          </p:cNvPr>
          <p:cNvSpPr/>
          <p:nvPr/>
        </p:nvSpPr>
        <p:spPr>
          <a:xfrm>
            <a:off x="2611861" y="7723442"/>
            <a:ext cx="1847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US" altLang="en-US" sz="28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E0C0D56-73AA-D94D-9341-75816094B072}"/>
                  </a:ext>
                </a:extLst>
              </p:cNvPr>
              <p:cNvSpPr/>
              <p:nvPr/>
            </p:nvSpPr>
            <p:spPr>
              <a:xfrm>
                <a:off x="3661750" y="6469231"/>
                <a:ext cx="7436987" cy="8086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0.00113</m:t>
                      </m:r>
                      <m:f>
                        <m:fPr>
                          <m:ctrlPr>
                            <a:rPr lang="en-US" altLang="en-US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𝐷𝐴𝐿𝑌</m:t>
                          </m:r>
                        </m:num>
                        <m:den>
                          <m:r>
                            <a:rPr lang="en-US" altLang="en-US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𝐹𝑈</m:t>
                          </m:r>
                        </m:den>
                      </m:f>
                      <m:r>
                        <a:rPr lang="en-US" altLang="en-US" sz="2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∙74000</m:t>
                      </m:r>
                      <m:f>
                        <m:fPr>
                          <m:ctrlPr>
                            <a:rPr lang="en-US" altLang="en-US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𝐸𝑢𝑟𝑜</m:t>
                          </m:r>
                        </m:num>
                        <m:den>
                          <m:r>
                            <a:rPr lang="en-US" altLang="en-US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𝐷𝐴𝐿𝑌</m:t>
                          </m:r>
                        </m:den>
                      </m:f>
                      <m:r>
                        <a:rPr lang="en-US" altLang="en-US" sz="2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84 </m:t>
                      </m:r>
                      <m:f>
                        <m:fPr>
                          <m:ctrlPr>
                            <a:rPr lang="en-US" altLang="en-US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𝐸𝑢𝑟𝑜</m:t>
                          </m:r>
                        </m:num>
                        <m:den>
                          <m:r>
                            <a:rPr lang="en-US" altLang="en-US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𝐹𝑈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E0C0D56-73AA-D94D-9341-75816094B0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750" y="6469231"/>
                <a:ext cx="7436987" cy="808619"/>
              </a:xfrm>
              <a:prstGeom prst="rect">
                <a:avLst/>
              </a:prstGeom>
              <a:blipFill>
                <a:blip r:embed="rId2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3">
            <a:extLst>
              <a:ext uri="{FF2B5EF4-FFF2-40B4-BE49-F238E27FC236}">
                <a16:creationId xmlns:a16="http://schemas.microsoft.com/office/drawing/2014/main" id="{C41FC0FF-69D7-F546-B7E5-4F318AD20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348689"/>
            <a:ext cx="1554017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600" b="0" dirty="0">
                <a:solidFill>
                  <a:schemeClr val="accent4"/>
                </a:solidFill>
              </a:rPr>
              <a:t>Stepwise weighting factors are compatible with IMPACT World+, derived from budget constraint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D566E53-8755-4E4B-AF4A-A9C40AF218CC}"/>
              </a:ext>
            </a:extLst>
          </p:cNvPr>
          <p:cNvCxnSpPr>
            <a:cxnSpLocks/>
          </p:cNvCxnSpPr>
          <p:nvPr/>
        </p:nvCxnSpPr>
        <p:spPr>
          <a:xfrm>
            <a:off x="2065959" y="2003909"/>
            <a:ext cx="1157021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510E397-F07F-C546-9117-DDF6C49CD4B8}"/>
              </a:ext>
            </a:extLst>
          </p:cNvPr>
          <p:cNvCxnSpPr>
            <a:cxnSpLocks/>
          </p:cNvCxnSpPr>
          <p:nvPr/>
        </p:nvCxnSpPr>
        <p:spPr>
          <a:xfrm>
            <a:off x="2065959" y="4299332"/>
            <a:ext cx="1157021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17933A0-B086-EE42-A2F2-4DE88EF554B0}"/>
              </a:ext>
            </a:extLst>
          </p:cNvPr>
          <p:cNvCxnSpPr>
            <a:cxnSpLocks/>
          </p:cNvCxnSpPr>
          <p:nvPr/>
        </p:nvCxnSpPr>
        <p:spPr>
          <a:xfrm>
            <a:off x="2065959" y="2530382"/>
            <a:ext cx="1157021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6">
            <a:extLst>
              <a:ext uri="{FF2B5EF4-FFF2-40B4-BE49-F238E27FC236}">
                <a16:creationId xmlns:a16="http://schemas.microsoft.com/office/drawing/2014/main" id="{D1A8E781-D8B1-7742-8A0B-ED511248A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8882" y="2075617"/>
            <a:ext cx="270798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Weighting factors </a:t>
            </a:r>
            <a:r>
              <a:rPr lang="en-GB" altLang="en-US" sz="2000" dirty="0" err="1">
                <a:solidFill>
                  <a:schemeClr val="tx2"/>
                </a:solidFill>
              </a:rPr>
              <a:t>w</a:t>
            </a:r>
            <a:r>
              <a:rPr lang="en-GB" altLang="en-US" sz="2000" baseline="-25000" dirty="0" err="1">
                <a:solidFill>
                  <a:schemeClr val="tx2"/>
                </a:solidFill>
              </a:rPr>
              <a:t>k</a:t>
            </a:r>
            <a:endParaRPr lang="en-GB" altLang="en-US" sz="2000" baseline="-25000" dirty="0">
              <a:solidFill>
                <a:schemeClr val="tx2"/>
              </a:solidFill>
            </a:endParaRP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104D648E-C328-0E41-8A14-E802BE474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7614" y="2050217"/>
            <a:ext cx="8258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Units</a:t>
            </a:r>
            <a:endParaRPr lang="en-GB" altLang="en-US" sz="2000" baseline="-25000" dirty="0">
              <a:solidFill>
                <a:schemeClr val="tx2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AEDE22B7-EBB9-D247-AFEE-DE390D064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547" y="2796054"/>
            <a:ext cx="243528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Human health</a:t>
            </a:r>
            <a:endParaRPr lang="en-GB" altLang="en-US" sz="2000" baseline="-250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spcAft>
                <a:spcPts val="1200"/>
              </a:spcAft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Ecosystem quality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Resources</a:t>
            </a: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37069531-566A-654A-92DC-ABF4D0FE3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2010" y="2796054"/>
            <a:ext cx="1864614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74000</a:t>
            </a:r>
            <a:endParaRPr lang="en-GB" altLang="en-US" sz="2000" baseline="-250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spcAft>
                <a:spcPts val="1200"/>
              </a:spcAft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0.14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0.0043 or 0.86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95F38012-560F-0943-96D8-38EF87C9E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47680" y="2717987"/>
            <a:ext cx="239200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Euro/DALY</a:t>
            </a:r>
            <a:endParaRPr lang="en-GB" altLang="en-US" sz="2000" baseline="-250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spcAft>
                <a:spcPts val="1200"/>
              </a:spcAft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Euro/PDF.m</a:t>
            </a:r>
            <a:r>
              <a:rPr lang="en-GB" altLang="en-US" sz="2000" baseline="30000" dirty="0">
                <a:solidFill>
                  <a:schemeClr val="tx2"/>
                </a:solidFill>
              </a:rPr>
              <a:t>2</a:t>
            </a:r>
            <a:r>
              <a:rPr lang="en-GB" altLang="en-US" sz="2000" dirty="0">
                <a:solidFill>
                  <a:schemeClr val="tx2"/>
                </a:solidFill>
              </a:rPr>
              <a:t>.yr</a:t>
            </a:r>
            <a:endParaRPr lang="en-GB" altLang="en-US" sz="2000" baseline="300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spcAft>
                <a:spcPts val="1200"/>
              </a:spcAft>
              <a:buClrTx/>
              <a:buFontTx/>
              <a:buNone/>
            </a:pPr>
            <a:r>
              <a:rPr lang="en-GB" altLang="en-US" sz="2000" dirty="0">
                <a:solidFill>
                  <a:schemeClr val="tx2"/>
                </a:solidFill>
              </a:rPr>
              <a:t>Euro/MJ or Euro/$</a:t>
            </a:r>
          </a:p>
        </p:txBody>
      </p:sp>
      <p:sp>
        <p:nvSpPr>
          <p:cNvPr id="30" name="Rectangle 5">
            <a:extLst>
              <a:ext uri="{FF2B5EF4-FFF2-40B4-BE49-F238E27FC236}">
                <a16:creationId xmlns:a16="http://schemas.microsoft.com/office/drawing/2014/main" id="{9C636166-C120-344F-80C0-FF8E4E562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571" y="4516329"/>
            <a:ext cx="14629491" cy="918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800" b="0" i="1" dirty="0">
                <a:solidFill>
                  <a:schemeClr val="tx2"/>
                </a:solidFill>
              </a:rPr>
              <a:t>1 DALY on human health, equivalent to 74,000/0.14 = 530,000 pdf m</a:t>
            </a:r>
            <a:r>
              <a:rPr lang="en-US" altLang="en-US" sz="2800" b="0" i="1" baseline="30000" dirty="0">
                <a:solidFill>
                  <a:schemeClr val="tx2"/>
                </a:solidFill>
              </a:rPr>
              <a:t>2</a:t>
            </a:r>
            <a:r>
              <a:rPr lang="en-US" altLang="en-US" sz="2800" b="0" i="1" dirty="0">
                <a:solidFill>
                  <a:schemeClr val="tx2"/>
                </a:solidFill>
              </a:rPr>
              <a:t> year on ecosystems</a:t>
            </a:r>
            <a:endParaRPr lang="en-US" altLang="en-US" sz="2800" b="0" dirty="0">
              <a:solidFill>
                <a:schemeClr val="tx2"/>
              </a:solidFill>
            </a:endParaRPr>
          </a:p>
          <a:p>
            <a:pPr eaLnBrk="1" hangingPunct="1"/>
            <a:endParaRPr lang="en-US" altLang="en-US" sz="28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661C9F3-1A09-934A-847D-48F31EA05CFF}"/>
                  </a:ext>
                </a:extLst>
              </p:cNvPr>
              <p:cNvSpPr/>
              <p:nvPr/>
            </p:nvSpPr>
            <p:spPr>
              <a:xfrm>
                <a:off x="1068571" y="6652220"/>
                <a:ext cx="5620311" cy="4735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𝑤𝑒𝑖𝑔h𝑡𝑒𝑑</m:t>
                          </m:r>
                        </m:sup>
                      </m:sSup>
                      <m:r>
                        <a:rPr lang="en-US" altLang="en-US" sz="24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661C9F3-1A09-934A-847D-48F31EA05C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571" y="6652220"/>
                <a:ext cx="5620311" cy="4735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5257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F795-3235-D747-AA10-919DEDB6A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Weighted score per impact category m - Front end panel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61067A-28C9-7B46-A6CA-819A7C6D863A}"/>
              </a:ext>
            </a:extLst>
          </p:cNvPr>
          <p:cNvSpPr txBox="1">
            <a:spLocks/>
          </p:cNvSpPr>
          <p:nvPr/>
        </p:nvSpPr>
        <p:spPr>
          <a:xfrm>
            <a:off x="931335" y="2206622"/>
            <a:ext cx="2697734" cy="31625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274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i="1" dirty="0">
                <a:solidFill>
                  <a:schemeClr val="accent4"/>
                </a:solidFill>
              </a:rPr>
              <a:t>LCIA does </a:t>
            </a:r>
            <a:br>
              <a:rPr lang="en-US" altLang="en-US" sz="2800" i="1" dirty="0">
                <a:solidFill>
                  <a:schemeClr val="accent4"/>
                </a:solidFill>
              </a:rPr>
            </a:br>
            <a:r>
              <a:rPr lang="en-US" altLang="en-US" sz="2800" i="1" dirty="0">
                <a:solidFill>
                  <a:schemeClr val="accent4"/>
                </a:solidFill>
              </a:rPr>
              <a:t>not necessary </a:t>
            </a:r>
            <a:br>
              <a:rPr lang="en-US" altLang="en-US" sz="2800" i="1" dirty="0">
                <a:solidFill>
                  <a:schemeClr val="accent4"/>
                </a:solidFill>
              </a:rPr>
            </a:br>
            <a:r>
              <a:rPr lang="en-US" altLang="en-US" sz="2800" i="1" dirty="0">
                <a:solidFill>
                  <a:schemeClr val="accent4"/>
                </a:solidFill>
              </a:rPr>
              <a:t>lead to a single score, but aims to make apple and elephants comparable</a:t>
            </a: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4827650"/>
              </p:ext>
            </p:extLst>
          </p:nvPr>
        </p:nvGraphicFramePr>
        <p:xfrm>
          <a:off x="3021329" y="1501140"/>
          <a:ext cx="12489282" cy="7025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58996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BEA22-8C71-DA41-AF1F-F920B57C1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IMPACT World+ &amp; Stepwise weighting - Front end panel</a:t>
            </a:r>
            <a:endParaRPr lang="en-US"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3218180"/>
              </p:ext>
            </p:extLst>
          </p:nvPr>
        </p:nvGraphicFramePr>
        <p:xfrm>
          <a:off x="2195776" y="1509183"/>
          <a:ext cx="11494823" cy="5374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13">
            <a:extLst>
              <a:ext uri="{FF2B5EF4-FFF2-40B4-BE49-F238E27FC236}">
                <a16:creationId xmlns:a16="http://schemas.microsoft.com/office/drawing/2014/main" id="{47425A4C-F3FD-344E-AE1C-3F8604CC9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0849" y="6375568"/>
            <a:ext cx="332428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00274C"/>
                </a:solidFill>
              </a:rPr>
              <a:t>Error bars: Final scores when including impacts occurring after 100 years</a:t>
            </a:r>
          </a:p>
        </p:txBody>
      </p:sp>
    </p:spTree>
    <p:extLst>
      <p:ext uri="{BB962C8B-B14F-4D97-AF65-F5344CB8AC3E}">
        <p14:creationId xmlns:p14="http://schemas.microsoft.com/office/powerpoint/2010/main" val="4263448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1BF7E1-CC0A-A84A-B67B-55FE0ED50D82}"/>
              </a:ext>
            </a:extLst>
          </p:cNvPr>
          <p:cNvSpPr/>
          <p:nvPr/>
        </p:nvSpPr>
        <p:spPr>
          <a:xfrm>
            <a:off x="10135420" y="2372910"/>
            <a:ext cx="5375191" cy="213864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344045-FEB5-B849-8172-C67C3F408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 in relative weighting across </a:t>
            </a:r>
            <a:r>
              <a:rPr lang="en-US" dirty="0" err="1"/>
              <a:t>AoP</a:t>
            </a:r>
            <a:r>
              <a:rPr lang="en-US" dirty="0"/>
              <a:t> for 19 countries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8B9370-EB98-1E49-AE82-BE671E26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00" y="2250008"/>
            <a:ext cx="9208107" cy="55017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1B854AF-62C9-4F4D-A33B-833E9D52DE06}"/>
              </a:ext>
            </a:extLst>
          </p:cNvPr>
          <p:cNvSpPr/>
          <p:nvPr/>
        </p:nvSpPr>
        <p:spPr>
          <a:xfrm>
            <a:off x="10508467" y="2534289"/>
            <a:ext cx="485360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comparison of</a:t>
            </a:r>
          </a:p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weighting factors normalized </a:t>
            </a:r>
            <a:b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ensure the total sum of </a:t>
            </a:r>
            <a:b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using conjoint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AC384E-3A1A-2D43-9372-6E68C2EFD62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7674" y="4594455"/>
            <a:ext cx="5375191" cy="30512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B4EA02D-552D-5B49-B54F-58BC4292FD14}"/>
              </a:ext>
            </a:extLst>
          </p:cNvPr>
          <p:cNvSpPr/>
          <p:nvPr/>
        </p:nvSpPr>
        <p:spPr>
          <a:xfrm>
            <a:off x="3763685" y="7488218"/>
            <a:ext cx="59884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gjdmwGkxrqpAdvTT3713a231"/>
              </a:rPr>
              <a:t>= resources &amp; fuels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7D11C5-5516-114E-93F4-FB0831F36A97}"/>
              </a:ext>
            </a:extLst>
          </p:cNvPr>
          <p:cNvSpPr/>
          <p:nvPr/>
        </p:nvSpPr>
        <p:spPr>
          <a:xfrm>
            <a:off x="14230829" y="7420846"/>
            <a:ext cx="16065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Itsubo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al., 2018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CD4FBF35-437D-944B-9E84-EBB77146C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09" y="1361227"/>
            <a:ext cx="15049958" cy="7694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ts val="1000"/>
              </a:spcBef>
              <a:spcAft>
                <a:spcPts val="1000"/>
              </a:spcAft>
              <a:buClrTx/>
              <a:buFontTx/>
              <a:buNone/>
            </a:pPr>
            <a:r>
              <a:rPr lang="en-US" altLang="en-US" sz="2200" b="0" dirty="0">
                <a:solidFill>
                  <a:schemeClr val="bg1"/>
                </a:solidFill>
              </a:rPr>
              <a:t>Weighting of the Japanese method LIME 3 will be of high interest once available at world level. Inhabitants of </a:t>
            </a:r>
            <a:br>
              <a:rPr lang="en-US" altLang="en-US" sz="2200" b="0" dirty="0">
                <a:solidFill>
                  <a:schemeClr val="bg1"/>
                </a:solidFill>
              </a:rPr>
            </a:br>
            <a:r>
              <a:rPr lang="en-US" altLang="en-US" sz="2200" b="0" dirty="0">
                <a:solidFill>
                  <a:schemeClr val="bg1"/>
                </a:solidFill>
              </a:rPr>
              <a:t>developed country tend to give more weight to ecosystem impacts, developing countries to human health.</a:t>
            </a:r>
          </a:p>
        </p:txBody>
      </p:sp>
    </p:spTree>
    <p:extLst>
      <p:ext uri="{BB962C8B-B14F-4D97-AF65-F5344CB8AC3E}">
        <p14:creationId xmlns:p14="http://schemas.microsoft.com/office/powerpoint/2010/main" val="2742776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BF193-852E-3842-8F81-6203A9C19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F79F4F-4ABD-534F-BC8D-B3FF957D3603}"/>
              </a:ext>
            </a:extLst>
          </p:cNvPr>
          <p:cNvSpPr/>
          <p:nvPr/>
        </p:nvSpPr>
        <p:spPr>
          <a:xfrm>
            <a:off x="972567" y="1524286"/>
            <a:ext cx="1421778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 also allows “</a:t>
            </a: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Grouping</a:t>
            </a: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as a qualitative or semi-quantitative process that helps prioritize results by sorting or ranking, and can be done in several ways.</a:t>
            </a:r>
          </a:p>
          <a:p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Impact categories can be grouped according to </a:t>
            </a:r>
          </a:p>
          <a:p>
            <a:pPr marL="1270010" lvl="1" indent="-45720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 of protection, </a:t>
            </a:r>
          </a:p>
          <a:p>
            <a:pPr marL="1270010" lvl="1" indent="-45720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types of emissions/resources, </a:t>
            </a:r>
          </a:p>
          <a:p>
            <a:pPr marL="1270010" lvl="1" indent="-45720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by spatial scale (global, regional, or local). </a:t>
            </a:r>
          </a:p>
          <a:p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categories can also be ranked based on a predefined hierarchy; </a:t>
            </a:r>
            <a:b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example, high, medium, and low priority. This second procedure is based on value choices that reflect the importance given by society or the user to </a:t>
            </a:r>
            <a:b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particular category.</a:t>
            </a:r>
          </a:p>
        </p:txBody>
      </p:sp>
    </p:spTree>
    <p:extLst>
      <p:ext uri="{BB962C8B-B14F-4D97-AF65-F5344CB8AC3E}">
        <p14:creationId xmlns:p14="http://schemas.microsoft.com/office/powerpoint/2010/main" val="1819421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/>
              <a:t>Summary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860404C-E3DD-DB44-9F60-421612D670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0211" y="1579559"/>
            <a:ext cx="14630400" cy="5944272"/>
          </a:xfrm>
        </p:spPr>
        <p:txBody>
          <a:bodyPr>
            <a:noAutofit/>
          </a:bodyPr>
          <a:lstStyle/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>
                <a:solidFill>
                  <a:schemeClr val="tx2"/>
                </a:solidFill>
              </a:rPr>
              <a:t>Weighting enables </a:t>
            </a:r>
            <a:r>
              <a:rPr lang="en-CA" dirty="0"/>
              <a:t>comparison </a:t>
            </a:r>
            <a:r>
              <a:rPr lang="en-US" altLang="en-US" dirty="0">
                <a:solidFill>
                  <a:schemeClr val="tx2"/>
                </a:solidFill>
              </a:rPr>
              <a:t>results across areas of protection, 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based on e.g. monetarization and conjoint analysis</a:t>
            </a:r>
          </a:p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>
                <a:solidFill>
                  <a:schemeClr val="tx2"/>
                </a:solidFill>
              </a:rPr>
              <a:t>Not necessarily needs to arrive to a single score, can keep impacts 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separate per impact category, prioritizing the high impacts.</a:t>
            </a:r>
          </a:p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>
                <a:solidFill>
                  <a:schemeClr val="tx2"/>
                </a:solidFill>
              </a:rPr>
              <a:t>The Life Cycle Initiative develops default consistent weights at 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midpoint &amp; damage</a:t>
            </a:r>
          </a:p>
        </p:txBody>
      </p:sp>
    </p:spTree>
    <p:extLst>
      <p:ext uri="{BB962C8B-B14F-4D97-AF65-F5344CB8AC3E}">
        <p14:creationId xmlns:p14="http://schemas.microsoft.com/office/powerpoint/2010/main" val="3416137914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 2">
  <a:themeElements>
    <a:clrScheme name="SPH brand colors">
      <a:dk1>
        <a:srgbClr val="00274C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Notes (not to be shown in video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AI_PPT_Template_2.potx</Template>
  <TotalTime>19252</TotalTime>
  <Words>925</Words>
  <Application>Microsoft Office PowerPoint</Application>
  <PresentationFormat>Custom</PresentationFormat>
  <Paragraphs>106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Arial</vt:lpstr>
      <vt:lpstr>Arial Bold</vt:lpstr>
      <vt:lpstr>Calibri</vt:lpstr>
      <vt:lpstr>Cambria Math</vt:lpstr>
      <vt:lpstr>Courier New</vt:lpstr>
      <vt:lpstr>SgjdmwGkxrqpAdvTT3713a231</vt:lpstr>
      <vt:lpstr>Times New Roman</vt:lpstr>
      <vt:lpstr>Wingdings</vt:lpstr>
      <vt:lpstr>Title slide option 2</vt:lpstr>
      <vt:lpstr>Content slide (shown in video)</vt:lpstr>
      <vt:lpstr>2_Content slide (shown in video)</vt:lpstr>
      <vt:lpstr>3_Content slide (shown in video)</vt:lpstr>
      <vt:lpstr>Notes (not to be shown in video)</vt:lpstr>
      <vt:lpstr>PowerPoint Presentation</vt:lpstr>
      <vt:lpstr>Learning Objectives</vt:lpstr>
      <vt:lpstr>Weighting – IMPACT World+</vt:lpstr>
      <vt:lpstr>Weighting</vt:lpstr>
      <vt:lpstr>Monetarization: How weighted damage scores are calculated</vt:lpstr>
      <vt:lpstr>Monetarization: Stepwise weighting factors (Weidema, 2009)</vt:lpstr>
      <vt:lpstr>Monetarization: Stepwise weighting factors (Weidema, 2009)</vt:lpstr>
      <vt:lpstr>Weighted score per impact category m - Front end panel</vt:lpstr>
      <vt:lpstr>IMPACT World+ &amp; Stepwise weighting - Front end panel</vt:lpstr>
      <vt:lpstr>Variation in relative weighting across AoP for 19 countries</vt:lpstr>
      <vt:lpstr>Grouping</vt:lpstr>
      <vt:lpstr>Summary</vt:lpstr>
    </vt:vector>
  </TitlesOfParts>
  <Manager/>
  <Company>University of Michigan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Scott Mahler</dc:creator>
  <cp:keywords/>
  <dc:description/>
  <cp:lastModifiedBy>Olivier Jolliet</cp:lastModifiedBy>
  <cp:revision>808</cp:revision>
  <cp:lastPrinted>2020-08-20T17:37:33Z</cp:lastPrinted>
  <dcterms:created xsi:type="dcterms:W3CDTF">2017-01-17T22:07:36Z</dcterms:created>
  <dcterms:modified xsi:type="dcterms:W3CDTF">2020-11-24T18:13:26Z</dcterms:modified>
  <cp:category/>
</cp:coreProperties>
</file>