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theme/theme3.xml" ContentType="application/vnd.openxmlformats-officedocument.theme+xml"/>
  <Override PartName="/ppt/slideLayouts/slideLayout6.xml" ContentType="application/vnd.openxmlformats-officedocument.presentationml.slideLayout+xml"/>
  <Override PartName="/ppt/theme/theme4.xml" ContentType="application/vnd.openxmlformats-officedocument.theme+xml"/>
  <Override PartName="/ppt/slideLayouts/slideLayout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8" r:id="rId1"/>
    <p:sldMasterId id="2147483785" r:id="rId2"/>
    <p:sldMasterId id="2147483806" r:id="rId3"/>
    <p:sldMasterId id="2147483808" r:id="rId4"/>
    <p:sldMasterId id="2147483796" r:id="rId5"/>
  </p:sldMasterIdLst>
  <p:notesMasterIdLst>
    <p:notesMasterId r:id="rId11"/>
  </p:notesMasterIdLst>
  <p:handoutMasterIdLst>
    <p:handoutMasterId r:id="rId12"/>
  </p:handoutMasterIdLst>
  <p:sldIdLst>
    <p:sldId id="623" r:id="rId6"/>
    <p:sldId id="607" r:id="rId7"/>
    <p:sldId id="618" r:id="rId8"/>
    <p:sldId id="619" r:id="rId9"/>
    <p:sldId id="621" r:id="rId10"/>
  </p:sldIdLst>
  <p:sldSz cx="16257588" cy="9144000"/>
  <p:notesSz cx="6858000" cy="9144000"/>
  <p:defaultTextStyle>
    <a:defPPr>
      <a:defRPr lang="en-US"/>
    </a:defPPr>
    <a:lvl1pPr marL="0" algn="l" defTabSz="812810" rtl="0" eaLnBrk="1" latinLnBrk="0" hangingPunct="1">
      <a:defRPr sz="3200" kern="1200">
        <a:solidFill>
          <a:schemeClr val="tx1"/>
        </a:solidFill>
        <a:latin typeface="+mn-lt"/>
        <a:ea typeface="+mn-ea"/>
        <a:cs typeface="+mn-cs"/>
      </a:defRPr>
    </a:lvl1pPr>
    <a:lvl2pPr marL="812810" algn="l" defTabSz="812810" rtl="0" eaLnBrk="1" latinLnBrk="0" hangingPunct="1">
      <a:defRPr sz="3200" kern="1200">
        <a:solidFill>
          <a:schemeClr val="tx1"/>
        </a:solidFill>
        <a:latin typeface="+mn-lt"/>
        <a:ea typeface="+mn-ea"/>
        <a:cs typeface="+mn-cs"/>
      </a:defRPr>
    </a:lvl2pPr>
    <a:lvl3pPr marL="1625620" algn="l" defTabSz="812810" rtl="0" eaLnBrk="1" latinLnBrk="0" hangingPunct="1">
      <a:defRPr sz="3200" kern="1200">
        <a:solidFill>
          <a:schemeClr val="tx1"/>
        </a:solidFill>
        <a:latin typeface="+mn-lt"/>
        <a:ea typeface="+mn-ea"/>
        <a:cs typeface="+mn-cs"/>
      </a:defRPr>
    </a:lvl3pPr>
    <a:lvl4pPr marL="2438430" algn="l" defTabSz="812810" rtl="0" eaLnBrk="1" latinLnBrk="0" hangingPunct="1">
      <a:defRPr sz="3200" kern="1200">
        <a:solidFill>
          <a:schemeClr val="tx1"/>
        </a:solidFill>
        <a:latin typeface="+mn-lt"/>
        <a:ea typeface="+mn-ea"/>
        <a:cs typeface="+mn-cs"/>
      </a:defRPr>
    </a:lvl4pPr>
    <a:lvl5pPr marL="3251241" algn="l" defTabSz="812810" rtl="0" eaLnBrk="1" latinLnBrk="0" hangingPunct="1">
      <a:defRPr sz="3200" kern="1200">
        <a:solidFill>
          <a:schemeClr val="tx1"/>
        </a:solidFill>
        <a:latin typeface="+mn-lt"/>
        <a:ea typeface="+mn-ea"/>
        <a:cs typeface="+mn-cs"/>
      </a:defRPr>
    </a:lvl5pPr>
    <a:lvl6pPr marL="4064051" algn="l" defTabSz="812810" rtl="0" eaLnBrk="1" latinLnBrk="0" hangingPunct="1">
      <a:defRPr sz="3200" kern="1200">
        <a:solidFill>
          <a:schemeClr val="tx1"/>
        </a:solidFill>
        <a:latin typeface="+mn-lt"/>
        <a:ea typeface="+mn-ea"/>
        <a:cs typeface="+mn-cs"/>
      </a:defRPr>
    </a:lvl6pPr>
    <a:lvl7pPr marL="4876861" algn="l" defTabSz="812810" rtl="0" eaLnBrk="1" latinLnBrk="0" hangingPunct="1">
      <a:defRPr sz="3200" kern="1200">
        <a:solidFill>
          <a:schemeClr val="tx1"/>
        </a:solidFill>
        <a:latin typeface="+mn-lt"/>
        <a:ea typeface="+mn-ea"/>
        <a:cs typeface="+mn-cs"/>
      </a:defRPr>
    </a:lvl7pPr>
    <a:lvl8pPr marL="5689671" algn="l" defTabSz="812810" rtl="0" eaLnBrk="1" latinLnBrk="0" hangingPunct="1">
      <a:defRPr sz="3200" kern="1200">
        <a:solidFill>
          <a:schemeClr val="tx1"/>
        </a:solidFill>
        <a:latin typeface="+mn-lt"/>
        <a:ea typeface="+mn-ea"/>
        <a:cs typeface="+mn-cs"/>
      </a:defRPr>
    </a:lvl8pPr>
    <a:lvl9pPr marL="6502481" algn="l" defTabSz="812810" rtl="0" eaLnBrk="1" latinLnBrk="0" hangingPunct="1">
      <a:defRPr sz="3200" kern="1200">
        <a:solidFill>
          <a:schemeClr val="tx1"/>
        </a:solidFill>
        <a:latin typeface="+mn-lt"/>
        <a:ea typeface="+mn-ea"/>
        <a:cs typeface="+mn-cs"/>
      </a:defRPr>
    </a:lvl9pPr>
  </p:defaultTextStyle>
  <p:extLst>
    <p:ext uri="{521415D9-36F7-43E2-AB2F-B90AF26B5E84}">
      <p14:sectionLst xmlns:p14="http://schemas.microsoft.com/office/powerpoint/2010/main">
        <p14:section name="Lecture slides" id="{C7F91DBA-90A9-5343-8B43-F0D96459C604}">
          <p14:sldIdLst>
            <p14:sldId id="623"/>
            <p14:sldId id="607"/>
            <p14:sldId id="618"/>
            <p14:sldId id="619"/>
            <p14:sldId id="621"/>
          </p14:sldIdLst>
        </p14:section>
      </p14:sectionLst>
    </p:ext>
    <p:ext uri="{EFAFB233-063F-42B5-8137-9DF3F51BA10A}">
      <p15:sldGuideLst xmlns:p15="http://schemas.microsoft.com/office/powerpoint/2012/main">
        <p15:guide id="1" orient="horz" pos="3216" userDrawn="1">
          <p15:clr>
            <a:srgbClr val="A4A3A4"/>
          </p15:clr>
        </p15:guide>
        <p15:guide id="2" pos="512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2F92"/>
    <a:srgbClr val="00274C"/>
    <a:srgbClr val="E4E1DF"/>
    <a:srgbClr val="B5B5B5"/>
    <a:srgbClr val="050909"/>
    <a:srgbClr val="FFCB05"/>
    <a:srgbClr val="EA6A20"/>
    <a:srgbClr val="06090A"/>
    <a:srgbClr val="090B0B"/>
    <a:srgbClr val="EBEBE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559"/>
    <p:restoredTop sz="95071" autoAdjust="0"/>
  </p:normalViewPr>
  <p:slideViewPr>
    <p:cSldViewPr snapToGrid="0">
      <p:cViewPr varScale="1">
        <p:scale>
          <a:sx n="37" d="100"/>
          <a:sy n="37" d="100"/>
        </p:scale>
        <p:origin x="662" y="38"/>
      </p:cViewPr>
      <p:guideLst>
        <p:guide orient="horz" pos="3216"/>
        <p:guide pos="5120"/>
      </p:guideLst>
    </p:cSldViewPr>
  </p:slideViewPr>
  <p:notesTextViewPr>
    <p:cViewPr>
      <p:scale>
        <a:sx n="114" d="100"/>
        <a:sy n="114" d="100"/>
      </p:scale>
      <p:origin x="0" y="0"/>
    </p:cViewPr>
  </p:notesTextViewPr>
  <p:sorterViewPr>
    <p:cViewPr>
      <p:scale>
        <a:sx n="100" d="100"/>
        <a:sy n="100" d="100"/>
      </p:scale>
      <p:origin x="0" y="0"/>
    </p:cViewPr>
  </p:sorterViewPr>
  <p:notesViewPr>
    <p:cSldViewPr snapToGrid="0">
      <p:cViewPr varScale="1">
        <p:scale>
          <a:sx n="131" d="100"/>
          <a:sy n="131" d="100"/>
        </p:scale>
        <p:origin x="5152"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32C488-5493-244C-B1EB-F7CF3662E0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1AD1453-9CD9-5640-A3F8-C0F3421BFA0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D5623C7-AC5F-3A41-B4CB-88972659BBB1}" type="datetimeFigureOut">
              <a:rPr lang="en-US" smtClean="0"/>
              <a:t>11/25/2021</a:t>
            </a:fld>
            <a:endParaRPr lang="en-US"/>
          </a:p>
        </p:txBody>
      </p:sp>
      <p:sp>
        <p:nvSpPr>
          <p:cNvPr id="4" name="Footer Placeholder 3">
            <a:extLst>
              <a:ext uri="{FF2B5EF4-FFF2-40B4-BE49-F238E27FC236}">
                <a16:creationId xmlns:a16="http://schemas.microsoft.com/office/drawing/2014/main" id="{514A9942-DAC7-014E-98D2-7E2678599FF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01CB1E6-A261-2741-AFAE-436A65E0D5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0EC83E3-4C2A-B644-AB75-B8266C440FBE}" type="slidenum">
              <a:rPr lang="en-US" smtClean="0"/>
              <a:t>‹#›</a:t>
            </a:fld>
            <a:endParaRPr lang="en-US"/>
          </a:p>
        </p:txBody>
      </p:sp>
    </p:spTree>
    <p:extLst>
      <p:ext uri="{BB962C8B-B14F-4D97-AF65-F5344CB8AC3E}">
        <p14:creationId xmlns:p14="http://schemas.microsoft.com/office/powerpoint/2010/main" val="31721617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733527-EF9E-5940-92CE-307645268EE1}" type="datetimeFigureOut">
              <a:rPr lang="en-US" smtClean="0"/>
              <a:t>11/25/2021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73DB68-E51C-0443-B8CE-2997CF470B35}" type="slidenum">
              <a:rPr lang="en-US" smtClean="0"/>
              <a:t>‹#›</a:t>
            </a:fld>
            <a:endParaRPr lang="en-US"/>
          </a:p>
        </p:txBody>
      </p:sp>
    </p:spTree>
    <p:extLst>
      <p:ext uri="{BB962C8B-B14F-4D97-AF65-F5344CB8AC3E}">
        <p14:creationId xmlns:p14="http://schemas.microsoft.com/office/powerpoint/2010/main" val="7206932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Faculty Note:</a:t>
            </a:r>
          </a:p>
          <a:p>
            <a:endParaRPr lang="en-US" b="0" u="none" dirty="0"/>
          </a:p>
          <a:p>
            <a:r>
              <a:rPr lang="en-US" b="0" u="none" dirty="0"/>
              <a:t>Enter lecture title, and subtitle if present, in the text box above. Enter name and credentials on the second line as shown. The slide background graphic for this introduction slide can be replaced with an alternate image more suited to the topic or department (this step will be handled by our graphics team in the production phase).</a:t>
            </a:r>
          </a:p>
        </p:txBody>
      </p:sp>
      <p:sp>
        <p:nvSpPr>
          <p:cNvPr id="4" name="Slide Number Placeholder 3"/>
          <p:cNvSpPr>
            <a:spLocks noGrp="1"/>
          </p:cNvSpPr>
          <p:nvPr>
            <p:ph type="sldNum" sz="quarter" idx="5"/>
          </p:nvPr>
        </p:nvSpPr>
        <p:spPr/>
        <p:txBody>
          <a:bodyPr/>
          <a:lstStyle/>
          <a:p>
            <a:pPr marL="0" marR="0" lvl="0" indent="0" algn="r" defTabSz="812810" rtl="0" eaLnBrk="1" fontAlgn="auto" latinLnBrk="0" hangingPunct="1">
              <a:lnSpc>
                <a:spcPct val="100000"/>
              </a:lnSpc>
              <a:spcBef>
                <a:spcPts val="0"/>
              </a:spcBef>
              <a:spcAft>
                <a:spcPts val="0"/>
              </a:spcAft>
              <a:buClrTx/>
              <a:buSzTx/>
              <a:buFontTx/>
              <a:buNone/>
              <a:tabLst/>
              <a:defRPr/>
            </a:pPr>
            <a:fld id="{C773DB68-E51C-0443-B8CE-2997CF470B3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81281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93575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Faculty Note:</a:t>
            </a:r>
          </a:p>
          <a:p>
            <a:endParaRPr lang="en-US" b="0" u="none" dirty="0"/>
          </a:p>
          <a:p>
            <a:r>
              <a:rPr lang="en-US" b="0" u="none" dirty="0"/>
              <a:t>Please use this area to provide notes to our design team about the content contained on the slide. Notes can include instructions on how content will be presented; types of imagery needed or desired; plan on how to describe visuals; etc.</a:t>
            </a:r>
          </a:p>
          <a:p>
            <a:endParaRPr lang="en-US" b="0" u="none" dirty="0"/>
          </a:p>
          <a:p>
            <a:r>
              <a:rPr lang="en-US" b="0" u="none" dirty="0"/>
              <a:t>Content slides come in two options depending upon what is needed – Content slide with title / Content slide without title. All content slides have a faded line and light gradient at the bottom of the slide which is meant to be empty space to display subtitles and the Michigan logo. Please keep all information out of this bottom gradient area.</a:t>
            </a:r>
          </a:p>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3</a:t>
            </a:fld>
            <a:endParaRPr lang="en-US"/>
          </a:p>
        </p:txBody>
      </p:sp>
    </p:spTree>
    <p:extLst>
      <p:ext uri="{BB962C8B-B14F-4D97-AF65-F5344CB8AC3E}">
        <p14:creationId xmlns:p14="http://schemas.microsoft.com/office/powerpoint/2010/main" val="2708091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u="sng" dirty="0"/>
              <a:t>Faculty Note:</a:t>
            </a:r>
          </a:p>
          <a:p>
            <a:endParaRPr lang="en-US" b="0" u="none" dirty="0"/>
          </a:p>
          <a:p>
            <a:r>
              <a:rPr lang="en-US" b="0" u="none" dirty="0"/>
              <a:t>Please use this area to provide notes to our design team about the content contained on the slide. Notes can include instructions on how content will be presented; types of imagery needed or desired; plan on how to describe visuals; etc.</a:t>
            </a:r>
          </a:p>
          <a:p>
            <a:endParaRPr lang="en-US" b="0" u="none" dirty="0"/>
          </a:p>
          <a:p>
            <a:r>
              <a:rPr lang="en-US" b="0" u="none" dirty="0"/>
              <a:t>Content slides come in two options depending upon what is needed – Content slide with title / Content slide without title. All content slides have a faded line and light gradient at the bottom of the slide which is meant to be empty space to display subtitles and the Michigan logo. Please keep all information out of this bottom gradient area.</a:t>
            </a:r>
          </a:p>
          <a:p>
            <a:endParaRPr lang="en-US" dirty="0"/>
          </a:p>
        </p:txBody>
      </p:sp>
      <p:sp>
        <p:nvSpPr>
          <p:cNvPr id="4" name="Slide Number Placeholder 3"/>
          <p:cNvSpPr>
            <a:spLocks noGrp="1"/>
          </p:cNvSpPr>
          <p:nvPr>
            <p:ph type="sldNum" sz="quarter" idx="5"/>
          </p:nvPr>
        </p:nvSpPr>
        <p:spPr/>
        <p:txBody>
          <a:bodyPr/>
          <a:lstStyle/>
          <a:p>
            <a:fld id="{C773DB68-E51C-0443-B8CE-2997CF470B35}" type="slidenum">
              <a:rPr lang="en-US" smtClean="0"/>
              <a:t>4</a:t>
            </a:fld>
            <a:endParaRPr lang="en-US"/>
          </a:p>
        </p:txBody>
      </p:sp>
    </p:spTree>
    <p:extLst>
      <p:ext uri="{BB962C8B-B14F-4D97-AF65-F5344CB8AC3E}">
        <p14:creationId xmlns:p14="http://schemas.microsoft.com/office/powerpoint/2010/main" val="3852648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Tree>
    <p:extLst>
      <p:ext uri="{BB962C8B-B14F-4D97-AF65-F5344CB8AC3E}">
        <p14:creationId xmlns:p14="http://schemas.microsoft.com/office/powerpoint/2010/main" val="3298559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2802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slide (shown in video)">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p>
        </p:txBody>
      </p:sp>
      <p:sp>
        <p:nvSpPr>
          <p:cNvPr id="11" name="Text Placeholder 10"/>
          <p:cNvSpPr>
            <a:spLocks noGrp="1"/>
          </p:cNvSpPr>
          <p:nvPr>
            <p:ph type="body" sz="quarter" idx="10"/>
          </p:nvPr>
        </p:nvSpPr>
        <p:spPr>
          <a:xfrm>
            <a:off x="879475" y="1405719"/>
            <a:ext cx="14630400" cy="6373505"/>
          </a:xfrm>
        </p:spPr>
        <p:txBody>
          <a:bodyPr/>
          <a:lstStyle/>
          <a:p>
            <a:pPr lvl="0"/>
            <a:r>
              <a:rPr lang="en-US" dirty="0"/>
              <a:t>Edit Master text styles</a:t>
            </a:r>
          </a:p>
        </p:txBody>
      </p:sp>
    </p:spTree>
    <p:extLst>
      <p:ext uri="{BB962C8B-B14F-4D97-AF65-F5344CB8AC3E}">
        <p14:creationId xmlns:p14="http://schemas.microsoft.com/office/powerpoint/2010/main" val="869590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sldNum" sz="quarter" idx="10"/>
          </p:nvPr>
        </p:nvSpPr>
        <p:spPr>
          <a:ln/>
        </p:spPr>
        <p:txBody>
          <a:bodyPr/>
          <a:lstStyle>
            <a:lvl1pPr>
              <a:defRPr/>
            </a:lvl1pPr>
          </a:lstStyle>
          <a:p>
            <a:pPr>
              <a:defRPr/>
            </a:pPr>
            <a:fld id="{A3B33E8A-D9FE-4ADA-A6F9-338849F03302}" type="slidenum">
              <a:rPr lang="en-US" altLang="en-US"/>
              <a:pPr>
                <a:defRPr/>
              </a:pPr>
              <a:t>‹#›</a:t>
            </a:fld>
            <a:endParaRPr lang="en-US" altLang="en-US"/>
          </a:p>
        </p:txBody>
      </p:sp>
      <p:sp>
        <p:nvSpPr>
          <p:cNvPr id="5" name="Rectangle 10"/>
          <p:cNvSpPr>
            <a:spLocks noGrp="1" noChangeArrowheads="1"/>
          </p:cNvSpPr>
          <p:nvPr>
            <p:ph type="ftr" sz="quarter" idx="11"/>
          </p:nvPr>
        </p:nvSpPr>
        <p:spPr>
          <a:ln/>
        </p:spPr>
        <p:txBody>
          <a:bodyPr/>
          <a:lstStyle>
            <a:lvl1pPr>
              <a:defRPr/>
            </a:lvl1pPr>
          </a:lstStyle>
          <a:p>
            <a:pPr>
              <a:defRPr/>
            </a:pPr>
            <a:r>
              <a:rPr lang="en-US"/>
              <a:t>iMod Group – Prof. Olivier Jolliet</a:t>
            </a:r>
          </a:p>
        </p:txBody>
      </p:sp>
    </p:spTree>
    <p:extLst>
      <p:ext uri="{BB962C8B-B14F-4D97-AF65-F5344CB8AC3E}">
        <p14:creationId xmlns:p14="http://schemas.microsoft.com/office/powerpoint/2010/main" val="20262763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 y="347133"/>
            <a:ext cx="16251943" cy="1176867"/>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812879" y="2133601"/>
            <a:ext cx="7180435" cy="603461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8264274" y="2133600"/>
            <a:ext cx="7180435" cy="291465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8264274" y="5251451"/>
            <a:ext cx="7180435" cy="291676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sldNum" sz="quarter" idx="10"/>
          </p:nvPr>
        </p:nvSpPr>
        <p:spPr>
          <a:ln/>
        </p:spPr>
        <p:txBody>
          <a:bodyPr/>
          <a:lstStyle>
            <a:lvl1pPr>
              <a:defRPr/>
            </a:lvl1pPr>
          </a:lstStyle>
          <a:p>
            <a:pPr>
              <a:defRPr/>
            </a:pPr>
            <a:fld id="{D117F4C4-609F-4EF2-BA7E-D0D5DD9807F4}" type="slidenum">
              <a:rPr lang="en-US" altLang="en-US"/>
              <a:pPr>
                <a:defRPr/>
              </a:pPr>
              <a:t>‹#›</a:t>
            </a:fld>
            <a:endParaRPr lang="en-US" altLang="en-US"/>
          </a:p>
        </p:txBody>
      </p:sp>
      <p:sp>
        <p:nvSpPr>
          <p:cNvPr id="7" name="Rectangle 10"/>
          <p:cNvSpPr>
            <a:spLocks noGrp="1" noChangeArrowheads="1"/>
          </p:cNvSpPr>
          <p:nvPr>
            <p:ph type="ftr" sz="quarter" idx="11"/>
          </p:nvPr>
        </p:nvSpPr>
        <p:spPr>
          <a:ln/>
        </p:spPr>
        <p:txBody>
          <a:bodyPr/>
          <a:lstStyle>
            <a:lvl1pPr>
              <a:defRPr/>
            </a:lvl1pPr>
          </a:lstStyle>
          <a:p>
            <a:pPr>
              <a:defRPr/>
            </a:pPr>
            <a:r>
              <a:rPr lang="en-US"/>
              <a:t>iMod Group – Prof. Olivier Jolliet</a:t>
            </a:r>
          </a:p>
        </p:txBody>
      </p:sp>
    </p:spTree>
    <p:extLst>
      <p:ext uri="{BB962C8B-B14F-4D97-AF65-F5344CB8AC3E}">
        <p14:creationId xmlns:p14="http://schemas.microsoft.com/office/powerpoint/2010/main" val="2356048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shown in video)">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B94A1462-55F6-494B-8554-951DED06E28A}"/>
              </a:ext>
            </a:extLst>
          </p:cNvPr>
          <p:cNvSpPr>
            <a:spLocks noGrp="1"/>
          </p:cNvSpPr>
          <p:nvPr>
            <p:ph idx="1"/>
          </p:nvPr>
        </p:nvSpPr>
        <p:spPr>
          <a:xfrm>
            <a:off x="878783" y="386862"/>
            <a:ext cx="14631828" cy="7389165"/>
          </a:xfrm>
          <a:prstGeom prst="rect">
            <a:avLst/>
          </a:prstGeom>
        </p:spPr>
        <p:txBody>
          <a:bodyPr vert="horz" lIns="91440" tIns="45720" rIns="91440" bIns="45720" rtlCol="0">
            <a:normAutofit/>
          </a:bodyPr>
          <a:lstStyle/>
          <a:p>
            <a:pPr lvl="0"/>
            <a:r>
              <a:rPr lang="en-US" dirty="0"/>
              <a:t>Edit Master text styles</a:t>
            </a:r>
          </a:p>
        </p:txBody>
      </p:sp>
    </p:spTree>
    <p:extLst>
      <p:ext uri="{BB962C8B-B14F-4D97-AF65-F5344CB8AC3E}">
        <p14:creationId xmlns:p14="http://schemas.microsoft.com/office/powerpoint/2010/main" val="3604544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slide (shown in video)">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p>
        </p:txBody>
      </p:sp>
      <p:sp>
        <p:nvSpPr>
          <p:cNvPr id="11" name="Text Placeholder 10"/>
          <p:cNvSpPr>
            <a:spLocks noGrp="1"/>
          </p:cNvSpPr>
          <p:nvPr>
            <p:ph type="body" sz="quarter" idx="10"/>
          </p:nvPr>
        </p:nvSpPr>
        <p:spPr>
          <a:xfrm>
            <a:off x="879475" y="1405719"/>
            <a:ext cx="14630400" cy="6373505"/>
          </a:xfrm>
        </p:spPr>
        <p:txBody>
          <a:bodyPr/>
          <a:lstStyle/>
          <a:p>
            <a:pPr lvl="0"/>
            <a:r>
              <a:rPr lang="en-US" dirty="0"/>
              <a:t>Edit Master text styles</a:t>
            </a:r>
          </a:p>
        </p:txBody>
      </p:sp>
    </p:spTree>
    <p:extLst>
      <p:ext uri="{BB962C8B-B14F-4D97-AF65-F5344CB8AC3E}">
        <p14:creationId xmlns:p14="http://schemas.microsoft.com/office/powerpoint/2010/main" val="2738806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resenter notes (not to be shown in video)">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581665" y="1301578"/>
            <a:ext cx="13007546" cy="5807676"/>
          </a:xfrm>
        </p:spPr>
        <p:txBody>
          <a:bodyPr/>
          <a:lstStyle>
            <a:lvl1pPr marL="0" indent="0">
              <a:buNone/>
              <a:defRPr/>
            </a:lvl1pPr>
          </a:lstStyle>
          <a:p>
            <a:pPr lvl="0"/>
            <a:r>
              <a:rPr lang="en-US" dirty="0"/>
              <a:t>Edit Master text styles</a:t>
            </a:r>
          </a:p>
        </p:txBody>
      </p:sp>
    </p:spTree>
    <p:extLst>
      <p:ext uri="{BB962C8B-B14F-4D97-AF65-F5344CB8AC3E}">
        <p14:creationId xmlns:p14="http://schemas.microsoft.com/office/powerpoint/2010/main" val="134741450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6.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27000">
              <a:srgbClr val="ECECEC"/>
            </a:gs>
            <a:gs pos="80000">
              <a:schemeClr val="bg1"/>
            </a:gs>
            <a:gs pos="2000">
              <a:schemeClr val="bg1">
                <a:lumMod val="50000"/>
              </a:schemeClr>
            </a:gs>
          </a:gsLst>
          <a:lin ang="16200000" scaled="0"/>
          <a:tileRect/>
        </a:gra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rotWithShape="1">
          <a:blip r:embed="rId3"/>
          <a:srcRect l="329" r="247"/>
          <a:stretch/>
        </p:blipFill>
        <p:spPr>
          <a:xfrm>
            <a:off x="0" y="-3810"/>
            <a:ext cx="16284389" cy="9151620"/>
          </a:xfrm>
          <a:prstGeom prst="rect">
            <a:avLst/>
          </a:prstGeom>
        </p:spPr>
      </p:pic>
    </p:spTree>
    <p:extLst>
      <p:ext uri="{BB962C8B-B14F-4D97-AF65-F5344CB8AC3E}">
        <p14:creationId xmlns:p14="http://schemas.microsoft.com/office/powerpoint/2010/main" val="799904919"/>
      </p:ext>
    </p:extLst>
  </p:cSld>
  <p:clrMap bg1="lt1" tx1="dk1" bg2="lt2" tx2="dk2" accent1="accent1" accent2="accent2" accent3="accent3" accent4="accent4" accent5="accent5" accent6="accent6" hlink="hlink" folHlink="folHlink"/>
  <p:sldLayoutIdLst>
    <p:sldLayoutId id="2147483819" r:id="rId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78783" y="1405719"/>
            <a:ext cx="14631828" cy="6370308"/>
          </a:xfrm>
          <a:prstGeom prst="rect">
            <a:avLst/>
          </a:prstGeom>
        </p:spPr>
        <p:txBody>
          <a:bodyPr vert="horz" lIns="91440" tIns="45720" rIns="91440" bIns="45720" rtlCol="0">
            <a:normAutofit/>
          </a:bodyPr>
          <a:lstStyle/>
          <a:p>
            <a:pPr lvl="0"/>
            <a:r>
              <a:rPr lang="en-US" dirty="0"/>
              <a:t>Edit Master text styles</a:t>
            </a:r>
          </a:p>
        </p:txBody>
      </p:sp>
      <p:sp>
        <p:nvSpPr>
          <p:cNvPr id="3" name="Title Placeholder 2"/>
          <p:cNvSpPr>
            <a:spLocks noGrp="1"/>
          </p:cNvSpPr>
          <p:nvPr>
            <p:ph type="title"/>
          </p:nvPr>
        </p:nvSpPr>
        <p:spPr>
          <a:xfrm>
            <a:off x="878783" y="272169"/>
            <a:ext cx="14631828" cy="870385"/>
          </a:xfrm>
          <a:prstGeom prst="rect">
            <a:avLst/>
          </a:prstGeom>
        </p:spPr>
        <p:txBody>
          <a:bodyPr vert="horz" lIns="91440" tIns="45720" rIns="91440" bIns="45720" rtlCol="0" anchor="ctr">
            <a:noAutofit/>
          </a:bodyPr>
          <a:lstStyle/>
          <a:p>
            <a:r>
              <a:rPr lang="en-US" dirty="0"/>
              <a:t>Click to edit Master title style</a:t>
            </a:r>
          </a:p>
        </p:txBody>
      </p:sp>
      <p:sp>
        <p:nvSpPr>
          <p:cNvPr id="10" name="Rectangle 9">
            <a:extLst>
              <a:ext uri="{FF2B5EF4-FFF2-40B4-BE49-F238E27FC236}">
                <a16:creationId xmlns:a16="http://schemas.microsoft.com/office/drawing/2014/main" id="{E0D8E102-C795-3941-9125-C4D5BBD0193F}"/>
              </a:ext>
            </a:extLst>
          </p:cNvPr>
          <p:cNvSpPr/>
          <p:nvPr userDrawn="1"/>
        </p:nvSpPr>
        <p:spPr>
          <a:xfrm>
            <a:off x="0" y="0"/>
            <a:ext cx="16257588" cy="224918"/>
          </a:xfrm>
          <a:prstGeom prst="rect">
            <a:avLst/>
          </a:prstGeom>
          <a:gradFill>
            <a:gsLst>
              <a:gs pos="63000">
                <a:srgbClr val="00274C"/>
              </a:gs>
              <a:gs pos="0">
                <a:srgbClr val="587ABC"/>
              </a:gs>
            </a:gsLst>
            <a:lin ang="0" scaled="0"/>
          </a:gradFill>
          <a:ln>
            <a:noFill/>
          </a:ln>
          <a:effectLst>
            <a:outerShdw blurRad="508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9BB45DA2-7C42-8445-AD00-272875B751FD}"/>
              </a:ext>
            </a:extLst>
          </p:cNvPr>
          <p:cNvCxnSpPr>
            <a:cxnSpLocks/>
          </p:cNvCxnSpPr>
          <p:nvPr userDrawn="1"/>
        </p:nvCxnSpPr>
        <p:spPr>
          <a:xfrm>
            <a:off x="1023582" y="1210794"/>
            <a:ext cx="14343797" cy="0"/>
          </a:xfrm>
          <a:prstGeom prst="line">
            <a:avLst/>
          </a:prstGeom>
          <a:ln w="3810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BF1E5EF9-7466-AC4A-8B9B-8C26E6EB2668}"/>
              </a:ext>
            </a:extLst>
          </p:cNvPr>
          <p:cNvSpPr/>
          <p:nvPr userDrawn="1"/>
        </p:nvSpPr>
        <p:spPr>
          <a:xfrm>
            <a:off x="0" y="7776027"/>
            <a:ext cx="16257588" cy="1367973"/>
          </a:xfrm>
          <a:prstGeom prst="rect">
            <a:avLst/>
          </a:prstGeom>
          <a:gradFill>
            <a:gsLst>
              <a:gs pos="100000">
                <a:schemeClr val="bg1"/>
              </a:gs>
              <a:gs pos="8000">
                <a:srgbClr val="E4E1D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11" name="Straight Connector 10">
            <a:extLst>
              <a:ext uri="{FF2B5EF4-FFF2-40B4-BE49-F238E27FC236}">
                <a16:creationId xmlns:a16="http://schemas.microsoft.com/office/drawing/2014/main" id="{50E2D098-25F8-1B47-A897-734EE7598560}"/>
              </a:ext>
            </a:extLst>
          </p:cNvPr>
          <p:cNvCxnSpPr/>
          <p:nvPr userDrawn="1"/>
        </p:nvCxnSpPr>
        <p:spPr>
          <a:xfrm>
            <a:off x="0" y="7758806"/>
            <a:ext cx="16257588" cy="0"/>
          </a:xfrm>
          <a:prstGeom prst="line">
            <a:avLst/>
          </a:prstGeom>
          <a:ln w="9525">
            <a:solidFill>
              <a:srgbClr val="E4E1DF">
                <a:alpha val="30000"/>
              </a:srgb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6842840"/>
      </p:ext>
    </p:extLst>
  </p:cSld>
  <p:clrMap bg1="lt1" tx1="dk1" bg2="lt2" tx2="dk2" accent1="accent1" accent2="accent2" accent3="accent3" accent4="accent4" accent5="accent5" accent6="accent6" hlink="hlink" folHlink="folHlink"/>
  <p:sldLayoutIdLst>
    <p:sldLayoutId id="2147483791" r:id="rId1"/>
    <p:sldLayoutId id="2147483810" r:id="rId2"/>
    <p:sldLayoutId id="2147483812" r:id="rId3"/>
  </p:sldLayoutIdLst>
  <p:txStyles>
    <p:titleStyle>
      <a:lvl1pPr algn="l" defTabSz="457200" rtl="0" eaLnBrk="1" latinLnBrk="0" hangingPunct="1">
        <a:spcBef>
          <a:spcPct val="0"/>
        </a:spcBef>
        <a:buNone/>
        <a:defRPr sz="4400" kern="1200">
          <a:solidFill>
            <a:srgbClr val="00274C"/>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4E75BEE-68E8-7E41-9537-113B0DA1B9A2}"/>
              </a:ext>
            </a:extLst>
          </p:cNvPr>
          <p:cNvSpPr/>
          <p:nvPr userDrawn="1"/>
        </p:nvSpPr>
        <p:spPr>
          <a:xfrm>
            <a:off x="0" y="7776027"/>
            <a:ext cx="16257588" cy="1367973"/>
          </a:xfrm>
          <a:prstGeom prst="rect">
            <a:avLst/>
          </a:prstGeom>
          <a:gradFill>
            <a:gsLst>
              <a:gs pos="100000">
                <a:schemeClr val="bg1"/>
              </a:gs>
              <a:gs pos="8000">
                <a:srgbClr val="E4E1D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AEABBCB0-652C-4D4B-9603-135F326E9486}"/>
              </a:ext>
            </a:extLst>
          </p:cNvPr>
          <p:cNvCxnSpPr/>
          <p:nvPr userDrawn="1"/>
        </p:nvCxnSpPr>
        <p:spPr>
          <a:xfrm>
            <a:off x="0" y="7758806"/>
            <a:ext cx="16257588" cy="0"/>
          </a:xfrm>
          <a:prstGeom prst="line">
            <a:avLst/>
          </a:prstGeom>
          <a:ln w="9525">
            <a:solidFill>
              <a:srgbClr val="E4E1DF">
                <a:alpha val="30000"/>
              </a:srgbClr>
            </a:solidFill>
          </a:ln>
        </p:spPr>
        <p:style>
          <a:lnRef idx="2">
            <a:schemeClr val="accent1"/>
          </a:lnRef>
          <a:fillRef idx="0">
            <a:schemeClr val="accent1"/>
          </a:fillRef>
          <a:effectRef idx="1">
            <a:schemeClr val="accent1"/>
          </a:effectRef>
          <a:fontRef idx="minor">
            <a:schemeClr val="tx1"/>
          </a:fontRef>
        </p:style>
      </p:cxnSp>
      <p:sp>
        <p:nvSpPr>
          <p:cNvPr id="6" name="Text Placeholder 1">
            <a:extLst>
              <a:ext uri="{FF2B5EF4-FFF2-40B4-BE49-F238E27FC236}">
                <a16:creationId xmlns:a16="http://schemas.microsoft.com/office/drawing/2014/main" id="{3FF513C8-0BD3-FA4B-8D9A-FB9C21ECBC36}"/>
              </a:ext>
            </a:extLst>
          </p:cNvPr>
          <p:cNvSpPr>
            <a:spLocks noGrp="1"/>
          </p:cNvSpPr>
          <p:nvPr>
            <p:ph type="body" idx="1"/>
          </p:nvPr>
        </p:nvSpPr>
        <p:spPr>
          <a:xfrm>
            <a:off x="878783" y="386862"/>
            <a:ext cx="14631828" cy="7389165"/>
          </a:xfrm>
          <a:prstGeom prst="rect">
            <a:avLst/>
          </a:prstGeom>
        </p:spPr>
        <p:txBody>
          <a:bodyPr vert="horz" lIns="91440" tIns="45720" rIns="91440" bIns="45720" rtlCol="0">
            <a:normAutofit/>
          </a:bodyPr>
          <a:lstStyle/>
          <a:p>
            <a:pPr lvl="0"/>
            <a:r>
              <a:rPr lang="en-US" dirty="0"/>
              <a:t>Edit Master text styles</a:t>
            </a:r>
          </a:p>
        </p:txBody>
      </p:sp>
    </p:spTree>
    <p:extLst>
      <p:ext uri="{BB962C8B-B14F-4D97-AF65-F5344CB8AC3E}">
        <p14:creationId xmlns:p14="http://schemas.microsoft.com/office/powerpoint/2010/main" val="1262599898"/>
      </p:ext>
    </p:extLst>
  </p:cSld>
  <p:clrMap bg1="lt1" tx1="dk1" bg2="lt2" tx2="dk2" accent1="accent1" accent2="accent2" accent3="accent3" accent4="accent4" accent5="accent5" accent6="accent6" hlink="hlink" folHlink="folHlink"/>
  <p:sldLayoutIdLst>
    <p:sldLayoutId id="2147483807" r:id="rId1"/>
  </p:sldLayoutIdLst>
  <p:txStyles>
    <p:titleStyle>
      <a:lvl1pPr algn="l" defTabSz="457200" rtl="0" eaLnBrk="1" latinLnBrk="0" hangingPunct="1">
        <a:spcBef>
          <a:spcPct val="0"/>
        </a:spcBef>
        <a:buNone/>
        <a:defRPr sz="4400" kern="1200">
          <a:solidFill>
            <a:srgbClr val="00274C"/>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878783" y="1405719"/>
            <a:ext cx="9489860" cy="6370308"/>
          </a:xfrm>
          <a:prstGeom prst="rect">
            <a:avLst/>
          </a:prstGeom>
        </p:spPr>
        <p:txBody>
          <a:bodyPr vert="horz" lIns="91440" tIns="45720" rIns="91440" bIns="45720" rtlCol="0">
            <a:normAutofit/>
          </a:bodyPr>
          <a:lstStyle/>
          <a:p>
            <a:pPr lvl="0"/>
            <a:r>
              <a:rPr lang="en-US" dirty="0"/>
              <a:t>Edit Master text styles</a:t>
            </a:r>
          </a:p>
        </p:txBody>
      </p:sp>
      <p:sp>
        <p:nvSpPr>
          <p:cNvPr id="3" name="Title Placeholder 2"/>
          <p:cNvSpPr>
            <a:spLocks noGrp="1"/>
          </p:cNvSpPr>
          <p:nvPr>
            <p:ph type="title"/>
          </p:nvPr>
        </p:nvSpPr>
        <p:spPr>
          <a:xfrm>
            <a:off x="878783" y="272169"/>
            <a:ext cx="9489860" cy="870385"/>
          </a:xfrm>
          <a:prstGeom prst="rect">
            <a:avLst/>
          </a:prstGeom>
        </p:spPr>
        <p:txBody>
          <a:bodyPr vert="horz" lIns="91440" tIns="45720" rIns="91440" bIns="45720" rtlCol="0" anchor="ctr">
            <a:noAutofit/>
          </a:bodyPr>
          <a:lstStyle/>
          <a:p>
            <a:r>
              <a:rPr lang="en-US" dirty="0"/>
              <a:t>Click to edit Master title style</a:t>
            </a:r>
          </a:p>
        </p:txBody>
      </p:sp>
      <p:sp>
        <p:nvSpPr>
          <p:cNvPr id="6" name="Rectangle 5">
            <a:extLst>
              <a:ext uri="{FF2B5EF4-FFF2-40B4-BE49-F238E27FC236}">
                <a16:creationId xmlns:a16="http://schemas.microsoft.com/office/drawing/2014/main" id="{22C5F1F8-1280-884E-8894-968C107F09E4}"/>
              </a:ext>
            </a:extLst>
          </p:cNvPr>
          <p:cNvSpPr/>
          <p:nvPr userDrawn="1"/>
        </p:nvSpPr>
        <p:spPr>
          <a:xfrm>
            <a:off x="0" y="7776027"/>
            <a:ext cx="16257588" cy="1367973"/>
          </a:xfrm>
          <a:prstGeom prst="rect">
            <a:avLst/>
          </a:prstGeom>
          <a:gradFill>
            <a:gsLst>
              <a:gs pos="100000">
                <a:schemeClr val="bg1"/>
              </a:gs>
              <a:gs pos="8000">
                <a:srgbClr val="E4E1DF"/>
              </a:gs>
            </a:gsLst>
            <a:lin ang="16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id="{1F80828F-C4E5-CD4A-8C1F-761E9B421162}"/>
              </a:ext>
            </a:extLst>
          </p:cNvPr>
          <p:cNvCxnSpPr/>
          <p:nvPr userDrawn="1"/>
        </p:nvCxnSpPr>
        <p:spPr>
          <a:xfrm>
            <a:off x="0" y="7758806"/>
            <a:ext cx="16257588" cy="0"/>
          </a:xfrm>
          <a:prstGeom prst="line">
            <a:avLst/>
          </a:prstGeom>
          <a:ln w="9525">
            <a:solidFill>
              <a:srgbClr val="E4E1DF">
                <a:alpha val="30000"/>
              </a:srgb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20462567"/>
      </p:ext>
    </p:extLst>
  </p:cSld>
  <p:clrMap bg1="lt1" tx1="dk1" bg2="lt2" tx2="dk2" accent1="accent1" accent2="accent2" accent3="accent3" accent4="accent4" accent5="accent5" accent6="accent6" hlink="hlink" folHlink="folHlink"/>
  <p:sldLayoutIdLst>
    <p:sldLayoutId id="2147483809" r:id="rId1"/>
  </p:sldLayoutIdLst>
  <p:txStyles>
    <p:titleStyle>
      <a:lvl1pPr algn="l" defTabSz="457200" rtl="0" eaLnBrk="1" latinLnBrk="0" hangingPunct="1">
        <a:spcBef>
          <a:spcPct val="0"/>
        </a:spcBef>
        <a:buNone/>
        <a:defRPr sz="4400" kern="1200">
          <a:solidFill>
            <a:srgbClr val="00274C"/>
          </a:solidFill>
          <a:latin typeface="+mj-lt"/>
          <a:ea typeface="+mj-ea"/>
          <a:cs typeface="+mj-cs"/>
        </a:defRPr>
      </a:lvl1pPr>
    </p:titleStyle>
    <p:bodyStyle>
      <a:lvl1pPr marL="0" indent="0" algn="l" defTabSz="457200" rtl="0" eaLnBrk="1" latinLnBrk="0" hangingPunct="1">
        <a:spcBef>
          <a:spcPct val="20000"/>
        </a:spcBef>
        <a:buFont typeface="Arial"/>
        <a:buNone/>
        <a:defRPr sz="3200" kern="1200">
          <a:solidFill>
            <a:srgbClr val="00274C"/>
          </a:solidFill>
          <a:latin typeface="+mn-lt"/>
          <a:ea typeface="+mn-ea"/>
          <a:cs typeface="+mn-cs"/>
        </a:defRPr>
      </a:lvl1pPr>
      <a:lvl2pPr marL="457200" indent="0" algn="l" defTabSz="457200" rtl="0" eaLnBrk="1" latinLnBrk="0" hangingPunct="1">
        <a:spcBef>
          <a:spcPct val="20000"/>
        </a:spcBef>
        <a:buFont typeface="Arial"/>
        <a:buNone/>
        <a:defRPr sz="2800" kern="1200">
          <a:solidFill>
            <a:schemeClr val="tx1"/>
          </a:solidFill>
          <a:latin typeface="+mn-lt"/>
          <a:ea typeface="+mn-ea"/>
          <a:cs typeface="+mn-cs"/>
        </a:defRPr>
      </a:lvl2pPr>
      <a:lvl3pPr marL="914400" indent="0" algn="l" defTabSz="457200" rtl="0" eaLnBrk="1" latinLnBrk="0" hangingPunct="1">
        <a:spcBef>
          <a:spcPct val="20000"/>
        </a:spcBef>
        <a:buFont typeface="Arial"/>
        <a:buNone/>
        <a:defRPr sz="2400" kern="1200">
          <a:solidFill>
            <a:schemeClr val="tx1"/>
          </a:solidFill>
          <a:latin typeface="+mn-lt"/>
          <a:ea typeface="+mn-ea"/>
          <a:cs typeface="+mn-cs"/>
        </a:defRPr>
      </a:lvl3pPr>
      <a:lvl4pPr marL="1371600" indent="0" algn="l" defTabSz="457200" rtl="0" eaLnBrk="1" latinLnBrk="0" hangingPunct="1">
        <a:spcBef>
          <a:spcPct val="20000"/>
        </a:spcBef>
        <a:buFont typeface="Arial"/>
        <a:buNone/>
        <a:defRPr sz="2000" kern="1200">
          <a:solidFill>
            <a:schemeClr val="tx1"/>
          </a:solidFill>
          <a:latin typeface="+mn-lt"/>
          <a:ea typeface="+mn-ea"/>
          <a:cs typeface="+mn-cs"/>
        </a:defRPr>
      </a:lvl4pPr>
      <a:lvl5pPr marL="1828800" indent="0" algn="l" defTabSz="457200" rtl="0" eaLnBrk="1" latinLnBrk="0" hangingPunct="1">
        <a:spcBef>
          <a:spcPct val="20000"/>
        </a:spcBef>
        <a:buFont typeface="Arial"/>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7" name="Text Placeholder 6"/>
          <p:cNvSpPr>
            <a:spLocks noGrp="1"/>
          </p:cNvSpPr>
          <p:nvPr>
            <p:ph type="body" idx="1"/>
          </p:nvPr>
        </p:nvSpPr>
        <p:spPr>
          <a:xfrm>
            <a:off x="2084172" y="1066154"/>
            <a:ext cx="12002531" cy="5802312"/>
          </a:xfrm>
          <a:prstGeom prst="rect">
            <a:avLst/>
          </a:prstGeom>
        </p:spPr>
        <p:txBody>
          <a:bodyPr vert="horz" lIns="91440" tIns="45720" rIns="91440" bIns="45720" rtlCol="0">
            <a:normAutofit/>
          </a:bodyPr>
          <a:lstStyle/>
          <a:p>
            <a:pPr lvl="0"/>
            <a:r>
              <a:rPr lang="en-US" dirty="0"/>
              <a:t>Edit Master text styles</a:t>
            </a:r>
          </a:p>
          <a:p>
            <a:pPr lvl="1"/>
            <a:r>
              <a:rPr lang="en-US" dirty="0"/>
              <a:t>	Edit Master text styles</a:t>
            </a:r>
          </a:p>
          <a:p>
            <a:pPr lvl="2"/>
            <a:r>
              <a:rPr lang="en-US" dirty="0"/>
              <a:t>Edit Master Text styles</a:t>
            </a:r>
          </a:p>
        </p:txBody>
      </p:sp>
    </p:spTree>
    <p:extLst>
      <p:ext uri="{BB962C8B-B14F-4D97-AF65-F5344CB8AC3E}">
        <p14:creationId xmlns:p14="http://schemas.microsoft.com/office/powerpoint/2010/main" val="1365302262"/>
      </p:ext>
    </p:extLst>
  </p:cSld>
  <p:clrMap bg1="lt1" tx1="dk1" bg2="lt2" tx2="dk2" accent1="accent1" accent2="accent2" accent3="accent3" accent4="accent4" accent5="accent5" accent6="accent6" hlink="hlink" folHlink="folHlink"/>
  <p:sldLayoutIdLst>
    <p:sldLayoutId id="21474837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Courier New" panose="02070309020205020404" pitchFamily="49" charset="0"/>
        <a:buNone/>
        <a:defRPr sz="24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2000" kern="1200" baseline="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7">
            <a:extLst>
              <a:ext uri="{FF2B5EF4-FFF2-40B4-BE49-F238E27FC236}">
                <a16:creationId xmlns:a16="http://schemas.microsoft.com/office/drawing/2014/main" id="{DCE93A83-2E66-F74F-A5CD-47D28E6C7BC3}"/>
              </a:ext>
            </a:extLst>
          </p:cNvPr>
          <p:cNvSpPr txBox="1">
            <a:spLocks/>
          </p:cNvSpPr>
          <p:nvPr/>
        </p:nvSpPr>
        <p:spPr>
          <a:xfrm>
            <a:off x="440872" y="4899647"/>
            <a:ext cx="14612609" cy="1583039"/>
          </a:xfrm>
          <a:prstGeom prst="rect">
            <a:avLst/>
          </a:prstGeom>
        </p:spPr>
        <p:txBody>
          <a:bodyPr anchor="t">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lgn="l">
              <a:defRPr/>
            </a:pPr>
            <a:r>
              <a:rPr lang="en-US" sz="5400" b="1" smtClean="0">
                <a:solidFill>
                  <a:schemeClr val="tx2"/>
                </a:solidFill>
              </a:rPr>
              <a:t>Activity Functional </a:t>
            </a:r>
            <a:r>
              <a:rPr lang="en-US" sz="5400" b="1" dirty="0" smtClean="0">
                <a:solidFill>
                  <a:schemeClr val="tx2"/>
                </a:solidFill>
              </a:rPr>
              <a:t>unit</a:t>
            </a:r>
          </a:p>
          <a:p>
            <a:pPr lvl="0" algn="l">
              <a:defRPr/>
            </a:pPr>
            <a:r>
              <a:rPr lang="en-US" altLang="en-US" sz="3600" b="1" dirty="0" smtClean="0">
                <a:solidFill>
                  <a:schemeClr val="accent5"/>
                </a:solidFill>
              </a:rPr>
              <a:t>Comparison of alternatives for drying hands</a:t>
            </a:r>
            <a:endParaRPr lang="en-US" altLang="en-US" sz="3600" b="1" dirty="0">
              <a:solidFill>
                <a:schemeClr val="accent5"/>
              </a:solidFill>
            </a:endParaRPr>
          </a:p>
        </p:txBody>
      </p:sp>
      <p:sp>
        <p:nvSpPr>
          <p:cNvPr id="3" name="TextBox 2">
            <a:extLst>
              <a:ext uri="{FF2B5EF4-FFF2-40B4-BE49-F238E27FC236}">
                <a16:creationId xmlns:a16="http://schemas.microsoft.com/office/drawing/2014/main" id="{F70B5F09-AA9C-0C49-A705-E3ECF1BA7055}"/>
              </a:ext>
            </a:extLst>
          </p:cNvPr>
          <p:cNvSpPr txBox="1"/>
          <p:nvPr/>
        </p:nvSpPr>
        <p:spPr>
          <a:xfrm>
            <a:off x="440871" y="6790584"/>
            <a:ext cx="3021981" cy="477054"/>
          </a:xfrm>
          <a:prstGeom prst="rect">
            <a:avLst/>
          </a:prstGeom>
          <a:noFill/>
        </p:spPr>
        <p:txBody>
          <a:bodyPr wrap="none" rtlCol="0">
            <a:spAutoFit/>
          </a:bodyPr>
          <a:lstStyle/>
          <a:p>
            <a:pPr marL="0" marR="0" lvl="0" indent="0" algn="l" defTabSz="812810" rtl="0" eaLnBrk="1" fontAlgn="auto" latinLnBrk="0" hangingPunct="1">
              <a:lnSpc>
                <a:spcPct val="100000"/>
              </a:lnSpc>
              <a:spcBef>
                <a:spcPts val="0"/>
              </a:spcBef>
              <a:spcAft>
                <a:spcPts val="0"/>
              </a:spcAft>
              <a:buClrTx/>
              <a:buSzTx/>
              <a:buFontTx/>
              <a:buNone/>
              <a:tabLst/>
              <a:defRPr/>
            </a:pPr>
            <a:r>
              <a:rPr kumimoji="0" lang="en-US" sz="2500" b="1" i="0" u="none" strike="noStrike" kern="1200" cap="none" spc="0" normalizeH="0" baseline="0" noProof="0" dirty="0" smtClean="0">
                <a:ln>
                  <a:noFill/>
                </a:ln>
                <a:solidFill>
                  <a:srgbClr val="00274C"/>
                </a:solidFill>
                <a:effectLst/>
                <a:uLnTx/>
                <a:uFillTx/>
                <a:latin typeface="Arial"/>
                <a:ea typeface="+mn-ea"/>
                <a:cs typeface="+mn-cs"/>
              </a:rPr>
              <a:t>Olivier </a:t>
            </a:r>
            <a:r>
              <a:rPr kumimoji="0" lang="en-US" sz="2500" b="1" i="0" u="none" strike="noStrike" kern="1200" cap="none" spc="0" normalizeH="0" baseline="0" noProof="0" dirty="0">
                <a:ln>
                  <a:noFill/>
                </a:ln>
                <a:solidFill>
                  <a:srgbClr val="00274C"/>
                </a:solidFill>
                <a:effectLst/>
                <a:uLnTx/>
                <a:uFillTx/>
                <a:latin typeface="Arial"/>
                <a:ea typeface="+mn-ea"/>
                <a:cs typeface="+mn-cs"/>
              </a:rPr>
              <a:t>Jolliet, PhD</a:t>
            </a:r>
            <a:endParaRPr kumimoji="0" lang="en-US" sz="2500" b="0" i="0" u="none" strike="noStrike" kern="1200" cap="none" spc="0" normalizeH="0" baseline="0" noProof="0" dirty="0">
              <a:ln>
                <a:noFill/>
              </a:ln>
              <a:solidFill>
                <a:srgbClr val="00274C"/>
              </a:solidFill>
              <a:effectLst/>
              <a:uLnTx/>
              <a:uFillTx/>
              <a:latin typeface="Arial"/>
              <a:ea typeface="+mn-ea"/>
              <a:cs typeface="+mn-cs"/>
            </a:endParaRPr>
          </a:p>
        </p:txBody>
      </p:sp>
    </p:spTree>
    <p:extLst>
      <p:ext uri="{BB962C8B-B14F-4D97-AF65-F5344CB8AC3E}">
        <p14:creationId xmlns:p14="http://schemas.microsoft.com/office/powerpoint/2010/main" val="7837696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chemeClr val="tx2"/>
                </a:solidFill>
              </a:rPr>
              <a:t>Function, functional unit and reference flows</a:t>
            </a:r>
            <a:endParaRPr lang="en-US" dirty="0">
              <a:solidFill>
                <a:schemeClr val="tx2"/>
              </a:solidFill>
            </a:endParaRPr>
          </a:p>
        </p:txBody>
      </p:sp>
      <p:sp>
        <p:nvSpPr>
          <p:cNvPr id="3" name="Content Placeholder 2"/>
          <p:cNvSpPr>
            <a:spLocks noGrp="1"/>
          </p:cNvSpPr>
          <p:nvPr>
            <p:ph idx="1"/>
          </p:nvPr>
        </p:nvSpPr>
        <p:spPr>
          <a:xfrm>
            <a:off x="878783" y="1257078"/>
            <a:ext cx="14863738" cy="2243826"/>
          </a:xfrm>
        </p:spPr>
        <p:txBody>
          <a:bodyPr>
            <a:noAutofit/>
          </a:bodyPr>
          <a:lstStyle/>
          <a:p>
            <a:pPr>
              <a:spcBef>
                <a:spcPts val="0"/>
              </a:spcBef>
              <a:spcAft>
                <a:spcPts val="2000"/>
              </a:spcAft>
            </a:pPr>
            <a:r>
              <a:rPr lang="en-US" sz="2800" dirty="0"/>
              <a:t>In public restrooms, different types of hand dryers exist.  What is the best type of hand dryer?  </a:t>
            </a:r>
          </a:p>
          <a:p>
            <a:pPr>
              <a:spcBef>
                <a:spcPts val="0"/>
              </a:spcBef>
              <a:spcAft>
                <a:spcPts val="2000"/>
              </a:spcAft>
            </a:pPr>
            <a:r>
              <a:rPr lang="en-US" sz="2800" dirty="0" smtClean="0"/>
              <a:t>Objective: </a:t>
            </a:r>
            <a:r>
              <a:rPr lang="en-US" sz="2800" dirty="0"/>
              <a:t>Compare </a:t>
            </a:r>
            <a:r>
              <a:rPr lang="en-US" sz="2800" dirty="0" smtClean="0"/>
              <a:t>two </a:t>
            </a:r>
            <a:r>
              <a:rPr lang="en-US" sz="2800" dirty="0"/>
              <a:t>types of hand drying: </a:t>
            </a:r>
            <a:r>
              <a:rPr lang="en-US" sz="2800" dirty="0" smtClean="0"/>
              <a:t/>
            </a:r>
            <a:br>
              <a:rPr lang="en-US" sz="2800" dirty="0" smtClean="0"/>
            </a:br>
            <a:r>
              <a:rPr lang="en-US" sz="2800" dirty="0" smtClean="0"/>
              <a:t>A. </a:t>
            </a:r>
            <a:r>
              <a:rPr lang="en-US" sz="2800" dirty="0"/>
              <a:t>The paper </a:t>
            </a:r>
            <a:r>
              <a:rPr lang="en-US" sz="2800" dirty="0" smtClean="0"/>
              <a:t>towel</a:t>
            </a:r>
            <a:br>
              <a:rPr lang="en-US" sz="2800" dirty="0" smtClean="0"/>
            </a:br>
            <a:r>
              <a:rPr lang="en-US" sz="2800" dirty="0" smtClean="0"/>
              <a:t>B. </a:t>
            </a:r>
            <a:r>
              <a:rPr lang="en-US" sz="2800" dirty="0"/>
              <a:t>The air-dryer with hot </a:t>
            </a:r>
            <a:r>
              <a:rPr lang="en-US" sz="2800" dirty="0" smtClean="0"/>
              <a:t>air</a:t>
            </a:r>
            <a:endParaRPr lang="en-US" sz="2800" dirty="0"/>
          </a:p>
        </p:txBody>
      </p:sp>
      <p:sp>
        <p:nvSpPr>
          <p:cNvPr id="4" name="Rectangle 3">
            <a:extLst>
              <a:ext uri="{FF2B5EF4-FFF2-40B4-BE49-F238E27FC236}">
                <a16:creationId xmlns:a16="http://schemas.microsoft.com/office/drawing/2014/main" id="{4C53867D-86C8-944F-8D47-9D280BFADD50}"/>
              </a:ext>
            </a:extLst>
          </p:cNvPr>
          <p:cNvSpPr/>
          <p:nvPr/>
        </p:nvSpPr>
        <p:spPr>
          <a:xfrm>
            <a:off x="878783" y="3711902"/>
            <a:ext cx="13534436" cy="3877985"/>
          </a:xfrm>
          <a:prstGeom prst="rect">
            <a:avLst/>
          </a:prstGeom>
        </p:spPr>
        <p:txBody>
          <a:bodyPr wrap="square">
            <a:spAutoFit/>
          </a:bodyPr>
          <a:lstStyle/>
          <a:p>
            <a:pPr>
              <a:spcAft>
                <a:spcPts val="2000"/>
              </a:spcAft>
            </a:pPr>
            <a:r>
              <a:rPr lang="en-US" sz="2800" dirty="0"/>
              <a:t>Method:</a:t>
            </a:r>
          </a:p>
          <a:p>
            <a:pPr>
              <a:spcBef>
                <a:spcPts val="0"/>
              </a:spcBef>
              <a:spcAft>
                <a:spcPts val="2000"/>
              </a:spcAft>
            </a:pPr>
            <a:r>
              <a:rPr lang="en-US" sz="2800" dirty="0" smtClean="0"/>
              <a:t>1</a:t>
            </a:r>
            <a:r>
              <a:rPr lang="en-US" sz="2800" dirty="0"/>
              <a:t>. describe the function of the </a:t>
            </a:r>
            <a:r>
              <a:rPr lang="en-US" sz="2800" dirty="0" smtClean="0"/>
              <a:t>system (slide 2); </a:t>
            </a:r>
            <a:endParaRPr lang="en-US" sz="2800" dirty="0"/>
          </a:p>
          <a:p>
            <a:pPr>
              <a:spcBef>
                <a:spcPts val="0"/>
              </a:spcBef>
              <a:spcAft>
                <a:spcPts val="2000"/>
              </a:spcAft>
            </a:pPr>
            <a:r>
              <a:rPr lang="en-US" sz="2800" dirty="0"/>
              <a:t>2. choose the functional unit that represents the function of the system </a:t>
            </a:r>
            <a:r>
              <a:rPr lang="en-US" sz="2800" dirty="0" smtClean="0"/>
              <a:t/>
            </a:r>
            <a:br>
              <a:rPr lang="en-US" sz="2800" dirty="0" smtClean="0"/>
            </a:br>
            <a:r>
              <a:rPr lang="en-US" sz="2800" dirty="0" smtClean="0"/>
              <a:t>(</a:t>
            </a:r>
            <a:r>
              <a:rPr lang="en-US" sz="2800" dirty="0"/>
              <a:t>including a number that qualify the FU</a:t>
            </a:r>
            <a:r>
              <a:rPr lang="en-US" sz="2800" dirty="0" smtClean="0"/>
              <a:t>) – slide 2; </a:t>
            </a:r>
            <a:endParaRPr lang="en-US" sz="2800" dirty="0"/>
          </a:p>
          <a:p>
            <a:pPr>
              <a:spcBef>
                <a:spcPts val="0"/>
              </a:spcBef>
              <a:spcAft>
                <a:spcPts val="2000"/>
              </a:spcAft>
            </a:pPr>
            <a:r>
              <a:rPr lang="en-US" sz="2800" dirty="0"/>
              <a:t>3. for each </a:t>
            </a:r>
            <a:r>
              <a:rPr lang="en-US" sz="2800" dirty="0" smtClean="0"/>
              <a:t>scenario, </a:t>
            </a:r>
            <a:r>
              <a:rPr lang="en-US" sz="2800" dirty="0"/>
              <a:t>and using </a:t>
            </a:r>
            <a:r>
              <a:rPr lang="en-US" sz="2800" dirty="0" smtClean="0"/>
              <a:t>the </a:t>
            </a:r>
            <a:r>
              <a:rPr lang="en-US" sz="2800" dirty="0"/>
              <a:t>data on slide </a:t>
            </a:r>
            <a:r>
              <a:rPr lang="en-US" sz="2800" dirty="0" smtClean="0"/>
              <a:t>4, </a:t>
            </a:r>
            <a:r>
              <a:rPr lang="en-US" sz="2800" dirty="0"/>
              <a:t>list the reference flows corresponding to the selected functional unit. Do provide for each reference flow the QUANTITY used per functional unit.</a:t>
            </a:r>
          </a:p>
        </p:txBody>
      </p:sp>
      <p:sp>
        <p:nvSpPr>
          <p:cNvPr id="5" name="Rectangle 4">
            <a:extLst>
              <a:ext uri="{FF2B5EF4-FFF2-40B4-BE49-F238E27FC236}">
                <a16:creationId xmlns:a16="http://schemas.microsoft.com/office/drawing/2014/main" id="{ADFD014E-2934-5949-A120-3FF5DB0E60F6}"/>
              </a:ext>
            </a:extLst>
          </p:cNvPr>
          <p:cNvSpPr/>
          <p:nvPr/>
        </p:nvSpPr>
        <p:spPr>
          <a:xfrm>
            <a:off x="878783" y="3615428"/>
            <a:ext cx="14052884" cy="3974459"/>
          </a:xfrm>
          <a:prstGeom prst="rect">
            <a:avLst/>
          </a:prstGeom>
          <a:noFill/>
          <a:ln w="317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4" descr="sèche-ma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92300" y="1920020"/>
            <a:ext cx="1778000" cy="1462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descr="seche-mainpapi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7715" y="1920020"/>
            <a:ext cx="1564216" cy="156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4190554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TextBox 34">
            <a:extLst>
              <a:ext uri="{FF2B5EF4-FFF2-40B4-BE49-F238E27FC236}">
                <a16:creationId xmlns:a16="http://schemas.microsoft.com/office/drawing/2014/main" id="{04FC4DB2-6CDF-5A42-95DB-F7B9760E1BF4}"/>
              </a:ext>
            </a:extLst>
          </p:cNvPr>
          <p:cNvSpPr txBox="1"/>
          <p:nvPr/>
        </p:nvSpPr>
        <p:spPr>
          <a:xfrm>
            <a:off x="7966518" y="8264847"/>
            <a:ext cx="184731" cy="369332"/>
          </a:xfrm>
          <a:prstGeom prst="rect">
            <a:avLst/>
          </a:prstGeom>
          <a:noFill/>
        </p:spPr>
        <p:txBody>
          <a:bodyPr wrap="none" rtlCol="0">
            <a:spAutoFit/>
          </a:bodyPr>
          <a:lstStyle/>
          <a:p>
            <a:endParaRPr lang="en-US" dirty="0"/>
          </a:p>
        </p:txBody>
      </p:sp>
      <p:sp>
        <p:nvSpPr>
          <p:cNvPr id="44" name="Rectangle 43">
            <a:extLst>
              <a:ext uri="{FF2B5EF4-FFF2-40B4-BE49-F238E27FC236}">
                <a16:creationId xmlns:a16="http://schemas.microsoft.com/office/drawing/2014/main" id="{D0A456B8-5E35-1441-97A2-026CB857662B}"/>
              </a:ext>
            </a:extLst>
          </p:cNvPr>
          <p:cNvSpPr/>
          <p:nvPr/>
        </p:nvSpPr>
        <p:spPr>
          <a:xfrm>
            <a:off x="2844266" y="3924298"/>
            <a:ext cx="1978708" cy="1478214"/>
          </a:xfrm>
          <a:prstGeom prst="rect">
            <a:avLst/>
          </a:prstGeom>
          <a:solidFill>
            <a:schemeClr val="accent6">
              <a:alpha val="29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DD9CEB1C-999A-1142-9DF9-90742F2B7A4D}"/>
              </a:ext>
            </a:extLst>
          </p:cNvPr>
          <p:cNvSpPr/>
          <p:nvPr/>
        </p:nvSpPr>
        <p:spPr>
          <a:xfrm>
            <a:off x="3042133" y="3309008"/>
            <a:ext cx="1672351" cy="338052"/>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chemeClr val="tx2"/>
                </a:solidFill>
              </a:rPr>
              <a:t>PRODUCTS</a:t>
            </a:r>
          </a:p>
        </p:txBody>
      </p:sp>
      <p:sp>
        <p:nvSpPr>
          <p:cNvPr id="53" name="Rectangle 52">
            <a:extLst>
              <a:ext uri="{FF2B5EF4-FFF2-40B4-BE49-F238E27FC236}">
                <a16:creationId xmlns:a16="http://schemas.microsoft.com/office/drawing/2014/main" id="{B38207BB-5785-DE4D-83A6-89ADC75E6F09}"/>
              </a:ext>
            </a:extLst>
          </p:cNvPr>
          <p:cNvSpPr/>
          <p:nvPr/>
        </p:nvSpPr>
        <p:spPr>
          <a:xfrm>
            <a:off x="5790344" y="3324506"/>
            <a:ext cx="2022678" cy="351286"/>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chemeClr val="tx2"/>
                </a:solidFill>
              </a:rPr>
              <a:t>MAIN FUNCTION</a:t>
            </a:r>
          </a:p>
        </p:txBody>
      </p:sp>
      <p:cxnSp>
        <p:nvCxnSpPr>
          <p:cNvPr id="56" name="Straight Connector 55">
            <a:extLst>
              <a:ext uri="{FF2B5EF4-FFF2-40B4-BE49-F238E27FC236}">
                <a16:creationId xmlns:a16="http://schemas.microsoft.com/office/drawing/2014/main" id="{70A3846F-C647-EC41-ABCE-3FAADA05B775}"/>
              </a:ext>
            </a:extLst>
          </p:cNvPr>
          <p:cNvCxnSpPr>
            <a:cxnSpLocks/>
          </p:cNvCxnSpPr>
          <p:nvPr/>
        </p:nvCxnSpPr>
        <p:spPr>
          <a:xfrm>
            <a:off x="2844266" y="3911552"/>
            <a:ext cx="10412044" cy="0"/>
          </a:xfrm>
          <a:prstGeom prst="line">
            <a:avLst/>
          </a:prstGeom>
          <a:ln w="38100">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58" name="Rectangle 57">
            <a:extLst>
              <a:ext uri="{FF2B5EF4-FFF2-40B4-BE49-F238E27FC236}">
                <a16:creationId xmlns:a16="http://schemas.microsoft.com/office/drawing/2014/main" id="{F053C79B-8F47-8E4A-9776-E167F0F62FF9}"/>
              </a:ext>
            </a:extLst>
          </p:cNvPr>
          <p:cNvSpPr/>
          <p:nvPr/>
        </p:nvSpPr>
        <p:spPr>
          <a:xfrm>
            <a:off x="8821536" y="3207732"/>
            <a:ext cx="4419275"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lgn="ctr"/>
            <a:r>
              <a:rPr lang="en-US" sz="1600" b="1" dirty="0">
                <a:solidFill>
                  <a:schemeClr val="tx2"/>
                </a:solidFill>
              </a:rPr>
              <a:t>SECONDARY FUNCTION &amp; </a:t>
            </a:r>
            <a:br>
              <a:rPr lang="en-US" sz="1600" b="1" dirty="0">
                <a:solidFill>
                  <a:schemeClr val="tx2"/>
                </a:solidFill>
              </a:rPr>
            </a:br>
            <a:r>
              <a:rPr lang="en-US" sz="1600" b="1" dirty="0">
                <a:solidFill>
                  <a:schemeClr val="tx2"/>
                </a:solidFill>
              </a:rPr>
              <a:t>OTHER PERFORMANCES</a:t>
            </a:r>
          </a:p>
        </p:txBody>
      </p:sp>
      <p:sp>
        <p:nvSpPr>
          <p:cNvPr id="60" name="Rectangle 59">
            <a:extLst>
              <a:ext uri="{FF2B5EF4-FFF2-40B4-BE49-F238E27FC236}">
                <a16:creationId xmlns:a16="http://schemas.microsoft.com/office/drawing/2014/main" id="{0F6810AE-D525-C14D-AC7D-69242E6A0B6F}"/>
              </a:ext>
            </a:extLst>
          </p:cNvPr>
          <p:cNvSpPr/>
          <p:nvPr/>
        </p:nvSpPr>
        <p:spPr>
          <a:xfrm>
            <a:off x="3008206" y="3955654"/>
            <a:ext cx="1659784"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1600" b="1" dirty="0" smtClean="0">
                <a:solidFill>
                  <a:schemeClr val="tx2"/>
                </a:solidFill>
              </a:rPr>
              <a:t>Paper towel</a:t>
            </a:r>
            <a:endParaRPr lang="en-US" sz="1600" b="1" dirty="0">
              <a:solidFill>
                <a:schemeClr val="tx2"/>
              </a:solidFill>
            </a:endParaRPr>
          </a:p>
        </p:txBody>
      </p:sp>
      <p:sp>
        <p:nvSpPr>
          <p:cNvPr id="61" name="Rectangle 60">
            <a:extLst>
              <a:ext uri="{FF2B5EF4-FFF2-40B4-BE49-F238E27FC236}">
                <a16:creationId xmlns:a16="http://schemas.microsoft.com/office/drawing/2014/main" id="{1933C772-478B-5B46-83B3-0F663A1DB1E2}"/>
              </a:ext>
            </a:extLst>
          </p:cNvPr>
          <p:cNvSpPr/>
          <p:nvPr/>
        </p:nvSpPr>
        <p:spPr>
          <a:xfrm>
            <a:off x="3008206" y="4690280"/>
            <a:ext cx="1659784"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1600" b="1" dirty="0" smtClean="0">
                <a:solidFill>
                  <a:schemeClr val="tx2"/>
                </a:solidFill>
              </a:rPr>
              <a:t>Air dryer</a:t>
            </a:r>
            <a:endParaRPr lang="en-US" sz="1600" b="1" dirty="0">
              <a:solidFill>
                <a:schemeClr val="tx2"/>
              </a:solidFill>
            </a:endParaRPr>
          </a:p>
        </p:txBody>
      </p:sp>
      <p:cxnSp>
        <p:nvCxnSpPr>
          <p:cNvPr id="63" name="Straight Connector 62">
            <a:extLst>
              <a:ext uri="{FF2B5EF4-FFF2-40B4-BE49-F238E27FC236}">
                <a16:creationId xmlns:a16="http://schemas.microsoft.com/office/drawing/2014/main" id="{D45188D7-D319-0D44-8DF3-A32F029ED678}"/>
              </a:ext>
            </a:extLst>
          </p:cNvPr>
          <p:cNvCxnSpPr>
            <a:cxnSpLocks/>
          </p:cNvCxnSpPr>
          <p:nvPr/>
        </p:nvCxnSpPr>
        <p:spPr>
          <a:xfrm>
            <a:off x="4822974" y="3154024"/>
            <a:ext cx="0" cy="2260863"/>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63100A33-6483-8340-899F-5D30D624704F}"/>
              </a:ext>
            </a:extLst>
          </p:cNvPr>
          <p:cNvCxnSpPr>
            <a:cxnSpLocks/>
          </p:cNvCxnSpPr>
          <p:nvPr/>
        </p:nvCxnSpPr>
        <p:spPr>
          <a:xfrm>
            <a:off x="8837035" y="3154024"/>
            <a:ext cx="0" cy="2260863"/>
          </a:xfrm>
          <a:prstGeom prst="line">
            <a:avLst/>
          </a:prstGeom>
          <a:ln>
            <a:solidFill>
              <a:schemeClr val="bg2">
                <a:lumMod val="90000"/>
              </a:schemeClr>
            </a:solidFill>
          </a:ln>
          <a:effectLst/>
        </p:spPr>
        <p:style>
          <a:lnRef idx="2">
            <a:schemeClr val="accent1"/>
          </a:lnRef>
          <a:fillRef idx="0">
            <a:schemeClr val="accent1"/>
          </a:fillRef>
          <a:effectRef idx="1">
            <a:schemeClr val="accent1"/>
          </a:effectRef>
          <a:fontRef idx="minor">
            <a:schemeClr val="tx1"/>
          </a:fontRef>
        </p:style>
      </p:cxnSp>
      <p:sp>
        <p:nvSpPr>
          <p:cNvPr id="65" name="Rectangle 64">
            <a:extLst>
              <a:ext uri="{FF2B5EF4-FFF2-40B4-BE49-F238E27FC236}">
                <a16:creationId xmlns:a16="http://schemas.microsoft.com/office/drawing/2014/main" id="{85FCB4A6-66B1-D741-8ED3-0D94C04830A5}"/>
              </a:ext>
            </a:extLst>
          </p:cNvPr>
          <p:cNvSpPr/>
          <p:nvPr/>
        </p:nvSpPr>
        <p:spPr>
          <a:xfrm>
            <a:off x="2844266" y="3154024"/>
            <a:ext cx="10412044" cy="2248488"/>
          </a:xfrm>
          <a:prstGeom prst="rect">
            <a:avLst/>
          </a:prstGeom>
          <a:noFill/>
          <a:ln w="25400">
            <a:solidFill>
              <a:schemeClr val="bg2">
                <a:lumMod val="9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Title 1">
            <a:extLst>
              <a:ext uri="{FF2B5EF4-FFF2-40B4-BE49-F238E27FC236}">
                <a16:creationId xmlns:a16="http://schemas.microsoft.com/office/drawing/2014/main" id="{FD8439A4-B037-4F4E-AFCE-96000C7C1237}"/>
              </a:ext>
            </a:extLst>
          </p:cNvPr>
          <p:cNvSpPr txBox="1">
            <a:spLocks/>
          </p:cNvSpPr>
          <p:nvPr/>
        </p:nvSpPr>
        <p:spPr>
          <a:xfrm>
            <a:off x="1041339" y="288697"/>
            <a:ext cx="14631828" cy="870385"/>
          </a:xfrm>
          <a:prstGeom prst="rect">
            <a:avLst/>
          </a:prstGeom>
        </p:spPr>
        <p:txBody>
          <a:bodyPr vert="horz" lIns="91440" tIns="45720" rIns="91440" bIns="45720" rtlCol="0" anchor="ctr">
            <a:noAutofit/>
          </a:bodyPr>
          <a:lstStyle>
            <a:lvl1pPr algn="l" defTabSz="457200" rtl="0" eaLnBrk="1" latinLnBrk="0" hangingPunct="1">
              <a:spcBef>
                <a:spcPct val="0"/>
              </a:spcBef>
              <a:buNone/>
              <a:defRPr sz="4400" kern="1200">
                <a:solidFill>
                  <a:srgbClr val="00274C"/>
                </a:solidFill>
                <a:latin typeface="+mj-lt"/>
                <a:ea typeface="+mj-ea"/>
                <a:cs typeface="+mj-cs"/>
              </a:defRPr>
            </a:lvl1pPr>
          </a:lstStyle>
          <a:p>
            <a:r>
              <a:rPr lang="en-US" altLang="en-US" dirty="0" smtClean="0"/>
              <a:t>Function and functional unit</a:t>
            </a:r>
            <a:endParaRPr lang="en-US" dirty="0">
              <a:solidFill>
                <a:schemeClr val="tx2"/>
              </a:solidFill>
            </a:endParaRPr>
          </a:p>
        </p:txBody>
      </p:sp>
      <p:pic>
        <p:nvPicPr>
          <p:cNvPr id="28" name="Picture 4" descr="sèche-ma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1875" y="4709109"/>
            <a:ext cx="1125721" cy="926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5" descr="seche-mainpapi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1635" y="3750148"/>
            <a:ext cx="870524" cy="87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Rectangle 29">
            <a:extLst>
              <a:ext uri="{FF2B5EF4-FFF2-40B4-BE49-F238E27FC236}">
                <a16:creationId xmlns:a16="http://schemas.microsoft.com/office/drawing/2014/main" id="{0F6810AE-D525-C14D-AC7D-69242E6A0B6F}"/>
              </a:ext>
            </a:extLst>
          </p:cNvPr>
          <p:cNvSpPr/>
          <p:nvPr/>
        </p:nvSpPr>
        <p:spPr>
          <a:xfrm>
            <a:off x="5007486" y="3945974"/>
            <a:ext cx="1659784"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1600" b="1" dirty="0" smtClean="0">
                <a:solidFill>
                  <a:schemeClr val="tx2"/>
                </a:solidFill>
              </a:rPr>
              <a:t>xxx</a:t>
            </a:r>
            <a:endParaRPr lang="en-US" sz="1600" b="1" dirty="0">
              <a:solidFill>
                <a:schemeClr val="tx2"/>
              </a:solidFill>
            </a:endParaRPr>
          </a:p>
        </p:txBody>
      </p:sp>
      <p:sp>
        <p:nvSpPr>
          <p:cNvPr id="31" name="Rectangle 30">
            <a:extLst>
              <a:ext uri="{FF2B5EF4-FFF2-40B4-BE49-F238E27FC236}">
                <a16:creationId xmlns:a16="http://schemas.microsoft.com/office/drawing/2014/main" id="{0F6810AE-D525-C14D-AC7D-69242E6A0B6F}"/>
              </a:ext>
            </a:extLst>
          </p:cNvPr>
          <p:cNvSpPr/>
          <p:nvPr/>
        </p:nvSpPr>
        <p:spPr>
          <a:xfrm>
            <a:off x="9190665" y="3949323"/>
            <a:ext cx="1659784" cy="66458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45720"/>
            <a:r>
              <a:rPr lang="en-US" sz="1600" b="1" dirty="0" smtClean="0">
                <a:solidFill>
                  <a:schemeClr val="tx2"/>
                </a:solidFill>
              </a:rPr>
              <a:t>xxx</a:t>
            </a:r>
            <a:endParaRPr lang="en-US" sz="1600" b="1" dirty="0">
              <a:solidFill>
                <a:schemeClr val="tx2"/>
              </a:solidFill>
            </a:endParaRPr>
          </a:p>
        </p:txBody>
      </p:sp>
      <p:sp>
        <p:nvSpPr>
          <p:cNvPr id="2" name="Rectangle 1"/>
          <p:cNvSpPr/>
          <p:nvPr/>
        </p:nvSpPr>
        <p:spPr>
          <a:xfrm>
            <a:off x="1041339" y="5635149"/>
            <a:ext cx="11456983" cy="1815882"/>
          </a:xfrm>
          <a:prstGeom prst="rect">
            <a:avLst/>
          </a:prstGeom>
        </p:spPr>
        <p:txBody>
          <a:bodyPr wrap="none">
            <a:spAutoFit/>
          </a:bodyPr>
          <a:lstStyle/>
          <a:p>
            <a:r>
              <a:rPr lang="en-US" sz="2800" dirty="0"/>
              <a:t>2. choose the functional unit that represents the function of the system </a:t>
            </a:r>
            <a:endParaRPr lang="en-US" sz="2800" dirty="0" smtClean="0"/>
          </a:p>
          <a:p>
            <a:r>
              <a:rPr lang="en-US" sz="2800" dirty="0" smtClean="0"/>
              <a:t>(</a:t>
            </a:r>
            <a:r>
              <a:rPr lang="en-US" sz="2800" dirty="0"/>
              <a:t>including a number that qualify the FU) </a:t>
            </a:r>
            <a:endParaRPr lang="en-US" sz="2800" dirty="0" smtClean="0"/>
          </a:p>
          <a:p>
            <a:endParaRPr lang="en-US" sz="2800" dirty="0"/>
          </a:p>
          <a:p>
            <a:r>
              <a:rPr lang="en-US" sz="2800" dirty="0" smtClean="0"/>
              <a:t>Selected functional unit : xxx</a:t>
            </a:r>
            <a:endParaRPr lang="en-US" sz="2800" dirty="0"/>
          </a:p>
        </p:txBody>
      </p:sp>
      <p:sp>
        <p:nvSpPr>
          <p:cNvPr id="3" name="Rectangle 2"/>
          <p:cNvSpPr/>
          <p:nvPr/>
        </p:nvSpPr>
        <p:spPr>
          <a:xfrm>
            <a:off x="996340" y="1371723"/>
            <a:ext cx="11221342" cy="1877437"/>
          </a:xfrm>
          <a:prstGeom prst="rect">
            <a:avLst/>
          </a:prstGeom>
        </p:spPr>
        <p:txBody>
          <a:bodyPr wrap="none">
            <a:spAutoFit/>
          </a:bodyPr>
          <a:lstStyle/>
          <a:p>
            <a:r>
              <a:rPr lang="en-US" sz="2800" dirty="0"/>
              <a:t>1. describe the function of the </a:t>
            </a:r>
            <a:r>
              <a:rPr lang="en-US" sz="2800" dirty="0" smtClean="0"/>
              <a:t>system by filling the table below </a:t>
            </a:r>
            <a:br>
              <a:rPr lang="en-US" sz="2800" dirty="0" smtClean="0"/>
            </a:br>
            <a:r>
              <a:rPr lang="en-US" sz="2800" dirty="0" smtClean="0"/>
              <a:t>(</a:t>
            </a:r>
            <a:r>
              <a:rPr lang="en-US" altLang="en-US" sz="2800" dirty="0"/>
              <a:t>For each scenario</a:t>
            </a:r>
            <a:r>
              <a:rPr lang="en-US" altLang="en-US" sz="2800" dirty="0" smtClean="0"/>
              <a:t>, </a:t>
            </a:r>
            <a:r>
              <a:rPr lang="en-US" altLang="en-US" sz="2800" dirty="0"/>
              <a:t>find a secondary function that might save energy </a:t>
            </a:r>
            <a:r>
              <a:rPr lang="en-US" altLang="en-US" sz="2800" dirty="0" smtClean="0"/>
              <a:t/>
            </a:r>
            <a:br>
              <a:rPr lang="en-US" altLang="en-US" sz="2800" dirty="0" smtClean="0"/>
            </a:br>
            <a:r>
              <a:rPr lang="en-US" altLang="en-US" sz="2800" dirty="0" smtClean="0"/>
              <a:t>beyond the </a:t>
            </a:r>
            <a:r>
              <a:rPr lang="en-US" altLang="en-US" sz="2800" dirty="0"/>
              <a:t>main hand </a:t>
            </a:r>
            <a:r>
              <a:rPr lang="en-US" altLang="en-US" sz="2800" dirty="0" smtClean="0"/>
              <a:t>drying function)</a:t>
            </a:r>
            <a:endParaRPr lang="en-US" altLang="en-US" sz="2800" dirty="0">
              <a:solidFill>
                <a:srgbClr val="FF0000"/>
              </a:solidFill>
            </a:endParaRPr>
          </a:p>
          <a:p>
            <a:endParaRPr lang="en-US" dirty="0"/>
          </a:p>
        </p:txBody>
      </p:sp>
    </p:spTree>
    <p:extLst>
      <p:ext uri="{BB962C8B-B14F-4D97-AF65-F5344CB8AC3E}">
        <p14:creationId xmlns:p14="http://schemas.microsoft.com/office/powerpoint/2010/main" val="11573198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216734" y="2432246"/>
            <a:ext cx="13869029" cy="5057259"/>
          </a:xfrm>
          <a:prstGeom prst="rect">
            <a:avLst/>
          </a:prstGeom>
        </p:spPr>
      </p:pic>
      <p:sp>
        <p:nvSpPr>
          <p:cNvPr id="35" name="TextBox 34">
            <a:extLst>
              <a:ext uri="{FF2B5EF4-FFF2-40B4-BE49-F238E27FC236}">
                <a16:creationId xmlns:a16="http://schemas.microsoft.com/office/drawing/2014/main" id="{04FC4DB2-6CDF-5A42-95DB-F7B9760E1BF4}"/>
              </a:ext>
            </a:extLst>
          </p:cNvPr>
          <p:cNvSpPr txBox="1"/>
          <p:nvPr/>
        </p:nvSpPr>
        <p:spPr>
          <a:xfrm>
            <a:off x="7966518" y="8264847"/>
            <a:ext cx="184731" cy="369332"/>
          </a:xfrm>
          <a:prstGeom prst="rect">
            <a:avLst/>
          </a:prstGeom>
          <a:noFill/>
        </p:spPr>
        <p:txBody>
          <a:bodyPr wrap="none" rtlCol="0">
            <a:spAutoFit/>
          </a:bodyPr>
          <a:lstStyle/>
          <a:p>
            <a:endParaRPr lang="en-US" dirty="0"/>
          </a:p>
        </p:txBody>
      </p:sp>
      <p:sp>
        <p:nvSpPr>
          <p:cNvPr id="77" name="Rectangle 76">
            <a:extLst>
              <a:ext uri="{FF2B5EF4-FFF2-40B4-BE49-F238E27FC236}">
                <a16:creationId xmlns:a16="http://schemas.microsoft.com/office/drawing/2014/main" id="{CF6374D5-C9C2-AE45-8C51-D4497FBF8B9E}"/>
              </a:ext>
            </a:extLst>
          </p:cNvPr>
          <p:cNvSpPr/>
          <p:nvPr/>
        </p:nvSpPr>
        <p:spPr>
          <a:xfrm>
            <a:off x="1302534" y="3676649"/>
            <a:ext cx="1659784" cy="333602"/>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chemeClr val="tx2"/>
                </a:solidFill>
              </a:rPr>
              <a:t>Paper towel</a:t>
            </a:r>
          </a:p>
        </p:txBody>
      </p:sp>
      <p:sp>
        <p:nvSpPr>
          <p:cNvPr id="78" name="Rectangle 77">
            <a:extLst>
              <a:ext uri="{FF2B5EF4-FFF2-40B4-BE49-F238E27FC236}">
                <a16:creationId xmlns:a16="http://schemas.microsoft.com/office/drawing/2014/main" id="{C094E664-CCF6-D147-80EE-713A4CDC09FD}"/>
              </a:ext>
            </a:extLst>
          </p:cNvPr>
          <p:cNvSpPr/>
          <p:nvPr/>
        </p:nvSpPr>
        <p:spPr>
          <a:xfrm>
            <a:off x="1302534" y="5598747"/>
            <a:ext cx="1659784" cy="328470"/>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a:solidFill>
                  <a:schemeClr val="tx2"/>
                </a:solidFill>
              </a:rPr>
              <a:t>Air dryer</a:t>
            </a:r>
          </a:p>
        </p:txBody>
      </p:sp>
      <p:sp>
        <p:nvSpPr>
          <p:cNvPr id="39" name="Title 1">
            <a:extLst>
              <a:ext uri="{FF2B5EF4-FFF2-40B4-BE49-F238E27FC236}">
                <a16:creationId xmlns:a16="http://schemas.microsoft.com/office/drawing/2014/main" id="{FD8439A4-B037-4F4E-AFCE-96000C7C1237}"/>
              </a:ext>
            </a:extLst>
          </p:cNvPr>
          <p:cNvSpPr txBox="1">
            <a:spLocks/>
          </p:cNvSpPr>
          <p:nvPr/>
        </p:nvSpPr>
        <p:spPr>
          <a:xfrm>
            <a:off x="1041339" y="288697"/>
            <a:ext cx="14631828" cy="870385"/>
          </a:xfrm>
          <a:prstGeom prst="rect">
            <a:avLst/>
          </a:prstGeom>
        </p:spPr>
        <p:txBody>
          <a:bodyPr vert="horz" lIns="91440" tIns="45720" rIns="91440" bIns="45720" rtlCol="0" anchor="ctr">
            <a:noAutofit/>
          </a:bodyPr>
          <a:lstStyle>
            <a:lvl1pPr algn="l" defTabSz="457200" rtl="0" eaLnBrk="1" latinLnBrk="0" hangingPunct="1">
              <a:spcBef>
                <a:spcPct val="0"/>
              </a:spcBef>
              <a:buNone/>
              <a:defRPr sz="4400" kern="1200">
                <a:solidFill>
                  <a:srgbClr val="00274C"/>
                </a:solidFill>
                <a:latin typeface="+mj-lt"/>
                <a:ea typeface="+mj-ea"/>
                <a:cs typeface="+mj-cs"/>
              </a:defRPr>
            </a:lvl1pPr>
          </a:lstStyle>
          <a:p>
            <a:r>
              <a:rPr lang="en-US" altLang="en-US" dirty="0" smtClean="0"/>
              <a:t>Reference flows and key environmental parameters</a:t>
            </a:r>
            <a:endParaRPr lang="en-US" dirty="0">
              <a:solidFill>
                <a:schemeClr val="tx2"/>
              </a:solidFill>
            </a:endParaRPr>
          </a:p>
        </p:txBody>
      </p:sp>
      <p:sp>
        <p:nvSpPr>
          <p:cNvPr id="30" name="Rectangle 29"/>
          <p:cNvSpPr/>
          <p:nvPr/>
        </p:nvSpPr>
        <p:spPr>
          <a:xfrm>
            <a:off x="1198099" y="1323869"/>
            <a:ext cx="13429041" cy="1384995"/>
          </a:xfrm>
          <a:prstGeom prst="rect">
            <a:avLst/>
          </a:prstGeom>
        </p:spPr>
        <p:txBody>
          <a:bodyPr wrap="square">
            <a:spAutoFit/>
          </a:bodyPr>
          <a:lstStyle/>
          <a:p>
            <a:r>
              <a:rPr lang="en-US" sz="2800" dirty="0" smtClean="0"/>
              <a:t>To make your life easier to compare with the answer keys, I have now selected a functional unit of 1 pair of dried hands</a:t>
            </a:r>
          </a:p>
          <a:p>
            <a:endParaRPr lang="en-US" sz="2800" dirty="0"/>
          </a:p>
        </p:txBody>
      </p:sp>
      <p:sp>
        <p:nvSpPr>
          <p:cNvPr id="31" name="Rectangle 30">
            <a:extLst>
              <a:ext uri="{FF2B5EF4-FFF2-40B4-BE49-F238E27FC236}">
                <a16:creationId xmlns:a16="http://schemas.microsoft.com/office/drawing/2014/main" id="{CF6374D5-C9C2-AE45-8C51-D4497FBF8B9E}"/>
              </a:ext>
            </a:extLst>
          </p:cNvPr>
          <p:cNvSpPr/>
          <p:nvPr/>
        </p:nvSpPr>
        <p:spPr>
          <a:xfrm>
            <a:off x="4047378" y="4987084"/>
            <a:ext cx="1659784" cy="333602"/>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smtClean="0">
                <a:solidFill>
                  <a:schemeClr val="tx2"/>
                </a:solidFill>
              </a:rPr>
              <a:t>1 pair of dried hands</a:t>
            </a:r>
            <a:endParaRPr lang="en-US" sz="1600" b="1" dirty="0">
              <a:solidFill>
                <a:schemeClr val="tx2"/>
              </a:solidFill>
            </a:endParaRPr>
          </a:p>
        </p:txBody>
      </p:sp>
      <p:sp>
        <p:nvSpPr>
          <p:cNvPr id="4" name="Rectangle 3"/>
          <p:cNvSpPr/>
          <p:nvPr/>
        </p:nvSpPr>
        <p:spPr>
          <a:xfrm>
            <a:off x="1041339" y="7572698"/>
            <a:ext cx="15023006" cy="1384995"/>
          </a:xfrm>
          <a:prstGeom prst="rect">
            <a:avLst/>
          </a:prstGeom>
        </p:spPr>
        <p:txBody>
          <a:bodyPr wrap="square">
            <a:spAutoFit/>
          </a:bodyPr>
          <a:lstStyle/>
          <a:p>
            <a:pPr>
              <a:spcBef>
                <a:spcPts val="0"/>
              </a:spcBef>
              <a:spcAft>
                <a:spcPts val="2000"/>
              </a:spcAft>
            </a:pPr>
            <a:r>
              <a:rPr lang="en-US" sz="2800" dirty="0"/>
              <a:t>3. for each scenario, and using </a:t>
            </a:r>
            <a:r>
              <a:rPr lang="en-US" sz="2800" dirty="0" smtClean="0"/>
              <a:t>the </a:t>
            </a:r>
            <a:r>
              <a:rPr lang="en-US" sz="2800" dirty="0"/>
              <a:t>data on slide </a:t>
            </a:r>
            <a:r>
              <a:rPr lang="en-US" sz="2800" dirty="0" smtClean="0"/>
              <a:t>5, </a:t>
            </a:r>
            <a:r>
              <a:rPr lang="en-US" sz="2800" dirty="0"/>
              <a:t>list the reference flows corresponding to the selected functional unit. Do provide for each reference flow the QUANTITY used per functional </a:t>
            </a:r>
            <a:r>
              <a:rPr lang="en-US" sz="2800" dirty="0" smtClean="0"/>
              <a:t>unit. Then add </a:t>
            </a:r>
            <a:r>
              <a:rPr lang="en-US" sz="2800" dirty="0" smtClean="0"/>
              <a:t>the key </a:t>
            </a:r>
            <a:r>
              <a:rPr lang="en-US" sz="2800" dirty="0" smtClean="0"/>
              <a:t>parameters that affect the </a:t>
            </a:r>
            <a:r>
              <a:rPr lang="en-US" sz="2800" dirty="0" smtClean="0"/>
              <a:t>amount of reference flows per FU</a:t>
            </a:r>
            <a:endParaRPr lang="en-US" sz="2800" dirty="0"/>
          </a:p>
        </p:txBody>
      </p:sp>
      <p:sp>
        <p:nvSpPr>
          <p:cNvPr id="23" name="Rectangle 22">
            <a:extLst>
              <a:ext uri="{FF2B5EF4-FFF2-40B4-BE49-F238E27FC236}">
                <a16:creationId xmlns:a16="http://schemas.microsoft.com/office/drawing/2014/main" id="{CF6374D5-C9C2-AE45-8C51-D4497FBF8B9E}"/>
              </a:ext>
            </a:extLst>
          </p:cNvPr>
          <p:cNvSpPr/>
          <p:nvPr/>
        </p:nvSpPr>
        <p:spPr>
          <a:xfrm>
            <a:off x="6124112" y="3703024"/>
            <a:ext cx="3470264" cy="507610"/>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smtClean="0">
                <a:solidFill>
                  <a:schemeClr val="tx2"/>
                </a:solidFill>
              </a:rPr>
              <a:t>XXX towels</a:t>
            </a:r>
          </a:p>
          <a:p>
            <a:pPr marL="45720"/>
            <a:endParaRPr lang="en-US" sz="1600" b="1" dirty="0" smtClean="0">
              <a:solidFill>
                <a:schemeClr val="tx2"/>
              </a:solidFill>
            </a:endParaRPr>
          </a:p>
          <a:p>
            <a:pPr marL="45720"/>
            <a:r>
              <a:rPr lang="en-US" sz="1600" b="1" dirty="0" smtClean="0">
                <a:solidFill>
                  <a:schemeClr val="tx2"/>
                </a:solidFill>
              </a:rPr>
              <a:t>XXX 2</a:t>
            </a:r>
          </a:p>
          <a:p>
            <a:pPr marL="45720"/>
            <a:endParaRPr lang="en-US" sz="1600" b="1" dirty="0">
              <a:solidFill>
                <a:schemeClr val="tx2"/>
              </a:solidFill>
            </a:endParaRPr>
          </a:p>
          <a:p>
            <a:pPr marL="45720"/>
            <a:r>
              <a:rPr lang="en-US" sz="1600" b="1" dirty="0" smtClean="0">
                <a:solidFill>
                  <a:schemeClr val="tx2"/>
                </a:solidFill>
              </a:rPr>
              <a:t>XXX plastic distributors</a:t>
            </a:r>
          </a:p>
          <a:p>
            <a:pPr marL="45720"/>
            <a:endParaRPr lang="en-US" sz="1600" b="1" dirty="0">
              <a:solidFill>
                <a:schemeClr val="tx2"/>
              </a:solidFill>
            </a:endParaRPr>
          </a:p>
        </p:txBody>
      </p:sp>
      <p:sp>
        <p:nvSpPr>
          <p:cNvPr id="24" name="Rectangle 23">
            <a:extLst>
              <a:ext uri="{FF2B5EF4-FFF2-40B4-BE49-F238E27FC236}">
                <a16:creationId xmlns:a16="http://schemas.microsoft.com/office/drawing/2014/main" id="{CF6374D5-C9C2-AE45-8C51-D4497FBF8B9E}"/>
              </a:ext>
            </a:extLst>
          </p:cNvPr>
          <p:cNvSpPr/>
          <p:nvPr/>
        </p:nvSpPr>
        <p:spPr>
          <a:xfrm>
            <a:off x="6124112" y="5760416"/>
            <a:ext cx="3470264" cy="466808"/>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smtClean="0">
                <a:solidFill>
                  <a:schemeClr val="tx2"/>
                </a:solidFill>
              </a:rPr>
              <a:t>XXX 1</a:t>
            </a:r>
          </a:p>
          <a:p>
            <a:pPr marL="45720"/>
            <a:endParaRPr lang="en-US" sz="1600" b="1" dirty="0" smtClean="0">
              <a:solidFill>
                <a:schemeClr val="tx2"/>
              </a:solidFill>
            </a:endParaRPr>
          </a:p>
          <a:p>
            <a:pPr marL="45720"/>
            <a:r>
              <a:rPr lang="en-US" sz="1600" b="1" dirty="0" smtClean="0">
                <a:solidFill>
                  <a:schemeClr val="tx2"/>
                </a:solidFill>
              </a:rPr>
              <a:t>XXX 2</a:t>
            </a:r>
          </a:p>
          <a:p>
            <a:pPr marL="45720"/>
            <a:endParaRPr lang="en-US" sz="1600" b="1" dirty="0">
              <a:solidFill>
                <a:schemeClr val="tx2"/>
              </a:solidFill>
            </a:endParaRPr>
          </a:p>
          <a:p>
            <a:pPr marL="45720"/>
            <a:r>
              <a:rPr lang="en-US" sz="1600" b="1" dirty="0" smtClean="0">
                <a:solidFill>
                  <a:schemeClr val="tx2"/>
                </a:solidFill>
              </a:rPr>
              <a:t>XXX 3</a:t>
            </a:r>
          </a:p>
          <a:p>
            <a:pPr marL="45720"/>
            <a:endParaRPr lang="en-US" sz="1600" b="1" dirty="0">
              <a:solidFill>
                <a:schemeClr val="tx2"/>
              </a:solidFill>
            </a:endParaRPr>
          </a:p>
        </p:txBody>
      </p:sp>
      <p:sp>
        <p:nvSpPr>
          <p:cNvPr id="25" name="Rectangle 24">
            <a:extLst>
              <a:ext uri="{FF2B5EF4-FFF2-40B4-BE49-F238E27FC236}">
                <a16:creationId xmlns:a16="http://schemas.microsoft.com/office/drawing/2014/main" id="{CF6374D5-C9C2-AE45-8C51-D4497FBF8B9E}"/>
              </a:ext>
            </a:extLst>
          </p:cNvPr>
          <p:cNvSpPr/>
          <p:nvPr/>
        </p:nvSpPr>
        <p:spPr>
          <a:xfrm>
            <a:off x="10341269" y="3908409"/>
            <a:ext cx="4452903" cy="302225"/>
          </a:xfrm>
          <a:prstGeom prst="rect">
            <a:avLst/>
          </a:prstGeom>
          <a:noFill/>
          <a:ln w="25400">
            <a:noFill/>
          </a:ln>
          <a:effectLst/>
        </p:spPr>
        <p:style>
          <a:lnRef idx="1">
            <a:schemeClr val="accent1"/>
          </a:lnRef>
          <a:fillRef idx="3">
            <a:schemeClr val="accent1"/>
          </a:fillRef>
          <a:effectRef idx="2">
            <a:schemeClr val="accent1"/>
          </a:effectRef>
          <a:fontRef idx="minor">
            <a:schemeClr val="lt1"/>
          </a:fontRef>
        </p:style>
        <p:txBody>
          <a:bodyPr rtlCol="0" anchor="t"/>
          <a:lstStyle/>
          <a:p>
            <a:pPr marL="45720"/>
            <a:r>
              <a:rPr lang="en-US" sz="1600" b="1" dirty="0" smtClean="0">
                <a:solidFill>
                  <a:schemeClr val="tx2"/>
                </a:solidFill>
              </a:rPr>
              <a:t>XXX 1</a:t>
            </a:r>
          </a:p>
          <a:p>
            <a:pPr marL="45720"/>
            <a:endParaRPr lang="en-US" sz="1600" b="1" dirty="0" smtClean="0">
              <a:solidFill>
                <a:schemeClr val="tx2"/>
              </a:solidFill>
            </a:endParaRPr>
          </a:p>
          <a:p>
            <a:pPr marL="45720"/>
            <a:r>
              <a:rPr lang="en-US" sz="1600" b="1" dirty="0" smtClean="0">
                <a:solidFill>
                  <a:schemeClr val="tx2"/>
                </a:solidFill>
              </a:rPr>
              <a:t>XXX 2</a:t>
            </a:r>
          </a:p>
          <a:p>
            <a:pPr marL="45720"/>
            <a:endParaRPr lang="en-US" sz="1600" b="1" dirty="0">
              <a:solidFill>
                <a:schemeClr val="tx2"/>
              </a:solidFill>
            </a:endParaRPr>
          </a:p>
          <a:p>
            <a:pPr marL="45720"/>
            <a:r>
              <a:rPr lang="en-US" sz="1600" b="1" dirty="0" smtClean="0">
                <a:solidFill>
                  <a:schemeClr val="tx2"/>
                </a:solidFill>
              </a:rPr>
              <a:t>XXX 3</a:t>
            </a:r>
          </a:p>
          <a:p>
            <a:pPr marL="45720"/>
            <a:endParaRPr lang="en-US" sz="1600" b="1" dirty="0">
              <a:solidFill>
                <a:schemeClr val="tx2"/>
              </a:solidFill>
            </a:endParaRPr>
          </a:p>
        </p:txBody>
      </p:sp>
      <p:pic>
        <p:nvPicPr>
          <p:cNvPr id="26" name="Picture 12" descr="sèche-mai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1293" y="6227224"/>
            <a:ext cx="1116374" cy="91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13" descr="seche-mainpapie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6880" y="4133732"/>
            <a:ext cx="844304" cy="844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7638737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9900"/>
              </a:buClr>
              <a:buChar char="•"/>
              <a:defRPr sz="4267" b="1">
                <a:solidFill>
                  <a:srgbClr val="01035B"/>
                </a:solidFill>
                <a:latin typeface="Arial" panose="020B0604020202020204" pitchFamily="34" charset="0"/>
              </a:defRPr>
            </a:lvl1pPr>
            <a:lvl2pPr marL="990575" indent="-380990">
              <a:spcBef>
                <a:spcPct val="20000"/>
              </a:spcBef>
              <a:buClr>
                <a:srgbClr val="FF9900"/>
              </a:buClr>
              <a:buChar char="–"/>
              <a:defRPr sz="3733" b="1">
                <a:solidFill>
                  <a:srgbClr val="01035B"/>
                </a:solidFill>
                <a:latin typeface="Arial" panose="020B0604020202020204" pitchFamily="34" charset="0"/>
              </a:defRPr>
            </a:lvl2pPr>
            <a:lvl3pPr marL="1523962" indent="-304792">
              <a:spcBef>
                <a:spcPct val="20000"/>
              </a:spcBef>
              <a:buClr>
                <a:srgbClr val="FF9900"/>
              </a:buClr>
              <a:buChar char="•"/>
              <a:defRPr sz="3200" b="1">
                <a:solidFill>
                  <a:srgbClr val="01035B"/>
                </a:solidFill>
                <a:latin typeface="Arial" panose="020B0604020202020204" pitchFamily="34" charset="0"/>
              </a:defRPr>
            </a:lvl3pPr>
            <a:lvl4pPr marL="2133547" indent="-304792">
              <a:spcBef>
                <a:spcPct val="20000"/>
              </a:spcBef>
              <a:buClr>
                <a:srgbClr val="FF9900"/>
              </a:buClr>
              <a:buChar char="–"/>
              <a:defRPr sz="2667" b="1">
                <a:solidFill>
                  <a:srgbClr val="01035B"/>
                </a:solidFill>
                <a:latin typeface="Arial" panose="020B0604020202020204" pitchFamily="34" charset="0"/>
              </a:defRPr>
            </a:lvl4pPr>
            <a:lvl5pPr marL="2743131" indent="-304792">
              <a:spcBef>
                <a:spcPct val="20000"/>
              </a:spcBef>
              <a:buClr>
                <a:srgbClr val="FF9900"/>
              </a:buClr>
              <a:buChar char="»"/>
              <a:defRPr sz="2667" b="1">
                <a:solidFill>
                  <a:srgbClr val="01035B"/>
                </a:solidFill>
                <a:latin typeface="Arial" panose="020B0604020202020204" pitchFamily="34" charset="0"/>
              </a:defRPr>
            </a:lvl5pPr>
            <a:lvl6pPr marL="3352716" indent="-304792" eaLnBrk="0" fontAlgn="base" hangingPunct="0">
              <a:spcBef>
                <a:spcPct val="20000"/>
              </a:spcBef>
              <a:spcAft>
                <a:spcPct val="0"/>
              </a:spcAft>
              <a:buClr>
                <a:srgbClr val="FF9900"/>
              </a:buClr>
              <a:buChar char="»"/>
              <a:defRPr sz="2667" b="1">
                <a:solidFill>
                  <a:srgbClr val="01035B"/>
                </a:solidFill>
                <a:latin typeface="Arial" panose="020B0604020202020204" pitchFamily="34" charset="0"/>
              </a:defRPr>
            </a:lvl6pPr>
            <a:lvl7pPr marL="3962301" indent="-304792" eaLnBrk="0" fontAlgn="base" hangingPunct="0">
              <a:spcBef>
                <a:spcPct val="20000"/>
              </a:spcBef>
              <a:spcAft>
                <a:spcPct val="0"/>
              </a:spcAft>
              <a:buClr>
                <a:srgbClr val="FF9900"/>
              </a:buClr>
              <a:buChar char="»"/>
              <a:defRPr sz="2667" b="1">
                <a:solidFill>
                  <a:srgbClr val="01035B"/>
                </a:solidFill>
                <a:latin typeface="Arial" panose="020B0604020202020204" pitchFamily="34" charset="0"/>
              </a:defRPr>
            </a:lvl7pPr>
            <a:lvl8pPr marL="4571886" indent="-304792" eaLnBrk="0" fontAlgn="base" hangingPunct="0">
              <a:spcBef>
                <a:spcPct val="20000"/>
              </a:spcBef>
              <a:spcAft>
                <a:spcPct val="0"/>
              </a:spcAft>
              <a:buClr>
                <a:srgbClr val="FF9900"/>
              </a:buClr>
              <a:buChar char="»"/>
              <a:defRPr sz="2667" b="1">
                <a:solidFill>
                  <a:srgbClr val="01035B"/>
                </a:solidFill>
                <a:latin typeface="Arial" panose="020B0604020202020204" pitchFamily="34" charset="0"/>
              </a:defRPr>
            </a:lvl8pPr>
            <a:lvl9pPr marL="5181470" indent="-304792" eaLnBrk="0" fontAlgn="base" hangingPunct="0">
              <a:spcBef>
                <a:spcPct val="20000"/>
              </a:spcBef>
              <a:spcAft>
                <a:spcPct val="0"/>
              </a:spcAft>
              <a:buClr>
                <a:srgbClr val="FF9900"/>
              </a:buClr>
              <a:buChar char="»"/>
              <a:defRPr sz="2667" b="1">
                <a:solidFill>
                  <a:srgbClr val="01035B"/>
                </a:solidFill>
                <a:latin typeface="Arial" panose="020B0604020202020204" pitchFamily="34" charset="0"/>
              </a:defRPr>
            </a:lvl9pPr>
          </a:lstStyle>
          <a:p>
            <a:pPr>
              <a:spcBef>
                <a:spcPct val="0"/>
              </a:spcBef>
              <a:buClrTx/>
              <a:buFontTx/>
              <a:buNone/>
            </a:pPr>
            <a:fld id="{D0FA91AE-63A9-4136-AFFF-24EAFB373D13}" type="slidenum">
              <a:rPr lang="en-US" altLang="en-US" sz="1867" b="0">
                <a:solidFill>
                  <a:schemeClr val="tx1"/>
                </a:solidFill>
              </a:rPr>
              <a:pPr>
                <a:spcBef>
                  <a:spcPct val="0"/>
                </a:spcBef>
                <a:buClrTx/>
                <a:buFontTx/>
                <a:buNone/>
              </a:pPr>
              <a:t>5</a:t>
            </a:fld>
            <a:endParaRPr lang="en-US" altLang="en-US" sz="1867" b="0">
              <a:solidFill>
                <a:schemeClr val="tx1"/>
              </a:solidFill>
            </a:endParaRPr>
          </a:p>
        </p:txBody>
      </p:sp>
      <p:sp>
        <p:nvSpPr>
          <p:cNvPr id="15363" name="Rectangle 2"/>
          <p:cNvSpPr>
            <a:spLocks noGrp="1" noChangeArrowheads="1"/>
          </p:cNvSpPr>
          <p:nvPr>
            <p:ph type="title"/>
          </p:nvPr>
        </p:nvSpPr>
        <p:spPr>
          <a:xfrm>
            <a:off x="846163" y="139085"/>
            <a:ext cx="16251943" cy="1176867"/>
          </a:xfrm>
        </p:spPr>
        <p:txBody>
          <a:bodyPr/>
          <a:lstStyle/>
          <a:p>
            <a:pPr eaLnBrk="1" hangingPunct="1"/>
            <a:r>
              <a:rPr lang="en-US" altLang="en-US" sz="4267" dirty="0" smtClean="0"/>
              <a:t>Hand </a:t>
            </a:r>
            <a:r>
              <a:rPr lang="en-US" altLang="en-US" sz="4267" dirty="0"/>
              <a:t>Dryers – Intermediary Flows</a:t>
            </a:r>
          </a:p>
        </p:txBody>
      </p:sp>
      <p:graphicFrame>
        <p:nvGraphicFramePr>
          <p:cNvPr id="3106870" name="Group 54"/>
          <p:cNvGraphicFramePr>
            <a:graphicFrameLocks noGrp="1"/>
          </p:cNvGraphicFramePr>
          <p:nvPr>
            <p:ph sz="quarter" idx="2"/>
            <p:extLst>
              <p:ext uri="{D42A27DB-BD31-4B8C-83A1-F6EECF244321}">
                <p14:modId xmlns:p14="http://schemas.microsoft.com/office/powerpoint/2010/main" val="4000052364"/>
              </p:ext>
            </p:extLst>
          </p:nvPr>
        </p:nvGraphicFramePr>
        <p:xfrm>
          <a:off x="9922719" y="1485822"/>
          <a:ext cx="5384800" cy="3906136"/>
        </p:xfrm>
        <a:graphic>
          <a:graphicData uri="http://schemas.openxmlformats.org/drawingml/2006/table">
            <a:tbl>
              <a:tblPr/>
              <a:tblGrid>
                <a:gridCol w="2495551">
                  <a:extLst>
                    <a:ext uri="{9D8B030D-6E8A-4147-A177-3AD203B41FA5}">
                      <a16:colId xmlns:a16="http://schemas.microsoft.com/office/drawing/2014/main" val="20000"/>
                    </a:ext>
                  </a:extLst>
                </a:gridCol>
                <a:gridCol w="2889249">
                  <a:extLst>
                    <a:ext uri="{9D8B030D-6E8A-4147-A177-3AD203B41FA5}">
                      <a16:colId xmlns:a16="http://schemas.microsoft.com/office/drawing/2014/main" val="20001"/>
                    </a:ext>
                  </a:extLst>
                </a:gridCol>
              </a:tblGrid>
              <a:tr h="547694">
                <a:tc>
                  <a:txBody>
                    <a:bodyPr/>
                    <a:lstStyle/>
                    <a:p>
                      <a:pPr marL="0" marR="0" lvl="0" indent="0" algn="l" defTabSz="914400" rtl="0" eaLnBrk="1" fontAlgn="base" latinLnBrk="0" hangingPunct="1">
                        <a:lnSpc>
                          <a:spcPct val="100000"/>
                        </a:lnSpc>
                        <a:spcBef>
                          <a:spcPts val="0"/>
                        </a:spcBef>
                        <a:spcAft>
                          <a:spcPct val="0"/>
                        </a:spcAft>
                        <a:buClr>
                          <a:srgbClr val="FF9900"/>
                        </a:buClr>
                        <a:buSzTx/>
                        <a:buFontTx/>
                        <a:buNone/>
                        <a:tabLst/>
                      </a:pPr>
                      <a:endParaRPr kumimoji="0" lang="en-US" sz="4300" b="1" i="0" u="none" strike="noStrike" cap="none" normalizeH="0" baseline="0" dirty="0" smtClean="0">
                        <a:ln>
                          <a:noFill/>
                        </a:ln>
                        <a:solidFill>
                          <a:srgbClr val="01035B"/>
                        </a:solidFill>
                        <a:effectLst/>
                        <a:latin typeface="Arial" charset="0"/>
                      </a:endParaRPr>
                    </a:p>
                  </a:txBody>
                  <a:tcPr marL="121920" marR="121920" marT="60936" marB="6093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ts val="0"/>
                        </a:spcBef>
                        <a:spcAft>
                          <a:spcPct val="0"/>
                        </a:spcAft>
                        <a:buClrTx/>
                        <a:buSzTx/>
                        <a:buFontTx/>
                        <a:buNone/>
                        <a:tabLst/>
                      </a:pPr>
                      <a:r>
                        <a:rPr kumimoji="0" lang="en-US" sz="2100" b="1" i="0" u="none" strike="noStrike" cap="none" normalizeH="0" baseline="0" dirty="0" smtClean="0">
                          <a:ln>
                            <a:noFill/>
                          </a:ln>
                          <a:solidFill>
                            <a:schemeClr val="tx1"/>
                          </a:solidFill>
                          <a:effectLst/>
                          <a:latin typeface="+mn-lt"/>
                          <a:cs typeface="Times New Roman" pitchFamily="18" charset="0"/>
                        </a:rPr>
                        <a:t>Hot air hand dryer</a:t>
                      </a:r>
                      <a:endParaRPr kumimoji="0" lang="en-US" sz="3700" b="0" i="0" u="none" strike="noStrike" cap="none" normalizeH="0" baseline="0" dirty="0" smtClean="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smtClean="0">
                          <a:ln>
                            <a:noFill/>
                          </a:ln>
                          <a:solidFill>
                            <a:schemeClr val="tx1"/>
                          </a:solidFill>
                          <a:effectLst/>
                          <a:latin typeface="+mn-lt"/>
                          <a:cs typeface="Times New Roman" pitchFamily="18" charset="0"/>
                        </a:rPr>
                        <a:t>Weight</a:t>
                      </a:r>
                      <a:endParaRPr kumimoji="0" lang="en-US" sz="3700" b="0" i="0" u="none" strike="noStrike" cap="none" normalizeH="0" baseline="0" dirty="0" smtClean="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smtClean="0">
                          <a:ln>
                            <a:noFill/>
                          </a:ln>
                          <a:solidFill>
                            <a:schemeClr val="tx1"/>
                          </a:solidFill>
                          <a:effectLst/>
                          <a:latin typeface="+mn-lt"/>
                          <a:cs typeface="Times New Roman" pitchFamily="18" charset="0"/>
                        </a:rPr>
                        <a:t>12 kg</a:t>
                      </a:r>
                      <a:endParaRPr kumimoji="0" lang="en-US" sz="3700" b="0" i="0" u="none" strike="noStrike" cap="none" normalizeH="0" baseline="0" smtClean="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smtClean="0">
                          <a:ln>
                            <a:noFill/>
                          </a:ln>
                          <a:solidFill>
                            <a:schemeClr val="tx1"/>
                          </a:solidFill>
                          <a:effectLst/>
                          <a:latin typeface="+mn-lt"/>
                          <a:cs typeface="Times New Roman" pitchFamily="18" charset="0"/>
                        </a:rPr>
                        <a:t>Carcass</a:t>
                      </a:r>
                      <a:endParaRPr kumimoji="0" lang="en-US" sz="3700" b="0" i="0" u="none" strike="noStrike" cap="none" normalizeH="0" baseline="0" dirty="0" smtClean="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smtClean="0">
                          <a:ln>
                            <a:noFill/>
                          </a:ln>
                          <a:solidFill>
                            <a:schemeClr val="tx1"/>
                          </a:solidFill>
                          <a:effectLst/>
                          <a:latin typeface="+mn-lt"/>
                          <a:cs typeface="Times New Roman" pitchFamily="18" charset="0"/>
                        </a:rPr>
                        <a:t>8 kg Cast iron</a:t>
                      </a:r>
                      <a:endParaRPr kumimoji="0" lang="en-US" sz="3700" b="0" i="0" u="none" strike="noStrike" cap="none" normalizeH="0" baseline="0" smtClean="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smtClean="0">
                          <a:ln>
                            <a:noFill/>
                          </a:ln>
                          <a:solidFill>
                            <a:schemeClr val="tx1"/>
                          </a:solidFill>
                          <a:effectLst/>
                          <a:latin typeface="+mn-lt"/>
                          <a:cs typeface="Times New Roman" pitchFamily="18" charset="0"/>
                        </a:rPr>
                        <a:t>Base</a:t>
                      </a:r>
                      <a:endParaRPr kumimoji="0" lang="en-US" sz="3700" b="0" i="0" u="none" strike="noStrike" cap="none" normalizeH="0" baseline="0" dirty="0" smtClean="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smtClean="0">
                          <a:ln>
                            <a:noFill/>
                          </a:ln>
                          <a:solidFill>
                            <a:schemeClr val="tx1"/>
                          </a:solidFill>
                          <a:effectLst/>
                          <a:latin typeface="+mn-lt"/>
                          <a:cs typeface="Times New Roman" pitchFamily="18" charset="0"/>
                        </a:rPr>
                        <a:t>4 kg steel</a:t>
                      </a:r>
                      <a:endParaRPr kumimoji="0" lang="en-US" sz="3700" b="0" i="0" u="none" strike="noStrike" cap="none" normalizeH="0" baseline="0" dirty="0" smtClean="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smtClean="0">
                          <a:ln>
                            <a:noFill/>
                          </a:ln>
                          <a:solidFill>
                            <a:schemeClr val="tx1"/>
                          </a:solidFill>
                          <a:effectLst/>
                          <a:latin typeface="+mn-lt"/>
                          <a:cs typeface="Times New Roman" pitchFamily="18" charset="0"/>
                        </a:rPr>
                        <a:t>Device Life time</a:t>
                      </a:r>
                      <a:endParaRPr kumimoji="0" lang="en-US" sz="3700" b="0" i="0" u="none" strike="noStrike" cap="none" normalizeH="0" baseline="0" smtClean="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smtClean="0">
                          <a:ln>
                            <a:noFill/>
                          </a:ln>
                          <a:solidFill>
                            <a:schemeClr val="tx1"/>
                          </a:solidFill>
                          <a:effectLst/>
                          <a:latin typeface="+mn-lt"/>
                          <a:cs typeface="Times New Roman" pitchFamily="18" charset="0"/>
                        </a:rPr>
                        <a:t>20 years</a:t>
                      </a:r>
                      <a:endParaRPr kumimoji="0" lang="en-US" sz="3700" b="0" i="0" u="none" strike="noStrike" cap="none" normalizeH="0" baseline="0" dirty="0" smtClean="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smtClean="0">
                          <a:ln>
                            <a:noFill/>
                          </a:ln>
                          <a:solidFill>
                            <a:schemeClr val="tx1"/>
                          </a:solidFill>
                          <a:effectLst/>
                          <a:latin typeface="+mn-lt"/>
                          <a:cs typeface="Times New Roman" pitchFamily="18" charset="0"/>
                        </a:rPr>
                        <a:t>Electricity rate</a:t>
                      </a:r>
                      <a:endParaRPr kumimoji="0" lang="en-US" sz="3700" b="0" i="0" u="none" strike="noStrike" cap="none" normalizeH="0" baseline="0" smtClean="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smtClean="0">
                          <a:ln>
                            <a:noFill/>
                          </a:ln>
                          <a:solidFill>
                            <a:schemeClr val="tx1"/>
                          </a:solidFill>
                          <a:effectLst/>
                          <a:latin typeface="+mn-lt"/>
                          <a:cs typeface="Times New Roman" pitchFamily="18" charset="0"/>
                        </a:rPr>
                        <a:t>1800 W</a:t>
                      </a:r>
                      <a:endParaRPr kumimoji="0" lang="en-US" sz="3700" b="0" i="0" u="none" strike="noStrike" cap="none" normalizeH="0" baseline="0" dirty="0" smtClean="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smtClean="0">
                          <a:ln>
                            <a:noFill/>
                          </a:ln>
                          <a:solidFill>
                            <a:schemeClr val="tx1"/>
                          </a:solidFill>
                          <a:effectLst/>
                          <a:latin typeface="+mn-lt"/>
                          <a:cs typeface="Times New Roman" pitchFamily="18" charset="0"/>
                        </a:rPr>
                        <a:t>Drying time</a:t>
                      </a:r>
                      <a:endParaRPr kumimoji="0" lang="en-US" sz="3700" b="0" i="0" u="none" strike="noStrike" cap="none" normalizeH="0" baseline="0" smtClean="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smtClean="0">
                          <a:ln>
                            <a:noFill/>
                          </a:ln>
                          <a:solidFill>
                            <a:schemeClr val="tx1"/>
                          </a:solidFill>
                          <a:effectLst/>
                          <a:latin typeface="+mn-lt"/>
                          <a:cs typeface="Times New Roman" pitchFamily="18" charset="0"/>
                        </a:rPr>
                        <a:t>30 s</a:t>
                      </a:r>
                      <a:endParaRPr kumimoji="0" lang="en-US" sz="3700" b="0" i="0" u="none" strike="noStrike" cap="none" normalizeH="0" baseline="0" dirty="0" smtClean="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46992">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smtClean="0">
                          <a:ln>
                            <a:noFill/>
                          </a:ln>
                          <a:solidFill>
                            <a:schemeClr val="tx1"/>
                          </a:solidFill>
                          <a:effectLst/>
                          <a:latin typeface="+mn-lt"/>
                          <a:cs typeface="Times New Roman" pitchFamily="18" charset="0"/>
                        </a:rPr>
                        <a:t>Transport</a:t>
                      </a:r>
                      <a:endParaRPr kumimoji="0" lang="en-US" sz="3700" b="0" i="0" u="none" strike="noStrike" cap="none" normalizeH="0" baseline="0" smtClean="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smtClean="0">
                          <a:ln>
                            <a:noFill/>
                          </a:ln>
                          <a:solidFill>
                            <a:schemeClr val="tx1"/>
                          </a:solidFill>
                          <a:effectLst/>
                          <a:latin typeface="+mn-lt"/>
                          <a:cs typeface="Times New Roman" pitchFamily="18" charset="0"/>
                        </a:rPr>
                        <a:t>100km truck</a:t>
                      </a:r>
                      <a:endParaRPr kumimoji="0" lang="en-US" sz="3700" b="0" i="0" u="none" strike="noStrike" cap="none" normalizeH="0" baseline="0" dirty="0" smtClean="0">
                        <a:ln>
                          <a:noFill/>
                        </a:ln>
                        <a:solidFill>
                          <a:schemeClr val="tx1"/>
                        </a:solidFill>
                        <a:effectLst/>
                        <a:latin typeface="+mn-lt"/>
                      </a:endParaRPr>
                    </a:p>
                  </a:txBody>
                  <a:tcPr marL="121920" marR="121920" marT="60936" marB="6093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3106849" name="Group 33"/>
          <p:cNvGraphicFramePr>
            <a:graphicFrameLocks noGrp="1"/>
          </p:cNvGraphicFramePr>
          <p:nvPr>
            <p:ph sz="quarter" idx="3"/>
            <p:extLst>
              <p:ext uri="{D42A27DB-BD31-4B8C-83A1-F6EECF244321}">
                <p14:modId xmlns:p14="http://schemas.microsoft.com/office/powerpoint/2010/main" val="250409087"/>
              </p:ext>
            </p:extLst>
          </p:nvPr>
        </p:nvGraphicFramePr>
        <p:xfrm>
          <a:off x="9922719" y="5561828"/>
          <a:ext cx="5384800" cy="2453240"/>
        </p:xfrm>
        <a:graphic>
          <a:graphicData uri="http://schemas.openxmlformats.org/drawingml/2006/table">
            <a:tbl>
              <a:tblPr/>
              <a:tblGrid>
                <a:gridCol w="3433233">
                  <a:extLst>
                    <a:ext uri="{9D8B030D-6E8A-4147-A177-3AD203B41FA5}">
                      <a16:colId xmlns:a16="http://schemas.microsoft.com/office/drawing/2014/main" val="20000"/>
                    </a:ext>
                  </a:extLst>
                </a:gridCol>
                <a:gridCol w="1951567">
                  <a:extLst>
                    <a:ext uri="{9D8B030D-6E8A-4147-A177-3AD203B41FA5}">
                      <a16:colId xmlns:a16="http://schemas.microsoft.com/office/drawing/2014/main" val="20001"/>
                    </a:ext>
                  </a:extLst>
                </a:gridCol>
              </a:tblGrid>
              <a:tr h="585559">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endParaRPr kumimoji="0" lang="en-US" sz="3700" b="0" i="0" u="none" strike="noStrike" cap="none" normalizeH="0" baseline="0" dirty="0" smtClean="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sz="2100" b="1" i="0" u="none" strike="noStrike" cap="none" normalizeH="0" baseline="0" dirty="0" smtClean="0">
                          <a:ln>
                            <a:noFill/>
                          </a:ln>
                          <a:solidFill>
                            <a:schemeClr val="tx1"/>
                          </a:solidFill>
                          <a:effectLst/>
                          <a:latin typeface="+mn-lt"/>
                          <a:cs typeface="Times New Roman" pitchFamily="18" charset="0"/>
                        </a:rPr>
                        <a:t>paper towel</a:t>
                      </a:r>
                      <a:endParaRPr kumimoji="0" lang="en-US" sz="3700" b="1" i="0" u="none" strike="noStrike" cap="none" normalizeH="0" baseline="0" dirty="0" smtClean="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6595">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smtClean="0">
                          <a:ln>
                            <a:noFill/>
                          </a:ln>
                          <a:solidFill>
                            <a:schemeClr val="tx1"/>
                          </a:solidFill>
                          <a:effectLst/>
                          <a:latin typeface="+mn-lt"/>
                          <a:cs typeface="Times New Roman" pitchFamily="18" charset="0"/>
                        </a:rPr>
                        <a:t>Towel weight</a:t>
                      </a:r>
                      <a:endParaRPr kumimoji="0" lang="en-US" sz="3700" b="0" i="0" u="none" strike="noStrike" cap="none" normalizeH="0" baseline="0" dirty="0" smtClean="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smtClean="0">
                          <a:ln>
                            <a:noFill/>
                          </a:ln>
                          <a:solidFill>
                            <a:schemeClr val="tx1"/>
                          </a:solidFill>
                          <a:effectLst/>
                          <a:latin typeface="+mn-lt"/>
                          <a:cs typeface="Times New Roman" pitchFamily="18" charset="0"/>
                        </a:rPr>
                        <a:t>3.58 g</a:t>
                      </a:r>
                      <a:endParaRPr kumimoji="0" lang="en-US" sz="3700" b="0" i="0" u="none" strike="noStrike" cap="none" normalizeH="0" baseline="0" dirty="0" smtClean="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76595">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smtClean="0">
                          <a:ln>
                            <a:noFill/>
                          </a:ln>
                          <a:solidFill>
                            <a:schemeClr val="tx1"/>
                          </a:solidFill>
                          <a:effectLst/>
                          <a:latin typeface="+mn-lt"/>
                          <a:cs typeface="Times New Roman" pitchFamily="18" charset="0"/>
                        </a:rPr>
                        <a:t>Weight of towel container</a:t>
                      </a:r>
                      <a:endParaRPr kumimoji="0" lang="en-US" sz="3700" b="0" i="0" u="none" strike="noStrike" cap="none" normalizeH="0" baseline="0" dirty="0" smtClean="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smtClean="0">
                          <a:ln>
                            <a:noFill/>
                          </a:ln>
                          <a:solidFill>
                            <a:schemeClr val="tx1"/>
                          </a:solidFill>
                          <a:effectLst/>
                          <a:latin typeface="+mn-lt"/>
                          <a:cs typeface="Times New Roman" pitchFamily="18" charset="0"/>
                        </a:rPr>
                        <a:t>3 kg plastic</a:t>
                      </a:r>
                      <a:endParaRPr kumimoji="0" lang="en-US" sz="3700" b="0" i="0" u="none" strike="noStrike" cap="none" normalizeH="0" baseline="0" dirty="0" smtClean="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76595">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smtClean="0">
                          <a:ln>
                            <a:noFill/>
                          </a:ln>
                          <a:solidFill>
                            <a:schemeClr val="tx1"/>
                          </a:solidFill>
                          <a:effectLst/>
                          <a:latin typeface="+mn-lt"/>
                          <a:cs typeface="Times New Roman" pitchFamily="18" charset="0"/>
                        </a:rPr>
                        <a:t>Device life-time</a:t>
                      </a:r>
                      <a:endParaRPr kumimoji="0" lang="en-US" sz="3700" b="0" i="0" u="none" strike="noStrike" cap="none" normalizeH="0" baseline="0" smtClean="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smtClean="0">
                          <a:ln>
                            <a:noFill/>
                          </a:ln>
                          <a:solidFill>
                            <a:schemeClr val="tx1"/>
                          </a:solidFill>
                          <a:effectLst/>
                          <a:latin typeface="+mn-lt"/>
                          <a:cs typeface="Times New Roman" pitchFamily="18" charset="0"/>
                        </a:rPr>
                        <a:t>10 years</a:t>
                      </a:r>
                      <a:endParaRPr kumimoji="0" lang="en-US" sz="3700" b="0" i="0" u="none" strike="noStrike" cap="none" normalizeH="0" baseline="0" dirty="0" smtClean="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76595">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smtClean="0">
                          <a:ln>
                            <a:noFill/>
                          </a:ln>
                          <a:solidFill>
                            <a:schemeClr val="tx1"/>
                          </a:solidFill>
                          <a:effectLst/>
                          <a:latin typeface="+mn-lt"/>
                          <a:cs typeface="Times New Roman" pitchFamily="18" charset="0"/>
                        </a:rPr>
                        <a:t>Transport</a:t>
                      </a:r>
                      <a:endParaRPr kumimoji="0" lang="en-US" sz="3700" b="0" i="0" u="none" strike="noStrike" cap="none" normalizeH="0" baseline="0" dirty="0" smtClean="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342900" marR="0" lvl="0" indent="-342900" algn="just" defTabSz="914400" rtl="0" eaLnBrk="0" fontAlgn="base" latinLnBrk="0" hangingPunct="0">
                        <a:lnSpc>
                          <a:spcPct val="100000"/>
                        </a:lnSpc>
                        <a:spcBef>
                          <a:spcPct val="0"/>
                        </a:spcBef>
                        <a:spcAft>
                          <a:spcPct val="0"/>
                        </a:spcAft>
                        <a:buClrTx/>
                        <a:buSzTx/>
                        <a:buFontTx/>
                        <a:buNone/>
                        <a:tabLst/>
                      </a:pPr>
                      <a:r>
                        <a:rPr kumimoji="0" lang="en-US" sz="2100" b="0" i="0" u="none" strike="noStrike" cap="none" normalizeH="0" baseline="0" dirty="0" smtClean="0">
                          <a:ln>
                            <a:noFill/>
                          </a:ln>
                          <a:solidFill>
                            <a:schemeClr val="tx1"/>
                          </a:solidFill>
                          <a:effectLst/>
                          <a:latin typeface="+mn-lt"/>
                          <a:cs typeface="Times New Roman" pitchFamily="18" charset="0"/>
                        </a:rPr>
                        <a:t>100km truck</a:t>
                      </a:r>
                      <a:endParaRPr kumimoji="0" lang="en-US" sz="3700" b="0" i="0" u="none" strike="noStrike" cap="none" normalizeH="0" baseline="0" dirty="0" smtClean="0">
                        <a:ln>
                          <a:noFill/>
                        </a:ln>
                        <a:solidFill>
                          <a:schemeClr val="tx1"/>
                        </a:solidFill>
                        <a:effectLst/>
                        <a:latin typeface="+mn-lt"/>
                      </a:endParaRPr>
                    </a:p>
                  </a:txBody>
                  <a:tcPr marL="121920" marR="121920" marT="60920" marB="6092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 name="Rectangle 6"/>
          <p:cNvSpPr/>
          <p:nvPr/>
        </p:nvSpPr>
        <p:spPr>
          <a:xfrm>
            <a:off x="846163" y="1621304"/>
            <a:ext cx="8789156" cy="5693866"/>
          </a:xfrm>
          <a:prstGeom prst="rect">
            <a:avLst/>
          </a:prstGeom>
        </p:spPr>
        <p:txBody>
          <a:bodyPr wrap="square">
            <a:spAutoFit/>
          </a:bodyPr>
          <a:lstStyle/>
          <a:p>
            <a:r>
              <a:rPr lang="en-US" sz="2800" b="1" dirty="0"/>
              <a:t>For all systems: </a:t>
            </a:r>
          </a:p>
          <a:p>
            <a:r>
              <a:rPr lang="en-US" sz="2800" dirty="0"/>
              <a:t>50 uses per day</a:t>
            </a:r>
          </a:p>
          <a:p>
            <a:endParaRPr lang="en-US" sz="2800" dirty="0"/>
          </a:p>
          <a:p>
            <a:r>
              <a:rPr lang="en-US" sz="2800" b="1" dirty="0"/>
              <a:t>Hot air hand-dryer</a:t>
            </a:r>
          </a:p>
          <a:p>
            <a:r>
              <a:rPr lang="en-US" sz="2800" dirty="0"/>
              <a:t>The device is made out of cast iron with white </a:t>
            </a:r>
            <a:r>
              <a:rPr lang="en-US" sz="2800" dirty="0" smtClean="0"/>
              <a:t>coating (no need to go in the detail of the device composition at this stage; for the reference flows – just give the number of devices per FU). </a:t>
            </a:r>
          </a:p>
          <a:p>
            <a:r>
              <a:rPr lang="en-US" sz="2800" dirty="0" smtClean="0"/>
              <a:t>The air dryer is </a:t>
            </a:r>
            <a:r>
              <a:rPr lang="en-US" sz="2800" dirty="0"/>
              <a:t>handled by a press button that is regulated for a 30 s usage.</a:t>
            </a:r>
          </a:p>
          <a:p>
            <a:endParaRPr lang="en-US" sz="2800" dirty="0" smtClean="0"/>
          </a:p>
          <a:p>
            <a:r>
              <a:rPr lang="en-US" sz="2800" b="1" dirty="0"/>
              <a:t>Paper towel </a:t>
            </a:r>
            <a:endParaRPr lang="en-US" sz="2800" b="1" dirty="0" smtClean="0"/>
          </a:p>
          <a:p>
            <a:r>
              <a:rPr lang="en-US" sz="2800" dirty="0" smtClean="0"/>
              <a:t>Assume 1.5 towel used on average per hands drying</a:t>
            </a:r>
            <a:endParaRPr lang="en-US" sz="2800" dirty="0"/>
          </a:p>
        </p:txBody>
      </p:sp>
    </p:spTree>
    <p:extLst>
      <p:ext uri="{BB962C8B-B14F-4D97-AF65-F5344CB8AC3E}">
        <p14:creationId xmlns:p14="http://schemas.microsoft.com/office/powerpoint/2010/main" val="426281275"/>
      </p:ext>
    </p:extLst>
  </p:cSld>
  <p:clrMapOvr>
    <a:masterClrMapping/>
  </p:clrMapOvr>
  <p:timing>
    <p:tnLst>
      <p:par>
        <p:cTn id="1" dur="indefinite" restart="never" nodeType="tmRoot"/>
      </p:par>
    </p:tnLst>
  </p:timing>
</p:sld>
</file>

<file path=ppt/theme/theme1.xml><?xml version="1.0" encoding="utf-8"?>
<a:theme xmlns:a="http://schemas.openxmlformats.org/drawingml/2006/main" name="Title slide option 2">
  <a:themeElements>
    <a:clrScheme name="SPH brand colors">
      <a:dk1>
        <a:srgbClr val="00274C"/>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ontent slide (shown in video)">
  <a:themeElements>
    <a:clrScheme name="SPH brand colors">
      <a:dk1>
        <a:srgbClr val="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Content slide (shown in video)">
  <a:themeElements>
    <a:clrScheme name="SPH brand colors">
      <a:dk1>
        <a:srgbClr val="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3_Content slide (shown in video)">
  <a:themeElements>
    <a:clrScheme name="SPH brand colors">
      <a:dk1>
        <a:srgbClr val="000000"/>
      </a:dk1>
      <a:lt1>
        <a:sysClr val="window" lastClr="FFFFFF"/>
      </a:lt1>
      <a:dk2>
        <a:srgbClr val="00274C"/>
      </a:dk2>
      <a:lt2>
        <a:srgbClr val="E4E1DF"/>
      </a:lt2>
      <a:accent1>
        <a:srgbClr val="FFCB05"/>
      </a:accent1>
      <a:accent2>
        <a:srgbClr val="9A3324"/>
      </a:accent2>
      <a:accent3>
        <a:srgbClr val="ADA400"/>
      </a:accent3>
      <a:accent4>
        <a:srgbClr val="407EC9"/>
      </a:accent4>
      <a:accent5>
        <a:srgbClr val="D86018"/>
      </a:accent5>
      <a:accent6>
        <a:srgbClr val="00B2A9"/>
      </a:accent6>
      <a:hlink>
        <a:srgbClr val="702082"/>
      </a:hlink>
      <a:folHlink>
        <a:srgbClr val="587A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Notes (not to be shown in video)">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AI_PPT_Template_2.potx</Template>
  <TotalTime>18040</TotalTime>
  <Words>768</Words>
  <Application>Microsoft Office PowerPoint</Application>
  <PresentationFormat>Custom</PresentationFormat>
  <Paragraphs>95</Paragraphs>
  <Slides>5</Slides>
  <Notes>4</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5</vt:i4>
      </vt:variant>
    </vt:vector>
  </HeadingPairs>
  <TitlesOfParts>
    <vt:vector size="15" baseType="lpstr">
      <vt:lpstr>Arial</vt:lpstr>
      <vt:lpstr>Calibri</vt:lpstr>
      <vt:lpstr>Courier New</vt:lpstr>
      <vt:lpstr>Times New Roman</vt:lpstr>
      <vt:lpstr>Wingdings</vt:lpstr>
      <vt:lpstr>Title slide option 2</vt:lpstr>
      <vt:lpstr>Content slide (shown in video)</vt:lpstr>
      <vt:lpstr>2_Content slide (shown in video)</vt:lpstr>
      <vt:lpstr>3_Content slide (shown in video)</vt:lpstr>
      <vt:lpstr>Notes (not to be shown in video)</vt:lpstr>
      <vt:lpstr>PowerPoint Presentation</vt:lpstr>
      <vt:lpstr>Function, functional unit and reference flows</vt:lpstr>
      <vt:lpstr>PowerPoint Presentation</vt:lpstr>
      <vt:lpstr>PowerPoint Presentation</vt:lpstr>
      <vt:lpstr>Hand Dryers – Intermediary Flows</vt:lpstr>
    </vt:vector>
  </TitlesOfParts>
  <Manager/>
  <Company>University of Michigan</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Scott Mahler</dc:creator>
  <cp:keywords/>
  <dc:description/>
  <cp:lastModifiedBy>Olivier Jolliet</cp:lastModifiedBy>
  <cp:revision>796</cp:revision>
  <cp:lastPrinted>2020-03-06T14:51:20Z</cp:lastPrinted>
  <dcterms:created xsi:type="dcterms:W3CDTF">2017-01-17T22:07:36Z</dcterms:created>
  <dcterms:modified xsi:type="dcterms:W3CDTF">2021-11-25T21:36:28Z</dcterms:modified>
  <cp:category/>
</cp:coreProperties>
</file>