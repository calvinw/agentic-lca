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Nuni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F3AA44-6512-4CD4-A07F-0B70C2549C21}">
  <a:tblStyle styleId="{6BF3AA44-6512-4CD4-A07F-0B70C2549C2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Nunito-regular.fntdata"/><Relationship Id="rId25" Type="http://schemas.openxmlformats.org/officeDocument/2006/relationships/slide" Target="slides/slide18.xml"/><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Nunito-boldItalic.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Difference between hand calculation and Simapro: due to data precision. We round the number of process data in simapro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Difference with non-renewable energy: Steel production 4.9%</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Stone Ground CO2 equ in hand calc was 12.73(11.5% CO2 came from Materials-Stone Ground Wood)</a:t>
            </a:r>
            <a:endParaRPr/>
          </a:p>
          <a:p>
            <a:pPr indent="0" lvl="0" marL="0" rtl="0" algn="l">
              <a:lnSpc>
                <a:spcPct val="100000"/>
              </a:lnSpc>
              <a:spcBef>
                <a:spcPts val="0"/>
              </a:spcBef>
              <a:spcAft>
                <a:spcPts val="0"/>
              </a:spcAft>
              <a:buSzPts val="1100"/>
              <a:buNone/>
            </a:pPr>
            <a:r>
              <a:rPr lang="en"/>
              <a:t>PVC CO2 HC was 19.14(17.3%)</a:t>
            </a:r>
            <a:endParaRPr/>
          </a:p>
          <a:p>
            <a:pPr indent="0" lvl="0" marL="0" rtl="0" algn="l">
              <a:lnSpc>
                <a:spcPct val="100000"/>
              </a:lnSpc>
              <a:spcBef>
                <a:spcPts val="0"/>
              </a:spcBef>
              <a:spcAft>
                <a:spcPts val="0"/>
              </a:spcAft>
              <a:buSzPts val="1100"/>
              <a:buNone/>
            </a:pPr>
            <a:r>
              <a:rPr lang="en"/>
              <a:t>Transport CO2 was 20.69(18.7%)</a:t>
            </a:r>
            <a:endParaRPr/>
          </a:p>
          <a:p>
            <a:pPr indent="0" lvl="0" marL="0" rtl="0" algn="l">
              <a:lnSpc>
                <a:spcPct val="100000"/>
              </a:lnSpc>
              <a:spcBef>
                <a:spcPts val="0"/>
              </a:spcBef>
              <a:spcAft>
                <a:spcPts val="0"/>
              </a:spcAft>
              <a:buSzPts val="1100"/>
              <a:buNone/>
            </a:pPr>
            <a:r>
              <a:rPr lang="en"/>
              <a:t>TiO2 was 19.38(17.5%)</a:t>
            </a:r>
            <a:endParaRPr/>
          </a:p>
          <a:p>
            <a:pPr indent="0" lvl="0" marL="0" rtl="0" algn="l">
              <a:lnSpc>
                <a:spcPct val="100000"/>
              </a:lnSpc>
              <a:spcBef>
                <a:spcPts val="0"/>
              </a:spcBef>
              <a:spcAft>
                <a:spcPts val="0"/>
              </a:spcAft>
              <a:buSzPts val="1100"/>
              <a:buNone/>
            </a:pPr>
            <a:r>
              <a:rPr lang="en"/>
              <a:t>Electricity was 16.8 (15.2%)</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Stone--&gt;12.04%(269.77)</a:t>
            </a:r>
            <a:endParaRPr/>
          </a:p>
          <a:p>
            <a:pPr indent="0" lvl="0" marL="0" rtl="0" algn="l">
              <a:lnSpc>
                <a:spcPct val="100000"/>
              </a:lnSpc>
              <a:spcBef>
                <a:spcPts val="0"/>
              </a:spcBef>
              <a:spcAft>
                <a:spcPts val="0"/>
              </a:spcAft>
              <a:buSzPts val="1100"/>
              <a:buNone/>
            </a:pPr>
            <a:r>
              <a:rPr lang="en"/>
              <a:t>PVC→23.4%(525.06)</a:t>
            </a:r>
            <a:endParaRPr/>
          </a:p>
          <a:p>
            <a:pPr indent="0" lvl="0" marL="0" rtl="0" algn="l">
              <a:lnSpc>
                <a:spcPct val="100000"/>
              </a:lnSpc>
              <a:spcBef>
                <a:spcPts val="0"/>
              </a:spcBef>
              <a:spcAft>
                <a:spcPts val="0"/>
              </a:spcAft>
              <a:buSzPts val="1100"/>
              <a:buNone/>
            </a:pPr>
            <a:r>
              <a:rPr lang="en"/>
              <a:t>Starch→7.74%(173.43)</a:t>
            </a:r>
            <a:endParaRPr/>
          </a:p>
          <a:p>
            <a:pPr indent="0" lvl="0" marL="0" rtl="0" algn="l">
              <a:lnSpc>
                <a:spcPct val="100000"/>
              </a:lnSpc>
              <a:spcBef>
                <a:spcPts val="0"/>
              </a:spcBef>
              <a:spcAft>
                <a:spcPts val="0"/>
              </a:spcAft>
              <a:buSzPts val="1100"/>
              <a:buNone/>
            </a:pPr>
            <a:r>
              <a:rPr lang="en"/>
              <a:t>Transport→0.16%(351.81)</a:t>
            </a:r>
            <a:endParaRPr/>
          </a:p>
          <a:p>
            <a:pPr indent="0" lvl="0" marL="0" rtl="0" algn="l">
              <a:lnSpc>
                <a:spcPct val="100000"/>
              </a:lnSpc>
              <a:spcBef>
                <a:spcPts val="0"/>
              </a:spcBef>
              <a:spcAft>
                <a:spcPts val="0"/>
              </a:spcAft>
              <a:buSzPts val="1100"/>
              <a:buNone/>
            </a:pPr>
            <a:r>
              <a:rPr lang="en"/>
              <a:t>TiO2→17.76%(398.06)</a:t>
            </a:r>
            <a:endParaRPr/>
          </a:p>
          <a:p>
            <a:pPr indent="0" lvl="0" marL="0" rtl="0" algn="l">
              <a:lnSpc>
                <a:spcPct val="100000"/>
              </a:lnSpc>
              <a:spcBef>
                <a:spcPts val="0"/>
              </a:spcBef>
              <a:spcAft>
                <a:spcPts val="0"/>
              </a:spcAft>
              <a:buSzPts val="1100"/>
              <a:buNone/>
            </a:pPr>
            <a:r>
              <a:rPr lang="en"/>
              <a:t>Electricity→ 12.77%(286.3)</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Due to the Environmental key parameters we identified before. We conducted a sensitivity analysis for both Wall paint and wallpaper. As we can see from the previous results, material and manufacturing phases are always the dominant processes. Thus, we first conduct a sensitivity analysis about the lifetime. It can be easily seen from the figure above, with the longer lifetime, the total energy use and CO2 emissions will decrease. Although the two scenarios with the same lifetime only have very slight difference. In the real life, in consideration of the factors, such as the beauty, it is hard to reach the whole lifetime for both of the wall paint and wallpaper. Thus, the real energy and co2 performance can vary significantly due to the different lifetime.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second parameter we considered is the coverage. Here, the unit of the coverage is sq. meter per liter which means the thicker, less sq.meter can be painted. The standard coverage is between 8.5-11. According to our result,</a:t>
            </a:r>
            <a:r>
              <a:rPr lang="en" sz="1800"/>
              <a:t> </a:t>
            </a:r>
            <a:r>
              <a:rPr lang="en"/>
              <a:t>If the coverage reached 9.62 or more, the wall paint may have a better energy performance.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 we found from the process tree, titanium dioxide contribute to more 60% of the total energy use. Thus, we try to replace the titanium dioxide with more eco friendly materials. Here, we found two substitutes, limestone and kaolin. However, the cannot perfectly replace the tio2, as these paints are not as white and flat as the tio2 based paint. But the results showed that due to the replacement of titanium dioxide, the total energy use can reduce 53.5% and 38.9% in the limestone and kaolin based paint.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rgbClr val="000000"/>
              </a:buClr>
              <a:buSzPts val="1100"/>
              <a:buFont typeface="Arial"/>
              <a:buNone/>
            </a:pPr>
            <a:r>
              <a:rPr lang="en"/>
              <a:t>With the replacement of Stone Groundwood Pulp to Waste paper,mixed from public collection, there is a significant decrease in the categories of respiratory inorganics and global warming.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Clr>
                <a:srgbClr val="000000"/>
              </a:buClr>
              <a:buSzPts val="1300"/>
              <a:buFont typeface="Arial"/>
              <a:buNone/>
            </a:pPr>
            <a:r>
              <a:rPr lang="en" sz="1300"/>
              <a:t>Based on our results, we determined that wall paint has a significantly lower impact on human health, ecosystem health, climate change and resources in comparison to wallpaper. Only when we change the materials that goes into the production of wallpaper(i.e. Paper type) we observe a noticeable reduction in these categories. </a:t>
            </a:r>
            <a:endParaRPr sz="1300"/>
          </a:p>
          <a:p>
            <a:pPr indent="0" lvl="0" marL="0" rtl="0" algn="l">
              <a:lnSpc>
                <a:spcPct val="100000"/>
              </a:lnSpc>
              <a:spcBef>
                <a:spcPts val="160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2"/>
          <p:cNvGrpSpPr/>
          <p:nvPr/>
        </p:nvGrpSpPr>
        <p:grpSpPr>
          <a:xfrm>
            <a:off x="7057468" y="5088"/>
            <a:ext cx="1851281" cy="752108"/>
            <a:chOff x="6917201" y="0"/>
            <a:chExt cx="2227776"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2"/>
          <p:cNvGrpSpPr/>
          <p:nvPr/>
        </p:nvGrpSpPr>
        <p:grpSpPr>
          <a:xfrm>
            <a:off x="6553032" y="4217852"/>
            <a:ext cx="2389067" cy="925737"/>
            <a:chOff x="6917201" y="0"/>
            <a:chExt cx="2227776"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2"/>
          <p:cNvGrpSpPr/>
          <p:nvPr/>
        </p:nvGrpSpPr>
        <p:grpSpPr>
          <a:xfrm>
            <a:off x="199149" y="4055652"/>
            <a:ext cx="2795412" cy="1083308"/>
            <a:chOff x="6917201" y="0"/>
            <a:chExt cx="2227776"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2"/>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37" name="Shape 37"/>
        <p:cNvGrpSpPr/>
        <p:nvPr/>
      </p:nvGrpSpPr>
      <p:grpSpPr>
        <a:xfrm>
          <a:off x="0" y="0"/>
          <a:ext cx="0" cy="0"/>
          <a:chOff x="0" y="0"/>
          <a:chExt cx="0" cy="0"/>
        </a:xfrm>
      </p:grpSpPr>
      <p:sp>
        <p:nvSpPr>
          <p:cNvPr id="38" name="Google Shape;38;p3"/>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3"/>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3"/>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3" name="Google Shape;43;p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4" name="Shape 44"/>
        <p:cNvGrpSpPr/>
        <p:nvPr/>
      </p:nvGrpSpPr>
      <p:grpSpPr>
        <a:xfrm>
          <a:off x="0" y="0"/>
          <a:ext cx="0" cy="0"/>
          <a:chOff x="0" y="0"/>
          <a:chExt cx="0" cy="0"/>
        </a:xfrm>
      </p:grpSpPr>
      <p:sp>
        <p:nvSpPr>
          <p:cNvPr id="45" name="Google Shape;45;p4"/>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4"/>
          <p:cNvGrpSpPr/>
          <p:nvPr/>
        </p:nvGrpSpPr>
        <p:grpSpPr>
          <a:xfrm>
            <a:off x="5594190" y="3961115"/>
            <a:ext cx="2910143" cy="1182340"/>
            <a:chOff x="6917201" y="0"/>
            <a:chExt cx="2227776" cy="863400"/>
          </a:xfrm>
        </p:grpSpPr>
        <p:sp>
          <p:nvSpPr>
            <p:cNvPr id="47" name="Google Shape;47;p4"/>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4"/>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4"/>
          <p:cNvGrpSpPr/>
          <p:nvPr/>
        </p:nvGrpSpPr>
        <p:grpSpPr>
          <a:xfrm>
            <a:off x="199149" y="2"/>
            <a:ext cx="2795412" cy="1083308"/>
            <a:chOff x="6917201" y="0"/>
            <a:chExt cx="2227776" cy="863400"/>
          </a:xfrm>
        </p:grpSpPr>
        <p:sp>
          <p:nvSpPr>
            <p:cNvPr id="51" name="Google Shape;51;p4"/>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4"/>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55" name="Google Shape;55;p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5"/>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6"/>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7"/>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8"/>
          <p:cNvGrpSpPr/>
          <p:nvPr/>
        </p:nvGrpSpPr>
        <p:grpSpPr>
          <a:xfrm>
            <a:off x="34934" y="4522125"/>
            <a:ext cx="1593305" cy="617072"/>
            <a:chOff x="6917201" y="0"/>
            <a:chExt cx="2227776"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8"/>
          <p:cNvGrpSpPr/>
          <p:nvPr/>
        </p:nvGrpSpPr>
        <p:grpSpPr>
          <a:xfrm>
            <a:off x="5886353" y="1243"/>
            <a:ext cx="3257453" cy="1261514"/>
            <a:chOff x="6917201" y="0"/>
            <a:chExt cx="2227776"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8"/>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9"/>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0"/>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Autofit/>
          </a:bodyPr>
          <a:lstStyle>
            <a:lvl1pPr indent="-228600" lvl="0" marL="457200" algn="l">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11"/>
          <p:cNvGrpSpPr/>
          <p:nvPr/>
        </p:nvGrpSpPr>
        <p:grpSpPr>
          <a:xfrm>
            <a:off x="5959222" y="4119576"/>
            <a:ext cx="2520950" cy="1024165"/>
            <a:chOff x="6917201" y="0"/>
            <a:chExt cx="2227776"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 name="Google Shape;115;p11"/>
          <p:cNvGrpSpPr/>
          <p:nvPr/>
        </p:nvGrpSpPr>
        <p:grpSpPr>
          <a:xfrm>
            <a:off x="199149" y="2"/>
            <a:ext cx="2795412" cy="1083308"/>
            <a:chOff x="6917201" y="0"/>
            <a:chExt cx="2227776"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11"/>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1600"/>
              </a:spcBef>
              <a:spcAft>
                <a:spcPts val="0"/>
              </a:spcAft>
              <a:buSzPts val="1100"/>
              <a:buChar char="○"/>
              <a:defRPr/>
            </a:lvl2pPr>
            <a:lvl3pPr indent="-298450" lvl="2" marL="1371600" algn="ctr">
              <a:lnSpc>
                <a:spcPct val="115000"/>
              </a:lnSpc>
              <a:spcBef>
                <a:spcPts val="1600"/>
              </a:spcBef>
              <a:spcAft>
                <a:spcPts val="0"/>
              </a:spcAft>
              <a:buSzPts val="1100"/>
              <a:buChar char="■"/>
              <a:defRPr/>
            </a:lvl3pPr>
            <a:lvl4pPr indent="-298450" lvl="3" marL="1828800" algn="ctr">
              <a:lnSpc>
                <a:spcPct val="115000"/>
              </a:lnSpc>
              <a:spcBef>
                <a:spcPts val="1600"/>
              </a:spcBef>
              <a:spcAft>
                <a:spcPts val="0"/>
              </a:spcAft>
              <a:buSzPts val="1100"/>
              <a:buChar char="●"/>
              <a:defRPr/>
            </a:lvl4pPr>
            <a:lvl5pPr indent="-298450" lvl="4" marL="2286000" algn="ctr">
              <a:lnSpc>
                <a:spcPct val="115000"/>
              </a:lnSpc>
              <a:spcBef>
                <a:spcPts val="1600"/>
              </a:spcBef>
              <a:spcAft>
                <a:spcPts val="0"/>
              </a:spcAft>
              <a:buSzPts val="1100"/>
              <a:buChar char="○"/>
              <a:defRPr/>
            </a:lvl5pPr>
            <a:lvl6pPr indent="-298450" lvl="5" marL="2743200" algn="ctr">
              <a:lnSpc>
                <a:spcPct val="115000"/>
              </a:lnSpc>
              <a:spcBef>
                <a:spcPts val="1600"/>
              </a:spcBef>
              <a:spcAft>
                <a:spcPts val="0"/>
              </a:spcAft>
              <a:buSzPts val="1100"/>
              <a:buChar char="■"/>
              <a:defRPr/>
            </a:lvl6pPr>
            <a:lvl7pPr indent="-298450" lvl="6" marL="3200400" algn="ctr">
              <a:lnSpc>
                <a:spcPct val="115000"/>
              </a:lnSpc>
              <a:spcBef>
                <a:spcPts val="1600"/>
              </a:spcBef>
              <a:spcAft>
                <a:spcPts val="0"/>
              </a:spcAft>
              <a:buSzPts val="1100"/>
              <a:buChar char="●"/>
              <a:defRPr/>
            </a:lvl7pPr>
            <a:lvl8pPr indent="-298450" lvl="7" marL="3657600" algn="ctr">
              <a:lnSpc>
                <a:spcPct val="115000"/>
              </a:lnSpc>
              <a:spcBef>
                <a:spcPts val="1600"/>
              </a:spcBef>
              <a:spcAft>
                <a:spcPts val="0"/>
              </a:spcAft>
              <a:buSzPts val="1100"/>
              <a:buChar char="○"/>
              <a:defRPr/>
            </a:lvl8pPr>
            <a:lvl9pPr indent="-298450" lvl="8" marL="4114800" algn="ctr">
              <a:lnSpc>
                <a:spcPct val="115000"/>
              </a:lnSpc>
              <a:spcBef>
                <a:spcPts val="1600"/>
              </a:spcBef>
              <a:spcAft>
                <a:spcPts val="160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128" name="Shape 128"/>
        <p:cNvGrpSpPr/>
        <p:nvPr/>
      </p:nvGrpSpPr>
      <p:grpSpPr>
        <a:xfrm>
          <a:off x="0" y="0"/>
          <a:ext cx="0" cy="0"/>
          <a:chOff x="0" y="0"/>
          <a:chExt cx="0" cy="0"/>
        </a:xfrm>
      </p:grpSpPr>
      <p:sp>
        <p:nvSpPr>
          <p:cNvPr id="129" name="Google Shape;129;p1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4"/>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3" name="Google Shape;133;p14"/>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134" name="Google Shape;134;p1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135" name="Shape 135"/>
        <p:cNvGrpSpPr/>
        <p:nvPr/>
      </p:nvGrpSpPr>
      <p:grpSpPr>
        <a:xfrm>
          <a:off x="0" y="0"/>
          <a:ext cx="0" cy="0"/>
          <a:chOff x="0" y="0"/>
          <a:chExt cx="0" cy="0"/>
        </a:xfrm>
      </p:grpSpPr>
      <p:sp>
        <p:nvSpPr>
          <p:cNvPr id="136" name="Google Shape;136;p15"/>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5"/>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5"/>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5"/>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0" name="Google Shape;140;p15"/>
          <p:cNvGrpSpPr/>
          <p:nvPr/>
        </p:nvGrpSpPr>
        <p:grpSpPr>
          <a:xfrm>
            <a:off x="255200" y="592"/>
            <a:ext cx="2250363" cy="1044300"/>
            <a:chOff x="255200" y="592"/>
            <a:chExt cx="2250363" cy="1044300"/>
          </a:xfrm>
        </p:grpSpPr>
        <p:sp>
          <p:nvSpPr>
            <p:cNvPr id="141" name="Google Shape;141;p15"/>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5"/>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5"/>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 name="Google Shape;144;p15"/>
          <p:cNvGrpSpPr/>
          <p:nvPr/>
        </p:nvGrpSpPr>
        <p:grpSpPr>
          <a:xfrm>
            <a:off x="905395" y="592"/>
            <a:ext cx="2250363" cy="1044300"/>
            <a:chOff x="905395" y="592"/>
            <a:chExt cx="2250363" cy="1044300"/>
          </a:xfrm>
        </p:grpSpPr>
        <p:sp>
          <p:nvSpPr>
            <p:cNvPr id="145" name="Google Shape;145;p15"/>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5"/>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5"/>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15"/>
          <p:cNvGrpSpPr/>
          <p:nvPr/>
        </p:nvGrpSpPr>
        <p:grpSpPr>
          <a:xfrm>
            <a:off x="7057468" y="5088"/>
            <a:ext cx="1851281" cy="752108"/>
            <a:chOff x="6917201" y="0"/>
            <a:chExt cx="2227776" cy="863400"/>
          </a:xfrm>
        </p:grpSpPr>
        <p:sp>
          <p:nvSpPr>
            <p:cNvPr id="149" name="Google Shape;149;p15"/>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5"/>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5"/>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 name="Google Shape;152;p15"/>
          <p:cNvGrpSpPr/>
          <p:nvPr/>
        </p:nvGrpSpPr>
        <p:grpSpPr>
          <a:xfrm>
            <a:off x="6553032" y="4217852"/>
            <a:ext cx="2389067" cy="925737"/>
            <a:chOff x="6917201" y="0"/>
            <a:chExt cx="2227776" cy="863400"/>
          </a:xfrm>
        </p:grpSpPr>
        <p:sp>
          <p:nvSpPr>
            <p:cNvPr id="153" name="Google Shape;153;p15"/>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5"/>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5"/>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 name="Google Shape;156;p15"/>
          <p:cNvGrpSpPr/>
          <p:nvPr/>
        </p:nvGrpSpPr>
        <p:grpSpPr>
          <a:xfrm>
            <a:off x="199149" y="4055652"/>
            <a:ext cx="2795413" cy="1083308"/>
            <a:chOff x="6917201" y="0"/>
            <a:chExt cx="2227776" cy="863400"/>
          </a:xfrm>
        </p:grpSpPr>
        <p:sp>
          <p:nvSpPr>
            <p:cNvPr id="157" name="Google Shape;157;p15"/>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5"/>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5"/>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0" name="Google Shape;160;p15"/>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161" name="Google Shape;161;p15"/>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162" name="Google Shape;162;p1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63" name="Shape 163"/>
        <p:cNvGrpSpPr/>
        <p:nvPr/>
      </p:nvGrpSpPr>
      <p:grpSpPr>
        <a:xfrm>
          <a:off x="0" y="0"/>
          <a:ext cx="0" cy="0"/>
          <a:chOff x="0" y="0"/>
          <a:chExt cx="0" cy="0"/>
        </a:xfrm>
      </p:grpSpPr>
      <p:sp>
        <p:nvSpPr>
          <p:cNvPr id="164" name="Google Shape;164;p16"/>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16"/>
          <p:cNvGrpSpPr/>
          <p:nvPr/>
        </p:nvGrpSpPr>
        <p:grpSpPr>
          <a:xfrm>
            <a:off x="5594191" y="3961115"/>
            <a:ext cx="2910144" cy="1182340"/>
            <a:chOff x="6917201" y="0"/>
            <a:chExt cx="2227776" cy="863400"/>
          </a:xfrm>
        </p:grpSpPr>
        <p:sp>
          <p:nvSpPr>
            <p:cNvPr id="166" name="Google Shape;166;p16"/>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6"/>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6"/>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9" name="Google Shape;169;p16"/>
          <p:cNvGrpSpPr/>
          <p:nvPr/>
        </p:nvGrpSpPr>
        <p:grpSpPr>
          <a:xfrm>
            <a:off x="199149" y="2"/>
            <a:ext cx="2795413" cy="1083308"/>
            <a:chOff x="6917201" y="0"/>
            <a:chExt cx="2227776" cy="863400"/>
          </a:xfrm>
        </p:grpSpPr>
        <p:sp>
          <p:nvSpPr>
            <p:cNvPr id="170" name="Google Shape;170;p16"/>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6"/>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6"/>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3" name="Google Shape;173;p16"/>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174" name="Google Shape;174;p1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75" name="Shape 175"/>
        <p:cNvGrpSpPr/>
        <p:nvPr/>
      </p:nvGrpSpPr>
      <p:grpSpPr>
        <a:xfrm>
          <a:off x="0" y="0"/>
          <a:ext cx="0" cy="0"/>
          <a:chOff x="0" y="0"/>
          <a:chExt cx="0" cy="0"/>
        </a:xfrm>
      </p:grpSpPr>
      <p:sp>
        <p:nvSpPr>
          <p:cNvPr id="176" name="Google Shape;176;p1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7"/>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0" name="Google Shape;180;p17"/>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181" name="Google Shape;181;p17"/>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182" name="Google Shape;182;p1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83" name="Shape 183"/>
        <p:cNvGrpSpPr/>
        <p:nvPr/>
      </p:nvGrpSpPr>
      <p:grpSpPr>
        <a:xfrm>
          <a:off x="0" y="0"/>
          <a:ext cx="0" cy="0"/>
          <a:chOff x="0" y="0"/>
          <a:chExt cx="0" cy="0"/>
        </a:xfrm>
      </p:grpSpPr>
      <p:sp>
        <p:nvSpPr>
          <p:cNvPr id="184" name="Google Shape;184;p1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8"/>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8"/>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8" name="Google Shape;188;p1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189" name="Shape 189"/>
        <p:cNvGrpSpPr/>
        <p:nvPr/>
      </p:nvGrpSpPr>
      <p:grpSpPr>
        <a:xfrm>
          <a:off x="0" y="0"/>
          <a:ext cx="0" cy="0"/>
          <a:chOff x="0" y="0"/>
          <a:chExt cx="0" cy="0"/>
        </a:xfrm>
      </p:grpSpPr>
      <p:sp>
        <p:nvSpPr>
          <p:cNvPr id="190" name="Google Shape;190;p1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9"/>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9"/>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94" name="Google Shape;194;p19"/>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195" name="Google Shape;195;p1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196" name="Shape 196"/>
        <p:cNvGrpSpPr/>
        <p:nvPr/>
      </p:nvGrpSpPr>
      <p:grpSpPr>
        <a:xfrm>
          <a:off x="0" y="0"/>
          <a:ext cx="0" cy="0"/>
          <a:chOff x="0" y="0"/>
          <a:chExt cx="0" cy="0"/>
        </a:xfrm>
      </p:grpSpPr>
      <p:sp>
        <p:nvSpPr>
          <p:cNvPr id="197" name="Google Shape;197;p20"/>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0"/>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9" name="Google Shape;199;p20"/>
          <p:cNvGrpSpPr/>
          <p:nvPr/>
        </p:nvGrpSpPr>
        <p:grpSpPr>
          <a:xfrm>
            <a:off x="255991" y="-118"/>
            <a:ext cx="2251347" cy="1043408"/>
            <a:chOff x="3961956" y="4383950"/>
            <a:chExt cx="1160548" cy="548700"/>
          </a:xfrm>
        </p:grpSpPr>
        <p:sp>
          <p:nvSpPr>
            <p:cNvPr id="200" name="Google Shape;200;p20"/>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0"/>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0"/>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3" name="Google Shape;203;p2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4" name="Google Shape;204;p20"/>
          <p:cNvGrpSpPr/>
          <p:nvPr/>
        </p:nvGrpSpPr>
        <p:grpSpPr>
          <a:xfrm>
            <a:off x="34934" y="4522125"/>
            <a:ext cx="1593305" cy="617072"/>
            <a:chOff x="6917201" y="0"/>
            <a:chExt cx="2227776" cy="863400"/>
          </a:xfrm>
        </p:grpSpPr>
        <p:sp>
          <p:nvSpPr>
            <p:cNvPr id="205" name="Google Shape;205;p20"/>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0"/>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0"/>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8" name="Google Shape;208;p20"/>
          <p:cNvGrpSpPr/>
          <p:nvPr/>
        </p:nvGrpSpPr>
        <p:grpSpPr>
          <a:xfrm>
            <a:off x="5886353" y="1243"/>
            <a:ext cx="3257454" cy="1261514"/>
            <a:chOff x="6917201" y="0"/>
            <a:chExt cx="2227776" cy="863400"/>
          </a:xfrm>
        </p:grpSpPr>
        <p:sp>
          <p:nvSpPr>
            <p:cNvPr id="209" name="Google Shape;209;p20"/>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0"/>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0"/>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2" name="Google Shape;212;p20"/>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213" name="Google Shape;213;p2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214" name="Shape 214"/>
        <p:cNvGrpSpPr/>
        <p:nvPr/>
      </p:nvGrpSpPr>
      <p:grpSpPr>
        <a:xfrm>
          <a:off x="0" y="0"/>
          <a:ext cx="0" cy="0"/>
          <a:chOff x="0" y="0"/>
          <a:chExt cx="0" cy="0"/>
        </a:xfrm>
      </p:grpSpPr>
      <p:sp>
        <p:nvSpPr>
          <p:cNvPr id="215" name="Google Shape;215;p2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1"/>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19" name="Google Shape;219;p21"/>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220" name="Google Shape;220;p21"/>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21" name="Google Shape;221;p2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222" name="Shape 222"/>
        <p:cNvGrpSpPr/>
        <p:nvPr/>
      </p:nvGrpSpPr>
      <p:grpSpPr>
        <a:xfrm>
          <a:off x="0" y="0"/>
          <a:ext cx="0" cy="0"/>
          <a:chOff x="0" y="0"/>
          <a:chExt cx="0" cy="0"/>
        </a:xfrm>
      </p:grpSpPr>
      <p:sp>
        <p:nvSpPr>
          <p:cNvPr id="223" name="Google Shape;223;p22"/>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2"/>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2"/>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Autofit/>
          </a:bodyPr>
          <a:lstStyle>
            <a:lvl1pPr indent="-228600" lvl="0" marL="457200" algn="l">
              <a:lnSpc>
                <a:spcPct val="100000"/>
              </a:lnSpc>
              <a:spcBef>
                <a:spcPts val="0"/>
              </a:spcBef>
              <a:spcAft>
                <a:spcPts val="0"/>
              </a:spcAft>
              <a:buSzPts val="1300"/>
              <a:buNone/>
              <a:defRPr/>
            </a:lvl1pPr>
          </a:lstStyle>
          <a:p/>
        </p:txBody>
      </p:sp>
      <p:sp>
        <p:nvSpPr>
          <p:cNvPr id="227" name="Google Shape;227;p2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228" name="Shape 228"/>
        <p:cNvGrpSpPr/>
        <p:nvPr/>
      </p:nvGrpSpPr>
      <p:grpSpPr>
        <a:xfrm>
          <a:off x="0" y="0"/>
          <a:ext cx="0" cy="0"/>
          <a:chOff x="0" y="0"/>
          <a:chExt cx="0" cy="0"/>
        </a:xfrm>
      </p:grpSpPr>
      <p:sp>
        <p:nvSpPr>
          <p:cNvPr id="229" name="Google Shape;229;p23"/>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0" name="Google Shape;230;p23"/>
          <p:cNvGrpSpPr/>
          <p:nvPr/>
        </p:nvGrpSpPr>
        <p:grpSpPr>
          <a:xfrm>
            <a:off x="5959222" y="4119576"/>
            <a:ext cx="2520951" cy="1024165"/>
            <a:chOff x="6917201" y="0"/>
            <a:chExt cx="2227776" cy="863400"/>
          </a:xfrm>
        </p:grpSpPr>
        <p:sp>
          <p:nvSpPr>
            <p:cNvPr id="231" name="Google Shape;231;p2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p23"/>
          <p:cNvGrpSpPr/>
          <p:nvPr/>
        </p:nvGrpSpPr>
        <p:grpSpPr>
          <a:xfrm>
            <a:off x="199149" y="2"/>
            <a:ext cx="2795413" cy="1083308"/>
            <a:chOff x="6917201" y="0"/>
            <a:chExt cx="2227776" cy="863400"/>
          </a:xfrm>
        </p:grpSpPr>
        <p:sp>
          <p:nvSpPr>
            <p:cNvPr id="235" name="Google Shape;235;p2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8" name="Google Shape;238;p23"/>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239" name="Google Shape;239;p23"/>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1600"/>
              </a:spcBef>
              <a:spcAft>
                <a:spcPts val="0"/>
              </a:spcAft>
              <a:buSzPts val="1100"/>
              <a:buChar char="○"/>
              <a:defRPr/>
            </a:lvl2pPr>
            <a:lvl3pPr indent="-298450" lvl="2" marL="1371600" algn="ctr">
              <a:lnSpc>
                <a:spcPct val="115000"/>
              </a:lnSpc>
              <a:spcBef>
                <a:spcPts val="1600"/>
              </a:spcBef>
              <a:spcAft>
                <a:spcPts val="0"/>
              </a:spcAft>
              <a:buSzPts val="1100"/>
              <a:buChar char="■"/>
              <a:defRPr/>
            </a:lvl3pPr>
            <a:lvl4pPr indent="-298450" lvl="3" marL="1828800" algn="ctr">
              <a:lnSpc>
                <a:spcPct val="115000"/>
              </a:lnSpc>
              <a:spcBef>
                <a:spcPts val="1600"/>
              </a:spcBef>
              <a:spcAft>
                <a:spcPts val="0"/>
              </a:spcAft>
              <a:buSzPts val="1100"/>
              <a:buChar char="●"/>
              <a:defRPr/>
            </a:lvl4pPr>
            <a:lvl5pPr indent="-298450" lvl="4" marL="2286000" algn="ctr">
              <a:lnSpc>
                <a:spcPct val="115000"/>
              </a:lnSpc>
              <a:spcBef>
                <a:spcPts val="1600"/>
              </a:spcBef>
              <a:spcAft>
                <a:spcPts val="0"/>
              </a:spcAft>
              <a:buSzPts val="1100"/>
              <a:buChar char="○"/>
              <a:defRPr/>
            </a:lvl5pPr>
            <a:lvl6pPr indent="-298450" lvl="5" marL="2743200" algn="ctr">
              <a:lnSpc>
                <a:spcPct val="115000"/>
              </a:lnSpc>
              <a:spcBef>
                <a:spcPts val="1600"/>
              </a:spcBef>
              <a:spcAft>
                <a:spcPts val="0"/>
              </a:spcAft>
              <a:buSzPts val="1100"/>
              <a:buChar char="■"/>
              <a:defRPr/>
            </a:lvl6pPr>
            <a:lvl7pPr indent="-298450" lvl="6" marL="3200400" algn="ctr">
              <a:lnSpc>
                <a:spcPct val="115000"/>
              </a:lnSpc>
              <a:spcBef>
                <a:spcPts val="1600"/>
              </a:spcBef>
              <a:spcAft>
                <a:spcPts val="0"/>
              </a:spcAft>
              <a:buSzPts val="1100"/>
              <a:buChar char="●"/>
              <a:defRPr/>
            </a:lvl7pPr>
            <a:lvl8pPr indent="-298450" lvl="7" marL="3657600" algn="ctr">
              <a:lnSpc>
                <a:spcPct val="115000"/>
              </a:lnSpc>
              <a:spcBef>
                <a:spcPts val="1600"/>
              </a:spcBef>
              <a:spcAft>
                <a:spcPts val="0"/>
              </a:spcAft>
              <a:buSzPts val="1100"/>
              <a:buChar char="○"/>
              <a:defRPr/>
            </a:lvl8pPr>
            <a:lvl9pPr indent="-298450" lvl="8" marL="4114800" algn="ctr">
              <a:lnSpc>
                <a:spcPct val="115000"/>
              </a:lnSpc>
              <a:spcBef>
                <a:spcPts val="1600"/>
              </a:spcBef>
              <a:spcAft>
                <a:spcPts val="1600"/>
              </a:spcAft>
              <a:buSzPts val="1100"/>
              <a:buChar char="■"/>
              <a:defRPr/>
            </a:lvl9pPr>
          </a:lstStyle>
          <a:p/>
        </p:txBody>
      </p:sp>
      <p:sp>
        <p:nvSpPr>
          <p:cNvPr id="240" name="Google Shape;240;p2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1" name="Shape 241"/>
        <p:cNvGrpSpPr/>
        <p:nvPr/>
      </p:nvGrpSpPr>
      <p:grpSpPr>
        <a:xfrm>
          <a:off x="0" y="0"/>
          <a:ext cx="0" cy="0"/>
          <a:chOff x="0" y="0"/>
          <a:chExt cx="0" cy="0"/>
        </a:xfrm>
      </p:grpSpPr>
      <p:sp>
        <p:nvSpPr>
          <p:cNvPr id="242" name="Google Shape;242;p2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1600"/>
              </a:spcBef>
              <a:spcAft>
                <a:spcPts val="160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126" name="Google Shape;126;p13"/>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160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1600"/>
              </a:spcBef>
              <a:spcAft>
                <a:spcPts val="160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127" name="Google Shape;127;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0.png"/><Relationship Id="rId5" Type="http://schemas.openxmlformats.org/officeDocument/2006/relationships/image" Target="../media/image23.png"/><Relationship Id="rId6" Type="http://schemas.openxmlformats.org/officeDocument/2006/relationships/image" Target="../media/image11.png"/><Relationship Id="rId7" Type="http://schemas.openxmlformats.org/officeDocument/2006/relationships/image" Target="../media/image2.png"/><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7.png"/><Relationship Id="rId11" Type="http://schemas.openxmlformats.org/officeDocument/2006/relationships/image" Target="../media/image36.png"/><Relationship Id="rId10" Type="http://schemas.openxmlformats.org/officeDocument/2006/relationships/image" Target="../media/image28.png"/><Relationship Id="rId9" Type="http://schemas.openxmlformats.org/officeDocument/2006/relationships/image" Target="../media/image26.png"/><Relationship Id="rId5" Type="http://schemas.openxmlformats.org/officeDocument/2006/relationships/image" Target="../media/image35.png"/><Relationship Id="rId6" Type="http://schemas.openxmlformats.org/officeDocument/2006/relationships/image" Target="../media/image21.png"/><Relationship Id="rId7" Type="http://schemas.openxmlformats.org/officeDocument/2006/relationships/image" Target="../media/image34.png"/><Relationship Id="rId8"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www.madehow.com/Volume-3/Wallpaper.html" TargetMode="External"/><Relationship Id="rId4" Type="http://schemas.openxmlformats.org/officeDocument/2006/relationships/hyperlink" Target="http://www.madehow.com/Volume-1/Paint.html" TargetMode="External"/><Relationship Id="rId5" Type="http://schemas.openxmlformats.org/officeDocument/2006/relationships/hyperlink" Target="http://www.designlife-cycle.com/vinyl-wallpaper/" TargetMode="External"/><Relationship Id="rId6" Type="http://schemas.openxmlformats.org/officeDocument/2006/relationships/hyperlink" Target="http://www.brewsterwallcovering.com/wallpaper-vs-paint" TargetMode="External"/><Relationship Id="rId7" Type="http://schemas.openxmlformats.org/officeDocument/2006/relationships/hyperlink" Target="http://www.dulux.ca/diy/products/interior-paint/dulux-x-per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800"/>
              <a:buNone/>
            </a:pPr>
            <a:r>
              <a:rPr lang="en"/>
              <a:t>Life Cycle Analysis of Wallpaper &amp; Wall Paint</a:t>
            </a:r>
            <a:endParaRPr/>
          </a:p>
        </p:txBody>
      </p:sp>
      <p:sp>
        <p:nvSpPr>
          <p:cNvPr id="248" name="Google Shape;248;p25"/>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600"/>
              <a:buNone/>
            </a:pPr>
            <a:r>
              <a:rPr lang="en"/>
              <a:t>Team Members: Alextia A., Nan Y., &amp; Bu 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6"/>
          <p:cNvSpPr txBox="1"/>
          <p:nvPr>
            <p:ph type="title"/>
          </p:nvPr>
        </p:nvSpPr>
        <p:spPr>
          <a:xfrm>
            <a:off x="729350" y="249975"/>
            <a:ext cx="7505700" cy="95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Background</a:t>
            </a:r>
            <a:endParaRPr/>
          </a:p>
        </p:txBody>
      </p:sp>
      <p:sp>
        <p:nvSpPr>
          <p:cNvPr id="254" name="Google Shape;254;p26"/>
          <p:cNvSpPr txBox="1"/>
          <p:nvPr>
            <p:ph idx="1" type="body"/>
          </p:nvPr>
        </p:nvSpPr>
        <p:spPr>
          <a:xfrm>
            <a:off x="729350" y="805850"/>
            <a:ext cx="7877400" cy="95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solidFill>
                  <a:srgbClr val="000000"/>
                </a:solidFill>
                <a:highlight>
                  <a:srgbClr val="FFFFFF"/>
                </a:highlight>
                <a:latin typeface="Arial"/>
                <a:ea typeface="Arial"/>
                <a:cs typeface="Arial"/>
                <a:sym typeface="Arial"/>
              </a:rPr>
              <a:t>Personalizing one’s home is the most important “aspect of home decoration”. While the main medias used for covering a wall varies, wall paint and wallpaper are one of the most commonly used.</a:t>
            </a:r>
            <a:endParaRPr sz="1800">
              <a:solidFill>
                <a:srgbClr val="000000"/>
              </a:solidFill>
              <a:highlight>
                <a:srgbClr val="FFFFFF"/>
              </a:highlight>
              <a:latin typeface="Arial"/>
              <a:ea typeface="Arial"/>
              <a:cs typeface="Arial"/>
              <a:sym typeface="Arial"/>
            </a:endParaRPr>
          </a:p>
          <a:p>
            <a:pPr indent="0" lvl="0" marL="0" rtl="0" algn="l">
              <a:lnSpc>
                <a:spcPct val="115000"/>
              </a:lnSpc>
              <a:spcBef>
                <a:spcPts val="1600"/>
              </a:spcBef>
              <a:spcAft>
                <a:spcPts val="1600"/>
              </a:spcAft>
              <a:buSzPts val="1300"/>
              <a:buNone/>
            </a:pPr>
            <a:r>
              <a:t/>
            </a:r>
            <a:endParaRPr sz="1200">
              <a:solidFill>
                <a:srgbClr val="000000"/>
              </a:solidFill>
              <a:highlight>
                <a:srgbClr val="FFFFFF"/>
              </a:highlight>
              <a:latin typeface="Arial"/>
              <a:ea typeface="Arial"/>
              <a:cs typeface="Arial"/>
              <a:sym typeface="Arial"/>
            </a:endParaRPr>
          </a:p>
        </p:txBody>
      </p:sp>
      <p:sp>
        <p:nvSpPr>
          <p:cNvPr id="255" name="Google Shape;255;p26"/>
          <p:cNvSpPr txBox="1"/>
          <p:nvPr>
            <p:ph type="title"/>
          </p:nvPr>
        </p:nvSpPr>
        <p:spPr>
          <a:xfrm>
            <a:off x="742950" y="1907325"/>
            <a:ext cx="7505700" cy="70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Objectives</a:t>
            </a:r>
            <a:endParaRPr/>
          </a:p>
        </p:txBody>
      </p:sp>
      <p:sp>
        <p:nvSpPr>
          <p:cNvPr id="256" name="Google Shape;256;p26"/>
          <p:cNvSpPr txBox="1"/>
          <p:nvPr>
            <p:ph idx="1" type="body"/>
          </p:nvPr>
        </p:nvSpPr>
        <p:spPr>
          <a:xfrm>
            <a:off x="742950" y="2455425"/>
            <a:ext cx="7505700" cy="244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800">
                <a:solidFill>
                  <a:srgbClr val="000000"/>
                </a:solidFill>
                <a:latin typeface="Arial"/>
                <a:ea typeface="Arial"/>
                <a:cs typeface="Arial"/>
                <a:sym typeface="Arial"/>
              </a:rPr>
              <a:t>In this case study, we will be composing a LCA for Wall Paint and Wallpaper. We hope to discern how much energy and resources are needed to manufacture, use and dispose these products. At the end of this study, we would like to conclude which product and process would have the least impact on the environment. </a:t>
            </a:r>
            <a:endParaRPr sz="1800">
              <a:solidFill>
                <a:srgbClr val="000000"/>
              </a:solidFill>
              <a:latin typeface="Arial"/>
              <a:ea typeface="Arial"/>
              <a:cs typeface="Arial"/>
              <a:sym typeface="Arial"/>
            </a:endParaRPr>
          </a:p>
          <a:p>
            <a:pPr indent="0" lvl="0" marL="0" rtl="0" algn="l">
              <a:lnSpc>
                <a:spcPct val="115000"/>
              </a:lnSpc>
              <a:spcBef>
                <a:spcPts val="1600"/>
              </a:spcBef>
              <a:spcAft>
                <a:spcPts val="1600"/>
              </a:spcAft>
              <a:buSzPts val="13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7"/>
          <p:cNvSpPr txBox="1"/>
          <p:nvPr>
            <p:ph type="title"/>
          </p:nvPr>
        </p:nvSpPr>
        <p:spPr>
          <a:xfrm>
            <a:off x="423950" y="20357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2400">
                <a:latin typeface="Arial"/>
                <a:ea typeface="Arial"/>
                <a:cs typeface="Arial"/>
                <a:sym typeface="Arial"/>
              </a:rPr>
              <a:t>Functional Unit</a:t>
            </a:r>
            <a:endParaRPr sz="2400">
              <a:latin typeface="Arial"/>
              <a:ea typeface="Arial"/>
              <a:cs typeface="Arial"/>
              <a:sym typeface="Arial"/>
            </a:endParaRPr>
          </a:p>
        </p:txBody>
      </p:sp>
      <p:graphicFrame>
        <p:nvGraphicFramePr>
          <p:cNvPr id="262" name="Google Shape;262;p27"/>
          <p:cNvGraphicFramePr/>
          <p:nvPr/>
        </p:nvGraphicFramePr>
        <p:xfrm>
          <a:off x="500150" y="660300"/>
          <a:ext cx="3000000" cy="3000000"/>
        </p:xfrm>
        <a:graphic>
          <a:graphicData uri="http://schemas.openxmlformats.org/drawingml/2006/table">
            <a:tbl>
              <a:tblPr>
                <a:noFill/>
                <a:tableStyleId>{6BF3AA44-6512-4CD4-A07F-0B70C2549C21}</a:tableStyleId>
              </a:tblPr>
              <a:tblGrid>
                <a:gridCol w="1349600"/>
                <a:gridCol w="1309600"/>
                <a:gridCol w="2069375"/>
                <a:gridCol w="1576825"/>
                <a:gridCol w="1838325"/>
              </a:tblGrid>
              <a:tr h="587975">
                <a:tc>
                  <a:txBody>
                    <a:bodyPr/>
                    <a:lstStyle/>
                    <a:p>
                      <a:pPr indent="0" lvl="0" marL="0" marR="0" rtl="0" algn="ctr">
                        <a:lnSpc>
                          <a:spcPct val="100000"/>
                        </a:lnSpc>
                        <a:spcBef>
                          <a:spcPts val="0"/>
                        </a:spcBef>
                        <a:spcAft>
                          <a:spcPts val="0"/>
                        </a:spcAft>
                        <a:buClr>
                          <a:srgbClr val="000000"/>
                        </a:buClr>
                        <a:buSzPts val="1400"/>
                        <a:buFont typeface="Arial"/>
                        <a:buNone/>
                      </a:pPr>
                      <a:r>
                        <a:rPr b="1" i="1" lang="en" sz="1400" u="sng" cap="none" strike="noStrike">
                          <a:latin typeface="Times New Roman"/>
                          <a:ea typeface="Times New Roman"/>
                          <a:cs typeface="Times New Roman"/>
                          <a:sym typeface="Times New Roman"/>
                        </a:rPr>
                        <a:t>Product System</a:t>
                      </a:r>
                      <a:endParaRPr b="1" i="1" sz="1400" u="sng"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i="1" lang="en" sz="1400" u="sng" cap="none" strike="noStrike">
                          <a:latin typeface="Times New Roman"/>
                          <a:ea typeface="Times New Roman"/>
                          <a:cs typeface="Times New Roman"/>
                          <a:sym typeface="Times New Roman"/>
                        </a:rPr>
                        <a:t>Functional Unit</a:t>
                      </a:r>
                      <a:endParaRPr b="1" i="1" sz="1400" u="sng"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i="1" lang="en" sz="1400" u="sng" cap="none" strike="noStrike">
                          <a:latin typeface="Times New Roman"/>
                          <a:ea typeface="Times New Roman"/>
                          <a:cs typeface="Times New Roman"/>
                          <a:sym typeface="Times New Roman"/>
                        </a:rPr>
                        <a:t>Reference Flow</a:t>
                      </a:r>
                      <a:endParaRPr b="1" i="1" sz="1400" u="sng"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i="1" lang="en" sz="1400" u="sng" cap="none" strike="noStrike">
                          <a:latin typeface="Times New Roman"/>
                          <a:ea typeface="Times New Roman"/>
                          <a:cs typeface="Times New Roman"/>
                          <a:sym typeface="Times New Roman"/>
                        </a:rPr>
                        <a:t>System boundaries</a:t>
                      </a:r>
                      <a:br>
                        <a:rPr b="1" i="1" lang="en" sz="1400" u="sng" cap="none" strike="noStrike">
                          <a:latin typeface="Times New Roman"/>
                          <a:ea typeface="Times New Roman"/>
                          <a:cs typeface="Times New Roman"/>
                          <a:sym typeface="Times New Roman"/>
                        </a:rPr>
                      </a:br>
                      <a:endParaRPr b="1" i="1" sz="1400" u="sng" cap="none" strike="noStrike">
                        <a:latin typeface="Times New Roman"/>
                        <a:ea typeface="Times New Roman"/>
                        <a:cs typeface="Times New Roman"/>
                        <a:sym typeface="Times New Roman"/>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b="1" i="1" lang="en" sz="1400" u="sng" cap="none" strike="noStrike">
                          <a:latin typeface="Times New Roman"/>
                          <a:ea typeface="Times New Roman"/>
                          <a:cs typeface="Times New Roman"/>
                          <a:sym typeface="Times New Roman"/>
                        </a:rPr>
                        <a:t>Environmental Key Parameters</a:t>
                      </a:r>
                      <a:endParaRPr b="1" i="1" sz="1400" u="sng"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7251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Wall Paint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100 m</a:t>
                      </a:r>
                      <a:r>
                        <a:rPr baseline="30000" lang="en" sz="1400" u="none" cap="none" strike="noStrike"/>
                        <a:t>2</a:t>
                      </a:r>
                      <a:r>
                        <a:rPr lang="en" sz="1400" u="none" cap="none" strike="noStrike"/>
                        <a:t> of wall protected for 20 years</a:t>
                      </a:r>
                      <a:endParaRPr sz="1400" u="none" cap="none" strike="noStrike"/>
                    </a:p>
                  </a:txBody>
                  <a:tcPr marT="91425" marB="91425" marR="91425" marL="91425">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30 Liters of Paint (41.1kg)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1 roller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6 Paint buckets (2.5 kg)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1/600 Ladder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Overall life cycle including raw material extraction, use phase, end of life treatment</a:t>
                      </a:r>
                      <a:br>
                        <a:rPr lang="en" sz="1400" u="none" cap="none" strike="noStrike"/>
                      </a:br>
                      <a:endParaRPr sz="1400" u="none" cap="none" strike="noStrike"/>
                    </a:p>
                  </a:txBody>
                  <a:tcPr marT="91425" marB="91425" marR="91425" marL="91425">
                    <a:lnR cap="flat" cmpd="sng" w="9525">
                      <a:solidFill>
                        <a:srgbClr val="9E9E9E"/>
                      </a:solidFill>
                      <a:prstDash val="solid"/>
                      <a:round/>
                      <a:headEnd len="sm" w="sm" type="none"/>
                      <a:tailEnd len="sm" w="sm" type="none"/>
                    </a:lnR>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Amount of paint/paper applied per square meter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Lifetime of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Paint/Paper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6113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Wallpaper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T cap="flat" cmpd="sng" w="9525">
                      <a:solidFill>
                        <a:srgbClr val="9E9E9E">
                          <a:alpha val="0"/>
                        </a:srgbClr>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32.9 rolls of 1kg  wallpaper (32.9 kg)</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1 roller</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1 Concentrated Adhesive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 sz="1400" u="none" cap="none" strike="noStrike"/>
                        <a:t>1/600 ladder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Category of Paint/Paper (Water based, Oil, Plant based, etc.)</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263" name="Google Shape;263;p27"/>
          <p:cNvPicPr preferRelativeResize="0"/>
          <p:nvPr/>
        </p:nvPicPr>
        <p:blipFill rotWithShape="1">
          <a:blip r:embed="rId3">
            <a:alphaModFix/>
          </a:blip>
          <a:srcRect b="0" l="0" r="0" t="0"/>
          <a:stretch/>
        </p:blipFill>
        <p:spPr>
          <a:xfrm>
            <a:off x="619805" y="1773650"/>
            <a:ext cx="986600" cy="986600"/>
          </a:xfrm>
          <a:prstGeom prst="rect">
            <a:avLst/>
          </a:prstGeom>
          <a:noFill/>
          <a:ln>
            <a:noFill/>
          </a:ln>
        </p:spPr>
      </p:pic>
      <p:pic>
        <p:nvPicPr>
          <p:cNvPr id="264" name="Google Shape;264;p27"/>
          <p:cNvPicPr preferRelativeResize="0"/>
          <p:nvPr/>
        </p:nvPicPr>
        <p:blipFill rotWithShape="1">
          <a:blip r:embed="rId4">
            <a:alphaModFix/>
          </a:blip>
          <a:srcRect b="0" l="0" r="0" t="0"/>
          <a:stretch/>
        </p:blipFill>
        <p:spPr>
          <a:xfrm>
            <a:off x="619801" y="3519700"/>
            <a:ext cx="986600" cy="986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8"/>
          <p:cNvPicPr preferRelativeResize="0"/>
          <p:nvPr/>
        </p:nvPicPr>
        <p:blipFill rotWithShape="1">
          <a:blip r:embed="rId3">
            <a:alphaModFix/>
          </a:blip>
          <a:srcRect b="0" l="0" r="0" t="0"/>
          <a:stretch/>
        </p:blipFill>
        <p:spPr>
          <a:xfrm>
            <a:off x="655025" y="626625"/>
            <a:ext cx="3581726" cy="4309900"/>
          </a:xfrm>
          <a:prstGeom prst="rect">
            <a:avLst/>
          </a:prstGeom>
          <a:noFill/>
          <a:ln>
            <a:noFill/>
          </a:ln>
        </p:spPr>
      </p:pic>
      <p:pic>
        <p:nvPicPr>
          <p:cNvPr id="270" name="Google Shape;270;p28"/>
          <p:cNvPicPr preferRelativeResize="0"/>
          <p:nvPr/>
        </p:nvPicPr>
        <p:blipFill rotWithShape="1">
          <a:blip r:embed="rId4">
            <a:alphaModFix/>
          </a:blip>
          <a:srcRect b="0" l="0" r="0" t="0"/>
          <a:stretch/>
        </p:blipFill>
        <p:spPr>
          <a:xfrm>
            <a:off x="4084350" y="920310"/>
            <a:ext cx="3440150" cy="3863815"/>
          </a:xfrm>
          <a:prstGeom prst="rect">
            <a:avLst/>
          </a:prstGeom>
          <a:noFill/>
          <a:ln>
            <a:noFill/>
          </a:ln>
        </p:spPr>
      </p:pic>
      <p:sp>
        <p:nvSpPr>
          <p:cNvPr id="271" name="Google Shape;271;p28"/>
          <p:cNvSpPr txBox="1"/>
          <p:nvPr>
            <p:ph type="title"/>
          </p:nvPr>
        </p:nvSpPr>
        <p:spPr>
          <a:xfrm>
            <a:off x="655025" y="259450"/>
            <a:ext cx="7505700" cy="95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400">
                <a:solidFill>
                  <a:srgbClr val="F0AF00"/>
                </a:solidFill>
                <a:latin typeface="Arial"/>
                <a:ea typeface="Arial"/>
                <a:cs typeface="Arial"/>
                <a:sym typeface="Arial"/>
              </a:rPr>
              <a:t> Wall Paint’s Non-renewable energy process tree</a:t>
            </a:r>
            <a:endParaRPr/>
          </a:p>
        </p:txBody>
      </p:sp>
      <p:grpSp>
        <p:nvGrpSpPr>
          <p:cNvPr id="272" name="Google Shape;272;p28"/>
          <p:cNvGrpSpPr/>
          <p:nvPr/>
        </p:nvGrpSpPr>
        <p:grpSpPr>
          <a:xfrm>
            <a:off x="382750" y="1782525"/>
            <a:ext cx="3769650" cy="705150"/>
            <a:chOff x="382750" y="1782525"/>
            <a:chExt cx="3769650" cy="705150"/>
          </a:xfrm>
        </p:grpSpPr>
        <p:sp>
          <p:nvSpPr>
            <p:cNvPr id="273" name="Google Shape;273;p28"/>
            <p:cNvSpPr txBox="1"/>
            <p:nvPr/>
          </p:nvSpPr>
          <p:spPr>
            <a:xfrm>
              <a:off x="382750" y="1800075"/>
              <a:ext cx="1633200" cy="66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Titanium dioxide production</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61.1%</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74" name="Google Shape;274;p28"/>
            <p:cNvSpPr txBox="1"/>
            <p:nvPr/>
          </p:nvSpPr>
          <p:spPr>
            <a:xfrm>
              <a:off x="2455225" y="1782525"/>
              <a:ext cx="1010100" cy="69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EVAC production</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12.4%</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75" name="Google Shape;275;p28"/>
            <p:cNvSpPr txBox="1"/>
            <p:nvPr/>
          </p:nvSpPr>
          <p:spPr>
            <a:xfrm>
              <a:off x="3401200" y="1924875"/>
              <a:ext cx="751200" cy="56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Heat</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16.5%</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grpSp>
      <p:sp>
        <p:nvSpPr>
          <p:cNvPr id="276" name="Google Shape;276;p28"/>
          <p:cNvSpPr txBox="1"/>
          <p:nvPr/>
        </p:nvSpPr>
        <p:spPr>
          <a:xfrm>
            <a:off x="498200" y="872975"/>
            <a:ext cx="12927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434343"/>
                </a:solidFill>
                <a:latin typeface="Arial"/>
                <a:ea typeface="Arial"/>
                <a:cs typeface="Arial"/>
                <a:sym typeface="Arial"/>
              </a:rPr>
              <a:t>Cut-off: 4%</a:t>
            </a:r>
            <a:endParaRPr b="1" i="0" sz="14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pic>
        <p:nvPicPr>
          <p:cNvPr id="277" name="Google Shape;277;p28"/>
          <p:cNvPicPr preferRelativeResize="0"/>
          <p:nvPr/>
        </p:nvPicPr>
        <p:blipFill rotWithShape="1">
          <a:blip r:embed="rId5">
            <a:alphaModFix amt="96000"/>
          </a:blip>
          <a:srcRect b="0" l="0" r="0" t="0"/>
          <a:stretch/>
        </p:blipFill>
        <p:spPr>
          <a:xfrm>
            <a:off x="7524500" y="3455650"/>
            <a:ext cx="1427775" cy="1305600"/>
          </a:xfrm>
          <a:prstGeom prst="rect">
            <a:avLst/>
          </a:prstGeom>
          <a:noFill/>
          <a:ln>
            <a:noFill/>
          </a:ln>
        </p:spPr>
      </p:pic>
      <p:sp>
        <p:nvSpPr>
          <p:cNvPr id="278" name="Google Shape;278;p28"/>
          <p:cNvSpPr txBox="1"/>
          <p:nvPr/>
        </p:nvSpPr>
        <p:spPr>
          <a:xfrm>
            <a:off x="4747700" y="1267625"/>
            <a:ext cx="2700600" cy="50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1738.9 MJ/FU             1753 MJ/FU</a:t>
            </a:r>
            <a:endParaRPr b="1"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29"/>
          <p:cNvPicPr preferRelativeResize="0"/>
          <p:nvPr/>
        </p:nvPicPr>
        <p:blipFill rotWithShape="1">
          <a:blip r:embed="rId3">
            <a:alphaModFix/>
          </a:blip>
          <a:srcRect b="0" l="0" r="0" t="0"/>
          <a:stretch/>
        </p:blipFill>
        <p:spPr>
          <a:xfrm>
            <a:off x="474537" y="676350"/>
            <a:ext cx="5371125" cy="4075825"/>
          </a:xfrm>
          <a:prstGeom prst="rect">
            <a:avLst/>
          </a:prstGeom>
          <a:noFill/>
          <a:ln>
            <a:noFill/>
          </a:ln>
        </p:spPr>
      </p:pic>
      <p:pic>
        <p:nvPicPr>
          <p:cNvPr id="284" name="Google Shape;284;p29"/>
          <p:cNvPicPr preferRelativeResize="0"/>
          <p:nvPr/>
        </p:nvPicPr>
        <p:blipFill rotWithShape="1">
          <a:blip r:embed="rId4">
            <a:alphaModFix/>
          </a:blip>
          <a:srcRect b="0" l="0" r="0" t="0"/>
          <a:stretch/>
        </p:blipFill>
        <p:spPr>
          <a:xfrm>
            <a:off x="5849809" y="1233175"/>
            <a:ext cx="3074342" cy="3465200"/>
          </a:xfrm>
          <a:prstGeom prst="rect">
            <a:avLst/>
          </a:prstGeom>
          <a:noFill/>
          <a:ln>
            <a:noFill/>
          </a:ln>
        </p:spPr>
      </p:pic>
      <p:sp>
        <p:nvSpPr>
          <p:cNvPr id="285" name="Google Shape;285;p29"/>
          <p:cNvSpPr txBox="1"/>
          <p:nvPr>
            <p:ph type="title"/>
          </p:nvPr>
        </p:nvSpPr>
        <p:spPr>
          <a:xfrm>
            <a:off x="819150" y="204450"/>
            <a:ext cx="7505700" cy="565800"/>
          </a:xfrm>
          <a:prstGeom prst="rect">
            <a:avLst/>
          </a:prstGeom>
          <a:noFill/>
          <a:ln>
            <a:noFill/>
          </a:ln>
        </p:spPr>
        <p:txBody>
          <a:bodyPr anchorCtr="0" anchor="t" bIns="91425" lIns="91425" spcFirstLastPara="1" rIns="91425" wrap="square" tIns="91425">
            <a:noAutofit/>
          </a:bodyPr>
          <a:lstStyle/>
          <a:p>
            <a:pPr indent="457200" lvl="0" marL="1371600" rtl="0" algn="l">
              <a:lnSpc>
                <a:spcPct val="100000"/>
              </a:lnSpc>
              <a:spcBef>
                <a:spcPts val="0"/>
              </a:spcBef>
              <a:spcAft>
                <a:spcPts val="0"/>
              </a:spcAft>
              <a:buSzPts val="3000"/>
              <a:buNone/>
            </a:pPr>
            <a:r>
              <a:rPr b="1" lang="en" sz="2400">
                <a:solidFill>
                  <a:srgbClr val="F0AF00"/>
                </a:solidFill>
                <a:latin typeface="Arial"/>
                <a:ea typeface="Arial"/>
                <a:cs typeface="Arial"/>
                <a:sym typeface="Arial"/>
              </a:rPr>
              <a:t>Wall Paint’s CO2 process tree</a:t>
            </a:r>
            <a:endParaRPr/>
          </a:p>
        </p:txBody>
      </p:sp>
      <p:sp>
        <p:nvSpPr>
          <p:cNvPr id="286" name="Google Shape;286;p29"/>
          <p:cNvSpPr txBox="1"/>
          <p:nvPr/>
        </p:nvSpPr>
        <p:spPr>
          <a:xfrm>
            <a:off x="6176175" y="1297300"/>
            <a:ext cx="2574000" cy="45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    84.3 kg/FU       87.7 kg/FU</a:t>
            </a:r>
            <a:endParaRPr b="1" i="0" sz="1400" u="none" cap="none" strike="noStrike">
              <a:solidFill>
                <a:srgbClr val="000000"/>
              </a:solidFill>
              <a:latin typeface="Arial"/>
              <a:ea typeface="Arial"/>
              <a:cs typeface="Arial"/>
              <a:sym typeface="Arial"/>
            </a:endParaRPr>
          </a:p>
        </p:txBody>
      </p:sp>
      <p:sp>
        <p:nvSpPr>
          <p:cNvPr id="287" name="Google Shape;287;p29"/>
          <p:cNvSpPr txBox="1"/>
          <p:nvPr/>
        </p:nvSpPr>
        <p:spPr>
          <a:xfrm>
            <a:off x="385050" y="2234550"/>
            <a:ext cx="1402500" cy="67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Titanium dioxide production</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61.4%</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88" name="Google Shape;288;p29"/>
          <p:cNvSpPr txBox="1"/>
          <p:nvPr/>
        </p:nvSpPr>
        <p:spPr>
          <a:xfrm>
            <a:off x="2266650" y="3536650"/>
            <a:ext cx="1017300" cy="67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EVAC production</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5.9%</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89" name="Google Shape;289;p29"/>
          <p:cNvSpPr txBox="1"/>
          <p:nvPr/>
        </p:nvSpPr>
        <p:spPr>
          <a:xfrm>
            <a:off x="4025550" y="2259425"/>
            <a:ext cx="771600" cy="56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Heat</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20.5%</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90" name="Google Shape;290;p29"/>
          <p:cNvSpPr txBox="1"/>
          <p:nvPr/>
        </p:nvSpPr>
        <p:spPr>
          <a:xfrm>
            <a:off x="2956925" y="2183213"/>
            <a:ext cx="1017300" cy="56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Steel production</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4.9%</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
        <p:nvSpPr>
          <p:cNvPr id="291" name="Google Shape;291;p29"/>
          <p:cNvSpPr txBox="1"/>
          <p:nvPr/>
        </p:nvSpPr>
        <p:spPr>
          <a:xfrm>
            <a:off x="385050" y="924175"/>
            <a:ext cx="1284600" cy="30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434343"/>
                </a:solidFill>
                <a:latin typeface="Arial"/>
                <a:ea typeface="Arial"/>
                <a:cs typeface="Arial"/>
                <a:sym typeface="Arial"/>
              </a:rPr>
              <a:t>Cut-off: 4%</a:t>
            </a:r>
            <a:endParaRPr b="1" i="0" sz="14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30"/>
          <p:cNvPicPr preferRelativeResize="0"/>
          <p:nvPr/>
        </p:nvPicPr>
        <p:blipFill rotWithShape="1">
          <a:blip r:embed="rId3">
            <a:alphaModFix/>
          </a:blip>
          <a:srcRect b="0" l="0" r="0" t="0"/>
          <a:stretch/>
        </p:blipFill>
        <p:spPr>
          <a:xfrm>
            <a:off x="248150" y="1023175"/>
            <a:ext cx="8319718" cy="2730775"/>
          </a:xfrm>
          <a:prstGeom prst="rect">
            <a:avLst/>
          </a:prstGeom>
          <a:noFill/>
          <a:ln>
            <a:noFill/>
          </a:ln>
        </p:spPr>
      </p:pic>
      <p:sp>
        <p:nvSpPr>
          <p:cNvPr id="297" name="Google Shape;297;p30"/>
          <p:cNvSpPr txBox="1"/>
          <p:nvPr>
            <p:ph type="title"/>
          </p:nvPr>
        </p:nvSpPr>
        <p:spPr>
          <a:xfrm>
            <a:off x="278850" y="285650"/>
            <a:ext cx="8586300" cy="70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Normalized midpoint results (Wall paint)</a:t>
            </a:r>
            <a:endParaRPr/>
          </a:p>
        </p:txBody>
      </p:sp>
      <p:sp>
        <p:nvSpPr>
          <p:cNvPr id="298" name="Google Shape;298;p30"/>
          <p:cNvSpPr txBox="1"/>
          <p:nvPr/>
        </p:nvSpPr>
        <p:spPr>
          <a:xfrm>
            <a:off x="1629550" y="3506375"/>
            <a:ext cx="1619100" cy="4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Respiratory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inorganics</a:t>
            </a:r>
            <a:endParaRPr b="0" i="0" sz="1400" u="none" cap="none" strike="noStrike">
              <a:solidFill>
                <a:srgbClr val="000000"/>
              </a:solidFill>
              <a:latin typeface="Arial"/>
              <a:ea typeface="Arial"/>
              <a:cs typeface="Arial"/>
              <a:sym typeface="Arial"/>
            </a:endParaRPr>
          </a:p>
        </p:txBody>
      </p:sp>
      <p:sp>
        <p:nvSpPr>
          <p:cNvPr id="299" name="Google Shape;299;p30"/>
          <p:cNvSpPr txBox="1"/>
          <p:nvPr/>
        </p:nvSpPr>
        <p:spPr>
          <a:xfrm>
            <a:off x="6645775" y="3506375"/>
            <a:ext cx="1619100" cy="4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Global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warming</a:t>
            </a:r>
            <a:endParaRPr b="0" i="0" sz="1400" u="none" cap="none" strike="noStrike">
              <a:solidFill>
                <a:srgbClr val="000000"/>
              </a:solidFill>
              <a:latin typeface="Arial"/>
              <a:ea typeface="Arial"/>
              <a:cs typeface="Arial"/>
              <a:sym typeface="Arial"/>
            </a:endParaRPr>
          </a:p>
        </p:txBody>
      </p:sp>
      <p:sp>
        <p:nvSpPr>
          <p:cNvPr id="300" name="Google Shape;300;p30"/>
          <p:cNvSpPr txBox="1"/>
          <p:nvPr/>
        </p:nvSpPr>
        <p:spPr>
          <a:xfrm>
            <a:off x="7383025" y="3506375"/>
            <a:ext cx="1619100" cy="4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Non-renewable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Energy</a:t>
            </a:r>
            <a:endParaRPr b="0" i="0" sz="1400" u="none" cap="none" strike="noStrike">
              <a:solidFill>
                <a:srgbClr val="000000"/>
              </a:solidFill>
              <a:latin typeface="Arial"/>
              <a:ea typeface="Arial"/>
              <a:cs typeface="Arial"/>
              <a:sym typeface="Arial"/>
            </a:endParaRPr>
          </a:p>
        </p:txBody>
      </p:sp>
      <p:sp>
        <p:nvSpPr>
          <p:cNvPr id="301" name="Google Shape;301;p30"/>
          <p:cNvSpPr txBox="1"/>
          <p:nvPr/>
        </p:nvSpPr>
        <p:spPr>
          <a:xfrm>
            <a:off x="2739150" y="1603875"/>
            <a:ext cx="540900" cy="27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2" name="Google Shape;302;p30"/>
          <p:cNvGrpSpPr/>
          <p:nvPr/>
        </p:nvGrpSpPr>
        <p:grpSpPr>
          <a:xfrm>
            <a:off x="2154875" y="1104250"/>
            <a:ext cx="6866125" cy="1476763"/>
            <a:chOff x="2154875" y="1104250"/>
            <a:chExt cx="6866125" cy="1476763"/>
          </a:xfrm>
        </p:grpSpPr>
        <p:grpSp>
          <p:nvGrpSpPr>
            <p:cNvPr id="303" name="Google Shape;303;p30"/>
            <p:cNvGrpSpPr/>
            <p:nvPr/>
          </p:nvGrpSpPr>
          <p:grpSpPr>
            <a:xfrm>
              <a:off x="2154875" y="1240125"/>
              <a:ext cx="1240050" cy="1235425"/>
              <a:chOff x="2154875" y="1240125"/>
              <a:chExt cx="1240050" cy="1235425"/>
            </a:xfrm>
          </p:grpSpPr>
          <p:pic>
            <p:nvPicPr>
              <p:cNvPr id="304" name="Google Shape;304;p30"/>
              <p:cNvPicPr preferRelativeResize="0"/>
              <p:nvPr/>
            </p:nvPicPr>
            <p:blipFill rotWithShape="1">
              <a:blip r:embed="rId4">
                <a:alphaModFix amt="76000"/>
              </a:blip>
              <a:srcRect b="0" l="0" r="0" t="0"/>
              <a:stretch/>
            </p:blipFill>
            <p:spPr>
              <a:xfrm>
                <a:off x="2256150" y="1240125"/>
                <a:ext cx="1138775" cy="1102226"/>
              </a:xfrm>
              <a:prstGeom prst="rect">
                <a:avLst/>
              </a:prstGeom>
              <a:noFill/>
              <a:ln>
                <a:noFill/>
              </a:ln>
            </p:spPr>
          </p:pic>
          <p:sp>
            <p:nvSpPr>
              <p:cNvPr id="305" name="Google Shape;305;p30"/>
              <p:cNvSpPr txBox="1"/>
              <p:nvPr/>
            </p:nvSpPr>
            <p:spPr>
              <a:xfrm>
                <a:off x="2536050" y="1714475"/>
                <a:ext cx="744000" cy="35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TiO2 61.1 %</a:t>
                </a:r>
                <a:endParaRPr b="0" i="0" sz="1200" u="none" cap="none" strike="noStrike">
                  <a:solidFill>
                    <a:srgbClr val="000000"/>
                  </a:solidFill>
                  <a:latin typeface="Arial"/>
                  <a:ea typeface="Arial"/>
                  <a:cs typeface="Arial"/>
                  <a:sym typeface="Arial"/>
                </a:endParaRPr>
              </a:p>
            </p:txBody>
          </p:sp>
          <p:cxnSp>
            <p:nvCxnSpPr>
              <p:cNvPr id="306" name="Google Shape;306;p30"/>
              <p:cNvCxnSpPr/>
              <p:nvPr/>
            </p:nvCxnSpPr>
            <p:spPr>
              <a:xfrm flipH="1" rot="10800000">
                <a:off x="2154875" y="2244850"/>
                <a:ext cx="359400" cy="230700"/>
              </a:xfrm>
              <a:prstGeom prst="straightConnector1">
                <a:avLst/>
              </a:prstGeom>
              <a:noFill/>
              <a:ln cap="flat" cmpd="sng" w="9525">
                <a:solidFill>
                  <a:schemeClr val="dk2"/>
                </a:solidFill>
                <a:prstDash val="solid"/>
                <a:round/>
                <a:headEnd len="sm" w="sm" type="none"/>
                <a:tailEnd len="med" w="med" type="triangle"/>
              </a:ln>
            </p:spPr>
          </p:cxnSp>
        </p:grpSp>
        <p:grpSp>
          <p:nvGrpSpPr>
            <p:cNvPr id="307" name="Google Shape;307;p30"/>
            <p:cNvGrpSpPr/>
            <p:nvPr/>
          </p:nvGrpSpPr>
          <p:grpSpPr>
            <a:xfrm>
              <a:off x="5659399" y="1187175"/>
              <a:ext cx="1228526" cy="1393838"/>
              <a:chOff x="5659399" y="1187175"/>
              <a:chExt cx="1228526" cy="1393838"/>
            </a:xfrm>
          </p:grpSpPr>
          <p:pic>
            <p:nvPicPr>
              <p:cNvPr id="308" name="Google Shape;308;p30"/>
              <p:cNvPicPr preferRelativeResize="0"/>
              <p:nvPr/>
            </p:nvPicPr>
            <p:blipFill rotWithShape="1">
              <a:blip r:embed="rId5">
                <a:alphaModFix amt="77000"/>
              </a:blip>
              <a:srcRect b="0" l="0" r="0" t="0"/>
              <a:stretch/>
            </p:blipFill>
            <p:spPr>
              <a:xfrm>
                <a:off x="5659399" y="1187175"/>
                <a:ext cx="1138775" cy="1055734"/>
              </a:xfrm>
              <a:prstGeom prst="rect">
                <a:avLst/>
              </a:prstGeom>
              <a:noFill/>
              <a:ln>
                <a:noFill/>
              </a:ln>
            </p:spPr>
          </p:pic>
          <p:sp>
            <p:nvSpPr>
              <p:cNvPr id="309" name="Google Shape;309;p30"/>
              <p:cNvSpPr txBox="1"/>
              <p:nvPr/>
            </p:nvSpPr>
            <p:spPr>
              <a:xfrm>
                <a:off x="5990025" y="1655450"/>
                <a:ext cx="744000" cy="35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TiO2 58.8 %</a:t>
                </a:r>
                <a:endParaRPr b="0" i="0" sz="1200" u="none" cap="none" strike="noStrike">
                  <a:solidFill>
                    <a:srgbClr val="000000"/>
                  </a:solidFill>
                  <a:latin typeface="Arial"/>
                  <a:ea typeface="Arial"/>
                  <a:cs typeface="Arial"/>
                  <a:sym typeface="Arial"/>
                </a:endParaRPr>
              </a:p>
            </p:txBody>
          </p:sp>
          <p:cxnSp>
            <p:nvCxnSpPr>
              <p:cNvPr id="310" name="Google Shape;310;p30"/>
              <p:cNvCxnSpPr/>
              <p:nvPr/>
            </p:nvCxnSpPr>
            <p:spPr>
              <a:xfrm rot="10800000">
                <a:off x="6515925" y="2196113"/>
                <a:ext cx="372000" cy="384900"/>
              </a:xfrm>
              <a:prstGeom prst="straightConnector1">
                <a:avLst/>
              </a:prstGeom>
              <a:noFill/>
              <a:ln cap="flat" cmpd="sng" w="9525">
                <a:solidFill>
                  <a:schemeClr val="dk2"/>
                </a:solidFill>
                <a:prstDash val="solid"/>
                <a:round/>
                <a:headEnd len="sm" w="sm" type="none"/>
                <a:tailEnd len="med" w="med" type="triangle"/>
              </a:ln>
            </p:spPr>
          </p:cxnSp>
        </p:grpSp>
        <p:grpSp>
          <p:nvGrpSpPr>
            <p:cNvPr id="311" name="Google Shape;311;p30"/>
            <p:cNvGrpSpPr/>
            <p:nvPr/>
          </p:nvGrpSpPr>
          <p:grpSpPr>
            <a:xfrm>
              <a:off x="7784325" y="1104250"/>
              <a:ext cx="1236675" cy="1217188"/>
              <a:chOff x="7784325" y="1104250"/>
              <a:chExt cx="1236675" cy="1217188"/>
            </a:xfrm>
          </p:grpSpPr>
          <p:pic>
            <p:nvPicPr>
              <p:cNvPr id="312" name="Google Shape;312;p30"/>
              <p:cNvPicPr preferRelativeResize="0"/>
              <p:nvPr/>
            </p:nvPicPr>
            <p:blipFill rotWithShape="1">
              <a:blip r:embed="rId6">
                <a:alphaModFix amt="81000"/>
              </a:blip>
              <a:srcRect b="0" l="0" r="0" t="0"/>
              <a:stretch/>
            </p:blipFill>
            <p:spPr>
              <a:xfrm>
                <a:off x="7861375" y="1104250"/>
                <a:ext cx="1052300" cy="986500"/>
              </a:xfrm>
              <a:prstGeom prst="rect">
                <a:avLst/>
              </a:prstGeom>
              <a:noFill/>
              <a:ln>
                <a:noFill/>
              </a:ln>
            </p:spPr>
          </p:pic>
          <p:sp>
            <p:nvSpPr>
              <p:cNvPr id="313" name="Google Shape;313;p30"/>
              <p:cNvSpPr txBox="1"/>
              <p:nvPr/>
            </p:nvSpPr>
            <p:spPr>
              <a:xfrm>
                <a:off x="8191500" y="1486425"/>
                <a:ext cx="829500" cy="35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TiO2 60.5 %</a:t>
                </a:r>
                <a:endParaRPr b="0" i="0" sz="1200" u="none" cap="none" strike="noStrike">
                  <a:solidFill>
                    <a:srgbClr val="000000"/>
                  </a:solidFill>
                  <a:latin typeface="Arial"/>
                  <a:ea typeface="Arial"/>
                  <a:cs typeface="Arial"/>
                  <a:sym typeface="Arial"/>
                </a:endParaRPr>
              </a:p>
            </p:txBody>
          </p:sp>
          <p:cxnSp>
            <p:nvCxnSpPr>
              <p:cNvPr id="314" name="Google Shape;314;p30"/>
              <p:cNvCxnSpPr/>
              <p:nvPr/>
            </p:nvCxnSpPr>
            <p:spPr>
              <a:xfrm flipH="1" rot="10800000">
                <a:off x="7784325" y="2090738"/>
                <a:ext cx="359400" cy="230700"/>
              </a:xfrm>
              <a:prstGeom prst="straightConnector1">
                <a:avLst/>
              </a:prstGeom>
              <a:noFill/>
              <a:ln cap="flat" cmpd="sng" w="9525">
                <a:solidFill>
                  <a:schemeClr val="dk2"/>
                </a:solidFill>
                <a:prstDash val="solid"/>
                <a:round/>
                <a:headEnd len="sm" w="sm" type="none"/>
                <a:tailEnd len="med" w="med" type="triangle"/>
              </a:ln>
            </p:spPr>
          </p:cxnSp>
        </p:grpSp>
      </p:grpSp>
      <p:sp>
        <p:nvSpPr>
          <p:cNvPr id="315" name="Google Shape;315;p30"/>
          <p:cNvSpPr txBox="1"/>
          <p:nvPr/>
        </p:nvSpPr>
        <p:spPr>
          <a:xfrm>
            <a:off x="377775" y="4247275"/>
            <a:ext cx="8487300" cy="702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Highest contribution to the damage is Titanium production in the categories of Respiratory Inorganics (61.1%</a:t>
            </a:r>
            <a:r>
              <a:rPr b="0" i="0" lang="en" sz="1800" u="none" cap="none" strike="noStrike">
                <a:solidFill>
                  <a:srgbClr val="000000"/>
                </a:solidFill>
                <a:highlight>
                  <a:schemeClr val="dk1"/>
                </a:highlight>
                <a:latin typeface="Arial"/>
                <a:ea typeface="Arial"/>
                <a:cs typeface="Arial"/>
                <a:sym typeface="Arial"/>
              </a:rPr>
              <a:t>)</a:t>
            </a:r>
            <a:r>
              <a:rPr b="0" i="0" lang="en" sz="1800" u="none" cap="none" strike="noStrike">
                <a:solidFill>
                  <a:srgbClr val="000000"/>
                </a:solidFill>
                <a:latin typeface="Calibri"/>
                <a:ea typeface="Calibri"/>
                <a:cs typeface="Calibri"/>
                <a:sym typeface="Calibri"/>
              </a:rPr>
              <a:t> , Global Warming (58.8%</a:t>
            </a:r>
            <a:r>
              <a:rPr b="0" i="0" lang="en" sz="1800" u="none" cap="none" strike="noStrike">
                <a:solidFill>
                  <a:srgbClr val="000000"/>
                </a:solidFill>
                <a:highlight>
                  <a:schemeClr val="dk1"/>
                </a:highlight>
                <a:latin typeface="Arial"/>
                <a:ea typeface="Arial"/>
                <a:cs typeface="Arial"/>
                <a:sym typeface="Arial"/>
              </a:rPr>
              <a:t>)</a:t>
            </a:r>
            <a:r>
              <a:rPr b="0" i="0" lang="en" sz="1800" u="none" cap="none" strike="noStrike">
                <a:solidFill>
                  <a:srgbClr val="000000"/>
                </a:solidFill>
                <a:latin typeface="Calibri"/>
                <a:ea typeface="Calibri"/>
                <a:cs typeface="Calibri"/>
                <a:sym typeface="Calibri"/>
              </a:rPr>
              <a:t>, Non-renewable energy (60.5%)</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grpSp>
        <p:nvGrpSpPr>
          <p:cNvPr id="316" name="Google Shape;316;p30"/>
          <p:cNvGrpSpPr/>
          <p:nvPr/>
        </p:nvGrpSpPr>
        <p:grpSpPr>
          <a:xfrm>
            <a:off x="648500" y="1336775"/>
            <a:ext cx="8422150" cy="1905100"/>
            <a:chOff x="648500" y="1336775"/>
            <a:chExt cx="8422150" cy="1905100"/>
          </a:xfrm>
        </p:grpSpPr>
        <p:grpSp>
          <p:nvGrpSpPr>
            <p:cNvPr id="317" name="Google Shape;317;p30"/>
            <p:cNvGrpSpPr/>
            <p:nvPr/>
          </p:nvGrpSpPr>
          <p:grpSpPr>
            <a:xfrm>
              <a:off x="7862750" y="2279400"/>
              <a:ext cx="1207900" cy="962475"/>
              <a:chOff x="7862750" y="2279400"/>
              <a:chExt cx="1207900" cy="962475"/>
            </a:xfrm>
          </p:grpSpPr>
          <p:pic>
            <p:nvPicPr>
              <p:cNvPr id="318" name="Google Shape;318;p30"/>
              <p:cNvPicPr preferRelativeResize="0"/>
              <p:nvPr/>
            </p:nvPicPr>
            <p:blipFill rotWithShape="1">
              <a:blip r:embed="rId7">
                <a:alphaModFix amt="80000"/>
              </a:blip>
              <a:srcRect b="0" l="0" r="0" t="0"/>
              <a:stretch/>
            </p:blipFill>
            <p:spPr>
              <a:xfrm>
                <a:off x="7931549" y="2279400"/>
                <a:ext cx="982125" cy="962475"/>
              </a:xfrm>
              <a:prstGeom prst="rect">
                <a:avLst/>
              </a:prstGeom>
              <a:noFill/>
              <a:ln>
                <a:noFill/>
              </a:ln>
            </p:spPr>
          </p:pic>
          <p:sp>
            <p:nvSpPr>
              <p:cNvPr id="319" name="Google Shape;319;p30"/>
              <p:cNvSpPr txBox="1"/>
              <p:nvPr/>
            </p:nvSpPr>
            <p:spPr>
              <a:xfrm>
                <a:off x="8324550" y="2696725"/>
                <a:ext cx="746100" cy="27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Gas 46.8%</a:t>
                </a:r>
                <a:endParaRPr b="0" i="0" sz="1000" u="none" cap="none" strike="noStrike">
                  <a:solidFill>
                    <a:srgbClr val="000000"/>
                  </a:solidFill>
                  <a:latin typeface="Arial"/>
                  <a:ea typeface="Arial"/>
                  <a:cs typeface="Arial"/>
                  <a:sym typeface="Arial"/>
                </a:endParaRPr>
              </a:p>
            </p:txBody>
          </p:sp>
          <p:sp>
            <p:nvSpPr>
              <p:cNvPr id="320" name="Google Shape;320;p30"/>
              <p:cNvSpPr txBox="1"/>
              <p:nvPr/>
            </p:nvSpPr>
            <p:spPr>
              <a:xfrm>
                <a:off x="7942950" y="2425775"/>
                <a:ext cx="681900" cy="27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F3F3F3"/>
                    </a:solidFill>
                    <a:latin typeface="Arial"/>
                    <a:ea typeface="Arial"/>
                    <a:cs typeface="Arial"/>
                    <a:sym typeface="Arial"/>
                  </a:rPr>
                  <a:t>Oil 27.5%</a:t>
                </a:r>
                <a:endParaRPr b="0" i="0" sz="1000" u="none" cap="none" strike="noStrike">
                  <a:solidFill>
                    <a:srgbClr val="F3F3F3"/>
                  </a:solidFill>
                  <a:latin typeface="Arial"/>
                  <a:ea typeface="Arial"/>
                  <a:cs typeface="Arial"/>
                  <a:sym typeface="Arial"/>
                </a:endParaRPr>
              </a:p>
            </p:txBody>
          </p:sp>
          <p:cxnSp>
            <p:nvCxnSpPr>
              <p:cNvPr id="321" name="Google Shape;321;p30"/>
              <p:cNvCxnSpPr/>
              <p:nvPr/>
            </p:nvCxnSpPr>
            <p:spPr>
              <a:xfrm flipH="1" rot="10800000">
                <a:off x="7862750" y="3014200"/>
                <a:ext cx="166800" cy="115500"/>
              </a:xfrm>
              <a:prstGeom prst="straightConnector1">
                <a:avLst/>
              </a:prstGeom>
              <a:noFill/>
              <a:ln cap="flat" cmpd="sng" w="9525">
                <a:solidFill>
                  <a:schemeClr val="dk2"/>
                </a:solidFill>
                <a:prstDash val="solid"/>
                <a:round/>
                <a:headEnd len="sm" w="sm" type="none"/>
                <a:tailEnd len="med" w="med" type="triangle"/>
              </a:ln>
            </p:spPr>
          </p:cxnSp>
        </p:grpSp>
        <p:grpSp>
          <p:nvGrpSpPr>
            <p:cNvPr id="322" name="Google Shape;322;p30"/>
            <p:cNvGrpSpPr/>
            <p:nvPr/>
          </p:nvGrpSpPr>
          <p:grpSpPr>
            <a:xfrm>
              <a:off x="648500" y="1336775"/>
              <a:ext cx="1262625" cy="1419738"/>
              <a:chOff x="648500" y="1336775"/>
              <a:chExt cx="1262625" cy="1419738"/>
            </a:xfrm>
          </p:grpSpPr>
          <p:pic>
            <p:nvPicPr>
              <p:cNvPr id="323" name="Google Shape;323;p30"/>
              <p:cNvPicPr preferRelativeResize="0"/>
              <p:nvPr/>
            </p:nvPicPr>
            <p:blipFill rotWithShape="1">
              <a:blip r:embed="rId8">
                <a:alphaModFix amt="80000"/>
              </a:blip>
              <a:srcRect b="0" l="0" r="0" t="0"/>
              <a:stretch/>
            </p:blipFill>
            <p:spPr>
              <a:xfrm>
                <a:off x="648500" y="1336775"/>
                <a:ext cx="1134400" cy="1140125"/>
              </a:xfrm>
              <a:prstGeom prst="rect">
                <a:avLst/>
              </a:prstGeom>
              <a:noFill/>
              <a:ln>
                <a:noFill/>
              </a:ln>
            </p:spPr>
          </p:pic>
          <p:sp>
            <p:nvSpPr>
              <p:cNvPr id="324" name="Google Shape;324;p30"/>
              <p:cNvSpPr txBox="1"/>
              <p:nvPr/>
            </p:nvSpPr>
            <p:spPr>
              <a:xfrm>
                <a:off x="1229225" y="1480275"/>
                <a:ext cx="681900" cy="4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NOx 34.9%</a:t>
                </a:r>
                <a:endParaRPr b="0" i="0" sz="1000" u="none" cap="none" strike="noStrike">
                  <a:solidFill>
                    <a:srgbClr val="000000"/>
                  </a:solidFill>
                  <a:latin typeface="Arial"/>
                  <a:ea typeface="Arial"/>
                  <a:cs typeface="Arial"/>
                  <a:sym typeface="Arial"/>
                </a:endParaRPr>
              </a:p>
            </p:txBody>
          </p:sp>
          <p:sp>
            <p:nvSpPr>
              <p:cNvPr id="325" name="Google Shape;325;p30"/>
              <p:cNvSpPr txBox="1"/>
              <p:nvPr/>
            </p:nvSpPr>
            <p:spPr>
              <a:xfrm>
                <a:off x="949150" y="1956763"/>
                <a:ext cx="746100" cy="27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PM2.5, 28.5%</a:t>
                </a:r>
                <a:endParaRPr b="0" i="0" sz="1000" u="none" cap="none" strike="noStrike">
                  <a:solidFill>
                    <a:srgbClr val="000000"/>
                  </a:solidFill>
                  <a:latin typeface="Arial"/>
                  <a:ea typeface="Arial"/>
                  <a:cs typeface="Arial"/>
                  <a:sym typeface="Arial"/>
                </a:endParaRPr>
              </a:p>
            </p:txBody>
          </p:sp>
          <p:sp>
            <p:nvSpPr>
              <p:cNvPr id="326" name="Google Shape;326;p30"/>
              <p:cNvSpPr txBox="1"/>
              <p:nvPr/>
            </p:nvSpPr>
            <p:spPr>
              <a:xfrm>
                <a:off x="701800" y="1527125"/>
                <a:ext cx="746100" cy="41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SO2 36.4%</a:t>
                </a:r>
                <a:endParaRPr b="0" i="0" sz="1000" u="none" cap="none" strike="noStrike">
                  <a:solidFill>
                    <a:srgbClr val="000000"/>
                  </a:solidFill>
                  <a:latin typeface="Arial"/>
                  <a:ea typeface="Arial"/>
                  <a:cs typeface="Arial"/>
                  <a:sym typeface="Arial"/>
                </a:endParaRPr>
              </a:p>
            </p:txBody>
          </p:sp>
          <p:cxnSp>
            <p:nvCxnSpPr>
              <p:cNvPr id="327" name="Google Shape;327;p30"/>
              <p:cNvCxnSpPr/>
              <p:nvPr/>
            </p:nvCxnSpPr>
            <p:spPr>
              <a:xfrm rot="10800000">
                <a:off x="1447900" y="2371613"/>
                <a:ext cx="372000" cy="384900"/>
              </a:xfrm>
              <a:prstGeom prst="straightConnector1">
                <a:avLst/>
              </a:prstGeom>
              <a:noFill/>
              <a:ln cap="flat" cmpd="sng" w="9525">
                <a:solidFill>
                  <a:schemeClr val="dk2"/>
                </a:solidFill>
                <a:prstDash val="solid"/>
                <a:round/>
                <a:headEnd len="sm" w="sm" type="none"/>
                <a:tailEnd len="med" w="med" type="triangle"/>
              </a:ln>
            </p:spPr>
          </p:cxnSp>
        </p:grpSp>
        <p:grpSp>
          <p:nvGrpSpPr>
            <p:cNvPr id="328" name="Google Shape;328;p30"/>
            <p:cNvGrpSpPr/>
            <p:nvPr/>
          </p:nvGrpSpPr>
          <p:grpSpPr>
            <a:xfrm>
              <a:off x="4956025" y="2206713"/>
              <a:ext cx="1943300" cy="974800"/>
              <a:chOff x="4956025" y="2206713"/>
              <a:chExt cx="1943300" cy="974800"/>
            </a:xfrm>
          </p:grpSpPr>
          <p:pic>
            <p:nvPicPr>
              <p:cNvPr id="329" name="Google Shape;329;p30"/>
              <p:cNvPicPr preferRelativeResize="0"/>
              <p:nvPr/>
            </p:nvPicPr>
            <p:blipFill rotWithShape="1">
              <a:blip r:embed="rId9">
                <a:alphaModFix amt="80000"/>
              </a:blip>
              <a:srcRect b="0" l="0" r="0" t="0"/>
              <a:stretch/>
            </p:blipFill>
            <p:spPr>
              <a:xfrm>
                <a:off x="4956025" y="2206713"/>
                <a:ext cx="1004188" cy="974800"/>
              </a:xfrm>
              <a:prstGeom prst="rect">
                <a:avLst/>
              </a:prstGeom>
              <a:noFill/>
              <a:ln>
                <a:noFill/>
              </a:ln>
            </p:spPr>
          </p:pic>
          <p:sp>
            <p:nvSpPr>
              <p:cNvPr id="330" name="Google Shape;330;p30"/>
              <p:cNvSpPr txBox="1"/>
              <p:nvPr/>
            </p:nvSpPr>
            <p:spPr>
              <a:xfrm>
                <a:off x="5053725" y="2539675"/>
                <a:ext cx="923400" cy="4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CO2 fossil 95.7%</a:t>
                </a:r>
                <a:endParaRPr b="0" i="0" sz="1100" u="none" cap="none" strike="noStrike">
                  <a:solidFill>
                    <a:srgbClr val="000000"/>
                  </a:solidFill>
                  <a:latin typeface="Arial"/>
                  <a:ea typeface="Arial"/>
                  <a:cs typeface="Arial"/>
                  <a:sym typeface="Arial"/>
                </a:endParaRPr>
              </a:p>
            </p:txBody>
          </p:sp>
          <p:cxnSp>
            <p:nvCxnSpPr>
              <p:cNvPr id="331" name="Google Shape;331;p30"/>
              <p:cNvCxnSpPr>
                <a:endCxn id="330" idx="3"/>
              </p:cNvCxnSpPr>
              <p:nvPr/>
            </p:nvCxnSpPr>
            <p:spPr>
              <a:xfrm rot="10800000">
                <a:off x="5977125" y="2777875"/>
                <a:ext cx="922200" cy="192300"/>
              </a:xfrm>
              <a:prstGeom prst="straightConnector1">
                <a:avLst/>
              </a:prstGeom>
              <a:noFill/>
              <a:ln cap="flat" cmpd="sng" w="9525">
                <a:solidFill>
                  <a:schemeClr val="dk2"/>
                </a:solidFill>
                <a:prstDash val="solid"/>
                <a:round/>
                <a:headEnd len="sm" w="sm" type="none"/>
                <a:tailEnd len="med" w="med" type="triangl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31"/>
          <p:cNvPicPr preferRelativeResize="0"/>
          <p:nvPr/>
        </p:nvPicPr>
        <p:blipFill rotWithShape="1">
          <a:blip r:embed="rId3">
            <a:alphaModFix/>
          </a:blip>
          <a:srcRect b="0" l="0" r="0" t="0"/>
          <a:stretch/>
        </p:blipFill>
        <p:spPr>
          <a:xfrm>
            <a:off x="5460226" y="837500"/>
            <a:ext cx="3130548" cy="3564550"/>
          </a:xfrm>
          <a:prstGeom prst="rect">
            <a:avLst/>
          </a:prstGeom>
          <a:noFill/>
          <a:ln>
            <a:noFill/>
          </a:ln>
        </p:spPr>
      </p:pic>
      <p:sp>
        <p:nvSpPr>
          <p:cNvPr id="337" name="Google Shape;337;p31"/>
          <p:cNvSpPr txBox="1"/>
          <p:nvPr>
            <p:ph type="title"/>
          </p:nvPr>
        </p:nvSpPr>
        <p:spPr>
          <a:xfrm>
            <a:off x="756150" y="199625"/>
            <a:ext cx="7505700" cy="954600"/>
          </a:xfrm>
          <a:prstGeom prst="rect">
            <a:avLst/>
          </a:prstGeom>
          <a:noFill/>
          <a:ln>
            <a:noFill/>
          </a:ln>
        </p:spPr>
        <p:txBody>
          <a:bodyPr anchorCtr="0" anchor="t" bIns="91425" lIns="91425" spcFirstLastPara="1" rIns="91425" wrap="square" tIns="91425">
            <a:noAutofit/>
          </a:bodyPr>
          <a:lstStyle/>
          <a:p>
            <a:pPr indent="457200" lvl="0" marL="914400" rtl="0" algn="l">
              <a:lnSpc>
                <a:spcPct val="100000"/>
              </a:lnSpc>
              <a:spcBef>
                <a:spcPts val="0"/>
              </a:spcBef>
              <a:spcAft>
                <a:spcPts val="0"/>
              </a:spcAft>
              <a:buSzPts val="3000"/>
              <a:buNone/>
            </a:pPr>
            <a:r>
              <a:rPr b="1" lang="en" sz="2400">
                <a:solidFill>
                  <a:srgbClr val="F0AF00"/>
                </a:solidFill>
                <a:latin typeface="Arial"/>
                <a:ea typeface="Arial"/>
                <a:cs typeface="Arial"/>
                <a:sym typeface="Arial"/>
              </a:rPr>
              <a:t>Wallpaper’s CO2 process tree</a:t>
            </a:r>
            <a:endParaRPr/>
          </a:p>
        </p:txBody>
      </p:sp>
      <p:sp>
        <p:nvSpPr>
          <p:cNvPr id="338" name="Google Shape;338;p31"/>
          <p:cNvSpPr txBox="1"/>
          <p:nvPr/>
        </p:nvSpPr>
        <p:spPr>
          <a:xfrm>
            <a:off x="6686550" y="1381125"/>
            <a:ext cx="1524000" cy="41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9" name="Google Shape;339;p31"/>
          <p:cNvPicPr preferRelativeResize="0"/>
          <p:nvPr/>
        </p:nvPicPr>
        <p:blipFill rotWithShape="1">
          <a:blip r:embed="rId4">
            <a:alphaModFix/>
          </a:blip>
          <a:srcRect b="0" l="0" r="0" t="0"/>
          <a:stretch/>
        </p:blipFill>
        <p:spPr>
          <a:xfrm>
            <a:off x="361950" y="849425"/>
            <a:ext cx="5098285" cy="3684475"/>
          </a:xfrm>
          <a:prstGeom prst="rect">
            <a:avLst/>
          </a:prstGeom>
          <a:noFill/>
          <a:ln>
            <a:noFill/>
          </a:ln>
        </p:spPr>
      </p:pic>
      <p:sp>
        <p:nvSpPr>
          <p:cNvPr id="340" name="Google Shape;340;p31"/>
          <p:cNvSpPr txBox="1"/>
          <p:nvPr/>
        </p:nvSpPr>
        <p:spPr>
          <a:xfrm>
            <a:off x="5972175" y="854890"/>
            <a:ext cx="1414850" cy="21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110.70 kg/FU</a:t>
            </a:r>
            <a:endParaRPr b="1" i="0" sz="1400" u="none" cap="none" strike="noStrike">
              <a:solidFill>
                <a:srgbClr val="000000"/>
              </a:solidFill>
              <a:latin typeface="Arial"/>
              <a:ea typeface="Arial"/>
              <a:cs typeface="Arial"/>
              <a:sym typeface="Arial"/>
            </a:endParaRPr>
          </a:p>
        </p:txBody>
      </p:sp>
      <p:sp>
        <p:nvSpPr>
          <p:cNvPr id="341" name="Google Shape;341;p31"/>
          <p:cNvSpPr txBox="1"/>
          <p:nvPr/>
        </p:nvSpPr>
        <p:spPr>
          <a:xfrm>
            <a:off x="7397063" y="854890"/>
            <a:ext cx="1111249" cy="219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112 kg/FU</a:t>
            </a:r>
            <a:endParaRPr b="1" i="0" sz="1400" u="none" cap="none" strike="noStrike">
              <a:solidFill>
                <a:srgbClr val="000000"/>
              </a:solidFill>
              <a:latin typeface="Arial"/>
              <a:ea typeface="Arial"/>
              <a:cs typeface="Arial"/>
              <a:sym typeface="Arial"/>
            </a:endParaRPr>
          </a:p>
        </p:txBody>
      </p:sp>
      <p:sp>
        <p:nvSpPr>
          <p:cNvPr id="342" name="Google Shape;342;p31"/>
          <p:cNvSpPr txBox="1"/>
          <p:nvPr/>
        </p:nvSpPr>
        <p:spPr>
          <a:xfrm>
            <a:off x="1038825" y="1050900"/>
            <a:ext cx="15240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Cut off: 8.03%</a:t>
            </a:r>
            <a:endParaRPr b="1" i="0" sz="1400" u="none" cap="none" strike="noStrike">
              <a:solidFill>
                <a:srgbClr val="000000"/>
              </a:solidFill>
              <a:latin typeface="Arial"/>
              <a:ea typeface="Arial"/>
              <a:cs typeface="Arial"/>
              <a:sym typeface="Arial"/>
            </a:endParaRPr>
          </a:p>
        </p:txBody>
      </p:sp>
      <p:sp>
        <p:nvSpPr>
          <p:cNvPr id="343" name="Google Shape;343;p31"/>
          <p:cNvSpPr txBox="1"/>
          <p:nvPr/>
        </p:nvSpPr>
        <p:spPr>
          <a:xfrm>
            <a:off x="416725" y="2219775"/>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Stone Groundwood: 23.2%</a:t>
            </a:r>
            <a:endParaRPr b="1" i="0" sz="1000" u="none" cap="none" strike="noStrike">
              <a:solidFill>
                <a:srgbClr val="000000"/>
              </a:solidFill>
              <a:latin typeface="Arial"/>
              <a:ea typeface="Arial"/>
              <a:cs typeface="Arial"/>
              <a:sym typeface="Arial"/>
            </a:endParaRPr>
          </a:p>
        </p:txBody>
      </p:sp>
      <p:sp>
        <p:nvSpPr>
          <p:cNvPr id="344" name="Google Shape;344;p31"/>
          <p:cNvSpPr txBox="1"/>
          <p:nvPr/>
        </p:nvSpPr>
        <p:spPr>
          <a:xfrm>
            <a:off x="1674375" y="2480875"/>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PVC: 17.3%</a:t>
            </a:r>
            <a:endParaRPr b="1" i="0" sz="1000" u="none" cap="none" strike="noStrike">
              <a:solidFill>
                <a:srgbClr val="000000"/>
              </a:solidFill>
              <a:latin typeface="Arial"/>
              <a:ea typeface="Arial"/>
              <a:cs typeface="Arial"/>
              <a:sym typeface="Arial"/>
            </a:endParaRPr>
          </a:p>
        </p:txBody>
      </p:sp>
      <p:sp>
        <p:nvSpPr>
          <p:cNvPr id="345" name="Google Shape;345;p31"/>
          <p:cNvSpPr txBox="1"/>
          <p:nvPr/>
        </p:nvSpPr>
        <p:spPr>
          <a:xfrm>
            <a:off x="2290538" y="3438425"/>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Transport: 13.39%</a:t>
            </a:r>
            <a:endParaRPr b="1" i="0" sz="1000" u="none" cap="none" strike="noStrike">
              <a:solidFill>
                <a:srgbClr val="000000"/>
              </a:solidFill>
              <a:latin typeface="Arial"/>
              <a:ea typeface="Arial"/>
              <a:cs typeface="Arial"/>
              <a:sym typeface="Arial"/>
            </a:endParaRPr>
          </a:p>
        </p:txBody>
      </p:sp>
      <p:sp>
        <p:nvSpPr>
          <p:cNvPr id="346" name="Google Shape;346;p31"/>
          <p:cNvSpPr txBox="1"/>
          <p:nvPr/>
        </p:nvSpPr>
        <p:spPr>
          <a:xfrm>
            <a:off x="3380238" y="2432850"/>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TiO2: 17.1%</a:t>
            </a:r>
            <a:endParaRPr b="1" i="0" sz="1000" u="none" cap="none" strike="noStrike">
              <a:solidFill>
                <a:srgbClr val="000000"/>
              </a:solidFill>
              <a:latin typeface="Arial"/>
              <a:ea typeface="Arial"/>
              <a:cs typeface="Arial"/>
              <a:sym typeface="Arial"/>
            </a:endParaRPr>
          </a:p>
        </p:txBody>
      </p:sp>
      <p:sp>
        <p:nvSpPr>
          <p:cNvPr id="347" name="Google Shape;347;p31"/>
          <p:cNvSpPr txBox="1"/>
          <p:nvPr/>
        </p:nvSpPr>
        <p:spPr>
          <a:xfrm>
            <a:off x="4370838" y="2432850"/>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Electricity: 15%</a:t>
            </a:r>
            <a:endParaRPr b="1" i="0" sz="1000" u="none" cap="none" strike="noStrike">
              <a:solidFill>
                <a:srgbClr val="000000"/>
              </a:solidFill>
              <a:latin typeface="Arial"/>
              <a:ea typeface="Arial"/>
              <a:cs typeface="Arial"/>
              <a:sym typeface="Arial"/>
            </a:endParaRPr>
          </a:p>
        </p:txBody>
      </p:sp>
      <p:pic>
        <p:nvPicPr>
          <p:cNvPr id="348" name="Google Shape;348;p31"/>
          <p:cNvPicPr preferRelativeResize="0"/>
          <p:nvPr/>
        </p:nvPicPr>
        <p:blipFill rotWithShape="1">
          <a:blip r:embed="rId5">
            <a:alphaModFix amt="96000"/>
          </a:blip>
          <a:srcRect b="0" l="0" r="0" t="0"/>
          <a:stretch/>
        </p:blipFill>
        <p:spPr>
          <a:xfrm>
            <a:off x="8017241" y="4075800"/>
            <a:ext cx="869819" cy="795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par>
                                <p:cTn fill="hold" nodeType="with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par>
                                <p:cTn fill="hold" nodeType="with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par>
                                <p:cTn fill="hold" nodeType="with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32"/>
          <p:cNvPicPr preferRelativeResize="0"/>
          <p:nvPr/>
        </p:nvPicPr>
        <p:blipFill rotWithShape="1">
          <a:blip r:embed="rId3">
            <a:alphaModFix/>
          </a:blip>
          <a:srcRect b="0" l="0" r="0" t="0"/>
          <a:stretch/>
        </p:blipFill>
        <p:spPr>
          <a:xfrm>
            <a:off x="5601200" y="971550"/>
            <a:ext cx="2994950" cy="3578500"/>
          </a:xfrm>
          <a:prstGeom prst="rect">
            <a:avLst/>
          </a:prstGeom>
          <a:noFill/>
          <a:ln>
            <a:noFill/>
          </a:ln>
        </p:spPr>
      </p:pic>
      <p:sp>
        <p:nvSpPr>
          <p:cNvPr id="354" name="Google Shape;354;p32"/>
          <p:cNvSpPr txBox="1"/>
          <p:nvPr>
            <p:ph type="title"/>
          </p:nvPr>
        </p:nvSpPr>
        <p:spPr>
          <a:xfrm>
            <a:off x="716575" y="212550"/>
            <a:ext cx="7505700" cy="95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 sz="2400">
                <a:solidFill>
                  <a:srgbClr val="F0AF00"/>
                </a:solidFill>
                <a:latin typeface="Arial"/>
                <a:ea typeface="Arial"/>
                <a:cs typeface="Arial"/>
                <a:sym typeface="Arial"/>
              </a:rPr>
              <a:t>Wallpaper’s Non-renewable energy process tree</a:t>
            </a:r>
            <a:endParaRPr/>
          </a:p>
        </p:txBody>
      </p:sp>
      <p:pic>
        <p:nvPicPr>
          <p:cNvPr id="355" name="Google Shape;355;p32"/>
          <p:cNvPicPr preferRelativeResize="0"/>
          <p:nvPr/>
        </p:nvPicPr>
        <p:blipFill rotWithShape="1">
          <a:blip r:embed="rId4">
            <a:alphaModFix/>
          </a:blip>
          <a:srcRect b="753" l="0" r="0" t="1263"/>
          <a:stretch/>
        </p:blipFill>
        <p:spPr>
          <a:xfrm>
            <a:off x="533400" y="820350"/>
            <a:ext cx="4972050" cy="3913074"/>
          </a:xfrm>
          <a:prstGeom prst="rect">
            <a:avLst/>
          </a:prstGeom>
          <a:noFill/>
          <a:ln>
            <a:noFill/>
          </a:ln>
        </p:spPr>
      </p:pic>
      <p:sp>
        <p:nvSpPr>
          <p:cNvPr id="356" name="Google Shape;356;p32"/>
          <p:cNvSpPr txBox="1"/>
          <p:nvPr/>
        </p:nvSpPr>
        <p:spPr>
          <a:xfrm>
            <a:off x="6019800" y="998709"/>
            <a:ext cx="1539844" cy="41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2241.38 MJ/FU</a:t>
            </a:r>
            <a:endParaRPr b="1" i="0" sz="1400" u="none" cap="none" strike="noStrike">
              <a:solidFill>
                <a:srgbClr val="000000"/>
              </a:solidFill>
              <a:latin typeface="Arial"/>
              <a:ea typeface="Arial"/>
              <a:cs typeface="Arial"/>
              <a:sym typeface="Arial"/>
            </a:endParaRPr>
          </a:p>
        </p:txBody>
      </p:sp>
      <p:sp>
        <p:nvSpPr>
          <p:cNvPr id="357" name="Google Shape;357;p32"/>
          <p:cNvSpPr txBox="1"/>
          <p:nvPr/>
        </p:nvSpPr>
        <p:spPr>
          <a:xfrm>
            <a:off x="7472050" y="1007762"/>
            <a:ext cx="1200300" cy="41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2207 MJ/FU</a:t>
            </a:r>
            <a:endParaRPr b="1" i="0" sz="1400" u="none" cap="none" strike="noStrike">
              <a:solidFill>
                <a:srgbClr val="000000"/>
              </a:solidFill>
              <a:latin typeface="Arial"/>
              <a:ea typeface="Arial"/>
              <a:cs typeface="Arial"/>
              <a:sym typeface="Arial"/>
            </a:endParaRPr>
          </a:p>
        </p:txBody>
      </p:sp>
      <p:sp>
        <p:nvSpPr>
          <p:cNvPr id="358" name="Google Shape;358;p32"/>
          <p:cNvSpPr txBox="1"/>
          <p:nvPr/>
        </p:nvSpPr>
        <p:spPr>
          <a:xfrm>
            <a:off x="409900" y="2132375"/>
            <a:ext cx="609300" cy="14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2"/>
          <p:cNvSpPr txBox="1"/>
          <p:nvPr/>
        </p:nvSpPr>
        <p:spPr>
          <a:xfrm>
            <a:off x="562300" y="913175"/>
            <a:ext cx="1429500" cy="14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Cut off: 8.03%</a:t>
            </a:r>
            <a:endParaRPr b="1" i="0" sz="1400" u="none" cap="none" strike="noStrike">
              <a:solidFill>
                <a:srgbClr val="000000"/>
              </a:solidFill>
              <a:latin typeface="Arial"/>
              <a:ea typeface="Arial"/>
              <a:cs typeface="Arial"/>
              <a:sym typeface="Arial"/>
            </a:endParaRPr>
          </a:p>
        </p:txBody>
      </p:sp>
      <p:sp>
        <p:nvSpPr>
          <p:cNvPr id="360" name="Google Shape;360;p32"/>
          <p:cNvSpPr txBox="1"/>
          <p:nvPr/>
        </p:nvSpPr>
        <p:spPr>
          <a:xfrm>
            <a:off x="264325" y="1914975"/>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Stone Groundwood: 15.3%</a:t>
            </a:r>
            <a:endParaRPr b="1" i="0" sz="1000" u="none" cap="none" strike="noStrike">
              <a:solidFill>
                <a:srgbClr val="000000"/>
              </a:solidFill>
              <a:latin typeface="Arial"/>
              <a:ea typeface="Arial"/>
              <a:cs typeface="Arial"/>
              <a:sym typeface="Arial"/>
            </a:endParaRPr>
          </a:p>
        </p:txBody>
      </p:sp>
      <p:sp>
        <p:nvSpPr>
          <p:cNvPr id="361" name="Google Shape;361;p32"/>
          <p:cNvSpPr txBox="1"/>
          <p:nvPr/>
        </p:nvSpPr>
        <p:spPr>
          <a:xfrm>
            <a:off x="1404900" y="2192775"/>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PVC: 24.4%</a:t>
            </a:r>
            <a:endParaRPr b="1" i="0" sz="1000" u="none" cap="none" strike="noStrike">
              <a:solidFill>
                <a:srgbClr val="000000"/>
              </a:solidFill>
              <a:latin typeface="Arial"/>
              <a:ea typeface="Arial"/>
              <a:cs typeface="Arial"/>
              <a:sym typeface="Arial"/>
            </a:endParaRPr>
          </a:p>
        </p:txBody>
      </p:sp>
      <p:sp>
        <p:nvSpPr>
          <p:cNvPr id="362" name="Google Shape;362;p32"/>
          <p:cNvSpPr txBox="1"/>
          <p:nvPr/>
        </p:nvSpPr>
        <p:spPr>
          <a:xfrm>
            <a:off x="2166900" y="3107175"/>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Starch: 9.91%</a:t>
            </a:r>
            <a:endParaRPr b="1" i="0" sz="1000" u="none" cap="none" strike="noStrike">
              <a:solidFill>
                <a:srgbClr val="000000"/>
              </a:solidFill>
              <a:latin typeface="Arial"/>
              <a:ea typeface="Arial"/>
              <a:cs typeface="Arial"/>
              <a:sym typeface="Arial"/>
            </a:endParaRPr>
          </a:p>
        </p:txBody>
      </p:sp>
      <p:sp>
        <p:nvSpPr>
          <p:cNvPr id="363" name="Google Shape;363;p32"/>
          <p:cNvSpPr txBox="1"/>
          <p:nvPr/>
        </p:nvSpPr>
        <p:spPr>
          <a:xfrm>
            <a:off x="3081300" y="2116575"/>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Transport: 11.8%</a:t>
            </a:r>
            <a:endParaRPr b="1" i="0" sz="1000" u="none" cap="none" strike="noStrike">
              <a:solidFill>
                <a:srgbClr val="000000"/>
              </a:solidFill>
              <a:latin typeface="Arial"/>
              <a:ea typeface="Arial"/>
              <a:cs typeface="Arial"/>
              <a:sym typeface="Arial"/>
            </a:endParaRPr>
          </a:p>
        </p:txBody>
      </p:sp>
      <p:sp>
        <p:nvSpPr>
          <p:cNvPr id="364" name="Google Shape;364;p32"/>
          <p:cNvSpPr txBox="1"/>
          <p:nvPr/>
        </p:nvSpPr>
        <p:spPr>
          <a:xfrm>
            <a:off x="3848875" y="2432850"/>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TiO2: 17.4%</a:t>
            </a:r>
            <a:endParaRPr b="1" i="0" sz="1000" u="none" cap="none" strike="noStrike">
              <a:solidFill>
                <a:srgbClr val="000000"/>
              </a:solidFill>
              <a:latin typeface="Arial"/>
              <a:ea typeface="Arial"/>
              <a:cs typeface="Arial"/>
              <a:sym typeface="Arial"/>
            </a:endParaRPr>
          </a:p>
        </p:txBody>
      </p:sp>
      <p:sp>
        <p:nvSpPr>
          <p:cNvPr id="365" name="Google Shape;365;p32"/>
          <p:cNvSpPr txBox="1"/>
          <p:nvPr/>
        </p:nvSpPr>
        <p:spPr>
          <a:xfrm>
            <a:off x="4370838" y="2128050"/>
            <a:ext cx="1241100" cy="27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Electricity: 12.7%</a:t>
            </a:r>
            <a:endParaRPr b="1" i="0" sz="1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10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3"/>
          <p:cNvSpPr txBox="1"/>
          <p:nvPr>
            <p:ph type="title"/>
          </p:nvPr>
        </p:nvSpPr>
        <p:spPr>
          <a:xfrm>
            <a:off x="819150" y="130800"/>
            <a:ext cx="7505700" cy="95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3000"/>
              <a:buFont typeface="Arial"/>
              <a:buNone/>
            </a:pPr>
            <a:r>
              <a:rPr lang="en"/>
              <a:t>Normalized midpoint results (Wallpaper)</a:t>
            </a:r>
            <a:endParaRPr/>
          </a:p>
        </p:txBody>
      </p:sp>
      <p:sp>
        <p:nvSpPr>
          <p:cNvPr id="371" name="Google Shape;371;p33"/>
          <p:cNvSpPr txBox="1"/>
          <p:nvPr>
            <p:ph idx="1" type="body"/>
          </p:nvPr>
        </p:nvSpPr>
        <p:spPr>
          <a:xfrm>
            <a:off x="421800" y="3878050"/>
            <a:ext cx="8382900" cy="79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rgbClr val="000000"/>
              </a:buClr>
              <a:buSzPts val="1300"/>
              <a:buFont typeface="Arial"/>
              <a:buNone/>
            </a:pPr>
            <a:r>
              <a:rPr lang="en" sz="1400">
                <a:solidFill>
                  <a:srgbClr val="000000"/>
                </a:solidFill>
                <a:latin typeface="Arial"/>
                <a:ea typeface="Arial"/>
                <a:cs typeface="Arial"/>
                <a:sym typeface="Arial"/>
              </a:rPr>
              <a:t>Highest damage in the categories of Respiratory Inorganics (20% </a:t>
            </a:r>
            <a:r>
              <a:rPr lang="en" sz="1400">
                <a:solidFill>
                  <a:srgbClr val="000000"/>
                </a:solidFill>
                <a:highlight>
                  <a:schemeClr val="dk1"/>
                </a:highlight>
                <a:latin typeface="Arial"/>
                <a:ea typeface="Arial"/>
                <a:cs typeface="Arial"/>
                <a:sym typeface="Arial"/>
              </a:rPr>
              <a:t>Operation, lorry 3.5-7.5t, EURO3/RER U)</a:t>
            </a:r>
            <a:r>
              <a:rPr lang="en" sz="1400">
                <a:solidFill>
                  <a:srgbClr val="000000"/>
                </a:solidFill>
                <a:latin typeface="Arial"/>
                <a:ea typeface="Arial"/>
                <a:cs typeface="Arial"/>
                <a:sym typeface="Arial"/>
              </a:rPr>
              <a:t> , Global Warming (26% </a:t>
            </a:r>
            <a:r>
              <a:rPr lang="en" sz="1400">
                <a:solidFill>
                  <a:srgbClr val="000000"/>
                </a:solidFill>
                <a:highlight>
                  <a:schemeClr val="dk1"/>
                </a:highlight>
                <a:latin typeface="Arial"/>
                <a:ea typeface="Arial"/>
                <a:cs typeface="Arial"/>
                <a:sym typeface="Arial"/>
              </a:rPr>
              <a:t>Polyvinylchloride, emulsion polymerised at plant/RER U)</a:t>
            </a:r>
            <a:r>
              <a:rPr lang="en" sz="1400">
                <a:solidFill>
                  <a:srgbClr val="000000"/>
                </a:solidFill>
                <a:latin typeface="Arial"/>
                <a:ea typeface="Arial"/>
                <a:cs typeface="Arial"/>
                <a:sym typeface="Arial"/>
              </a:rPr>
              <a:t>, Non-renewable energy (33% </a:t>
            </a:r>
            <a:r>
              <a:rPr lang="en" sz="1400">
                <a:solidFill>
                  <a:srgbClr val="000000"/>
                </a:solidFill>
                <a:highlight>
                  <a:schemeClr val="dk1"/>
                </a:highlight>
                <a:latin typeface="Arial"/>
                <a:ea typeface="Arial"/>
                <a:cs typeface="Arial"/>
                <a:sym typeface="Arial"/>
              </a:rPr>
              <a:t>Polyvinylchloride, emulsion polymerised at plant/RER U), </a:t>
            </a:r>
            <a:r>
              <a:rPr lang="en" sz="1400">
                <a:solidFill>
                  <a:srgbClr val="000000"/>
                </a:solidFill>
                <a:latin typeface="Arial"/>
                <a:ea typeface="Arial"/>
                <a:cs typeface="Arial"/>
                <a:sym typeface="Arial"/>
              </a:rPr>
              <a:t>and Terrestrial ecotoxicity (26% </a:t>
            </a:r>
            <a:r>
              <a:rPr lang="en" sz="1400">
                <a:solidFill>
                  <a:srgbClr val="000000"/>
                </a:solidFill>
                <a:highlight>
                  <a:schemeClr val="dk1"/>
                </a:highlight>
                <a:latin typeface="Arial"/>
                <a:ea typeface="Arial"/>
                <a:cs typeface="Arial"/>
                <a:sym typeface="Arial"/>
              </a:rPr>
              <a:t>Operation, lorry 3.5-7.5t, EURO3/RER U).</a:t>
            </a:r>
            <a:endParaRPr sz="1400">
              <a:latin typeface="Arial"/>
              <a:ea typeface="Arial"/>
              <a:cs typeface="Arial"/>
              <a:sym typeface="Arial"/>
            </a:endParaRPr>
          </a:p>
        </p:txBody>
      </p:sp>
      <p:pic>
        <p:nvPicPr>
          <p:cNvPr id="372" name="Google Shape;372;p33"/>
          <p:cNvPicPr preferRelativeResize="0"/>
          <p:nvPr/>
        </p:nvPicPr>
        <p:blipFill rotWithShape="1">
          <a:blip r:embed="rId3">
            <a:alphaModFix/>
          </a:blip>
          <a:srcRect b="0" l="0" r="0" t="5105"/>
          <a:stretch/>
        </p:blipFill>
        <p:spPr>
          <a:xfrm>
            <a:off x="205225" y="660775"/>
            <a:ext cx="8523274" cy="3132500"/>
          </a:xfrm>
          <a:prstGeom prst="rect">
            <a:avLst/>
          </a:prstGeom>
          <a:noFill/>
          <a:ln>
            <a:noFill/>
          </a:ln>
        </p:spPr>
      </p:pic>
      <p:sp>
        <p:nvSpPr>
          <p:cNvPr id="373" name="Google Shape;373;p33"/>
          <p:cNvSpPr txBox="1"/>
          <p:nvPr/>
        </p:nvSpPr>
        <p:spPr>
          <a:xfrm>
            <a:off x="1692575" y="3600375"/>
            <a:ext cx="2429700" cy="269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Respiratory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Inorganic </a:t>
            </a:r>
            <a:endParaRPr b="0" i="0" sz="1400" u="none" cap="none" strike="noStrike">
              <a:solidFill>
                <a:srgbClr val="000000"/>
              </a:solidFill>
              <a:latin typeface="Arial"/>
              <a:ea typeface="Arial"/>
              <a:cs typeface="Arial"/>
              <a:sym typeface="Arial"/>
            </a:endParaRPr>
          </a:p>
        </p:txBody>
      </p:sp>
      <p:sp>
        <p:nvSpPr>
          <p:cNvPr id="374" name="Google Shape;374;p33"/>
          <p:cNvSpPr txBox="1"/>
          <p:nvPr/>
        </p:nvSpPr>
        <p:spPr>
          <a:xfrm>
            <a:off x="4171050" y="3524175"/>
            <a:ext cx="4655700" cy="2691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Terrestrial                                                                 Global     Non Renew-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Ecotoxicity       		                                        Warming    able Energy</a:t>
            </a:r>
            <a:endParaRPr b="0" i="0" sz="1000" u="none" cap="none" strike="noStrike">
              <a:solidFill>
                <a:srgbClr val="000000"/>
              </a:solidFill>
              <a:latin typeface="Arial"/>
              <a:ea typeface="Arial"/>
              <a:cs typeface="Arial"/>
              <a:sym typeface="Arial"/>
            </a:endParaRPr>
          </a:p>
        </p:txBody>
      </p:sp>
      <p:pic>
        <p:nvPicPr>
          <p:cNvPr id="375" name="Google Shape;375;p33"/>
          <p:cNvPicPr preferRelativeResize="0"/>
          <p:nvPr/>
        </p:nvPicPr>
        <p:blipFill rotWithShape="1">
          <a:blip r:embed="rId4">
            <a:alphaModFix amt="70000"/>
          </a:blip>
          <a:srcRect b="0" l="0" r="0" t="0"/>
          <a:stretch/>
        </p:blipFill>
        <p:spPr>
          <a:xfrm>
            <a:off x="656800" y="1605325"/>
            <a:ext cx="994850" cy="985632"/>
          </a:xfrm>
          <a:prstGeom prst="rect">
            <a:avLst/>
          </a:prstGeom>
          <a:noFill/>
          <a:ln>
            <a:noFill/>
          </a:ln>
        </p:spPr>
      </p:pic>
      <p:cxnSp>
        <p:nvCxnSpPr>
          <p:cNvPr id="376" name="Google Shape;376;p33"/>
          <p:cNvCxnSpPr/>
          <p:nvPr/>
        </p:nvCxnSpPr>
        <p:spPr>
          <a:xfrm rot="10800000">
            <a:off x="1523150" y="2191775"/>
            <a:ext cx="234300" cy="70500"/>
          </a:xfrm>
          <a:prstGeom prst="straightConnector1">
            <a:avLst/>
          </a:prstGeom>
          <a:noFill/>
          <a:ln cap="flat" cmpd="sng" w="9525">
            <a:solidFill>
              <a:schemeClr val="dk2"/>
            </a:solidFill>
            <a:prstDash val="solid"/>
            <a:round/>
            <a:headEnd len="sm" w="sm" type="none"/>
            <a:tailEnd len="med" w="med" type="triangle"/>
          </a:ln>
        </p:spPr>
      </p:cxnSp>
      <p:sp>
        <p:nvSpPr>
          <p:cNvPr id="377" name="Google Shape;377;p33"/>
          <p:cNvSpPr txBox="1"/>
          <p:nvPr/>
        </p:nvSpPr>
        <p:spPr>
          <a:xfrm>
            <a:off x="871825" y="2132150"/>
            <a:ext cx="5808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PM 2.5</a:t>
            </a:r>
            <a:endParaRPr b="1"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39%</a:t>
            </a:r>
            <a:endParaRPr b="1" i="0" sz="900" u="none" cap="none" strike="noStrike">
              <a:solidFill>
                <a:srgbClr val="000000"/>
              </a:solidFill>
              <a:latin typeface="Arial"/>
              <a:ea typeface="Arial"/>
              <a:cs typeface="Arial"/>
              <a:sym typeface="Arial"/>
            </a:endParaRPr>
          </a:p>
        </p:txBody>
      </p:sp>
      <p:sp>
        <p:nvSpPr>
          <p:cNvPr id="378" name="Google Shape;378;p33"/>
          <p:cNvSpPr txBox="1"/>
          <p:nvPr/>
        </p:nvSpPr>
        <p:spPr>
          <a:xfrm>
            <a:off x="1182350" y="1786850"/>
            <a:ext cx="580800" cy="39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NOx</a:t>
            </a:r>
            <a:endParaRPr b="1"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35%</a:t>
            </a:r>
            <a:endParaRPr b="1" i="0" sz="900" u="none" cap="none" strike="noStrike">
              <a:solidFill>
                <a:srgbClr val="000000"/>
              </a:solidFill>
              <a:latin typeface="Arial"/>
              <a:ea typeface="Arial"/>
              <a:cs typeface="Arial"/>
              <a:sym typeface="Arial"/>
            </a:endParaRPr>
          </a:p>
        </p:txBody>
      </p:sp>
      <p:sp>
        <p:nvSpPr>
          <p:cNvPr id="379" name="Google Shape;379;p33"/>
          <p:cNvSpPr txBox="1"/>
          <p:nvPr/>
        </p:nvSpPr>
        <p:spPr>
          <a:xfrm>
            <a:off x="776075" y="1739775"/>
            <a:ext cx="6534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SO2</a:t>
            </a:r>
            <a:endParaRPr b="1"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25%</a:t>
            </a:r>
            <a:endParaRPr b="1" i="0" sz="1000" u="none" cap="none" strike="noStrike">
              <a:solidFill>
                <a:srgbClr val="000000"/>
              </a:solidFill>
              <a:latin typeface="Arial"/>
              <a:ea typeface="Arial"/>
              <a:cs typeface="Arial"/>
              <a:sym typeface="Arial"/>
            </a:endParaRPr>
          </a:p>
        </p:txBody>
      </p:sp>
      <p:pic>
        <p:nvPicPr>
          <p:cNvPr id="380" name="Google Shape;380;p33"/>
          <p:cNvPicPr preferRelativeResize="0"/>
          <p:nvPr/>
        </p:nvPicPr>
        <p:blipFill rotWithShape="1">
          <a:blip r:embed="rId5">
            <a:alphaModFix amt="80000"/>
          </a:blip>
          <a:srcRect b="0" l="9706" r="0" t="0"/>
          <a:stretch/>
        </p:blipFill>
        <p:spPr>
          <a:xfrm>
            <a:off x="2108951" y="846500"/>
            <a:ext cx="1281649" cy="1285300"/>
          </a:xfrm>
          <a:prstGeom prst="rect">
            <a:avLst/>
          </a:prstGeom>
          <a:noFill/>
          <a:ln>
            <a:noFill/>
          </a:ln>
        </p:spPr>
      </p:pic>
      <p:cxnSp>
        <p:nvCxnSpPr>
          <p:cNvPr id="381" name="Google Shape;381;p33"/>
          <p:cNvCxnSpPr/>
          <p:nvPr/>
        </p:nvCxnSpPr>
        <p:spPr>
          <a:xfrm flipH="1" rot="10800000">
            <a:off x="2108950" y="2000175"/>
            <a:ext cx="449700" cy="378600"/>
          </a:xfrm>
          <a:prstGeom prst="straightConnector1">
            <a:avLst/>
          </a:prstGeom>
          <a:noFill/>
          <a:ln cap="flat" cmpd="sng" w="9525">
            <a:solidFill>
              <a:schemeClr val="dk2"/>
            </a:solidFill>
            <a:prstDash val="solid"/>
            <a:round/>
            <a:headEnd len="sm" w="sm" type="none"/>
            <a:tailEnd len="med" w="med" type="triangle"/>
          </a:ln>
        </p:spPr>
      </p:cxnSp>
      <p:sp>
        <p:nvSpPr>
          <p:cNvPr id="382" name="Google Shape;382;p33"/>
          <p:cNvSpPr txBox="1"/>
          <p:nvPr/>
        </p:nvSpPr>
        <p:spPr>
          <a:xfrm>
            <a:off x="2519888" y="1556800"/>
            <a:ext cx="6534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Lorry 3.5-7.5t</a:t>
            </a:r>
            <a:endParaRPr b="1"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   20%</a:t>
            </a:r>
            <a:endParaRPr b="1" i="0" sz="900" u="none" cap="none" strike="noStrike">
              <a:solidFill>
                <a:srgbClr val="000000"/>
              </a:solidFill>
              <a:latin typeface="Arial"/>
              <a:ea typeface="Arial"/>
              <a:cs typeface="Arial"/>
              <a:sym typeface="Arial"/>
            </a:endParaRPr>
          </a:p>
        </p:txBody>
      </p:sp>
      <p:pic>
        <p:nvPicPr>
          <p:cNvPr id="383" name="Google Shape;383;p33"/>
          <p:cNvPicPr preferRelativeResize="0"/>
          <p:nvPr/>
        </p:nvPicPr>
        <p:blipFill rotWithShape="1">
          <a:blip r:embed="rId6">
            <a:alphaModFix amt="80000"/>
          </a:blip>
          <a:srcRect b="0" l="0" r="0" t="0"/>
          <a:stretch/>
        </p:blipFill>
        <p:spPr>
          <a:xfrm>
            <a:off x="4150713" y="1544477"/>
            <a:ext cx="1184150" cy="1107323"/>
          </a:xfrm>
          <a:prstGeom prst="rect">
            <a:avLst/>
          </a:prstGeom>
          <a:noFill/>
          <a:ln>
            <a:noFill/>
          </a:ln>
        </p:spPr>
      </p:pic>
      <p:sp>
        <p:nvSpPr>
          <p:cNvPr id="384" name="Google Shape;384;p33"/>
          <p:cNvSpPr txBox="1"/>
          <p:nvPr/>
        </p:nvSpPr>
        <p:spPr>
          <a:xfrm>
            <a:off x="4323450" y="2033075"/>
            <a:ext cx="653400" cy="13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Lorry 3.5-7.5t</a:t>
            </a:r>
            <a:endParaRPr b="1"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26%</a:t>
            </a:r>
            <a:endParaRPr b="1" i="0" sz="900" u="none" cap="none" strike="noStrike">
              <a:solidFill>
                <a:srgbClr val="000000"/>
              </a:solidFill>
              <a:latin typeface="Arial"/>
              <a:ea typeface="Arial"/>
              <a:cs typeface="Arial"/>
              <a:sym typeface="Arial"/>
            </a:endParaRPr>
          </a:p>
        </p:txBody>
      </p:sp>
      <p:cxnSp>
        <p:nvCxnSpPr>
          <p:cNvPr id="385" name="Google Shape;385;p33"/>
          <p:cNvCxnSpPr>
            <a:endCxn id="383" idx="2"/>
          </p:cNvCxnSpPr>
          <p:nvPr/>
        </p:nvCxnSpPr>
        <p:spPr>
          <a:xfrm flipH="1" rot="10800000">
            <a:off x="4685488" y="2651800"/>
            <a:ext cx="57300" cy="427200"/>
          </a:xfrm>
          <a:prstGeom prst="straightConnector1">
            <a:avLst/>
          </a:prstGeom>
          <a:noFill/>
          <a:ln cap="flat" cmpd="sng" w="9525">
            <a:solidFill>
              <a:schemeClr val="dk2"/>
            </a:solidFill>
            <a:prstDash val="solid"/>
            <a:round/>
            <a:headEnd len="sm" w="sm" type="none"/>
            <a:tailEnd len="med" w="med" type="triangle"/>
          </a:ln>
        </p:spPr>
      </p:cxnSp>
      <p:cxnSp>
        <p:nvCxnSpPr>
          <p:cNvPr id="386" name="Google Shape;386;p33"/>
          <p:cNvCxnSpPr/>
          <p:nvPr/>
        </p:nvCxnSpPr>
        <p:spPr>
          <a:xfrm rot="10800000">
            <a:off x="4275906" y="2959379"/>
            <a:ext cx="258900" cy="173400"/>
          </a:xfrm>
          <a:prstGeom prst="straightConnector1">
            <a:avLst/>
          </a:prstGeom>
          <a:noFill/>
          <a:ln cap="flat" cmpd="sng" w="9525">
            <a:solidFill>
              <a:schemeClr val="dk2"/>
            </a:solidFill>
            <a:prstDash val="solid"/>
            <a:round/>
            <a:headEnd len="sm" w="sm" type="none"/>
            <a:tailEnd len="med" w="med" type="triangle"/>
          </a:ln>
        </p:spPr>
      </p:cxnSp>
      <p:pic>
        <p:nvPicPr>
          <p:cNvPr id="387" name="Google Shape;387;p33"/>
          <p:cNvPicPr preferRelativeResize="0"/>
          <p:nvPr/>
        </p:nvPicPr>
        <p:blipFill rotWithShape="1">
          <a:blip r:embed="rId7">
            <a:alphaModFix amt="80000"/>
          </a:blip>
          <a:srcRect b="0" l="0" r="0" t="0"/>
          <a:stretch/>
        </p:blipFill>
        <p:spPr>
          <a:xfrm>
            <a:off x="3244163" y="2262275"/>
            <a:ext cx="994875" cy="1003500"/>
          </a:xfrm>
          <a:prstGeom prst="rect">
            <a:avLst/>
          </a:prstGeom>
          <a:noFill/>
          <a:ln>
            <a:noFill/>
          </a:ln>
        </p:spPr>
      </p:pic>
      <p:sp>
        <p:nvSpPr>
          <p:cNvPr id="388" name="Google Shape;388;p33"/>
          <p:cNvSpPr txBox="1"/>
          <p:nvPr/>
        </p:nvSpPr>
        <p:spPr>
          <a:xfrm>
            <a:off x="3346325" y="2396975"/>
            <a:ext cx="6534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Zn</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 (soil)</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37%</a:t>
            </a:r>
            <a:endParaRPr b="1" i="0" sz="800" u="none" cap="none" strike="noStrike">
              <a:solidFill>
                <a:srgbClr val="000000"/>
              </a:solidFill>
              <a:latin typeface="Arial"/>
              <a:ea typeface="Arial"/>
              <a:cs typeface="Arial"/>
              <a:sym typeface="Arial"/>
            </a:endParaRPr>
          </a:p>
        </p:txBody>
      </p:sp>
      <p:sp>
        <p:nvSpPr>
          <p:cNvPr id="389" name="Google Shape;389;p33"/>
          <p:cNvSpPr txBox="1"/>
          <p:nvPr/>
        </p:nvSpPr>
        <p:spPr>
          <a:xfrm>
            <a:off x="3746250" y="2208600"/>
            <a:ext cx="6534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Al</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 (air)</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25%</a:t>
            </a:r>
            <a:endParaRPr b="1" i="0" sz="800" u="none" cap="none" strike="noStrike">
              <a:solidFill>
                <a:srgbClr val="000000"/>
              </a:solidFill>
              <a:latin typeface="Arial"/>
              <a:ea typeface="Arial"/>
              <a:cs typeface="Arial"/>
              <a:sym typeface="Arial"/>
            </a:endParaRPr>
          </a:p>
        </p:txBody>
      </p:sp>
      <p:sp>
        <p:nvSpPr>
          <p:cNvPr id="390" name="Google Shape;390;p33"/>
          <p:cNvSpPr txBox="1"/>
          <p:nvPr/>
        </p:nvSpPr>
        <p:spPr>
          <a:xfrm>
            <a:off x="3727325" y="2701775"/>
            <a:ext cx="6534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Al  (soil)</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21%</a:t>
            </a:r>
            <a:endParaRPr b="1" i="0" sz="800" u="none" cap="none" strike="noStrike">
              <a:solidFill>
                <a:srgbClr val="000000"/>
              </a:solidFill>
              <a:latin typeface="Arial"/>
              <a:ea typeface="Arial"/>
              <a:cs typeface="Arial"/>
              <a:sym typeface="Arial"/>
            </a:endParaRPr>
          </a:p>
        </p:txBody>
      </p:sp>
      <p:pic>
        <p:nvPicPr>
          <p:cNvPr id="391" name="Google Shape;391;p33"/>
          <p:cNvPicPr preferRelativeResize="0"/>
          <p:nvPr/>
        </p:nvPicPr>
        <p:blipFill rotWithShape="1">
          <a:blip r:embed="rId8">
            <a:alphaModFix amt="79000"/>
          </a:blip>
          <a:srcRect b="0" l="6459" r="8316" t="6576"/>
          <a:stretch/>
        </p:blipFill>
        <p:spPr>
          <a:xfrm>
            <a:off x="5924225" y="959226"/>
            <a:ext cx="1052178" cy="1062225"/>
          </a:xfrm>
          <a:prstGeom prst="rect">
            <a:avLst/>
          </a:prstGeom>
          <a:noFill/>
          <a:ln>
            <a:noFill/>
          </a:ln>
        </p:spPr>
      </p:pic>
      <p:cxnSp>
        <p:nvCxnSpPr>
          <p:cNvPr id="392" name="Google Shape;392;p33"/>
          <p:cNvCxnSpPr/>
          <p:nvPr/>
        </p:nvCxnSpPr>
        <p:spPr>
          <a:xfrm rot="10800000">
            <a:off x="6860925" y="1425100"/>
            <a:ext cx="350400" cy="72600"/>
          </a:xfrm>
          <a:prstGeom prst="straightConnector1">
            <a:avLst/>
          </a:prstGeom>
          <a:noFill/>
          <a:ln cap="flat" cmpd="sng" w="9525">
            <a:solidFill>
              <a:schemeClr val="dk2"/>
            </a:solidFill>
            <a:prstDash val="solid"/>
            <a:round/>
            <a:headEnd len="sm" w="sm" type="none"/>
            <a:tailEnd len="med" w="med" type="triangle"/>
          </a:ln>
        </p:spPr>
      </p:cxnSp>
      <p:sp>
        <p:nvSpPr>
          <p:cNvPr id="393" name="Google Shape;393;p33"/>
          <p:cNvSpPr txBox="1"/>
          <p:nvPr/>
        </p:nvSpPr>
        <p:spPr>
          <a:xfrm>
            <a:off x="6094975" y="1421500"/>
            <a:ext cx="994800" cy="13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CO2(Fossil)</a:t>
            </a:r>
            <a:endParaRPr b="1"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97%</a:t>
            </a:r>
            <a:endParaRPr b="1" i="0" sz="900" u="none" cap="none" strike="noStrike">
              <a:solidFill>
                <a:srgbClr val="000000"/>
              </a:solidFill>
              <a:latin typeface="Arial"/>
              <a:ea typeface="Arial"/>
              <a:cs typeface="Arial"/>
              <a:sym typeface="Arial"/>
            </a:endParaRPr>
          </a:p>
        </p:txBody>
      </p:sp>
      <p:pic>
        <p:nvPicPr>
          <p:cNvPr id="394" name="Google Shape;394;p33"/>
          <p:cNvPicPr preferRelativeResize="0"/>
          <p:nvPr/>
        </p:nvPicPr>
        <p:blipFill rotWithShape="1">
          <a:blip r:embed="rId9">
            <a:alphaModFix amt="80000"/>
          </a:blip>
          <a:srcRect b="0" l="7869" r="7051" t="0"/>
          <a:stretch/>
        </p:blipFill>
        <p:spPr>
          <a:xfrm>
            <a:off x="5696675" y="1984850"/>
            <a:ext cx="1042702" cy="1062225"/>
          </a:xfrm>
          <a:prstGeom prst="rect">
            <a:avLst/>
          </a:prstGeom>
          <a:noFill/>
          <a:ln>
            <a:noFill/>
          </a:ln>
        </p:spPr>
      </p:pic>
      <p:sp>
        <p:nvSpPr>
          <p:cNvPr id="395" name="Google Shape;395;p33"/>
          <p:cNvSpPr txBox="1"/>
          <p:nvPr/>
        </p:nvSpPr>
        <p:spPr>
          <a:xfrm>
            <a:off x="5831550" y="2495550"/>
            <a:ext cx="477000" cy="13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PVC26%</a:t>
            </a:r>
            <a:endParaRPr b="1" i="0" sz="900" u="none" cap="none" strike="noStrike">
              <a:solidFill>
                <a:srgbClr val="000000"/>
              </a:solidFill>
              <a:latin typeface="Arial"/>
              <a:ea typeface="Arial"/>
              <a:cs typeface="Arial"/>
              <a:sym typeface="Arial"/>
            </a:endParaRPr>
          </a:p>
        </p:txBody>
      </p:sp>
      <p:cxnSp>
        <p:nvCxnSpPr>
          <p:cNvPr id="396" name="Google Shape;396;p33"/>
          <p:cNvCxnSpPr/>
          <p:nvPr/>
        </p:nvCxnSpPr>
        <p:spPr>
          <a:xfrm rot="10800000">
            <a:off x="6663125" y="2603225"/>
            <a:ext cx="487800" cy="114600"/>
          </a:xfrm>
          <a:prstGeom prst="straightConnector1">
            <a:avLst/>
          </a:prstGeom>
          <a:noFill/>
          <a:ln cap="flat" cmpd="sng" w="9525">
            <a:solidFill>
              <a:schemeClr val="dk2"/>
            </a:solidFill>
            <a:prstDash val="solid"/>
            <a:round/>
            <a:headEnd len="sm" w="sm" type="none"/>
            <a:tailEnd len="med" w="med" type="triangle"/>
          </a:ln>
        </p:spPr>
      </p:cxnSp>
      <p:pic>
        <p:nvPicPr>
          <p:cNvPr id="397" name="Google Shape;397;p33"/>
          <p:cNvPicPr preferRelativeResize="0"/>
          <p:nvPr/>
        </p:nvPicPr>
        <p:blipFill rotWithShape="1">
          <a:blip r:embed="rId10">
            <a:alphaModFix amt="64000"/>
          </a:blip>
          <a:srcRect b="0" l="0" r="0" t="0"/>
          <a:stretch/>
        </p:blipFill>
        <p:spPr>
          <a:xfrm>
            <a:off x="7938275" y="492626"/>
            <a:ext cx="994800" cy="979949"/>
          </a:xfrm>
          <a:prstGeom prst="rect">
            <a:avLst/>
          </a:prstGeom>
          <a:noFill/>
          <a:ln>
            <a:noFill/>
          </a:ln>
        </p:spPr>
      </p:pic>
      <p:sp>
        <p:nvSpPr>
          <p:cNvPr id="398" name="Google Shape;398;p33"/>
          <p:cNvSpPr txBox="1"/>
          <p:nvPr/>
        </p:nvSpPr>
        <p:spPr>
          <a:xfrm>
            <a:off x="8178650" y="1031375"/>
            <a:ext cx="4770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PVC33%</a:t>
            </a:r>
            <a:endParaRPr b="1" i="0" sz="900" u="none" cap="none" strike="noStrike">
              <a:solidFill>
                <a:srgbClr val="000000"/>
              </a:solidFill>
              <a:latin typeface="Arial"/>
              <a:ea typeface="Arial"/>
              <a:cs typeface="Arial"/>
              <a:sym typeface="Arial"/>
            </a:endParaRPr>
          </a:p>
        </p:txBody>
      </p:sp>
      <p:cxnSp>
        <p:nvCxnSpPr>
          <p:cNvPr id="399" name="Google Shape;399;p33"/>
          <p:cNvCxnSpPr/>
          <p:nvPr/>
        </p:nvCxnSpPr>
        <p:spPr>
          <a:xfrm flipH="1" rot="10800000">
            <a:off x="7835450" y="1376675"/>
            <a:ext cx="429300" cy="323100"/>
          </a:xfrm>
          <a:prstGeom prst="straightConnector1">
            <a:avLst/>
          </a:prstGeom>
          <a:noFill/>
          <a:ln cap="flat" cmpd="sng" w="9525">
            <a:solidFill>
              <a:schemeClr val="dk2"/>
            </a:solidFill>
            <a:prstDash val="solid"/>
            <a:round/>
            <a:headEnd len="sm" w="sm" type="none"/>
            <a:tailEnd len="med" w="med" type="triangle"/>
          </a:ln>
        </p:spPr>
      </p:cxnSp>
      <p:pic>
        <p:nvPicPr>
          <p:cNvPr id="400" name="Google Shape;400;p33"/>
          <p:cNvPicPr preferRelativeResize="0"/>
          <p:nvPr/>
        </p:nvPicPr>
        <p:blipFill rotWithShape="1">
          <a:blip r:embed="rId11">
            <a:alphaModFix amt="76000"/>
          </a:blip>
          <a:srcRect b="0" l="0" r="0" t="0"/>
          <a:stretch/>
        </p:blipFill>
        <p:spPr>
          <a:xfrm>
            <a:off x="7959300" y="1853025"/>
            <a:ext cx="1052175" cy="959050"/>
          </a:xfrm>
          <a:prstGeom prst="rect">
            <a:avLst/>
          </a:prstGeom>
          <a:noFill/>
          <a:ln>
            <a:noFill/>
          </a:ln>
        </p:spPr>
      </p:pic>
      <p:sp>
        <p:nvSpPr>
          <p:cNvPr id="401" name="Google Shape;401;p33"/>
          <p:cNvSpPr txBox="1"/>
          <p:nvPr/>
        </p:nvSpPr>
        <p:spPr>
          <a:xfrm>
            <a:off x="7994525" y="2092175"/>
            <a:ext cx="4878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Oil, </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crude</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31%</a:t>
            </a:r>
            <a:endParaRPr b="1" i="0" sz="800" u="none" cap="none" strike="noStrike">
              <a:solidFill>
                <a:srgbClr val="000000"/>
              </a:solidFill>
              <a:latin typeface="Arial"/>
              <a:ea typeface="Arial"/>
              <a:cs typeface="Arial"/>
              <a:sym typeface="Arial"/>
            </a:endParaRPr>
          </a:p>
        </p:txBody>
      </p:sp>
      <p:sp>
        <p:nvSpPr>
          <p:cNvPr id="402" name="Google Shape;402;p33"/>
          <p:cNvSpPr txBox="1"/>
          <p:nvPr/>
        </p:nvSpPr>
        <p:spPr>
          <a:xfrm>
            <a:off x="8415375" y="2277775"/>
            <a:ext cx="5808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Gas, Natural</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31%</a:t>
            </a:r>
            <a:endParaRPr b="1" i="0" sz="800" u="none" cap="none" strike="noStrike">
              <a:solidFill>
                <a:srgbClr val="000000"/>
              </a:solidFill>
              <a:latin typeface="Arial"/>
              <a:ea typeface="Arial"/>
              <a:cs typeface="Arial"/>
              <a:sym typeface="Arial"/>
            </a:endParaRPr>
          </a:p>
        </p:txBody>
      </p:sp>
      <p:sp>
        <p:nvSpPr>
          <p:cNvPr id="403" name="Google Shape;403;p33"/>
          <p:cNvSpPr txBox="1"/>
          <p:nvPr/>
        </p:nvSpPr>
        <p:spPr>
          <a:xfrm>
            <a:off x="8482325" y="1863050"/>
            <a:ext cx="5808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Coal, Hard</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20%</a:t>
            </a:r>
            <a:endParaRPr b="1" i="0" sz="800" u="none" cap="none" strike="noStrike">
              <a:solidFill>
                <a:srgbClr val="000000"/>
              </a:solidFill>
              <a:latin typeface="Arial"/>
              <a:ea typeface="Arial"/>
              <a:cs typeface="Arial"/>
              <a:sym typeface="Arial"/>
            </a:endParaRPr>
          </a:p>
        </p:txBody>
      </p:sp>
      <p:sp>
        <p:nvSpPr>
          <p:cNvPr id="404" name="Google Shape;404;p33"/>
          <p:cNvSpPr txBox="1"/>
          <p:nvPr/>
        </p:nvSpPr>
        <p:spPr>
          <a:xfrm>
            <a:off x="8254850" y="1929225"/>
            <a:ext cx="477000" cy="26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U</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14%</a:t>
            </a:r>
            <a:endParaRPr b="1" i="0" sz="800" u="none" cap="none" strike="noStrike">
              <a:solidFill>
                <a:srgbClr val="000000"/>
              </a:solidFill>
              <a:latin typeface="Arial"/>
              <a:ea typeface="Arial"/>
              <a:cs typeface="Arial"/>
              <a:sym typeface="Arial"/>
            </a:endParaRPr>
          </a:p>
        </p:txBody>
      </p:sp>
      <p:cxnSp>
        <p:nvCxnSpPr>
          <p:cNvPr id="405" name="Google Shape;405;p33"/>
          <p:cNvCxnSpPr/>
          <p:nvPr/>
        </p:nvCxnSpPr>
        <p:spPr>
          <a:xfrm flipH="1" rot="10800000">
            <a:off x="7780200" y="2610625"/>
            <a:ext cx="311700" cy="1170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par>
                                <p:cTn fill="hold" nodeType="with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par>
                                <p:cTn fill="hold" nodeType="with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000"/>
                                        <p:tgtEl>
                                          <p:spTgt spid="380"/>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par>
                                <p:cTn fill="hold" nodeType="with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000"/>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000"/>
                                        <p:tgtEl>
                                          <p:spTgt spid="403"/>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par>
                                <p:cTn fill="hold" nodeType="with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par>
                                <p:cTn fill="hold" nodeType="with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4"/>
          <p:cNvSpPr txBox="1"/>
          <p:nvPr>
            <p:ph type="title"/>
          </p:nvPr>
        </p:nvSpPr>
        <p:spPr>
          <a:xfrm>
            <a:off x="175950" y="151275"/>
            <a:ext cx="9044100" cy="619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2900"/>
              <a:t>Comparison of Wall paint vs. Wallpaper</a:t>
            </a:r>
            <a:endParaRPr sz="2900"/>
          </a:p>
        </p:txBody>
      </p:sp>
      <p:sp>
        <p:nvSpPr>
          <p:cNvPr id="411" name="Google Shape;411;p34"/>
          <p:cNvSpPr txBox="1"/>
          <p:nvPr>
            <p:ph idx="1" type="body"/>
          </p:nvPr>
        </p:nvSpPr>
        <p:spPr>
          <a:xfrm>
            <a:off x="1281711" y="2371796"/>
            <a:ext cx="6467120" cy="2066928"/>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0"/>
              </a:spcBef>
              <a:spcAft>
                <a:spcPts val="0"/>
              </a:spcAft>
              <a:buSzPts val="1300"/>
              <a:buNone/>
            </a:pPr>
            <a:r>
              <a:rPr lang="en"/>
              <a:t>0</a:t>
            </a:r>
            <a:endParaRPr/>
          </a:p>
        </p:txBody>
      </p:sp>
      <p:sp>
        <p:nvSpPr>
          <p:cNvPr id="412" name="Google Shape;412;p34"/>
          <p:cNvSpPr txBox="1"/>
          <p:nvPr/>
        </p:nvSpPr>
        <p:spPr>
          <a:xfrm>
            <a:off x="620975" y="3959975"/>
            <a:ext cx="7920300" cy="5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In this normalized damage assessment, Wallpaper has a significantly higher impact (28.5%) which is almost a 30% difference in the respiratory inorganic, global warming and non-renewable energy categories. For the toxicity, our result shows no significant difference between these two scenarios.</a:t>
            </a:r>
            <a:endParaRPr b="0" i="0" sz="1400" u="none" cap="none" strike="noStrike">
              <a:solidFill>
                <a:srgbClr val="000000"/>
              </a:solidFill>
              <a:latin typeface="Arial"/>
              <a:ea typeface="Arial"/>
              <a:cs typeface="Arial"/>
              <a:sym typeface="Arial"/>
            </a:endParaRPr>
          </a:p>
        </p:txBody>
      </p:sp>
      <p:pic>
        <p:nvPicPr>
          <p:cNvPr id="413" name="Google Shape;413;p34"/>
          <p:cNvPicPr preferRelativeResize="0"/>
          <p:nvPr/>
        </p:nvPicPr>
        <p:blipFill rotWithShape="1">
          <a:blip r:embed="rId3">
            <a:alphaModFix/>
          </a:blip>
          <a:srcRect b="0" l="0" r="0" t="0"/>
          <a:stretch/>
        </p:blipFill>
        <p:spPr>
          <a:xfrm>
            <a:off x="328425" y="714850"/>
            <a:ext cx="8529450" cy="3148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5"/>
          <p:cNvSpPr txBox="1"/>
          <p:nvPr>
            <p:ph type="title"/>
          </p:nvPr>
        </p:nvSpPr>
        <p:spPr>
          <a:xfrm>
            <a:off x="819150" y="236000"/>
            <a:ext cx="7505700" cy="56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Results</a:t>
            </a:r>
            <a:endParaRPr/>
          </a:p>
        </p:txBody>
      </p:sp>
      <p:sp>
        <p:nvSpPr>
          <p:cNvPr id="419" name="Google Shape;419;p35"/>
          <p:cNvSpPr txBox="1"/>
          <p:nvPr>
            <p:ph idx="1" type="body"/>
          </p:nvPr>
        </p:nvSpPr>
        <p:spPr>
          <a:xfrm>
            <a:off x="819150" y="923925"/>
            <a:ext cx="7505700" cy="244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sz="1400" u="sng">
                <a:solidFill>
                  <a:srgbClr val="000000"/>
                </a:solidFill>
              </a:rPr>
              <a:t>CO2 emissions</a:t>
            </a:r>
            <a:endParaRPr sz="1400" u="sng">
              <a:solidFill>
                <a:srgbClr val="000000"/>
              </a:solidFill>
            </a:endParaRPr>
          </a:p>
          <a:p>
            <a:pPr indent="0" lvl="0" marL="0" rtl="0" algn="l">
              <a:lnSpc>
                <a:spcPct val="115000"/>
              </a:lnSpc>
              <a:spcBef>
                <a:spcPts val="0"/>
              </a:spcBef>
              <a:spcAft>
                <a:spcPts val="0"/>
              </a:spcAft>
              <a:buSzPts val="1300"/>
              <a:buNone/>
            </a:pPr>
            <a:r>
              <a:rPr lang="en" sz="1400">
                <a:solidFill>
                  <a:srgbClr val="000000"/>
                </a:solidFill>
              </a:rPr>
              <a:t>Wall paint: 87 kg CO2/FU</a:t>
            </a:r>
            <a:endParaRPr sz="1400">
              <a:solidFill>
                <a:srgbClr val="000000"/>
              </a:solidFill>
            </a:endParaRPr>
          </a:p>
          <a:p>
            <a:pPr indent="0" lvl="0" marL="0" rtl="0" algn="l">
              <a:lnSpc>
                <a:spcPct val="115000"/>
              </a:lnSpc>
              <a:spcBef>
                <a:spcPts val="0"/>
              </a:spcBef>
              <a:spcAft>
                <a:spcPts val="0"/>
              </a:spcAft>
              <a:buSzPts val="1300"/>
              <a:buNone/>
            </a:pPr>
            <a:r>
              <a:rPr lang="en" sz="1400">
                <a:solidFill>
                  <a:srgbClr val="000000"/>
                </a:solidFill>
              </a:rPr>
              <a:t>Wallpaper : 112 kg CO2/FU</a:t>
            </a:r>
            <a:endParaRPr sz="1400">
              <a:solidFill>
                <a:srgbClr val="000000"/>
              </a:solidFill>
            </a:endParaRPr>
          </a:p>
          <a:p>
            <a:pPr indent="0" lvl="0" marL="0" rtl="0" algn="l">
              <a:lnSpc>
                <a:spcPct val="115000"/>
              </a:lnSpc>
              <a:spcBef>
                <a:spcPts val="0"/>
              </a:spcBef>
              <a:spcAft>
                <a:spcPts val="0"/>
              </a:spcAft>
              <a:buSzPts val="1300"/>
              <a:buNone/>
            </a:pPr>
            <a:r>
              <a:rPr lang="en" sz="1400">
                <a:solidFill>
                  <a:srgbClr val="000000"/>
                </a:solidFill>
              </a:rPr>
              <a:t> </a:t>
            </a:r>
            <a:endParaRPr sz="1400">
              <a:solidFill>
                <a:srgbClr val="000000"/>
              </a:solidFill>
            </a:endParaRPr>
          </a:p>
          <a:p>
            <a:pPr indent="0" lvl="0" marL="0" rtl="0" algn="l">
              <a:lnSpc>
                <a:spcPct val="115000"/>
              </a:lnSpc>
              <a:spcBef>
                <a:spcPts val="0"/>
              </a:spcBef>
              <a:spcAft>
                <a:spcPts val="0"/>
              </a:spcAft>
              <a:buSzPts val="1300"/>
              <a:buNone/>
            </a:pPr>
            <a:r>
              <a:rPr lang="en" sz="1400">
                <a:solidFill>
                  <a:srgbClr val="000000"/>
                </a:solidFill>
              </a:rPr>
              <a:t>Based on the normalized damages: </a:t>
            </a:r>
            <a:endParaRPr sz="1400">
              <a:solidFill>
                <a:srgbClr val="000000"/>
              </a:solidFill>
            </a:endParaRPr>
          </a:p>
          <a:p>
            <a:pPr indent="-317500" lvl="0" marL="457200" rtl="0" algn="l">
              <a:lnSpc>
                <a:spcPct val="115000"/>
              </a:lnSpc>
              <a:spcBef>
                <a:spcPts val="1600"/>
              </a:spcBef>
              <a:spcAft>
                <a:spcPts val="0"/>
              </a:spcAft>
              <a:buClr>
                <a:srgbClr val="000000"/>
              </a:buClr>
              <a:buSzPts val="1400"/>
              <a:buChar char="●"/>
            </a:pPr>
            <a:r>
              <a:rPr lang="en" sz="1400">
                <a:solidFill>
                  <a:srgbClr val="000000"/>
                </a:solidFill>
              </a:rPr>
              <a:t>Wallpaper has a higher impact on human health than wall paint. </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en" sz="1400">
                <a:solidFill>
                  <a:srgbClr val="000000"/>
                </a:solidFill>
              </a:rPr>
              <a:t>Wallpaper has a higher impact on Ecosystems quality than wall paint.</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en" sz="1400">
                <a:solidFill>
                  <a:srgbClr val="000000"/>
                </a:solidFill>
              </a:rPr>
              <a:t>Wallpaper has a higher impact on Climate change than wall paint.</a:t>
            </a:r>
            <a:endParaRPr sz="1400">
              <a:solidFill>
                <a:srgbClr val="000000"/>
              </a:solidFill>
            </a:endParaRPr>
          </a:p>
          <a:p>
            <a:pPr indent="-317500" lvl="0" marL="457200" rtl="0" algn="l">
              <a:lnSpc>
                <a:spcPct val="115000"/>
              </a:lnSpc>
              <a:spcBef>
                <a:spcPts val="0"/>
              </a:spcBef>
              <a:spcAft>
                <a:spcPts val="0"/>
              </a:spcAft>
              <a:buClr>
                <a:srgbClr val="000000"/>
              </a:buClr>
              <a:buSzPts val="1400"/>
              <a:buChar char="●"/>
            </a:pPr>
            <a:r>
              <a:rPr lang="en" sz="1400">
                <a:solidFill>
                  <a:srgbClr val="000000"/>
                </a:solidFill>
              </a:rPr>
              <a:t>Wallpaper has a higher impact on Resources than wall paint.</a:t>
            </a:r>
            <a:endParaRPr sz="1400">
              <a:solidFill>
                <a:srgbClr val="000000"/>
              </a:solidFill>
            </a:endParaRPr>
          </a:p>
          <a:p>
            <a:pPr indent="0" lvl="0" marL="0" rtl="0" algn="l">
              <a:lnSpc>
                <a:spcPct val="115000"/>
              </a:lnSpc>
              <a:spcBef>
                <a:spcPts val="1600"/>
              </a:spcBef>
              <a:spcAft>
                <a:spcPts val="1600"/>
              </a:spcAft>
              <a:buSzPts val="1300"/>
              <a:buNone/>
            </a:pPr>
            <a:r>
              <a:rPr lang="en" sz="1400">
                <a:solidFill>
                  <a:srgbClr val="000000"/>
                </a:solidFill>
              </a:rPr>
              <a:t>According to the normalized damage comparison chart(per category), the use of Wallpaper causes high damages in the categories of  respiratory inorganics,  global warming, non-renewable energy, non-carcinogens, carcinogens and terrestrial toxicity. </a:t>
            </a:r>
            <a:endParaRPr sz="1400">
              <a:solidFill>
                <a:srgbClr val="000000"/>
              </a:solidFill>
            </a:endParaRPr>
          </a:p>
        </p:txBody>
      </p:sp>
      <p:pic>
        <p:nvPicPr>
          <p:cNvPr id="420" name="Google Shape;420;p35"/>
          <p:cNvPicPr preferRelativeResize="0"/>
          <p:nvPr/>
        </p:nvPicPr>
        <p:blipFill rotWithShape="1">
          <a:blip r:embed="rId3">
            <a:alphaModFix/>
          </a:blip>
          <a:srcRect b="0" l="0" r="0" t="0"/>
          <a:stretch/>
        </p:blipFill>
        <p:spPr>
          <a:xfrm>
            <a:off x="4170025" y="352950"/>
            <a:ext cx="4719526" cy="1860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6"/>
          <p:cNvSpPr txBox="1"/>
          <p:nvPr>
            <p:ph type="title"/>
          </p:nvPr>
        </p:nvSpPr>
        <p:spPr>
          <a:xfrm>
            <a:off x="768900" y="306900"/>
            <a:ext cx="7606200" cy="66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Sensitivity of energy and CO2_Lifetime</a:t>
            </a:r>
            <a:endParaRPr/>
          </a:p>
        </p:txBody>
      </p:sp>
      <p:sp>
        <p:nvSpPr>
          <p:cNvPr id="426" name="Google Shape;426;p36"/>
          <p:cNvSpPr txBox="1"/>
          <p:nvPr/>
        </p:nvSpPr>
        <p:spPr>
          <a:xfrm>
            <a:off x="1399675" y="3847975"/>
            <a:ext cx="6492600" cy="66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With the longer lifetime of wall paint and wallpaper, the total energy use and CO2 emissions will decrease.</a:t>
            </a:r>
            <a:endParaRPr b="0" i="0" sz="2000" u="none" cap="none" strike="noStrike">
              <a:solidFill>
                <a:srgbClr val="000000"/>
              </a:solidFill>
              <a:latin typeface="Arial"/>
              <a:ea typeface="Arial"/>
              <a:cs typeface="Arial"/>
              <a:sym typeface="Arial"/>
            </a:endParaRPr>
          </a:p>
        </p:txBody>
      </p:sp>
      <p:pic>
        <p:nvPicPr>
          <p:cNvPr id="427" name="Google Shape;427;p36"/>
          <p:cNvPicPr preferRelativeResize="0"/>
          <p:nvPr/>
        </p:nvPicPr>
        <p:blipFill rotWithShape="1">
          <a:blip r:embed="rId3">
            <a:alphaModFix/>
          </a:blip>
          <a:srcRect b="0" l="0" r="0" t="0"/>
          <a:stretch/>
        </p:blipFill>
        <p:spPr>
          <a:xfrm>
            <a:off x="304800" y="1127100"/>
            <a:ext cx="4289710" cy="2568475"/>
          </a:xfrm>
          <a:prstGeom prst="rect">
            <a:avLst/>
          </a:prstGeom>
          <a:noFill/>
          <a:ln>
            <a:noFill/>
          </a:ln>
        </p:spPr>
      </p:pic>
      <p:pic>
        <p:nvPicPr>
          <p:cNvPr id="428" name="Google Shape;428;p36"/>
          <p:cNvPicPr preferRelativeResize="0"/>
          <p:nvPr/>
        </p:nvPicPr>
        <p:blipFill rotWithShape="1">
          <a:blip r:embed="rId4">
            <a:alphaModFix/>
          </a:blip>
          <a:srcRect b="0" l="0" r="0" t="0"/>
          <a:stretch/>
        </p:blipFill>
        <p:spPr>
          <a:xfrm>
            <a:off x="4594500" y="1127100"/>
            <a:ext cx="4244700" cy="2568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37"/>
          <p:cNvPicPr preferRelativeResize="0"/>
          <p:nvPr/>
        </p:nvPicPr>
        <p:blipFill rotWithShape="1">
          <a:blip r:embed="rId3">
            <a:alphaModFix/>
          </a:blip>
          <a:srcRect b="0" l="0" r="0" t="0"/>
          <a:stretch/>
        </p:blipFill>
        <p:spPr>
          <a:xfrm>
            <a:off x="214312" y="1187787"/>
            <a:ext cx="8715374" cy="2615525"/>
          </a:xfrm>
          <a:prstGeom prst="rect">
            <a:avLst/>
          </a:prstGeom>
          <a:noFill/>
          <a:ln>
            <a:noFill/>
          </a:ln>
        </p:spPr>
      </p:pic>
      <p:sp>
        <p:nvSpPr>
          <p:cNvPr id="434" name="Google Shape;434;p37"/>
          <p:cNvSpPr txBox="1"/>
          <p:nvPr>
            <p:ph type="title"/>
          </p:nvPr>
        </p:nvSpPr>
        <p:spPr>
          <a:xfrm>
            <a:off x="768900" y="306900"/>
            <a:ext cx="7606200" cy="66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Sensitivity of energy and CO2_Coverage</a:t>
            </a:r>
            <a:endParaRPr/>
          </a:p>
        </p:txBody>
      </p:sp>
      <p:sp>
        <p:nvSpPr>
          <p:cNvPr id="435" name="Google Shape;435;p37"/>
          <p:cNvSpPr txBox="1"/>
          <p:nvPr/>
        </p:nvSpPr>
        <p:spPr>
          <a:xfrm>
            <a:off x="446875" y="3774075"/>
            <a:ext cx="8514300" cy="9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With the increase of the coverage, the total energy use and CO2 emissions will decrease. And the maximum coverage is 3.33 sq. metres per litre. If the coverage reached 7.73 or more, the wall paint may have a better energy performance.</a:t>
            </a:r>
            <a:endParaRPr b="0" i="0" sz="1800" u="none" cap="none" strike="noStrike">
              <a:solidFill>
                <a:srgbClr val="000000"/>
              </a:solidFill>
              <a:latin typeface="Arial"/>
              <a:ea typeface="Arial"/>
              <a:cs typeface="Arial"/>
              <a:sym typeface="Arial"/>
            </a:endParaRPr>
          </a:p>
        </p:txBody>
      </p:sp>
      <p:cxnSp>
        <p:nvCxnSpPr>
          <p:cNvPr id="436" name="Google Shape;436;p37"/>
          <p:cNvCxnSpPr/>
          <p:nvPr/>
        </p:nvCxnSpPr>
        <p:spPr>
          <a:xfrm>
            <a:off x="5175050" y="2454800"/>
            <a:ext cx="3414600" cy="0"/>
          </a:xfrm>
          <a:prstGeom prst="straightConnector1">
            <a:avLst/>
          </a:prstGeom>
          <a:noFill/>
          <a:ln cap="flat" cmpd="sng" w="9525">
            <a:solidFill>
              <a:schemeClr val="dk2"/>
            </a:solidFill>
            <a:prstDash val="solid"/>
            <a:round/>
            <a:headEnd len="sm" w="sm" type="none"/>
            <a:tailEnd len="sm" w="sm" type="none"/>
          </a:ln>
        </p:spPr>
      </p:cxnSp>
      <p:cxnSp>
        <p:nvCxnSpPr>
          <p:cNvPr id="437" name="Google Shape;437;p37"/>
          <p:cNvCxnSpPr/>
          <p:nvPr/>
        </p:nvCxnSpPr>
        <p:spPr>
          <a:xfrm>
            <a:off x="872250" y="2397725"/>
            <a:ext cx="3251700" cy="0"/>
          </a:xfrm>
          <a:prstGeom prst="straightConnector1">
            <a:avLst/>
          </a:prstGeom>
          <a:noFill/>
          <a:ln cap="flat" cmpd="sng" w="9525">
            <a:solidFill>
              <a:schemeClr val="dk2"/>
            </a:solidFill>
            <a:prstDash val="solid"/>
            <a:round/>
            <a:headEnd len="sm" w="sm" type="none"/>
            <a:tailEnd len="sm" w="sm" type="none"/>
          </a:ln>
        </p:spPr>
      </p:cxnSp>
      <p:sp>
        <p:nvSpPr>
          <p:cNvPr id="438" name="Google Shape;438;p37"/>
          <p:cNvSpPr txBox="1"/>
          <p:nvPr/>
        </p:nvSpPr>
        <p:spPr>
          <a:xfrm>
            <a:off x="872250" y="2317725"/>
            <a:ext cx="20046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Scenario 2 (Wallpaper)</a:t>
            </a:r>
            <a:endParaRPr b="0" i="0" sz="1400" u="none" cap="none" strike="noStrike">
              <a:solidFill>
                <a:srgbClr val="000000"/>
              </a:solidFill>
              <a:latin typeface="Arial"/>
              <a:ea typeface="Arial"/>
              <a:cs typeface="Arial"/>
              <a:sym typeface="Arial"/>
            </a:endParaRPr>
          </a:p>
        </p:txBody>
      </p:sp>
      <p:sp>
        <p:nvSpPr>
          <p:cNvPr id="439" name="Google Shape;439;p37"/>
          <p:cNvSpPr txBox="1"/>
          <p:nvPr/>
        </p:nvSpPr>
        <p:spPr>
          <a:xfrm>
            <a:off x="5175050" y="2358425"/>
            <a:ext cx="20046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Scenario 2 (Wallpaper)</a:t>
            </a:r>
            <a:endParaRPr b="0" i="0" sz="1400" u="none" cap="none" strike="noStrike">
              <a:solidFill>
                <a:srgbClr val="000000"/>
              </a:solidFill>
              <a:latin typeface="Arial"/>
              <a:ea typeface="Arial"/>
              <a:cs typeface="Arial"/>
              <a:sym typeface="Arial"/>
            </a:endParaRPr>
          </a:p>
        </p:txBody>
      </p:sp>
      <p:sp>
        <p:nvSpPr>
          <p:cNvPr id="440" name="Google Shape;440;p37"/>
          <p:cNvSpPr txBox="1"/>
          <p:nvPr/>
        </p:nvSpPr>
        <p:spPr>
          <a:xfrm>
            <a:off x="4800600" y="843675"/>
            <a:ext cx="40176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Standard coverage: 8.5-11 sq. meters per litre</a:t>
            </a:r>
            <a:endParaRPr b="0" i="0" sz="1400" u="none" cap="none" strike="noStrike">
              <a:solidFill>
                <a:srgbClr val="000000"/>
              </a:solidFill>
              <a:latin typeface="Arial"/>
              <a:ea typeface="Arial"/>
              <a:cs typeface="Arial"/>
              <a:sym typeface="Arial"/>
            </a:endParaRPr>
          </a:p>
        </p:txBody>
      </p:sp>
      <p:cxnSp>
        <p:nvCxnSpPr>
          <p:cNvPr id="441" name="Google Shape;441;p37"/>
          <p:cNvCxnSpPr/>
          <p:nvPr/>
        </p:nvCxnSpPr>
        <p:spPr>
          <a:xfrm>
            <a:off x="3049675" y="2397725"/>
            <a:ext cx="0" cy="726300"/>
          </a:xfrm>
          <a:prstGeom prst="straightConnector1">
            <a:avLst/>
          </a:prstGeom>
          <a:noFill/>
          <a:ln cap="flat" cmpd="sng" w="9525">
            <a:solidFill>
              <a:schemeClr val="dk2"/>
            </a:solidFill>
            <a:prstDash val="solid"/>
            <a:round/>
            <a:headEnd len="sm" w="sm" type="none"/>
            <a:tailEnd len="sm" w="sm" type="none"/>
          </a:ln>
        </p:spPr>
      </p:cxnSp>
      <p:sp>
        <p:nvSpPr>
          <p:cNvPr id="442" name="Google Shape;442;p37"/>
          <p:cNvSpPr txBox="1"/>
          <p:nvPr/>
        </p:nvSpPr>
        <p:spPr>
          <a:xfrm>
            <a:off x="2755675" y="3047825"/>
            <a:ext cx="5880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7.73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8"/>
          <p:cNvSpPr txBox="1"/>
          <p:nvPr>
            <p:ph type="title"/>
          </p:nvPr>
        </p:nvSpPr>
        <p:spPr>
          <a:xfrm>
            <a:off x="768900" y="306900"/>
            <a:ext cx="7606200" cy="66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Sensitivity of energy_Material </a:t>
            </a:r>
            <a:endParaRPr/>
          </a:p>
        </p:txBody>
      </p:sp>
      <p:sp>
        <p:nvSpPr>
          <p:cNvPr id="448" name="Google Shape;448;p38"/>
          <p:cNvSpPr txBox="1"/>
          <p:nvPr/>
        </p:nvSpPr>
        <p:spPr>
          <a:xfrm>
            <a:off x="668375" y="3847975"/>
            <a:ext cx="7802400" cy="66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Due to the replacement of dominant material, the total energy use can reduce up to 53.5% and 12.6% in the two scenarios.</a:t>
            </a:r>
            <a:endParaRPr b="0" i="0" sz="2000" u="none" cap="none" strike="noStrike">
              <a:solidFill>
                <a:srgbClr val="000000"/>
              </a:solidFill>
              <a:latin typeface="Arial"/>
              <a:ea typeface="Arial"/>
              <a:cs typeface="Arial"/>
              <a:sym typeface="Arial"/>
            </a:endParaRPr>
          </a:p>
        </p:txBody>
      </p:sp>
      <p:pic>
        <p:nvPicPr>
          <p:cNvPr id="449" name="Google Shape;449;p38"/>
          <p:cNvPicPr preferRelativeResize="0"/>
          <p:nvPr/>
        </p:nvPicPr>
        <p:blipFill rotWithShape="1">
          <a:blip r:embed="rId3">
            <a:alphaModFix/>
          </a:blip>
          <a:srcRect b="0" l="0" r="0" t="0"/>
          <a:stretch/>
        </p:blipFill>
        <p:spPr>
          <a:xfrm>
            <a:off x="330525" y="1127100"/>
            <a:ext cx="4274867" cy="2568475"/>
          </a:xfrm>
          <a:prstGeom prst="rect">
            <a:avLst/>
          </a:prstGeom>
          <a:noFill/>
          <a:ln>
            <a:noFill/>
          </a:ln>
        </p:spPr>
      </p:pic>
      <p:pic>
        <p:nvPicPr>
          <p:cNvPr id="450" name="Google Shape;450;p38"/>
          <p:cNvPicPr preferRelativeResize="0"/>
          <p:nvPr/>
        </p:nvPicPr>
        <p:blipFill rotWithShape="1">
          <a:blip r:embed="rId4">
            <a:alphaModFix/>
          </a:blip>
          <a:srcRect b="0" l="0" r="0" t="0"/>
          <a:stretch/>
        </p:blipFill>
        <p:spPr>
          <a:xfrm>
            <a:off x="4605400" y="1127100"/>
            <a:ext cx="4233800" cy="2568475"/>
          </a:xfrm>
          <a:prstGeom prst="rect">
            <a:avLst/>
          </a:prstGeom>
          <a:noFill/>
          <a:ln>
            <a:noFill/>
          </a:ln>
        </p:spPr>
      </p:pic>
      <p:sp>
        <p:nvSpPr>
          <p:cNvPr id="451" name="Google Shape;451;p38"/>
          <p:cNvSpPr txBox="1"/>
          <p:nvPr/>
        </p:nvSpPr>
        <p:spPr>
          <a:xfrm>
            <a:off x="1204775" y="1983250"/>
            <a:ext cx="772200" cy="8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53.5%</a:t>
            </a:r>
            <a:endParaRPr b="0" i="0" sz="1400" u="none" cap="none" strike="noStrike">
              <a:solidFill>
                <a:srgbClr val="000000"/>
              </a:solidFill>
              <a:latin typeface="Arial"/>
              <a:ea typeface="Arial"/>
              <a:cs typeface="Arial"/>
              <a:sym typeface="Arial"/>
            </a:endParaRPr>
          </a:p>
        </p:txBody>
      </p:sp>
      <p:sp>
        <p:nvSpPr>
          <p:cNvPr id="452" name="Google Shape;452;p38"/>
          <p:cNvSpPr txBox="1"/>
          <p:nvPr/>
        </p:nvSpPr>
        <p:spPr>
          <a:xfrm>
            <a:off x="2437375" y="1857625"/>
            <a:ext cx="772200" cy="8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38.9%</a:t>
            </a:r>
            <a:endParaRPr b="0" i="0" sz="1400" u="none" cap="none" strike="noStrike">
              <a:solidFill>
                <a:srgbClr val="000000"/>
              </a:solidFill>
              <a:latin typeface="Arial"/>
              <a:ea typeface="Arial"/>
              <a:cs typeface="Arial"/>
              <a:sym typeface="Arial"/>
            </a:endParaRPr>
          </a:p>
        </p:txBody>
      </p:sp>
      <p:sp>
        <p:nvSpPr>
          <p:cNvPr id="453" name="Google Shape;453;p38"/>
          <p:cNvSpPr txBox="1"/>
          <p:nvPr/>
        </p:nvSpPr>
        <p:spPr>
          <a:xfrm>
            <a:off x="7867000" y="1371350"/>
            <a:ext cx="772200" cy="8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12.6%</a:t>
            </a:r>
            <a:endParaRPr b="0" i="0" sz="1400" u="none" cap="none" strike="noStrike">
              <a:solidFill>
                <a:srgbClr val="000000"/>
              </a:solidFill>
              <a:latin typeface="Arial"/>
              <a:ea typeface="Arial"/>
              <a:cs typeface="Arial"/>
              <a:sym typeface="Arial"/>
            </a:endParaRPr>
          </a:p>
        </p:txBody>
      </p:sp>
      <p:sp>
        <p:nvSpPr>
          <p:cNvPr id="454" name="Google Shape;454;p38"/>
          <p:cNvSpPr/>
          <p:nvPr/>
        </p:nvSpPr>
        <p:spPr>
          <a:xfrm>
            <a:off x="1482800" y="1529150"/>
            <a:ext cx="77100" cy="540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38"/>
          <p:cNvSpPr/>
          <p:nvPr/>
        </p:nvSpPr>
        <p:spPr>
          <a:xfrm>
            <a:off x="2684500" y="1550000"/>
            <a:ext cx="77100" cy="307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38"/>
          <p:cNvSpPr/>
          <p:nvPr/>
        </p:nvSpPr>
        <p:spPr>
          <a:xfrm>
            <a:off x="7789900" y="1529150"/>
            <a:ext cx="77100" cy="175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9"/>
          <p:cNvSpPr txBox="1"/>
          <p:nvPr>
            <p:ph type="title"/>
          </p:nvPr>
        </p:nvSpPr>
        <p:spPr>
          <a:xfrm>
            <a:off x="819150" y="236000"/>
            <a:ext cx="7505700" cy="56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Alternative scenarios</a:t>
            </a:r>
            <a:endParaRPr/>
          </a:p>
        </p:txBody>
      </p:sp>
      <p:pic>
        <p:nvPicPr>
          <p:cNvPr id="462" name="Google Shape;462;p39"/>
          <p:cNvPicPr preferRelativeResize="0"/>
          <p:nvPr/>
        </p:nvPicPr>
        <p:blipFill rotWithShape="1">
          <a:blip r:embed="rId3">
            <a:alphaModFix/>
          </a:blip>
          <a:srcRect b="0" l="0" r="0" t="0"/>
          <a:stretch/>
        </p:blipFill>
        <p:spPr>
          <a:xfrm>
            <a:off x="272350" y="827575"/>
            <a:ext cx="8599301" cy="3177375"/>
          </a:xfrm>
          <a:prstGeom prst="rect">
            <a:avLst/>
          </a:prstGeom>
          <a:noFill/>
          <a:ln>
            <a:noFill/>
          </a:ln>
        </p:spPr>
      </p:pic>
      <p:sp>
        <p:nvSpPr>
          <p:cNvPr id="463" name="Google Shape;463;p39"/>
          <p:cNvSpPr txBox="1"/>
          <p:nvPr>
            <p:ph idx="1" type="body"/>
          </p:nvPr>
        </p:nvSpPr>
        <p:spPr>
          <a:xfrm>
            <a:off x="478350" y="4031925"/>
            <a:ext cx="8187300" cy="78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2000">
                <a:solidFill>
                  <a:srgbClr val="000000"/>
                </a:solidFill>
                <a:latin typeface="Arial"/>
                <a:ea typeface="Arial"/>
                <a:cs typeface="Arial"/>
                <a:sym typeface="Arial"/>
              </a:rPr>
              <a:t>The alternative paint scenario has the best environmental performance while the original wallpaper scenario is the worst.</a:t>
            </a:r>
            <a:endParaRPr sz="20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0"/>
          <p:cNvSpPr txBox="1"/>
          <p:nvPr>
            <p:ph type="title"/>
          </p:nvPr>
        </p:nvSpPr>
        <p:spPr>
          <a:xfrm>
            <a:off x="819150" y="236000"/>
            <a:ext cx="7505700" cy="56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Strategies for product improvement</a:t>
            </a:r>
            <a:endParaRPr/>
          </a:p>
        </p:txBody>
      </p:sp>
      <p:sp>
        <p:nvSpPr>
          <p:cNvPr id="469" name="Google Shape;469;p40"/>
          <p:cNvSpPr txBox="1"/>
          <p:nvPr>
            <p:ph idx="1" type="body"/>
          </p:nvPr>
        </p:nvSpPr>
        <p:spPr>
          <a:xfrm>
            <a:off x="819150" y="1152525"/>
            <a:ext cx="7505700" cy="34203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600"/>
              </a:spcBef>
              <a:spcAft>
                <a:spcPts val="0"/>
              </a:spcAft>
              <a:buClr>
                <a:srgbClr val="000000"/>
              </a:buClr>
              <a:buSzPts val="1100"/>
              <a:buFont typeface="Arial"/>
              <a:buNone/>
            </a:pPr>
            <a:r>
              <a:rPr lang="en" sz="1800">
                <a:solidFill>
                  <a:srgbClr val="000000"/>
                </a:solidFill>
                <a:latin typeface="Arial"/>
                <a:ea typeface="Arial"/>
                <a:cs typeface="Arial"/>
                <a:sym typeface="Arial"/>
              </a:rPr>
              <a:t>•</a:t>
            </a:r>
            <a:r>
              <a:rPr b="1" lang="en" sz="1800">
                <a:solidFill>
                  <a:srgbClr val="000000"/>
                </a:solidFill>
                <a:latin typeface="Arial"/>
                <a:ea typeface="Arial"/>
                <a:cs typeface="Arial"/>
                <a:sym typeface="Arial"/>
              </a:rPr>
              <a:t>1. </a:t>
            </a:r>
            <a:r>
              <a:rPr b="1" lang="en" sz="1800">
                <a:solidFill>
                  <a:srgbClr val="FF0000"/>
                </a:solidFill>
                <a:latin typeface="Arial"/>
                <a:ea typeface="Arial"/>
                <a:cs typeface="Arial"/>
                <a:sym typeface="Arial"/>
              </a:rPr>
              <a:t>Reduce use phase consumption</a:t>
            </a:r>
            <a:r>
              <a:rPr b="1" lang="en" sz="1800">
                <a:solidFill>
                  <a:srgbClr val="000000"/>
                </a:solidFill>
                <a:latin typeface="Arial"/>
                <a:ea typeface="Arial"/>
                <a:cs typeface="Arial"/>
                <a:sym typeface="Arial"/>
              </a:rPr>
              <a:t>, e.g. reducing the thickness of wall paint ( while still in a standard thickness).</a:t>
            </a:r>
            <a:endParaRPr sz="1800">
              <a:solidFill>
                <a:srgbClr val="000000"/>
              </a:solidFill>
              <a:latin typeface="Arial"/>
              <a:ea typeface="Arial"/>
              <a:cs typeface="Arial"/>
              <a:sym typeface="Arial"/>
            </a:endParaRPr>
          </a:p>
          <a:p>
            <a:pPr indent="0" lvl="0" marL="0" rtl="0" algn="l">
              <a:lnSpc>
                <a:spcPct val="80000"/>
              </a:lnSpc>
              <a:spcBef>
                <a:spcPts val="600"/>
              </a:spcBef>
              <a:spcAft>
                <a:spcPts val="0"/>
              </a:spcAft>
              <a:buClr>
                <a:srgbClr val="000000"/>
              </a:buClr>
              <a:buSzPts val="1100"/>
              <a:buFont typeface="Arial"/>
              <a:buNone/>
            </a:pPr>
            <a:r>
              <a:rPr lang="en" sz="1800">
                <a:solidFill>
                  <a:srgbClr val="000000"/>
                </a:solidFill>
                <a:latin typeface="Arial"/>
                <a:ea typeface="Arial"/>
                <a:cs typeface="Arial"/>
                <a:sym typeface="Arial"/>
              </a:rPr>
              <a:t>•</a:t>
            </a:r>
            <a:r>
              <a:rPr b="1" lang="en" sz="1800">
                <a:solidFill>
                  <a:srgbClr val="000000"/>
                </a:solidFill>
                <a:latin typeface="Arial"/>
                <a:ea typeface="Arial"/>
                <a:cs typeface="Arial"/>
                <a:sym typeface="Arial"/>
              </a:rPr>
              <a:t>2. As the material extraction and production phase are always the dominant processes, thus it is essential to </a:t>
            </a:r>
            <a:r>
              <a:rPr b="1" lang="en" sz="1800">
                <a:solidFill>
                  <a:srgbClr val="FF0000"/>
                </a:solidFill>
                <a:latin typeface="Arial"/>
                <a:ea typeface="Arial"/>
                <a:cs typeface="Arial"/>
                <a:sym typeface="Arial"/>
              </a:rPr>
              <a:t>increase product lifetime and reuse of parts</a:t>
            </a:r>
            <a:r>
              <a:rPr b="1" lang="en" sz="1800">
                <a:solidFill>
                  <a:srgbClr val="000000"/>
                </a:solidFill>
                <a:latin typeface="Arial"/>
                <a:ea typeface="Arial"/>
                <a:cs typeface="Arial"/>
                <a:sym typeface="Arial"/>
              </a:rPr>
              <a:t>, e.g. use the recycled paper and prolong the lifetime of wall paint and wallpaper.</a:t>
            </a:r>
            <a:endParaRPr sz="1800">
              <a:solidFill>
                <a:srgbClr val="000000"/>
              </a:solidFill>
              <a:latin typeface="Arial"/>
              <a:ea typeface="Arial"/>
              <a:cs typeface="Arial"/>
              <a:sym typeface="Arial"/>
            </a:endParaRPr>
          </a:p>
          <a:p>
            <a:pPr indent="0" lvl="0" marL="0" rtl="0" algn="l">
              <a:lnSpc>
                <a:spcPct val="80000"/>
              </a:lnSpc>
              <a:spcBef>
                <a:spcPts val="600"/>
              </a:spcBef>
              <a:spcAft>
                <a:spcPts val="0"/>
              </a:spcAft>
              <a:buSzPts val="1100"/>
              <a:buNone/>
            </a:pPr>
            <a:r>
              <a:rPr lang="en" sz="1800">
                <a:solidFill>
                  <a:srgbClr val="000000"/>
                </a:solidFill>
                <a:latin typeface="Arial"/>
                <a:ea typeface="Arial"/>
                <a:cs typeface="Arial"/>
                <a:sym typeface="Arial"/>
              </a:rPr>
              <a:t>•</a:t>
            </a:r>
            <a:r>
              <a:rPr b="1" lang="en" sz="1800">
                <a:solidFill>
                  <a:srgbClr val="000000"/>
                </a:solidFill>
                <a:latin typeface="Arial"/>
                <a:ea typeface="Arial"/>
                <a:cs typeface="Arial"/>
                <a:sym typeface="Arial"/>
              </a:rPr>
              <a:t>3. </a:t>
            </a:r>
            <a:r>
              <a:rPr b="1" lang="en" sz="1800">
                <a:solidFill>
                  <a:srgbClr val="FF0000"/>
                </a:solidFill>
                <a:latin typeface="Arial"/>
                <a:ea typeface="Arial"/>
                <a:cs typeface="Arial"/>
                <a:sym typeface="Arial"/>
              </a:rPr>
              <a:t>Dematerialize</a:t>
            </a:r>
            <a:r>
              <a:rPr b="1" lang="en" sz="1800">
                <a:solidFill>
                  <a:srgbClr val="000000"/>
                </a:solidFill>
                <a:latin typeface="Arial"/>
                <a:ea typeface="Arial"/>
                <a:cs typeface="Arial"/>
                <a:sym typeface="Arial"/>
              </a:rPr>
              <a:t>: obtain more service from a similar or reduced materials quantity, e.g. use kaolin or limestone to replace titanium dioxide.</a:t>
            </a:r>
            <a:endParaRPr b="1" sz="1800">
              <a:solidFill>
                <a:srgbClr val="000000"/>
              </a:solidFill>
              <a:latin typeface="Arial"/>
              <a:ea typeface="Arial"/>
              <a:cs typeface="Arial"/>
              <a:sym typeface="Arial"/>
            </a:endParaRPr>
          </a:p>
          <a:p>
            <a:pPr indent="0" lvl="0" marL="0" rtl="0" algn="l">
              <a:lnSpc>
                <a:spcPct val="80000"/>
              </a:lnSpc>
              <a:spcBef>
                <a:spcPts val="600"/>
              </a:spcBef>
              <a:spcAft>
                <a:spcPts val="0"/>
              </a:spcAft>
              <a:buClr>
                <a:srgbClr val="000000"/>
              </a:buClr>
              <a:buSzPts val="1100"/>
              <a:buFont typeface="Arial"/>
              <a:buNone/>
            </a:pPr>
            <a:r>
              <a:t/>
            </a:r>
            <a:endParaRPr b="1" sz="1800">
              <a:solidFill>
                <a:srgbClr val="000000"/>
              </a:solidFill>
              <a:latin typeface="Arial"/>
              <a:ea typeface="Arial"/>
              <a:cs typeface="Arial"/>
              <a:sym typeface="Arial"/>
            </a:endParaRPr>
          </a:p>
          <a:p>
            <a:pPr indent="457200" lvl="0" marL="0" rtl="0" algn="l">
              <a:lnSpc>
                <a:spcPct val="115000"/>
              </a:lnSpc>
              <a:spcBef>
                <a:spcPts val="1600"/>
              </a:spcBef>
              <a:spcAft>
                <a:spcPts val="1600"/>
              </a:spcAft>
              <a:buSzPts val="1300"/>
              <a:buNone/>
            </a:pPr>
            <a:r>
              <a:t/>
            </a:r>
            <a:endParaRPr>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1"/>
          <p:cNvSpPr txBox="1"/>
          <p:nvPr>
            <p:ph type="title"/>
          </p:nvPr>
        </p:nvSpPr>
        <p:spPr>
          <a:xfrm>
            <a:off x="678050" y="345350"/>
            <a:ext cx="7505700" cy="95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latin typeface="Arial"/>
                <a:ea typeface="Arial"/>
                <a:cs typeface="Arial"/>
                <a:sym typeface="Arial"/>
              </a:rPr>
              <a:t>Conclusion</a:t>
            </a:r>
            <a:endParaRPr>
              <a:latin typeface="Arial"/>
              <a:ea typeface="Arial"/>
              <a:cs typeface="Arial"/>
              <a:sym typeface="Arial"/>
            </a:endParaRPr>
          </a:p>
        </p:txBody>
      </p:sp>
      <p:sp>
        <p:nvSpPr>
          <p:cNvPr id="475" name="Google Shape;475;p41"/>
          <p:cNvSpPr txBox="1"/>
          <p:nvPr>
            <p:ph idx="1" type="body"/>
          </p:nvPr>
        </p:nvSpPr>
        <p:spPr>
          <a:xfrm>
            <a:off x="500250" y="1173300"/>
            <a:ext cx="8187300" cy="279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a:solidFill>
                  <a:srgbClr val="000000"/>
                </a:solidFill>
                <a:latin typeface="Arial"/>
                <a:ea typeface="Arial"/>
                <a:cs typeface="Arial"/>
                <a:sym typeface="Arial"/>
              </a:rPr>
              <a:t>● </a:t>
            </a:r>
            <a:r>
              <a:rPr lang="en" sz="2000">
                <a:solidFill>
                  <a:srgbClr val="000000"/>
                </a:solidFill>
                <a:latin typeface="Arial"/>
                <a:ea typeface="Arial"/>
                <a:cs typeface="Arial"/>
                <a:sym typeface="Arial"/>
              </a:rPr>
              <a:t>Wall paint has a kind of significantly lower environmental impact in comparison to wallpaper.</a:t>
            </a:r>
            <a:endParaRPr sz="20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rPr lang="en">
                <a:solidFill>
                  <a:srgbClr val="000000"/>
                </a:solidFill>
                <a:latin typeface="Arial"/>
                <a:ea typeface="Arial"/>
                <a:cs typeface="Arial"/>
                <a:sym typeface="Arial"/>
              </a:rPr>
              <a:t>● </a:t>
            </a:r>
            <a:r>
              <a:rPr lang="en" sz="2000">
                <a:solidFill>
                  <a:srgbClr val="000000"/>
                </a:solidFill>
                <a:latin typeface="Arial"/>
                <a:ea typeface="Arial"/>
                <a:cs typeface="Arial"/>
                <a:sym typeface="Arial"/>
              </a:rPr>
              <a:t>Change of the raw material can significantly improved the environmental performance for both products.</a:t>
            </a:r>
            <a:endParaRPr sz="20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t/>
            </a:r>
            <a:endParaRPr sz="20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rPr lang="en">
                <a:solidFill>
                  <a:srgbClr val="000000"/>
                </a:solidFill>
                <a:latin typeface="Arial"/>
                <a:ea typeface="Arial"/>
                <a:cs typeface="Arial"/>
                <a:sym typeface="Arial"/>
              </a:rPr>
              <a:t>● </a:t>
            </a:r>
            <a:r>
              <a:rPr lang="en" sz="2000">
                <a:solidFill>
                  <a:srgbClr val="000000"/>
                </a:solidFill>
                <a:latin typeface="Arial"/>
                <a:ea typeface="Arial"/>
                <a:cs typeface="Arial"/>
                <a:sym typeface="Arial"/>
              </a:rPr>
              <a:t>Results is based on strong hypothesis, further study related to the uncertainty analysis need to be conducted. </a:t>
            </a:r>
            <a:endParaRPr sz="2000">
              <a:solidFill>
                <a:srgbClr val="000000"/>
              </a:solidFill>
              <a:latin typeface="Arial"/>
              <a:ea typeface="Arial"/>
              <a:cs typeface="Arial"/>
              <a:sym typeface="Arial"/>
            </a:endParaRPr>
          </a:p>
          <a:p>
            <a:pPr indent="0" lvl="0" marL="0" rtl="0" algn="l">
              <a:lnSpc>
                <a:spcPct val="100000"/>
              </a:lnSpc>
              <a:spcBef>
                <a:spcPts val="0"/>
              </a:spcBef>
              <a:spcAft>
                <a:spcPts val="0"/>
              </a:spcAft>
              <a:buSzPts val="1300"/>
              <a:buNone/>
            </a:pPr>
            <a:r>
              <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2"/>
          <p:cNvSpPr txBox="1"/>
          <p:nvPr>
            <p:ph type="title"/>
          </p:nvPr>
        </p:nvSpPr>
        <p:spPr>
          <a:xfrm>
            <a:off x="819150" y="159800"/>
            <a:ext cx="7505700" cy="95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References</a:t>
            </a:r>
            <a:endParaRPr/>
          </a:p>
        </p:txBody>
      </p:sp>
      <p:sp>
        <p:nvSpPr>
          <p:cNvPr id="481" name="Google Shape;481;p42"/>
          <p:cNvSpPr txBox="1"/>
          <p:nvPr>
            <p:ph idx="1" type="body"/>
          </p:nvPr>
        </p:nvSpPr>
        <p:spPr>
          <a:xfrm>
            <a:off x="819150" y="771525"/>
            <a:ext cx="7505700" cy="244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“Wallpaper.” </a:t>
            </a:r>
            <a:r>
              <a:rPr i="1" lang="en" sz="1000">
                <a:solidFill>
                  <a:srgbClr val="000000"/>
                </a:solidFill>
                <a:highlight>
                  <a:schemeClr val="dk1"/>
                </a:highlight>
                <a:latin typeface="Arial"/>
                <a:ea typeface="Arial"/>
                <a:cs typeface="Arial"/>
                <a:sym typeface="Arial"/>
              </a:rPr>
              <a:t>How Products Are Made</a:t>
            </a:r>
            <a:r>
              <a:rPr lang="en" sz="1000">
                <a:solidFill>
                  <a:srgbClr val="000000"/>
                </a:solidFill>
                <a:highlight>
                  <a:schemeClr val="dk1"/>
                </a:highlight>
                <a:latin typeface="Arial"/>
                <a:ea typeface="Arial"/>
                <a:cs typeface="Arial"/>
                <a:sym typeface="Arial"/>
              </a:rPr>
              <a:t>, © 2018 Advameg, Inc., </a:t>
            </a:r>
            <a:r>
              <a:rPr lang="en" sz="1000" u="sng">
                <a:solidFill>
                  <a:srgbClr val="000000"/>
                </a:solidFill>
                <a:highlight>
                  <a:schemeClr val="dk1"/>
                </a:highlight>
                <a:latin typeface="Arial"/>
                <a:ea typeface="Arial"/>
                <a:cs typeface="Arial"/>
                <a:sym typeface="Arial"/>
                <a:hlinkClick r:id="rId3">
                  <a:extLst>
                    <a:ext uri="{A12FA001-AC4F-418D-AE19-62706E023703}">
                      <ahyp:hlinkClr val="tx"/>
                    </a:ext>
                  </a:extLst>
                </a:hlinkClick>
              </a:rPr>
              <a:t>www.madehow.com/Volume-3/Wallpaper.html</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100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“Paint.” </a:t>
            </a:r>
            <a:r>
              <a:rPr i="1" lang="en" sz="1000">
                <a:solidFill>
                  <a:srgbClr val="000000"/>
                </a:solidFill>
                <a:highlight>
                  <a:schemeClr val="dk1"/>
                </a:highlight>
                <a:latin typeface="Arial"/>
                <a:ea typeface="Arial"/>
                <a:cs typeface="Arial"/>
                <a:sym typeface="Arial"/>
              </a:rPr>
              <a:t>How Products Are Made</a:t>
            </a:r>
            <a:r>
              <a:rPr lang="en" sz="1000">
                <a:solidFill>
                  <a:srgbClr val="000000"/>
                </a:solidFill>
                <a:highlight>
                  <a:schemeClr val="dk1"/>
                </a:highlight>
                <a:latin typeface="Arial"/>
                <a:ea typeface="Arial"/>
                <a:cs typeface="Arial"/>
                <a:sym typeface="Arial"/>
              </a:rPr>
              <a:t>, © 2018 Advameg, Inc., </a:t>
            </a:r>
            <a:r>
              <a:rPr b="1" lang="en" sz="1000" u="sng">
                <a:solidFill>
                  <a:srgbClr val="000000"/>
                </a:solidFill>
                <a:latin typeface="Arial"/>
                <a:ea typeface="Arial"/>
                <a:cs typeface="Arial"/>
                <a:sym typeface="Arial"/>
                <a:hlinkClick r:id="rId4">
                  <a:extLst>
                    <a:ext uri="{A12FA001-AC4F-418D-AE19-62706E023703}">
                      <ahyp:hlinkClr val="tx"/>
                    </a:ext>
                  </a:extLst>
                </a:hlinkClick>
              </a:rPr>
              <a:t>http://www.madehow.com/Volume-1/Paint.html</a:t>
            </a:r>
            <a:endParaRPr b="1" sz="1000">
              <a:solidFill>
                <a:srgbClr val="000000"/>
              </a:solidFill>
              <a:latin typeface="Arial"/>
              <a:ea typeface="Arial"/>
              <a:cs typeface="Arial"/>
              <a:sym typeface="Arial"/>
            </a:endParaRPr>
          </a:p>
          <a:p>
            <a:pPr indent="0" lvl="0" marL="0" rtl="0" algn="l">
              <a:lnSpc>
                <a:spcPct val="115000"/>
              </a:lnSpc>
              <a:spcBef>
                <a:spcPts val="100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India, Ultrawalls. “Wallpaper Manufacturing Industry: Introduction, History, and Process.” </a:t>
            </a:r>
            <a:r>
              <a:rPr i="1" lang="en" sz="1000">
                <a:solidFill>
                  <a:srgbClr val="000000"/>
                </a:solidFill>
                <a:highlight>
                  <a:schemeClr val="dk1"/>
                </a:highlight>
                <a:latin typeface="Arial"/>
                <a:ea typeface="Arial"/>
                <a:cs typeface="Arial"/>
                <a:sym typeface="Arial"/>
              </a:rPr>
              <a:t>Medium</a:t>
            </a:r>
            <a:r>
              <a:rPr lang="en" sz="1000">
                <a:solidFill>
                  <a:srgbClr val="000000"/>
                </a:solidFill>
                <a:highlight>
                  <a:schemeClr val="dk1"/>
                </a:highlight>
                <a:latin typeface="Arial"/>
                <a:ea typeface="Arial"/>
                <a:cs typeface="Arial"/>
                <a:sym typeface="Arial"/>
              </a:rPr>
              <a:t>, Medium, 6 Apr. </a:t>
            </a:r>
            <a:endParaRPr sz="1000">
              <a:solidFill>
                <a:srgbClr val="000000"/>
              </a:solidFill>
              <a:highlight>
                <a:schemeClr val="dk1"/>
              </a:highlight>
              <a:latin typeface="Arial"/>
              <a:ea typeface="Arial"/>
              <a:cs typeface="Arial"/>
              <a:sym typeface="Arial"/>
            </a:endParaRPr>
          </a:p>
          <a:p>
            <a:pPr indent="457200" lvl="0" marL="0" rtl="0" algn="l">
              <a:lnSpc>
                <a:spcPct val="115000"/>
              </a:lnSpc>
              <a:spcBef>
                <a:spcPts val="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2018,medium.com/@ultrawallsindia/wallpaper-manufacturing-industry-introduction-history-and-process-50f564594a8d.</a:t>
            </a:r>
            <a:endParaRPr sz="1000">
              <a:solidFill>
                <a:srgbClr val="000000"/>
              </a:solidFill>
              <a:highlight>
                <a:schemeClr val="dk1"/>
              </a:highlight>
              <a:latin typeface="Arial"/>
              <a:ea typeface="Arial"/>
              <a:cs typeface="Arial"/>
              <a:sym typeface="Arial"/>
            </a:endParaRPr>
          </a:p>
          <a:p>
            <a:pPr indent="457200" lvl="0" marL="0" rtl="0" algn="l">
              <a:lnSpc>
                <a:spcPct val="115000"/>
              </a:lnSpc>
              <a:spcBef>
                <a:spcPts val="0"/>
              </a:spcBef>
              <a:spcAft>
                <a:spcPts val="0"/>
              </a:spcAft>
              <a:buClr>
                <a:srgbClr val="000000"/>
              </a:buClr>
              <a:buSzPts val="1100"/>
              <a:buFont typeface="Arial"/>
              <a:buNone/>
            </a:pPr>
            <a:r>
              <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“Wallpaper.” </a:t>
            </a:r>
            <a:r>
              <a:rPr i="1" lang="en" sz="1000">
                <a:solidFill>
                  <a:srgbClr val="000000"/>
                </a:solidFill>
                <a:highlight>
                  <a:schemeClr val="dk1"/>
                </a:highlight>
                <a:latin typeface="Arial"/>
                <a:ea typeface="Arial"/>
                <a:cs typeface="Arial"/>
                <a:sym typeface="Arial"/>
              </a:rPr>
              <a:t>Design Life-Cycle</a:t>
            </a:r>
            <a:r>
              <a:rPr lang="en" sz="1000">
                <a:solidFill>
                  <a:srgbClr val="000000"/>
                </a:solidFill>
                <a:highlight>
                  <a:schemeClr val="dk1"/>
                </a:highlight>
                <a:latin typeface="Arial"/>
                <a:ea typeface="Arial"/>
                <a:cs typeface="Arial"/>
                <a:sym typeface="Arial"/>
              </a:rPr>
              <a:t>, </a:t>
            </a:r>
            <a:r>
              <a:rPr lang="en" sz="1000" u="sng">
                <a:solidFill>
                  <a:srgbClr val="000000"/>
                </a:solidFill>
                <a:highlight>
                  <a:schemeClr val="dk1"/>
                </a:highlight>
                <a:latin typeface="Arial"/>
                <a:ea typeface="Arial"/>
                <a:cs typeface="Arial"/>
                <a:sym typeface="Arial"/>
                <a:hlinkClick r:id="rId5">
                  <a:extLst>
                    <a:ext uri="{A12FA001-AC4F-418D-AE19-62706E023703}">
                      <ahyp:hlinkClr val="tx"/>
                    </a:ext>
                  </a:extLst>
                </a:hlinkClick>
              </a:rPr>
              <a:t>www.designlife-cycle.com/vinyl-wallpaper/</a:t>
            </a:r>
            <a:r>
              <a:rPr lang="en" sz="1000">
                <a:solidFill>
                  <a:srgbClr val="000000"/>
                </a:solidFill>
                <a:highlight>
                  <a:schemeClr val="dk1"/>
                </a:highlight>
                <a:latin typeface="Arial"/>
                <a:ea typeface="Arial"/>
                <a:cs typeface="Arial"/>
                <a:sym typeface="Arial"/>
              </a:rPr>
              <a:t>.</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“Wallpaper vs. Paint.” </a:t>
            </a:r>
            <a:r>
              <a:rPr i="1" lang="en" sz="1000">
                <a:solidFill>
                  <a:srgbClr val="000000"/>
                </a:solidFill>
                <a:highlight>
                  <a:schemeClr val="dk1"/>
                </a:highlight>
                <a:latin typeface="Arial"/>
                <a:ea typeface="Arial"/>
                <a:cs typeface="Arial"/>
                <a:sym typeface="Arial"/>
              </a:rPr>
              <a:t>Brewster</a:t>
            </a:r>
            <a:r>
              <a:rPr lang="en" sz="1000">
                <a:solidFill>
                  <a:srgbClr val="000000"/>
                </a:solidFill>
                <a:highlight>
                  <a:schemeClr val="dk1"/>
                </a:highlight>
                <a:latin typeface="Arial"/>
                <a:ea typeface="Arial"/>
                <a:cs typeface="Arial"/>
                <a:sym typeface="Arial"/>
              </a:rPr>
              <a:t>, Brewster Home Fashions, </a:t>
            </a:r>
            <a:r>
              <a:rPr lang="en" sz="1000" u="sng">
                <a:solidFill>
                  <a:srgbClr val="000000"/>
                </a:solidFill>
                <a:highlight>
                  <a:schemeClr val="dk1"/>
                </a:highlight>
                <a:latin typeface="Arial"/>
                <a:ea typeface="Arial"/>
                <a:cs typeface="Arial"/>
                <a:sym typeface="Arial"/>
                <a:hlinkClick r:id="rId6">
                  <a:extLst>
                    <a:ext uri="{A12FA001-AC4F-418D-AE19-62706E023703}">
                      <ahyp:hlinkClr val="tx"/>
                    </a:ext>
                  </a:extLst>
                </a:hlinkClick>
              </a:rPr>
              <a:t>www.brewsterwallcovering.com/wallpaper-vs-paint</a:t>
            </a:r>
            <a:r>
              <a:rPr lang="en" sz="1000">
                <a:solidFill>
                  <a:srgbClr val="000000"/>
                </a:solidFill>
                <a:highlight>
                  <a:schemeClr val="dk1"/>
                </a:highlight>
                <a:latin typeface="Arial"/>
                <a:ea typeface="Arial"/>
                <a:cs typeface="Arial"/>
                <a:sym typeface="Arial"/>
              </a:rPr>
              <a:t>.</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“Dulux X-Pert.” </a:t>
            </a:r>
            <a:r>
              <a:rPr i="1" lang="en" sz="1000">
                <a:solidFill>
                  <a:srgbClr val="000000"/>
                </a:solidFill>
                <a:highlight>
                  <a:schemeClr val="dk1"/>
                </a:highlight>
                <a:latin typeface="Arial"/>
                <a:ea typeface="Arial"/>
                <a:cs typeface="Arial"/>
                <a:sym typeface="Arial"/>
              </a:rPr>
              <a:t>Dulux</a:t>
            </a:r>
            <a:r>
              <a:rPr lang="en" sz="1000">
                <a:solidFill>
                  <a:srgbClr val="000000"/>
                </a:solidFill>
                <a:highlight>
                  <a:schemeClr val="dk1"/>
                </a:highlight>
                <a:latin typeface="Arial"/>
                <a:ea typeface="Arial"/>
                <a:cs typeface="Arial"/>
                <a:sym typeface="Arial"/>
              </a:rPr>
              <a:t>, </a:t>
            </a:r>
            <a:r>
              <a:rPr lang="en" sz="1000" u="sng">
                <a:solidFill>
                  <a:srgbClr val="000000"/>
                </a:solidFill>
                <a:highlight>
                  <a:schemeClr val="dk1"/>
                </a:highlight>
                <a:latin typeface="Arial"/>
                <a:ea typeface="Arial"/>
                <a:cs typeface="Arial"/>
                <a:sym typeface="Arial"/>
                <a:hlinkClick r:id="rId7">
                  <a:extLst>
                    <a:ext uri="{A12FA001-AC4F-418D-AE19-62706E023703}">
                      <ahyp:hlinkClr val="tx"/>
                    </a:ext>
                  </a:extLst>
                </a:hlinkClick>
              </a:rPr>
              <a:t>www.dulux.ca/diy/products/interior-paint/dulux-x-pert</a:t>
            </a:r>
            <a:r>
              <a:rPr lang="en" sz="1000">
                <a:solidFill>
                  <a:srgbClr val="000000"/>
                </a:solidFill>
                <a:highlight>
                  <a:schemeClr val="dk1"/>
                </a:highlight>
                <a:latin typeface="Arial"/>
                <a:ea typeface="Arial"/>
                <a:cs typeface="Arial"/>
                <a:sym typeface="Arial"/>
              </a:rPr>
              <a:t>.</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“Paint vs. Wallpaper: An Interior Decorator's Guide.” </a:t>
            </a:r>
            <a:r>
              <a:rPr i="1" lang="en" sz="1000">
                <a:solidFill>
                  <a:srgbClr val="000000"/>
                </a:solidFill>
                <a:highlight>
                  <a:schemeClr val="dk1"/>
                </a:highlight>
                <a:latin typeface="Arial"/>
                <a:ea typeface="Arial"/>
                <a:cs typeface="Arial"/>
                <a:sym typeface="Arial"/>
              </a:rPr>
              <a:t>QC Design School</a:t>
            </a:r>
            <a:r>
              <a:rPr lang="en" sz="1000">
                <a:solidFill>
                  <a:srgbClr val="000000"/>
                </a:solidFill>
                <a:highlight>
                  <a:schemeClr val="dk1"/>
                </a:highlight>
                <a:latin typeface="Arial"/>
                <a:ea typeface="Arial"/>
                <a:cs typeface="Arial"/>
                <a:sym typeface="Arial"/>
              </a:rPr>
              <a:t>, 24 Sept. 2018, </a:t>
            </a:r>
            <a:endParaRPr sz="1000">
              <a:solidFill>
                <a:srgbClr val="000000"/>
              </a:solidFill>
              <a:highlight>
                <a:schemeClr val="dk1"/>
              </a:highlight>
              <a:latin typeface="Arial"/>
              <a:ea typeface="Arial"/>
              <a:cs typeface="Arial"/>
              <a:sym typeface="Arial"/>
            </a:endParaRPr>
          </a:p>
          <a:p>
            <a:pPr indent="457200" lvl="0" marL="0" rtl="0" algn="l">
              <a:lnSpc>
                <a:spcPct val="115000"/>
              </a:lnSpc>
              <a:spcBef>
                <a:spcPts val="0"/>
              </a:spcBef>
              <a:spcAft>
                <a:spcPts val="0"/>
              </a:spcAft>
              <a:buClr>
                <a:srgbClr val="000000"/>
              </a:buClr>
              <a:buSzPts val="1100"/>
              <a:buFont typeface="Arial"/>
              <a:buNone/>
            </a:pPr>
            <a:r>
              <a:rPr lang="en" sz="1000" u="sng">
                <a:solidFill>
                  <a:srgbClr val="000000"/>
                </a:solidFill>
                <a:highlight>
                  <a:schemeClr val="dk1"/>
                </a:highlight>
                <a:latin typeface="Arial"/>
                <a:ea typeface="Arial"/>
                <a:cs typeface="Arial"/>
                <a:sym typeface="Arial"/>
              </a:rPr>
              <a:t>www.qcdesignschool.com/2017/06/paint-vs-wallpaper-interior-decorators-guide/.</a:t>
            </a:r>
            <a:endParaRPr sz="1000" u="sng">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“The Pros of Cons of Painting vs. Wallpapering.” </a:t>
            </a:r>
            <a:r>
              <a:rPr i="1" lang="en" sz="1000">
                <a:solidFill>
                  <a:srgbClr val="000000"/>
                </a:solidFill>
                <a:highlight>
                  <a:schemeClr val="dk1"/>
                </a:highlight>
                <a:latin typeface="Arial"/>
                <a:ea typeface="Arial"/>
                <a:cs typeface="Arial"/>
                <a:sym typeface="Arial"/>
              </a:rPr>
              <a:t>Freshome.com</a:t>
            </a:r>
            <a:r>
              <a:rPr lang="en" sz="1000">
                <a:solidFill>
                  <a:srgbClr val="000000"/>
                </a:solidFill>
                <a:highlight>
                  <a:schemeClr val="dk1"/>
                </a:highlight>
                <a:latin typeface="Arial"/>
                <a:ea typeface="Arial"/>
                <a:cs typeface="Arial"/>
                <a:sym typeface="Arial"/>
              </a:rPr>
              <a:t>, 29 Dec. 2010, </a:t>
            </a:r>
            <a:endParaRPr sz="1000">
              <a:solidFill>
                <a:srgbClr val="000000"/>
              </a:solidFill>
              <a:highlight>
                <a:schemeClr val="dk1"/>
              </a:highlight>
              <a:latin typeface="Arial"/>
              <a:ea typeface="Arial"/>
              <a:cs typeface="Arial"/>
              <a:sym typeface="Arial"/>
            </a:endParaRPr>
          </a:p>
          <a:p>
            <a:pPr indent="457200" lvl="0" marL="0" rtl="0" algn="l">
              <a:lnSpc>
                <a:spcPct val="115000"/>
              </a:lnSpc>
              <a:spcBef>
                <a:spcPts val="0"/>
              </a:spcBef>
              <a:spcAft>
                <a:spcPts val="0"/>
              </a:spcAft>
              <a:buClr>
                <a:srgbClr val="000000"/>
              </a:buClr>
              <a:buSzPts val="1100"/>
              <a:buFont typeface="Arial"/>
              <a:buNone/>
            </a:pPr>
            <a:r>
              <a:rPr lang="en" sz="1000" u="sng">
                <a:solidFill>
                  <a:srgbClr val="000000"/>
                </a:solidFill>
                <a:highlight>
                  <a:schemeClr val="dk1"/>
                </a:highlight>
                <a:latin typeface="Arial"/>
                <a:ea typeface="Arial"/>
                <a:cs typeface="Arial"/>
                <a:sym typeface="Arial"/>
              </a:rPr>
              <a:t>freshome.com/2010/12/29/the-pros-of-cons-of-painting-vs-wallpapering/.</a:t>
            </a:r>
            <a:endParaRPr sz="1000" u="sng">
              <a:solidFill>
                <a:srgbClr val="000000"/>
              </a:solidFill>
              <a:highlight>
                <a:schemeClr val="dk1"/>
              </a:highlight>
              <a:latin typeface="Arial"/>
              <a:ea typeface="Arial"/>
              <a:cs typeface="Arial"/>
              <a:sym typeface="Arial"/>
            </a:endParaRPr>
          </a:p>
          <a:p>
            <a:pPr indent="457200" lvl="0" marL="0" rtl="0" algn="l">
              <a:lnSpc>
                <a:spcPct val="115000"/>
              </a:lnSpc>
              <a:spcBef>
                <a:spcPts val="0"/>
              </a:spcBef>
              <a:spcAft>
                <a:spcPts val="0"/>
              </a:spcAft>
              <a:buClr>
                <a:srgbClr val="000000"/>
              </a:buClr>
              <a:buSzPts val="1100"/>
              <a:buFont typeface="Arial"/>
              <a:buNone/>
            </a:pPr>
            <a:r>
              <a:t/>
            </a:r>
            <a:endParaRPr sz="1000">
              <a:solidFill>
                <a:srgbClr val="000000"/>
              </a:solidFill>
              <a:highlight>
                <a:schemeClr val="dk1"/>
              </a:highlight>
              <a:latin typeface="Arial"/>
              <a:ea typeface="Arial"/>
              <a:cs typeface="Arial"/>
              <a:sym typeface="Arial"/>
            </a:endParaRPr>
          </a:p>
          <a:p>
            <a:pPr indent="0" lvl="0" marL="0" rtl="0" algn="l">
              <a:lnSpc>
                <a:spcPct val="115000"/>
              </a:lnSpc>
              <a:spcBef>
                <a:spcPts val="0"/>
              </a:spcBef>
              <a:spcAft>
                <a:spcPts val="0"/>
              </a:spcAft>
              <a:buClr>
                <a:srgbClr val="000000"/>
              </a:buClr>
              <a:buSzPts val="1100"/>
              <a:buFont typeface="Arial"/>
              <a:buNone/>
            </a:pPr>
            <a:r>
              <a:rPr lang="en" sz="1000">
                <a:solidFill>
                  <a:srgbClr val="000000"/>
                </a:solidFill>
                <a:highlight>
                  <a:schemeClr val="dk1"/>
                </a:highlight>
                <a:latin typeface="Arial"/>
                <a:ea typeface="Arial"/>
                <a:cs typeface="Arial"/>
                <a:sym typeface="Arial"/>
              </a:rPr>
              <a:t>“Wallpaper, Wall Art.” </a:t>
            </a:r>
            <a:r>
              <a:rPr i="1" lang="en" sz="1000">
                <a:solidFill>
                  <a:srgbClr val="000000"/>
                </a:solidFill>
                <a:highlight>
                  <a:schemeClr val="dk1"/>
                </a:highlight>
                <a:latin typeface="Arial"/>
                <a:ea typeface="Arial"/>
                <a:cs typeface="Arial"/>
                <a:sym typeface="Arial"/>
              </a:rPr>
              <a:t>Wallpaper Designs | Wall Coverings | Graham &amp; Brown</a:t>
            </a:r>
            <a:r>
              <a:rPr lang="en" sz="1000">
                <a:solidFill>
                  <a:srgbClr val="000000"/>
                </a:solidFill>
                <a:highlight>
                  <a:schemeClr val="dk1"/>
                </a:highlight>
                <a:latin typeface="Arial"/>
                <a:ea typeface="Arial"/>
                <a:cs typeface="Arial"/>
                <a:sym typeface="Arial"/>
              </a:rPr>
              <a:t>, </a:t>
            </a:r>
            <a:r>
              <a:rPr lang="en" sz="1000" u="sng">
                <a:solidFill>
                  <a:srgbClr val="000000"/>
                </a:solidFill>
                <a:highlight>
                  <a:schemeClr val="dk1"/>
                </a:highlight>
                <a:latin typeface="Arial"/>
                <a:ea typeface="Arial"/>
                <a:cs typeface="Arial"/>
                <a:sym typeface="Arial"/>
              </a:rPr>
              <a:t>www.grahambrown.com/us/.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