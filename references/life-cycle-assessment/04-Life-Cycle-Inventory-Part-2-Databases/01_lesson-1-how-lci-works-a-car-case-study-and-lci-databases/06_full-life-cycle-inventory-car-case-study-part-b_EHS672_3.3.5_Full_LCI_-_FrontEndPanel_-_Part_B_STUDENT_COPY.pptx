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  <p:sldMasterId id="2147483785" r:id="rId2"/>
    <p:sldMasterId id="2147483806" r:id="rId3"/>
    <p:sldMasterId id="2147483808" r:id="rId4"/>
    <p:sldMasterId id="2147483796" r:id="rId5"/>
  </p:sldMasterIdLst>
  <p:notesMasterIdLst>
    <p:notesMasterId r:id="rId11"/>
  </p:notesMasterIdLst>
  <p:handoutMasterIdLst>
    <p:handoutMasterId r:id="rId12"/>
  </p:handoutMasterIdLst>
  <p:sldIdLst>
    <p:sldId id="536" r:id="rId6"/>
    <p:sldId id="533" r:id="rId7"/>
    <p:sldId id="534" r:id="rId8"/>
    <p:sldId id="535" r:id="rId9"/>
    <p:sldId id="524" r:id="rId10"/>
  </p:sldIdLst>
  <p:sldSz cx="16257588" cy="9144000"/>
  <p:notesSz cx="6858000" cy="9144000"/>
  <p:defaultTextStyle>
    <a:defPPr>
      <a:defRPr lang="en-US"/>
    </a:defPPr>
    <a:lvl1pPr marL="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1pPr>
    <a:lvl2pPr marL="81281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2pPr>
    <a:lvl3pPr marL="162562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3pPr>
    <a:lvl4pPr marL="2438430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4pPr>
    <a:lvl5pPr marL="325124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5pPr>
    <a:lvl6pPr marL="406405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487686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568967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6502481" algn="l" defTabSz="81281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cture slides" id="{C7F91DBA-90A9-5343-8B43-F0D96459C604}">
          <p14:sldIdLst>
            <p14:sldId id="536"/>
            <p14:sldId id="533"/>
            <p14:sldId id="534"/>
            <p14:sldId id="535"/>
            <p14:sldId id="52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16" userDrawn="1">
          <p15:clr>
            <a:srgbClr val="A4A3A4"/>
          </p15:clr>
        </p15:guide>
        <p15:guide id="2" pos="5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F92"/>
    <a:srgbClr val="00274C"/>
    <a:srgbClr val="E4E1DF"/>
    <a:srgbClr val="B5B5B5"/>
    <a:srgbClr val="050909"/>
    <a:srgbClr val="FFCB05"/>
    <a:srgbClr val="EA6A20"/>
    <a:srgbClr val="06090A"/>
    <a:srgbClr val="090B0B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037"/>
    <p:restoredTop sz="80897"/>
  </p:normalViewPr>
  <p:slideViewPr>
    <p:cSldViewPr snapToGrid="0">
      <p:cViewPr varScale="1">
        <p:scale>
          <a:sx n="45" d="100"/>
          <a:sy n="45" d="100"/>
        </p:scale>
        <p:origin x="278" y="38"/>
      </p:cViewPr>
      <p:guideLst>
        <p:guide orient="horz" pos="3216"/>
        <p:guide pos="5120"/>
      </p:guideLst>
    </p:cSldViewPr>
  </p:slid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515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D32C488-5493-244C-B1EB-F7CF3662E0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AD1453-9CD9-5640-A3F8-C0F3421BFA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623C7-AC5F-3A41-B4CB-88972659BBB1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A9942-DAC7-014E-98D2-7E2678599F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1CB1E6-A261-2741-AFAE-436A65E0D5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C83E3-4C2A-B644-AB75-B8266C440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617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33527-EF9E-5940-92CE-307645268EE1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3DB68-E51C-0443-B8CE-2997CF470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93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12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73DB68-E51C-0443-B8CE-2997CF470B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34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62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79475" y="1405719"/>
            <a:ext cx="14630400" cy="637350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959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94A1462-55F6-494B-8554-951DED06E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783" y="386862"/>
            <a:ext cx="14631828" cy="738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4544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(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79475" y="1405719"/>
            <a:ext cx="14630400" cy="637350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806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notes (not to be shown in vide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581665" y="1301578"/>
            <a:ext cx="13007546" cy="58076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7414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27000">
              <a:srgbClr val="ECECEC"/>
            </a:gs>
            <a:gs pos="80000">
              <a:schemeClr val="bg1"/>
            </a:gs>
            <a:gs pos="2000">
              <a:schemeClr val="bg1">
                <a:lumMod val="50000"/>
              </a:schemeClr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F79A2DE-44A3-E846-BDE0-2432CDF19E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57" y="0"/>
            <a:ext cx="16271545" cy="7776028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0" y="7674428"/>
            <a:ext cx="16257588" cy="1469571"/>
          </a:xfrm>
          <a:prstGeom prst="rect">
            <a:avLst/>
          </a:prstGeom>
          <a:solidFill>
            <a:srgbClr val="00274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_SchoolPublicHealth_logo_white.png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9986" y="8007770"/>
            <a:ext cx="5372640" cy="76752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7623628"/>
            <a:ext cx="16257588" cy="152400"/>
          </a:xfrm>
          <a:prstGeom prst="rect">
            <a:avLst/>
          </a:prstGeom>
          <a:solidFill>
            <a:srgbClr val="FFC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A01CEF-1B1A-0A48-82FA-0DF2D06BC503}"/>
              </a:ext>
            </a:extLst>
          </p:cNvPr>
          <p:cNvSpPr/>
          <p:nvPr userDrawn="1"/>
        </p:nvSpPr>
        <p:spPr>
          <a:xfrm>
            <a:off x="0" y="4767944"/>
            <a:ext cx="16257588" cy="2846366"/>
          </a:xfrm>
          <a:prstGeom prst="rect">
            <a:avLst/>
          </a:prstGeom>
          <a:gradFill flip="none" rotWithShape="1">
            <a:gsLst>
              <a:gs pos="100000">
                <a:srgbClr val="587ABC">
                  <a:lumMod val="74000"/>
                  <a:alpha val="55000"/>
                </a:srgbClr>
              </a:gs>
              <a:gs pos="0">
                <a:schemeClr val="bg1">
                  <a:lumMod val="95000"/>
                </a:schemeClr>
              </a:gs>
              <a:gs pos="66000">
                <a:srgbClr val="EEEEEE"/>
              </a:gs>
            </a:gsLst>
            <a:lin ang="120000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F38555-B398-464F-9B4E-17CD401959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hq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957" y="4757918"/>
            <a:ext cx="12192001" cy="289111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F0919A-AFA5-E147-95FD-08292D7FF4FB}"/>
              </a:ext>
            </a:extLst>
          </p:cNvPr>
          <p:cNvCxnSpPr>
            <a:cxnSpLocks/>
          </p:cNvCxnSpPr>
          <p:nvPr userDrawn="1"/>
        </p:nvCxnSpPr>
        <p:spPr>
          <a:xfrm>
            <a:off x="0" y="6607960"/>
            <a:ext cx="10140043" cy="0"/>
          </a:xfrm>
          <a:prstGeom prst="line">
            <a:avLst/>
          </a:prstGeom>
          <a:ln w="38100">
            <a:solidFill>
              <a:srgbClr val="0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ED9A923-5028-2F43-A7E3-007357342122}"/>
              </a:ext>
            </a:extLst>
          </p:cNvPr>
          <p:cNvSpPr/>
          <p:nvPr userDrawn="1"/>
        </p:nvSpPr>
        <p:spPr>
          <a:xfrm>
            <a:off x="0" y="4550950"/>
            <a:ext cx="16257588" cy="224918"/>
          </a:xfrm>
          <a:prstGeom prst="rect">
            <a:avLst/>
          </a:prstGeom>
          <a:gradFill>
            <a:gsLst>
              <a:gs pos="63000">
                <a:schemeClr val="bg1"/>
              </a:gs>
              <a:gs pos="0">
                <a:srgbClr val="587ABC"/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1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8783" y="1405719"/>
            <a:ext cx="14631828" cy="637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878783" y="272169"/>
            <a:ext cx="14631828" cy="870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D8E102-C795-3941-9125-C4D5BBD0193F}"/>
              </a:ext>
            </a:extLst>
          </p:cNvPr>
          <p:cNvSpPr/>
          <p:nvPr userDrawn="1"/>
        </p:nvSpPr>
        <p:spPr>
          <a:xfrm>
            <a:off x="0" y="0"/>
            <a:ext cx="16257588" cy="224918"/>
          </a:xfrm>
          <a:prstGeom prst="rect">
            <a:avLst/>
          </a:prstGeom>
          <a:gradFill>
            <a:gsLst>
              <a:gs pos="63000">
                <a:srgbClr val="00274C"/>
              </a:gs>
              <a:gs pos="0">
                <a:srgbClr val="587ABC"/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45DA2-7C42-8445-AD00-272875B751FD}"/>
              </a:ext>
            </a:extLst>
          </p:cNvPr>
          <p:cNvCxnSpPr>
            <a:cxnSpLocks/>
          </p:cNvCxnSpPr>
          <p:nvPr userDrawn="1"/>
        </p:nvCxnSpPr>
        <p:spPr>
          <a:xfrm>
            <a:off x="1023582" y="1210794"/>
            <a:ext cx="14343797" cy="0"/>
          </a:xfrm>
          <a:prstGeom prst="line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F1E5EF9-7466-AC4A-8B9B-8C26E6EB2668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E2D098-25F8-1B47-A897-734EE7598560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842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E75BEE-68E8-7E41-9537-113B0DA1B9A2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ABBCB0-652C-4D4B-9603-135F326E9486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3FF513C8-0BD3-FA4B-8D9A-FB9C21ECB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8783" y="386862"/>
            <a:ext cx="14631828" cy="7389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2599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78783" y="1405719"/>
            <a:ext cx="9489860" cy="6370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878783" y="272169"/>
            <a:ext cx="9489860" cy="8703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C5F1F8-1280-884E-8894-968C107F09E4}"/>
              </a:ext>
            </a:extLst>
          </p:cNvPr>
          <p:cNvSpPr/>
          <p:nvPr userDrawn="1"/>
        </p:nvSpPr>
        <p:spPr>
          <a:xfrm>
            <a:off x="0" y="7776027"/>
            <a:ext cx="16257588" cy="1367973"/>
          </a:xfrm>
          <a:prstGeom prst="rect">
            <a:avLst/>
          </a:prstGeom>
          <a:gradFill>
            <a:gsLst>
              <a:gs pos="100000">
                <a:schemeClr val="bg1"/>
              </a:gs>
              <a:gs pos="8000">
                <a:srgbClr val="E4E1D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80828F-C4E5-CD4A-8C1F-761E9B421162}"/>
              </a:ext>
            </a:extLst>
          </p:cNvPr>
          <p:cNvCxnSpPr/>
          <p:nvPr userDrawn="1"/>
        </p:nvCxnSpPr>
        <p:spPr>
          <a:xfrm>
            <a:off x="0" y="7758806"/>
            <a:ext cx="16257588" cy="0"/>
          </a:xfrm>
          <a:prstGeom prst="line">
            <a:avLst/>
          </a:prstGeom>
          <a:ln w="9525">
            <a:solidFill>
              <a:srgbClr val="E4E1DF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462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274C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2084172" y="1066154"/>
            <a:ext cx="12002531" cy="580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	Edit Master text styles</a:t>
            </a:r>
          </a:p>
          <a:p>
            <a:pPr lvl="2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530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None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DCE93A83-2E66-F74F-A5CD-47D28E6C7BC3}"/>
              </a:ext>
            </a:extLst>
          </p:cNvPr>
          <p:cNvSpPr txBox="1">
            <a:spLocks/>
          </p:cNvSpPr>
          <p:nvPr/>
        </p:nvSpPr>
        <p:spPr>
          <a:xfrm>
            <a:off x="440871" y="5058674"/>
            <a:ext cx="14799129" cy="1282491"/>
          </a:xfrm>
          <a:prstGeom prst="rect">
            <a:avLst/>
          </a:prstGeom>
        </p:spPr>
        <p:txBody>
          <a:bodyPr anchor="t">
            <a:normAutofit fontScale="9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5400" b="1" dirty="0"/>
              <a:t>Full Life Cycle inventory: Car case study</a:t>
            </a: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3900" b="1" dirty="0">
                <a:solidFill>
                  <a:schemeClr val="accent5"/>
                </a:solidFill>
              </a:rPr>
              <a:t>Part B Inventory results and sensitivity study</a:t>
            </a:r>
            <a:endParaRPr lang="en-US" altLang="en-US" sz="3900" b="1" kern="0" dirty="0">
              <a:solidFill>
                <a:schemeClr val="accent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B5F09-AA9C-0C49-A705-E3ECF1BA7055}"/>
              </a:ext>
            </a:extLst>
          </p:cNvPr>
          <p:cNvSpPr txBox="1"/>
          <p:nvPr/>
        </p:nvSpPr>
        <p:spPr>
          <a:xfrm>
            <a:off x="440871" y="6790584"/>
            <a:ext cx="302198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Olivier Jolliet, PhD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544121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6FCBD-5601-4C46-9A59-830234CCC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en-US" sz="4000" dirty="0"/>
              <a:t>Automobile</a:t>
            </a:r>
            <a:r>
              <a:rPr lang="fr-CH" altLang="en-US" sz="4000" dirty="0"/>
              <a:t> front end panel Extractions and </a:t>
            </a:r>
            <a:r>
              <a:rPr lang="fr-CH" altLang="en-US" sz="4000" dirty="0" err="1"/>
              <a:t>emissions</a:t>
            </a:r>
            <a:r>
              <a:rPr lang="fr-CH" altLang="en-US" sz="4000" dirty="0"/>
              <a:t> </a:t>
            </a:r>
            <a:r>
              <a:rPr lang="fr-CH" altLang="en-US" sz="4000" dirty="0" err="1"/>
              <a:t>inventory</a:t>
            </a:r>
            <a:endParaRPr lang="en-US" sz="40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DC9785-BA74-9F46-B36A-1A690E254A6D}"/>
              </a:ext>
            </a:extLst>
          </p:cNvPr>
          <p:cNvCxnSpPr>
            <a:cxnSpLocks/>
          </p:cNvCxnSpPr>
          <p:nvPr/>
        </p:nvCxnSpPr>
        <p:spPr>
          <a:xfrm>
            <a:off x="3478596" y="2513045"/>
            <a:ext cx="1157021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C31796D2-DBCE-4240-8CF6-9C5E407F6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2394" y="1903355"/>
            <a:ext cx="13773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Composite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090ED549-D648-4C4B-8324-9CF0171EF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67788" y="1764856"/>
            <a:ext cx="131318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Recycled</a:t>
            </a:r>
            <a:br>
              <a:rPr lang="en-GB" altLang="en-US" sz="1800" dirty="0">
                <a:solidFill>
                  <a:schemeClr val="tx2"/>
                </a:solidFill>
              </a:rPr>
            </a:br>
            <a:r>
              <a:rPr lang="en-GB" altLang="en-US" sz="1800" dirty="0" err="1">
                <a:solidFill>
                  <a:schemeClr val="tx2"/>
                </a:solidFill>
              </a:rPr>
              <a:t>Aluminum</a:t>
            </a:r>
            <a:endParaRPr lang="en-GB" altLang="en-US" sz="1800" dirty="0">
              <a:solidFill>
                <a:schemeClr val="tx2"/>
              </a:solidFill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F522510B-A355-EB4C-A6C1-440C32FA2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5629" y="1764856"/>
            <a:ext cx="13131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Virgin</a:t>
            </a:r>
            <a:br>
              <a:rPr lang="en-GB" altLang="en-US" sz="1800" dirty="0">
                <a:solidFill>
                  <a:schemeClr val="tx2"/>
                </a:solidFill>
              </a:rPr>
            </a:br>
            <a:r>
              <a:rPr lang="en-GB" altLang="en-US" sz="1800" dirty="0" err="1">
                <a:solidFill>
                  <a:schemeClr val="tx2"/>
                </a:solidFill>
              </a:rPr>
              <a:t>Aluminum</a:t>
            </a:r>
            <a:endParaRPr lang="en-GB" altLang="en-US" sz="1800" dirty="0">
              <a:solidFill>
                <a:schemeClr val="tx2"/>
              </a:solidFill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B286F1D7-B8CE-1041-AA3D-CCBA98FFC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3789" y="2654619"/>
            <a:ext cx="19543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Energy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925505E4-1EB5-524E-A1E7-FA6253E93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119" y="2654619"/>
            <a:ext cx="136447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Resources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DE115079-F8DD-974D-BCDB-832D072BF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1025" y="2654619"/>
            <a:ext cx="8958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3061</a:t>
            </a: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6247CCEB-0B40-584E-A9E6-E7BDCB55A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25878" y="2654619"/>
            <a:ext cx="8958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2193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51599781-DF9A-DB42-AC60-0FC2A056E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60339" y="2654619"/>
            <a:ext cx="8488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accent3"/>
                </a:solidFill>
              </a:rPr>
              <a:t>1658</a:t>
            </a: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AF719DB2-A0D5-014A-AE6C-A845BA91D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9223" y="1903355"/>
            <a:ext cx="7360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Steel</a:t>
            </a: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C885466D-8D6A-B44E-8BEC-4FC454714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4084" y="1903355"/>
            <a:ext cx="6335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Unit</a:t>
            </a: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ECB4A7A3-6688-F24D-9815-224EB8A02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4496" y="2654619"/>
            <a:ext cx="8958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MJ</a:t>
            </a: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F8462331-6877-AB46-A0AF-FF8BB87BB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4380" y="2654619"/>
            <a:ext cx="8488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accent2"/>
                </a:solidFill>
              </a:rPr>
              <a:t>4043</a:t>
            </a: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33E16F89-F573-F94F-9754-E717A16A9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3789" y="3261147"/>
            <a:ext cx="1954382" cy="3026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CO</a:t>
            </a:r>
            <a:r>
              <a:rPr lang="en-GB" altLang="en-US" sz="1800" b="0" baseline="-25000" dirty="0">
                <a:solidFill>
                  <a:schemeClr val="tx2"/>
                </a:solidFill>
              </a:rPr>
              <a:t>2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CO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CH</a:t>
            </a:r>
            <a:r>
              <a:rPr lang="en-GB" altLang="en-US" sz="1800" b="0" baseline="-25000" dirty="0">
                <a:solidFill>
                  <a:schemeClr val="tx2"/>
                </a:solidFill>
              </a:rPr>
              <a:t>4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N</a:t>
            </a:r>
            <a:r>
              <a:rPr lang="en-GB" altLang="en-US" sz="1800" b="0" baseline="-25000" dirty="0">
                <a:solidFill>
                  <a:schemeClr val="tx2"/>
                </a:solidFill>
              </a:rPr>
              <a:t>2</a:t>
            </a:r>
            <a:r>
              <a:rPr lang="en-GB" altLang="en-US" sz="1800" b="0" dirty="0">
                <a:solidFill>
                  <a:schemeClr val="tx2"/>
                </a:solidFill>
              </a:rPr>
              <a:t>O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NO</a:t>
            </a:r>
            <a:r>
              <a:rPr lang="en-GB" altLang="en-US" sz="1800" b="0" baseline="-25000" dirty="0">
                <a:solidFill>
                  <a:schemeClr val="tx2"/>
                </a:solidFill>
              </a:rPr>
              <a:t>x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SO</a:t>
            </a:r>
            <a:r>
              <a:rPr lang="en-GB" altLang="en-US" sz="1800" b="0" baseline="-25000" dirty="0">
                <a:solidFill>
                  <a:schemeClr val="tx2"/>
                </a:solidFill>
              </a:rPr>
              <a:t>2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Particles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Pb</a:t>
            </a: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5A0064D4-D18F-204E-B2E9-F1527F5FD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214" y="3236510"/>
            <a:ext cx="19543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Emissions in air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F1432637-ADC5-F049-B573-8BEC71B2C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3789" y="6462141"/>
            <a:ext cx="1954382" cy="748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Nitrates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Pb</a:t>
            </a:r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D29CD5F6-B0C7-BA45-92AD-76F6B7B30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613" y="6437504"/>
            <a:ext cx="22749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tx2"/>
                </a:solidFill>
              </a:rPr>
              <a:t>Emissions in water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F7CDA49-F29C-5B45-A214-6861C561177C}"/>
              </a:ext>
            </a:extLst>
          </p:cNvPr>
          <p:cNvCxnSpPr>
            <a:cxnSpLocks/>
          </p:cNvCxnSpPr>
          <p:nvPr/>
        </p:nvCxnSpPr>
        <p:spPr>
          <a:xfrm>
            <a:off x="3478596" y="3122645"/>
            <a:ext cx="1157021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F2AC81D-AEAF-5A43-B31E-F2D3F71499D3}"/>
              </a:ext>
            </a:extLst>
          </p:cNvPr>
          <p:cNvCxnSpPr>
            <a:cxnSpLocks/>
          </p:cNvCxnSpPr>
          <p:nvPr/>
        </p:nvCxnSpPr>
        <p:spPr>
          <a:xfrm>
            <a:off x="3478596" y="6351348"/>
            <a:ext cx="1157021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6">
            <a:extLst>
              <a:ext uri="{FF2B5EF4-FFF2-40B4-BE49-F238E27FC236}">
                <a16:creationId xmlns:a16="http://schemas.microsoft.com/office/drawing/2014/main" id="{6CD75E6F-8D13-7847-AE38-973B953EF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4496" y="6466753"/>
            <a:ext cx="895870" cy="748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kg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kg</a:t>
            </a:r>
          </a:p>
        </p:txBody>
      </p:sp>
      <p:sp>
        <p:nvSpPr>
          <p:cNvPr id="38" name="Rectangle 6">
            <a:extLst>
              <a:ext uri="{FF2B5EF4-FFF2-40B4-BE49-F238E27FC236}">
                <a16:creationId xmlns:a16="http://schemas.microsoft.com/office/drawing/2014/main" id="{9A7D633C-4013-1844-B59D-0EB578277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4379" y="6466753"/>
            <a:ext cx="1338013" cy="748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9.30 x 10</a:t>
            </a:r>
            <a:r>
              <a:rPr lang="en-GB" altLang="en-US" sz="1800" b="0" baseline="30000" dirty="0">
                <a:solidFill>
                  <a:schemeClr val="tx2"/>
                </a:solidFill>
              </a:rPr>
              <a:t>-4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None/>
            </a:pPr>
            <a:r>
              <a:rPr lang="en-GB" altLang="en-US" sz="1800" b="0" dirty="0">
                <a:solidFill>
                  <a:schemeClr val="accent2"/>
                </a:solidFill>
              </a:rPr>
              <a:t>2.13 x 10</a:t>
            </a:r>
            <a:r>
              <a:rPr lang="en-GB" altLang="en-US" sz="1800" b="0" baseline="30000" dirty="0">
                <a:solidFill>
                  <a:schemeClr val="accent2"/>
                </a:solidFill>
              </a:rPr>
              <a:t>-4</a:t>
            </a:r>
          </a:p>
        </p:txBody>
      </p:sp>
      <p:sp>
        <p:nvSpPr>
          <p:cNvPr id="39" name="Rectangle 6">
            <a:extLst>
              <a:ext uri="{FF2B5EF4-FFF2-40B4-BE49-F238E27FC236}">
                <a16:creationId xmlns:a16="http://schemas.microsoft.com/office/drawing/2014/main" id="{4BBC8BB3-428B-CF4F-9617-AB3119877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1025" y="3247286"/>
            <a:ext cx="1324604" cy="3026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176.4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0.045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0.122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accent3"/>
                </a:solidFill>
              </a:rPr>
              <a:t>0.0005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0.172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0.348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0.0136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1.03 x 10</a:t>
            </a:r>
            <a:r>
              <a:rPr lang="en-GB" altLang="en-US" sz="1800" b="0" baseline="30000" dirty="0">
                <a:solidFill>
                  <a:schemeClr val="tx2"/>
                </a:solidFill>
              </a:rPr>
              <a:t>-5</a:t>
            </a:r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59B7E8DE-1B0A-844B-9AA3-23FCBA2E7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25878" y="3247286"/>
            <a:ext cx="1324604" cy="3026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134.6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0.047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0.112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accent2"/>
                </a:solidFill>
              </a:rPr>
              <a:t>0.0015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0.156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0.315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0.0287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1.41 x 10</a:t>
            </a:r>
            <a:r>
              <a:rPr lang="en-GB" altLang="en-US" sz="1800" b="0" baseline="30000" dirty="0">
                <a:solidFill>
                  <a:schemeClr val="tx2"/>
                </a:solidFill>
              </a:rPr>
              <a:t>-5</a:t>
            </a:r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9E9A2138-BE33-DC40-87D5-65D83C0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60338" y="3247286"/>
            <a:ext cx="1278188" cy="3026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accent3"/>
                </a:solidFill>
              </a:rPr>
              <a:t>103.2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accent3"/>
                </a:solidFill>
              </a:rPr>
              <a:t>0.029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accent3"/>
                </a:solidFill>
              </a:rPr>
              <a:t>0.062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0.0006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accent3"/>
                </a:solidFill>
              </a:rPr>
              <a:t>0.083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accent3"/>
                </a:solidFill>
              </a:rPr>
              <a:t>0.184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accent3"/>
                </a:solidFill>
              </a:rPr>
              <a:t>0.0095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accent2"/>
                </a:solidFill>
              </a:rPr>
              <a:t>1.65 x 10</a:t>
            </a:r>
            <a:r>
              <a:rPr lang="en-GB" altLang="en-US" sz="1800" b="0" baseline="30000" dirty="0">
                <a:solidFill>
                  <a:schemeClr val="accent2"/>
                </a:solidFill>
              </a:rPr>
              <a:t>-4</a:t>
            </a:r>
          </a:p>
        </p:txBody>
      </p:sp>
      <p:sp>
        <p:nvSpPr>
          <p:cNvPr id="42" name="Rectangle 6">
            <a:extLst>
              <a:ext uri="{FF2B5EF4-FFF2-40B4-BE49-F238E27FC236}">
                <a16:creationId xmlns:a16="http://schemas.microsoft.com/office/drawing/2014/main" id="{7732ED95-BC67-724A-AF8C-001E83CE7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4496" y="3247286"/>
            <a:ext cx="895870" cy="3026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kg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kg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kg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kg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kg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kg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kg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kg</a:t>
            </a:r>
          </a:p>
        </p:txBody>
      </p:sp>
      <p:sp>
        <p:nvSpPr>
          <p:cNvPr id="43" name="Rectangle 6">
            <a:extLst>
              <a:ext uri="{FF2B5EF4-FFF2-40B4-BE49-F238E27FC236}">
                <a16:creationId xmlns:a16="http://schemas.microsoft.com/office/drawing/2014/main" id="{F7343969-EB56-E347-AA24-96BF68325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4378" y="3247286"/>
            <a:ext cx="1338015" cy="3026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accent2"/>
                </a:solidFill>
              </a:rPr>
              <a:t>253.9</a:t>
            </a:r>
            <a:endParaRPr lang="en-GB" altLang="en-US" sz="1800" b="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accent2"/>
                </a:solidFill>
              </a:rPr>
              <a:t>0.294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accent2"/>
                </a:solidFill>
              </a:rPr>
              <a:t>0.154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0.0013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accent2"/>
                </a:solidFill>
              </a:rPr>
              <a:t>0.221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accent2"/>
                </a:solidFill>
              </a:rPr>
              <a:t>0.439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accent2"/>
                </a:solidFill>
              </a:rPr>
              <a:t>0.0383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Font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7.16 x 10</a:t>
            </a:r>
            <a:r>
              <a:rPr lang="en-GB" altLang="en-US" sz="1800" b="0" baseline="30000" dirty="0">
                <a:solidFill>
                  <a:schemeClr val="tx2"/>
                </a:solidFill>
              </a:rPr>
              <a:t>-5</a:t>
            </a:r>
          </a:p>
        </p:txBody>
      </p:sp>
      <p:sp>
        <p:nvSpPr>
          <p:cNvPr id="46" name="Rectangle 6">
            <a:extLst>
              <a:ext uri="{FF2B5EF4-FFF2-40B4-BE49-F238E27FC236}">
                <a16:creationId xmlns:a16="http://schemas.microsoft.com/office/drawing/2014/main" id="{74F3A322-7752-314E-9216-DB7832EC0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1025" y="6466753"/>
            <a:ext cx="1338013" cy="748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6.44 x 10</a:t>
            </a:r>
            <a:r>
              <a:rPr lang="en-GB" altLang="en-US" sz="1800" b="0" baseline="30000" dirty="0">
                <a:solidFill>
                  <a:schemeClr val="tx2"/>
                </a:solidFill>
              </a:rPr>
              <a:t>-4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5.13 x 10</a:t>
            </a:r>
            <a:r>
              <a:rPr lang="en-GB" altLang="en-US" sz="1800" b="0" baseline="30000" dirty="0">
                <a:solidFill>
                  <a:schemeClr val="tx2"/>
                </a:solidFill>
              </a:rPr>
              <a:t>-5</a:t>
            </a:r>
          </a:p>
        </p:txBody>
      </p:sp>
      <p:sp>
        <p:nvSpPr>
          <p:cNvPr id="47" name="Rectangle 6">
            <a:extLst>
              <a:ext uri="{FF2B5EF4-FFF2-40B4-BE49-F238E27FC236}">
                <a16:creationId xmlns:a16="http://schemas.microsoft.com/office/drawing/2014/main" id="{9BFDFDC9-A48A-C048-ABFB-F91C2A2CC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25878" y="6466753"/>
            <a:ext cx="1338013" cy="748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None/>
            </a:pPr>
            <a:r>
              <a:rPr lang="en-GB" altLang="en-US" sz="1800" b="0" dirty="0">
                <a:solidFill>
                  <a:schemeClr val="accent2"/>
                </a:solidFill>
              </a:rPr>
              <a:t>1.07 x 10</a:t>
            </a:r>
            <a:r>
              <a:rPr lang="en-GB" altLang="en-US" sz="1800" b="0" baseline="30000" dirty="0">
                <a:solidFill>
                  <a:schemeClr val="accent2"/>
                </a:solidFill>
              </a:rPr>
              <a:t>-3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None/>
            </a:pPr>
            <a:r>
              <a:rPr lang="en-GB" altLang="en-US" sz="1800" b="0" dirty="0">
                <a:solidFill>
                  <a:schemeClr val="tx2"/>
                </a:solidFill>
              </a:rPr>
              <a:t>9.70 x 10</a:t>
            </a:r>
            <a:r>
              <a:rPr lang="en-GB" altLang="en-US" sz="1800" b="0" baseline="30000" dirty="0">
                <a:solidFill>
                  <a:schemeClr val="tx2"/>
                </a:solidFill>
              </a:rPr>
              <a:t>-5</a:t>
            </a:r>
          </a:p>
        </p:txBody>
      </p:sp>
      <p:sp>
        <p:nvSpPr>
          <p:cNvPr id="48" name="Rectangle 6">
            <a:extLst>
              <a:ext uri="{FF2B5EF4-FFF2-40B4-BE49-F238E27FC236}">
                <a16:creationId xmlns:a16="http://schemas.microsoft.com/office/drawing/2014/main" id="{2893CAB3-9E19-3A49-8CBE-EF21F0F80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55442" y="6466753"/>
            <a:ext cx="1338013" cy="748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9900"/>
              </a:buClr>
              <a:buChar char="•"/>
              <a:defRPr sz="3200" b="1">
                <a:solidFill>
                  <a:srgbClr val="01035B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FF9900"/>
              </a:buClr>
              <a:buChar char="–"/>
              <a:defRPr sz="2800" b="1">
                <a:solidFill>
                  <a:srgbClr val="01035B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FF9900"/>
              </a:buClr>
              <a:buChar char="•"/>
              <a:defRPr sz="2400" b="1">
                <a:solidFill>
                  <a:srgbClr val="01035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9900"/>
              </a:buClr>
              <a:buChar char="–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Char char="»"/>
              <a:defRPr sz="2000" b="1">
                <a:solidFill>
                  <a:srgbClr val="01035B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800"/>
              </a:spcAft>
              <a:buClrTx/>
              <a:buNone/>
            </a:pPr>
            <a:r>
              <a:rPr lang="en-GB" altLang="en-US" sz="1800" b="0" dirty="0">
                <a:solidFill>
                  <a:schemeClr val="accent3"/>
                </a:solidFill>
              </a:rPr>
              <a:t>4.25 x 10</a:t>
            </a:r>
            <a:r>
              <a:rPr lang="en-GB" altLang="en-US" sz="1800" b="0" baseline="30000" dirty="0">
                <a:solidFill>
                  <a:schemeClr val="accent3"/>
                </a:solidFill>
              </a:rPr>
              <a:t>-4</a:t>
            </a:r>
          </a:p>
          <a:p>
            <a:pPr>
              <a:spcBef>
                <a:spcPct val="0"/>
              </a:spcBef>
              <a:spcAft>
                <a:spcPts val="800"/>
              </a:spcAft>
              <a:buClrTx/>
              <a:buNone/>
            </a:pPr>
            <a:r>
              <a:rPr lang="en-GB" altLang="en-US" sz="1800" b="0" dirty="0">
                <a:solidFill>
                  <a:schemeClr val="accent3"/>
                </a:solidFill>
              </a:rPr>
              <a:t>4.19 x 10</a:t>
            </a:r>
            <a:r>
              <a:rPr lang="en-GB" altLang="en-US" sz="1800" b="0" baseline="30000" dirty="0">
                <a:solidFill>
                  <a:schemeClr val="accent3"/>
                </a:solidFill>
              </a:rPr>
              <a:t>-5</a:t>
            </a:r>
          </a:p>
        </p:txBody>
      </p:sp>
    </p:spTree>
    <p:extLst>
      <p:ext uri="{BB962C8B-B14F-4D97-AF65-F5344CB8AC3E}">
        <p14:creationId xmlns:p14="http://schemas.microsoft.com/office/powerpoint/2010/main" val="2285283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7FD5C-86C2-8441-9CCC-A3000F01B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Sensitivity study: </a:t>
            </a:r>
            <a:r>
              <a:rPr lang="en-CA" dirty="0"/>
              <a:t>Cumulative primary energy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490A90-E6B0-5E48-97B2-5638CDB319C5}"/>
              </a:ext>
            </a:extLst>
          </p:cNvPr>
          <p:cNvSpPr/>
          <p:nvPr/>
        </p:nvSpPr>
        <p:spPr>
          <a:xfrm>
            <a:off x="878782" y="1369704"/>
            <a:ext cx="1480516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dirty="0">
                <a:solidFill>
                  <a:schemeClr val="tx2"/>
                </a:solidFill>
              </a:rPr>
              <a:t>Primary energy as a function of transportation distance/miles over lifetime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978B84-1F89-9640-A09E-A18845CA7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389" y="2319020"/>
            <a:ext cx="7848055" cy="522287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9E05AF4-9B3D-384B-B79F-923129D77D1B}"/>
              </a:ext>
            </a:extLst>
          </p:cNvPr>
          <p:cNvSpPr/>
          <p:nvPr/>
        </p:nvSpPr>
        <p:spPr>
          <a:xfrm>
            <a:off x="12060936" y="2537460"/>
            <a:ext cx="342900" cy="342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72ADC99-3518-EE42-AE45-E18A38A5B634}"/>
              </a:ext>
            </a:extLst>
          </p:cNvPr>
          <p:cNvSpPr/>
          <p:nvPr/>
        </p:nvSpPr>
        <p:spPr>
          <a:xfrm>
            <a:off x="12060936" y="3012948"/>
            <a:ext cx="342900" cy="342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52666B-F4C0-3743-BB9B-35963B2224BC}"/>
              </a:ext>
            </a:extLst>
          </p:cNvPr>
          <p:cNvSpPr/>
          <p:nvPr/>
        </p:nvSpPr>
        <p:spPr>
          <a:xfrm>
            <a:off x="12060936" y="3488436"/>
            <a:ext cx="342900" cy="342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84E2BE9-5429-FE40-A776-2FD0E09B7424}"/>
              </a:ext>
            </a:extLst>
          </p:cNvPr>
          <p:cNvSpPr/>
          <p:nvPr/>
        </p:nvSpPr>
        <p:spPr>
          <a:xfrm>
            <a:off x="12060936" y="3963924"/>
            <a:ext cx="342900" cy="34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A1B2F6-E245-9B48-8DF9-C7DA62AA6388}"/>
              </a:ext>
            </a:extLst>
          </p:cNvPr>
          <p:cNvSpPr txBox="1"/>
          <p:nvPr/>
        </p:nvSpPr>
        <p:spPr>
          <a:xfrm>
            <a:off x="12403836" y="2483037"/>
            <a:ext cx="24387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Recycled Aluminum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D0DA47-B990-9540-890B-D183B143E7D2}"/>
              </a:ext>
            </a:extLst>
          </p:cNvPr>
          <p:cNvSpPr txBox="1"/>
          <p:nvPr/>
        </p:nvSpPr>
        <p:spPr>
          <a:xfrm>
            <a:off x="12403836" y="2976813"/>
            <a:ext cx="1326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Aluminum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3230CC-C8DF-AE43-B3F8-538902E650F0}"/>
              </a:ext>
            </a:extLst>
          </p:cNvPr>
          <p:cNvSpPr txBox="1"/>
          <p:nvPr/>
        </p:nvSpPr>
        <p:spPr>
          <a:xfrm>
            <a:off x="12403836" y="3470589"/>
            <a:ext cx="14109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Composite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30A89F-4A76-3846-AD07-F16781FA6A8C}"/>
              </a:ext>
            </a:extLst>
          </p:cNvPr>
          <p:cNvSpPr txBox="1"/>
          <p:nvPr/>
        </p:nvSpPr>
        <p:spPr>
          <a:xfrm>
            <a:off x="12403836" y="3946077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Steel</a:t>
            </a:r>
          </a:p>
        </p:txBody>
      </p:sp>
    </p:spTree>
    <p:extLst>
      <p:ext uri="{BB962C8B-B14F-4D97-AF65-F5344CB8AC3E}">
        <p14:creationId xmlns:p14="http://schemas.microsoft.com/office/powerpoint/2010/main" val="3474069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E8FE387-230A-F34C-983C-EB3935D29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189" y="2319020"/>
            <a:ext cx="8191065" cy="52228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BEB8A7-F3B0-A946-A409-775A2DC23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Sensitivity study: Energy per km driven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3FB2AE-60E3-C444-8836-54B5FCA2B16B}"/>
              </a:ext>
            </a:extLst>
          </p:cNvPr>
          <p:cNvSpPr/>
          <p:nvPr/>
        </p:nvSpPr>
        <p:spPr>
          <a:xfrm>
            <a:off x="878782" y="1369704"/>
            <a:ext cx="148051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00274C"/>
              </a:buClr>
              <a:buSzPts val="3200"/>
            </a:pPr>
            <a:r>
              <a:rPr lang="en-US" sz="2800" dirty="0">
                <a:solidFill>
                  <a:schemeClr val="tx2"/>
                </a:solidFill>
              </a:rPr>
              <a:t>Alternative representation per FU: Primary energy per km as a function of lifetime mileage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6D7F919-4FED-D64E-B056-E96C2E47D57E}"/>
              </a:ext>
            </a:extLst>
          </p:cNvPr>
          <p:cNvSpPr/>
          <p:nvPr/>
        </p:nvSpPr>
        <p:spPr>
          <a:xfrm>
            <a:off x="12060936" y="2537460"/>
            <a:ext cx="342900" cy="342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1F39C16-A6BB-0446-B6B9-6040B2038EA8}"/>
              </a:ext>
            </a:extLst>
          </p:cNvPr>
          <p:cNvSpPr/>
          <p:nvPr/>
        </p:nvSpPr>
        <p:spPr>
          <a:xfrm>
            <a:off x="12060936" y="3012948"/>
            <a:ext cx="342900" cy="342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071F80-63E2-B941-9459-AFA5E665252C}"/>
              </a:ext>
            </a:extLst>
          </p:cNvPr>
          <p:cNvSpPr/>
          <p:nvPr/>
        </p:nvSpPr>
        <p:spPr>
          <a:xfrm>
            <a:off x="12060936" y="3488436"/>
            <a:ext cx="342900" cy="342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1364BD4-C3C4-F149-802C-4A47C521E767}"/>
              </a:ext>
            </a:extLst>
          </p:cNvPr>
          <p:cNvSpPr/>
          <p:nvPr/>
        </p:nvSpPr>
        <p:spPr>
          <a:xfrm>
            <a:off x="12060936" y="3963924"/>
            <a:ext cx="342900" cy="34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A5C0F-6421-1747-B15B-CFF1DCD6899F}"/>
              </a:ext>
            </a:extLst>
          </p:cNvPr>
          <p:cNvSpPr txBox="1"/>
          <p:nvPr/>
        </p:nvSpPr>
        <p:spPr>
          <a:xfrm>
            <a:off x="12403836" y="2483037"/>
            <a:ext cx="24387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Recycled Aluminum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35C0D8-71A0-BA48-88BE-BEA7DE08D2DC}"/>
              </a:ext>
            </a:extLst>
          </p:cNvPr>
          <p:cNvSpPr txBox="1"/>
          <p:nvPr/>
        </p:nvSpPr>
        <p:spPr>
          <a:xfrm>
            <a:off x="12403836" y="2976813"/>
            <a:ext cx="1326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Aluminum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A3502B-5ED6-2B4F-91D2-F6233119C898}"/>
              </a:ext>
            </a:extLst>
          </p:cNvPr>
          <p:cNvSpPr txBox="1"/>
          <p:nvPr/>
        </p:nvSpPr>
        <p:spPr>
          <a:xfrm>
            <a:off x="12403836" y="3470589"/>
            <a:ext cx="14109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Composite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083C1E-B4A1-5445-A895-C965892248AC}"/>
              </a:ext>
            </a:extLst>
          </p:cNvPr>
          <p:cNvSpPr txBox="1"/>
          <p:nvPr/>
        </p:nvSpPr>
        <p:spPr>
          <a:xfrm>
            <a:off x="12403836" y="3946077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Steel</a:t>
            </a:r>
          </a:p>
        </p:txBody>
      </p:sp>
    </p:spTree>
    <p:extLst>
      <p:ext uri="{BB962C8B-B14F-4D97-AF65-F5344CB8AC3E}">
        <p14:creationId xmlns:p14="http://schemas.microsoft.com/office/powerpoint/2010/main" val="2461182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9A4-B037-4F4E-AFCE-96000C7C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279400"/>
            <a:ext cx="14631828" cy="870385"/>
          </a:xfrm>
        </p:spPr>
        <p:txBody>
          <a:bodyPr/>
          <a:lstStyle/>
          <a:p>
            <a:r>
              <a:rPr lang="en-US" altLang="en-US" dirty="0"/>
              <a:t>Summary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860404C-E3DD-DB44-9F60-421612D670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0211" y="1649897"/>
            <a:ext cx="14630400" cy="5944272"/>
          </a:xfrm>
        </p:spPr>
        <p:txBody>
          <a:bodyPr>
            <a:noAutofit/>
          </a:bodyPr>
          <a:lstStyle/>
          <a:p>
            <a:pPr marL="693738" indent="-681038"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sz="2800" dirty="0"/>
              <a:t>The inventory can be determined by matrix multiplication</a:t>
            </a:r>
          </a:p>
          <a:p>
            <a:pPr marL="693738" indent="-681038"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sz="2800" dirty="0"/>
              <a:t>It provides the inventory of all aggregated flows from cradle to gate or cradle to grave </a:t>
            </a:r>
          </a:p>
          <a:p>
            <a:pPr marL="693738" indent="-681038"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sz="2800" dirty="0"/>
              <a:t>These are the cumulative extractions and emissions per functional unit </a:t>
            </a:r>
          </a:p>
          <a:p>
            <a:pPr marL="693738" indent="-681038"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sz="2800" dirty="0"/>
              <a:t>It is the initial step for product comparison, but is rarely conclusive without </a:t>
            </a:r>
            <a:br>
              <a:rPr lang="en-US" altLang="en-US" sz="2800" dirty="0"/>
            </a:br>
            <a:r>
              <a:rPr lang="en-US" altLang="en-US" sz="2800" dirty="0"/>
              <a:t>impact assessment</a:t>
            </a:r>
          </a:p>
          <a:p>
            <a:pPr marL="693738" indent="-681038"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sz="2800" dirty="0"/>
              <a:t>Sensitivity study as a function of most uncertain usage parameter </a:t>
            </a:r>
            <a:br>
              <a:rPr lang="en-US" altLang="en-US" sz="2800" dirty="0"/>
            </a:br>
            <a:r>
              <a:rPr lang="en-US" altLang="en-US" sz="2800" i="1" dirty="0"/>
              <a:t>(e.g. product life time, total distance over lifetime, number of reuse) </a:t>
            </a:r>
            <a:r>
              <a:rPr lang="en-US" altLang="en-US" sz="2800" dirty="0"/>
              <a:t/>
            </a:r>
            <a:br>
              <a:rPr lang="en-US" altLang="en-US" sz="2800" dirty="0"/>
            </a:br>
            <a:r>
              <a:rPr lang="en-US" altLang="en-US" sz="2800" dirty="0"/>
              <a:t>is an efficient way to analyze trade-offs</a:t>
            </a:r>
          </a:p>
          <a:p>
            <a:pPr marL="693738" indent="-681038"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Font typeface="Arial Bold"/>
              <a:buChar char="►"/>
            </a:pPr>
            <a:r>
              <a:rPr lang="en-US" altLang="en-US" sz="2800" dirty="0"/>
              <a:t>It enables the practitioner to discuss minimum product lifetime for a scenario to become best and avoid to make arbitrary assumption</a:t>
            </a:r>
          </a:p>
        </p:txBody>
      </p:sp>
    </p:spTree>
    <p:extLst>
      <p:ext uri="{BB962C8B-B14F-4D97-AF65-F5344CB8AC3E}">
        <p14:creationId xmlns:p14="http://schemas.microsoft.com/office/powerpoint/2010/main" val="3416137914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option 2">
  <a:themeElements>
    <a:clrScheme name="SPH brand colors">
      <a:dk1>
        <a:srgbClr val="00274C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Content slide (shown in video)">
  <a:themeElements>
    <a:clrScheme name="SPH brand colors">
      <a:dk1>
        <a:srgbClr val="000000"/>
      </a:dk1>
      <a:lt1>
        <a:sysClr val="window" lastClr="FFFFFF"/>
      </a:lt1>
      <a:dk2>
        <a:srgbClr val="00274C"/>
      </a:dk2>
      <a:lt2>
        <a:srgbClr val="E4E1DF"/>
      </a:lt2>
      <a:accent1>
        <a:srgbClr val="FFCB05"/>
      </a:accent1>
      <a:accent2>
        <a:srgbClr val="9A3324"/>
      </a:accent2>
      <a:accent3>
        <a:srgbClr val="ADA400"/>
      </a:accent3>
      <a:accent4>
        <a:srgbClr val="407EC9"/>
      </a:accent4>
      <a:accent5>
        <a:srgbClr val="D86018"/>
      </a:accent5>
      <a:accent6>
        <a:srgbClr val="00B2A9"/>
      </a:accent6>
      <a:hlink>
        <a:srgbClr val="702082"/>
      </a:hlink>
      <a:folHlink>
        <a:srgbClr val="587A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Notes (not to be shown in video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AI_PPT_Template_2.potx</Template>
  <TotalTime>17480</TotalTime>
  <Words>292</Words>
  <Application>Microsoft Office PowerPoint</Application>
  <PresentationFormat>Custom</PresentationFormat>
  <Paragraphs>98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Arial</vt:lpstr>
      <vt:lpstr>Arial Bold</vt:lpstr>
      <vt:lpstr>Calibri</vt:lpstr>
      <vt:lpstr>Courier New</vt:lpstr>
      <vt:lpstr>Wingdings</vt:lpstr>
      <vt:lpstr>Title slide option 2</vt:lpstr>
      <vt:lpstr>Content slide (shown in video)</vt:lpstr>
      <vt:lpstr>2_Content slide (shown in video)</vt:lpstr>
      <vt:lpstr>3_Content slide (shown in video)</vt:lpstr>
      <vt:lpstr>Notes (not to be shown in video)</vt:lpstr>
      <vt:lpstr>PowerPoint Presentation</vt:lpstr>
      <vt:lpstr>Automobile front end panel Extractions and emissions inventory</vt:lpstr>
      <vt:lpstr>Sensitivity study: Cumulative primary energy</vt:lpstr>
      <vt:lpstr>Sensitivity study: Energy per km driven</vt:lpstr>
      <vt:lpstr>Summary</vt:lpstr>
    </vt:vector>
  </TitlesOfParts>
  <Manager/>
  <Company>University of Michigan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Scott Mahler</dc:creator>
  <cp:keywords/>
  <dc:description/>
  <cp:lastModifiedBy>Olivier Jolliet</cp:lastModifiedBy>
  <cp:revision>750</cp:revision>
  <cp:lastPrinted>2020-08-20T17:37:33Z</cp:lastPrinted>
  <dcterms:created xsi:type="dcterms:W3CDTF">2017-01-17T22:07:36Z</dcterms:created>
  <dcterms:modified xsi:type="dcterms:W3CDTF">2020-11-24T18:00:39Z</dcterms:modified>
  <cp:category/>
</cp:coreProperties>
</file>