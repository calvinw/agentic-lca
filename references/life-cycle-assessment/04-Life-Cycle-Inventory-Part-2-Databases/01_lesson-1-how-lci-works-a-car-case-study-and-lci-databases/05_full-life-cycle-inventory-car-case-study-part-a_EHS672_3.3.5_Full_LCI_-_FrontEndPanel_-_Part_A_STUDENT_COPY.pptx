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  <p:sldMasterId id="2147483785" r:id="rId2"/>
    <p:sldMasterId id="2147483806" r:id="rId3"/>
    <p:sldMasterId id="2147483808" r:id="rId4"/>
    <p:sldMasterId id="2147483796" r:id="rId5"/>
  </p:sldMasterIdLst>
  <p:notesMasterIdLst>
    <p:notesMasterId r:id="rId14"/>
  </p:notesMasterIdLst>
  <p:handoutMasterIdLst>
    <p:handoutMasterId r:id="rId15"/>
  </p:handoutMasterIdLst>
  <p:sldIdLst>
    <p:sldId id="267" r:id="rId6"/>
    <p:sldId id="530" r:id="rId7"/>
    <p:sldId id="527" r:id="rId8"/>
    <p:sldId id="521" r:id="rId9"/>
    <p:sldId id="519" r:id="rId10"/>
    <p:sldId id="517" r:id="rId11"/>
    <p:sldId id="531" r:id="rId12"/>
    <p:sldId id="532" r:id="rId13"/>
  </p:sldIdLst>
  <p:sldSz cx="16257588" cy="9144000"/>
  <p:notesSz cx="6858000" cy="9144000"/>
  <p:defaultTextStyle>
    <a:defPPr>
      <a:defRPr lang="en-US"/>
    </a:defPPr>
    <a:lvl1pPr marL="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281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2562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3843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5124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6405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7686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68967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0248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slides" id="{C7F91DBA-90A9-5343-8B43-F0D96459C604}">
          <p14:sldIdLst>
            <p14:sldId id="267"/>
            <p14:sldId id="530"/>
            <p14:sldId id="527"/>
            <p14:sldId id="521"/>
            <p14:sldId id="519"/>
            <p14:sldId id="517"/>
            <p14:sldId id="531"/>
            <p14:sldId id="5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16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  <a:srgbClr val="00274C"/>
    <a:srgbClr val="E4E1DF"/>
    <a:srgbClr val="B5B5B5"/>
    <a:srgbClr val="050909"/>
    <a:srgbClr val="FFCB05"/>
    <a:srgbClr val="EA6A20"/>
    <a:srgbClr val="06090A"/>
    <a:srgbClr val="090B0B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436"/>
    <p:restoredTop sz="80902"/>
  </p:normalViewPr>
  <p:slideViewPr>
    <p:cSldViewPr snapToGrid="0">
      <p:cViewPr varScale="1">
        <p:scale>
          <a:sx n="45" d="100"/>
          <a:sy n="45" d="100"/>
        </p:scale>
        <p:origin x="350" y="38"/>
      </p:cViewPr>
      <p:guideLst>
        <p:guide orient="horz" pos="3216"/>
        <p:guide pos="512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51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32C488-5493-244C-B1EB-F7CF3662E0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AD1453-9CD9-5640-A3F8-C0F3421BFA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623C7-AC5F-3A41-B4CB-88972659BBB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A9942-DAC7-014E-98D2-7E2678599F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CB1E6-A261-2741-AFAE-436A65E0D5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C83E3-4C2A-B644-AB75-B8266C440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61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33527-EF9E-5940-92CE-307645268EE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3DB68-E51C-0443-B8CE-2997CF470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9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17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7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4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35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32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32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707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19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62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959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94A1462-55F6-494B-8554-951DED06E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4544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notes (not to be 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581665" y="1301578"/>
            <a:ext cx="13007546" cy="58076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741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27000">
              <a:srgbClr val="ECECEC"/>
            </a:gs>
            <a:gs pos="80000">
              <a:schemeClr val="bg1"/>
            </a:gs>
            <a:gs pos="2000">
              <a:schemeClr val="bg1">
                <a:lumMod val="50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F79A2DE-44A3-E846-BDE0-2432CDF19E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0"/>
            <a:ext cx="16271545" cy="7776028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7674428"/>
            <a:ext cx="16257588" cy="1469571"/>
          </a:xfrm>
          <a:prstGeom prst="rect">
            <a:avLst/>
          </a:prstGeom>
          <a:solidFill>
            <a:srgbClr val="0027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_SchoolPublicHealth_logo_white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9986" y="8007770"/>
            <a:ext cx="5372640" cy="76752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7623628"/>
            <a:ext cx="16257588" cy="15240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A01CEF-1B1A-0A48-82FA-0DF2D06BC503}"/>
              </a:ext>
            </a:extLst>
          </p:cNvPr>
          <p:cNvSpPr/>
          <p:nvPr userDrawn="1"/>
        </p:nvSpPr>
        <p:spPr>
          <a:xfrm>
            <a:off x="0" y="4767944"/>
            <a:ext cx="16257588" cy="2846366"/>
          </a:xfrm>
          <a:prstGeom prst="rect">
            <a:avLst/>
          </a:prstGeom>
          <a:gradFill flip="none" rotWithShape="1">
            <a:gsLst>
              <a:gs pos="100000">
                <a:srgbClr val="587ABC">
                  <a:lumMod val="74000"/>
                  <a:alpha val="55000"/>
                </a:srgbClr>
              </a:gs>
              <a:gs pos="0">
                <a:schemeClr val="bg1">
                  <a:lumMod val="95000"/>
                </a:schemeClr>
              </a:gs>
              <a:gs pos="66000">
                <a:srgbClr val="EEEEEE"/>
              </a:gs>
            </a:gsLst>
            <a:lin ang="12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F38555-B398-464F-9B4E-17CD401959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hq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4757918"/>
            <a:ext cx="12192001" cy="289111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F0919A-AFA5-E147-95FD-08292D7FF4FB}"/>
              </a:ext>
            </a:extLst>
          </p:cNvPr>
          <p:cNvCxnSpPr>
            <a:cxnSpLocks/>
          </p:cNvCxnSpPr>
          <p:nvPr userDrawn="1"/>
        </p:nvCxnSpPr>
        <p:spPr>
          <a:xfrm>
            <a:off x="0" y="6607960"/>
            <a:ext cx="10140043" cy="0"/>
          </a:xfrm>
          <a:prstGeom prst="line">
            <a:avLst/>
          </a:prstGeom>
          <a:ln w="38100">
            <a:solidFill>
              <a:srgbClr val="0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ED9A923-5028-2F43-A7E3-007357342122}"/>
              </a:ext>
            </a:extLst>
          </p:cNvPr>
          <p:cNvSpPr/>
          <p:nvPr userDrawn="1"/>
        </p:nvSpPr>
        <p:spPr>
          <a:xfrm>
            <a:off x="0" y="4550950"/>
            <a:ext cx="16257588" cy="224918"/>
          </a:xfrm>
          <a:prstGeom prst="rect">
            <a:avLst/>
          </a:prstGeom>
          <a:gradFill>
            <a:gsLst>
              <a:gs pos="63000">
                <a:schemeClr val="bg1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1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14631828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14631828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8E102-C795-3941-9125-C4D5BBD0193F}"/>
              </a:ext>
            </a:extLst>
          </p:cNvPr>
          <p:cNvSpPr/>
          <p:nvPr userDrawn="1"/>
        </p:nvSpPr>
        <p:spPr>
          <a:xfrm>
            <a:off x="0" y="0"/>
            <a:ext cx="16257588" cy="224918"/>
          </a:xfrm>
          <a:prstGeom prst="rect">
            <a:avLst/>
          </a:prstGeom>
          <a:gradFill>
            <a:gsLst>
              <a:gs pos="63000">
                <a:srgbClr val="00274C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45DA2-7C42-8445-AD00-272875B751FD}"/>
              </a:ext>
            </a:extLst>
          </p:cNvPr>
          <p:cNvCxnSpPr>
            <a:cxnSpLocks/>
          </p:cNvCxnSpPr>
          <p:nvPr userDrawn="1"/>
        </p:nvCxnSpPr>
        <p:spPr>
          <a:xfrm>
            <a:off x="1023582" y="1210794"/>
            <a:ext cx="14343797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F1E5EF9-7466-AC4A-8B9B-8C26E6EB2668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E2D098-25F8-1B47-A897-734EE7598560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84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E75BEE-68E8-7E41-9537-113B0DA1B9A2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ABBCB0-652C-4D4B-9603-135F326E9486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3FF513C8-0BD3-FA4B-8D9A-FB9C21ECB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259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9489860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9489860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5F1F8-1280-884E-8894-968C107F09E4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80828F-C4E5-CD4A-8C1F-761E9B421162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46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084172" y="1066154"/>
            <a:ext cx="12002531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	Edit Master text styles</a:t>
            </a:r>
          </a:p>
          <a:p>
            <a:pPr lvl="2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3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None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DCE93A83-2E66-F74F-A5CD-47D28E6C7BC3}"/>
              </a:ext>
            </a:extLst>
          </p:cNvPr>
          <p:cNvSpPr txBox="1">
            <a:spLocks/>
          </p:cNvSpPr>
          <p:nvPr/>
        </p:nvSpPr>
        <p:spPr>
          <a:xfrm>
            <a:off x="440871" y="5058674"/>
            <a:ext cx="14799129" cy="1282491"/>
          </a:xfrm>
          <a:prstGeom prst="rect">
            <a:avLst/>
          </a:prstGeom>
        </p:spPr>
        <p:txBody>
          <a:bodyPr anchor="t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5400" b="1" dirty="0"/>
              <a:t>Full Life Cycle inventory: Car case study</a:t>
            </a: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3900" b="1" dirty="0">
                <a:solidFill>
                  <a:schemeClr val="accent5"/>
                </a:solidFill>
              </a:rPr>
              <a:t>Part A Matrix-based inventory calculation </a:t>
            </a:r>
            <a:endParaRPr lang="en-US" altLang="en-US" sz="3900" b="1" kern="0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B5F09-AA9C-0C49-A705-E3ECF1BA7055}"/>
              </a:ext>
            </a:extLst>
          </p:cNvPr>
          <p:cNvSpPr txBox="1"/>
          <p:nvPr/>
        </p:nvSpPr>
        <p:spPr>
          <a:xfrm>
            <a:off x="440871" y="6790584"/>
            <a:ext cx="302198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Olivier Jolliet, PhD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536684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Learning Objectives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1C63FD6C-8B55-0A4A-A3F9-421E18D7D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0211" y="1596325"/>
            <a:ext cx="14630400" cy="6183824"/>
          </a:xfrm>
        </p:spPr>
        <p:txBody>
          <a:bodyPr>
            <a:normAutofit/>
          </a:bodyPr>
          <a:lstStyle/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/>
              <a:t>Elaborate a full inventory for a simple case study</a:t>
            </a:r>
          </a:p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/>
              <a:t>Illustrate the determination of inventory flows based on </a:t>
            </a:r>
            <a:br>
              <a:rPr lang="en-US" altLang="en-US" dirty="0"/>
            </a:br>
            <a:r>
              <a:rPr lang="en-US" altLang="en-US" dirty="0"/>
              <a:t>aggregated results from database</a:t>
            </a:r>
          </a:p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/>
              <a:t>Perform a sensitivity study on a key uncertain use </a:t>
            </a:r>
            <a:br>
              <a:rPr lang="en-US" altLang="en-US" dirty="0"/>
            </a:br>
            <a:r>
              <a:rPr lang="en-US" altLang="en-US" dirty="0"/>
              <a:t>stage parameter</a:t>
            </a:r>
          </a:p>
        </p:txBody>
      </p:sp>
    </p:spTree>
    <p:extLst>
      <p:ext uri="{BB962C8B-B14F-4D97-AF65-F5344CB8AC3E}">
        <p14:creationId xmlns:p14="http://schemas.microsoft.com/office/powerpoint/2010/main" val="2275473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Car front-end panel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7BA7EB-573C-ED48-9D44-32FFBD3AB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794" y="1649806"/>
            <a:ext cx="6379702" cy="584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buNone/>
            </a:pPr>
            <a:r>
              <a:rPr lang="en-US" altLang="en-US" dirty="0">
                <a:solidFill>
                  <a:schemeClr val="accent4"/>
                </a:solidFill>
              </a:rPr>
              <a:t>Function: </a:t>
            </a:r>
          </a:p>
          <a:p>
            <a:pPr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800" b="0" dirty="0"/>
              <a:t>transport over car lifetime </a:t>
            </a:r>
            <a:br>
              <a:rPr lang="en-US" altLang="en-US" sz="2800" b="0" dirty="0"/>
            </a:br>
            <a:r>
              <a:rPr lang="en-US" altLang="en-US" sz="2800" b="0" dirty="0"/>
              <a:t>(200,000 km).</a:t>
            </a:r>
          </a:p>
          <a:p>
            <a:pPr eaLnBrk="1" hangingPunct="1"/>
            <a:endParaRPr lang="en-US" altLang="en-US" sz="2400" dirty="0"/>
          </a:p>
          <a:p>
            <a:pPr marL="0" indent="0" eaLnBrk="1" hangingPunct="1">
              <a:buNone/>
            </a:pPr>
            <a:r>
              <a:rPr lang="en-US" altLang="en-US" dirty="0">
                <a:solidFill>
                  <a:schemeClr val="accent5"/>
                </a:solidFill>
              </a:rPr>
              <a:t>Functional Unit: </a:t>
            </a:r>
          </a:p>
          <a:p>
            <a:pPr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800" b="0" dirty="0"/>
              <a:t>1 front-end panel of equivalent rigidity for a 200,000 km service.</a:t>
            </a:r>
          </a:p>
          <a:p>
            <a:pPr eaLnBrk="1" hangingPunct="1"/>
            <a:endParaRPr lang="en-US" altLang="en-US" sz="2400" dirty="0"/>
          </a:p>
          <a:p>
            <a:pPr marL="0" indent="0" eaLnBrk="1" hangingPunct="1">
              <a:buNone/>
            </a:pPr>
            <a:r>
              <a:rPr lang="en-US" altLang="en-US" dirty="0">
                <a:solidFill>
                  <a:schemeClr val="accent6"/>
                </a:solidFill>
              </a:rPr>
              <a:t>System boundaries: </a:t>
            </a:r>
          </a:p>
          <a:p>
            <a:pPr>
              <a:buClr>
                <a:schemeClr val="accent1"/>
              </a:buClr>
              <a:buFont typeface="Wingdings" pitchFamily="2" charset="2"/>
              <a:buChar char="§"/>
            </a:pPr>
            <a:r>
              <a:rPr lang="en-US" altLang="en-US" sz="2800" b="0" dirty="0"/>
              <a:t>Overall life cycle, including raw material extraction, use stage, </a:t>
            </a:r>
            <a:br>
              <a:rPr lang="en-US" altLang="en-US" sz="2800" b="0" dirty="0"/>
            </a:br>
            <a:r>
              <a:rPr lang="en-US" altLang="en-US" sz="2800" b="0" dirty="0"/>
              <a:t>end of life treatment.</a:t>
            </a:r>
          </a:p>
        </p:txBody>
      </p:sp>
      <p:pic>
        <p:nvPicPr>
          <p:cNvPr id="9" name="Picture 3" descr="bloc avant petit">
            <a:extLst>
              <a:ext uri="{FF2B5EF4-FFF2-40B4-BE49-F238E27FC236}">
                <a16:creationId xmlns:a16="http://schemas.microsoft.com/office/drawing/2014/main" id="{9E8D0383-20A1-6E4C-BA30-0139FAA5C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8745" y="1614341"/>
            <a:ext cx="4495800" cy="596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AutoShape 4">
            <a:extLst>
              <a:ext uri="{FF2B5EF4-FFF2-40B4-BE49-F238E27FC236}">
                <a16:creationId xmlns:a16="http://schemas.microsoft.com/office/drawing/2014/main" id="{237680C7-D6EA-8A41-9CEF-BACD57A5B61F}"/>
              </a:ext>
            </a:extLst>
          </p:cNvPr>
          <p:cNvSpPr>
            <a:spLocks noChangeArrowheads="1"/>
          </p:cNvSpPr>
          <p:nvPr/>
        </p:nvSpPr>
        <p:spPr bwMode="auto">
          <a:xfrm rot="19554453">
            <a:off x="2828348" y="6351268"/>
            <a:ext cx="2209800" cy="762000"/>
          </a:xfrm>
          <a:prstGeom prst="rightArrow">
            <a:avLst>
              <a:gd name="adj1" fmla="val 50000"/>
              <a:gd name="adj2" fmla="val 72500"/>
            </a:avLst>
          </a:prstGeom>
          <a:solidFill>
            <a:schemeClr val="accent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 b="0">
              <a:solidFill>
                <a:schemeClr val="tx1"/>
              </a:solidFill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9158BFA6-1AC6-A046-BC41-69027D72B217}"/>
              </a:ext>
            </a:extLst>
          </p:cNvPr>
          <p:cNvSpPr txBox="1">
            <a:spLocks noChangeArrowheads="1"/>
          </p:cNvSpPr>
          <p:nvPr/>
        </p:nvSpPr>
        <p:spPr bwMode="auto">
          <a:xfrm rot="19554453">
            <a:off x="2828348" y="6548118"/>
            <a:ext cx="21796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fr-FR" altLang="en-US" sz="1800" b="0" dirty="0">
                <a:solidFill>
                  <a:schemeClr val="tx2"/>
                </a:solidFill>
              </a:rPr>
              <a:t>Front-end panel</a:t>
            </a:r>
          </a:p>
        </p:txBody>
      </p:sp>
    </p:spTree>
    <p:extLst>
      <p:ext uri="{BB962C8B-B14F-4D97-AF65-F5344CB8AC3E}">
        <p14:creationId xmlns:p14="http://schemas.microsoft.com/office/powerpoint/2010/main" val="739198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Function and functional units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2A5583-66D0-F947-98DF-FF51EE7B695C}"/>
              </a:ext>
            </a:extLst>
          </p:cNvPr>
          <p:cNvSpPr txBox="1"/>
          <p:nvPr/>
        </p:nvSpPr>
        <p:spPr>
          <a:xfrm>
            <a:off x="6753587" y="2919472"/>
            <a:ext cx="27179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Steel 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Raw material (kg): 10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Required gasoline </a:t>
            </a:r>
            <a:r>
              <a:rPr lang="en-US" sz="1600" b="1" dirty="0">
                <a:solidFill>
                  <a:schemeClr val="tx2"/>
                </a:solidFill>
                <a:sym typeface="Wingdings" pitchFamily="2" charset="2"/>
              </a:rPr>
              <a:t>(L): 80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B53AF6-C547-4D40-9137-496F84F07934}"/>
              </a:ext>
            </a:extLst>
          </p:cNvPr>
          <p:cNvSpPr/>
          <p:nvPr/>
        </p:nvSpPr>
        <p:spPr>
          <a:xfrm>
            <a:off x="3117414" y="2755490"/>
            <a:ext cx="1978708" cy="3690310"/>
          </a:xfrm>
          <a:prstGeom prst="rect">
            <a:avLst/>
          </a:prstGeom>
          <a:solidFill>
            <a:schemeClr val="accent6">
              <a:alpha val="29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9E6ECFE-9E73-9A42-B4C4-0A6F74955010}"/>
              </a:ext>
            </a:extLst>
          </p:cNvPr>
          <p:cNvSpPr/>
          <p:nvPr/>
        </p:nvSpPr>
        <p:spPr>
          <a:xfrm>
            <a:off x="3117414" y="2054246"/>
            <a:ext cx="1978707" cy="615495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" algn="ctr"/>
            <a:r>
              <a:rPr lang="en-US" sz="1600" b="1" dirty="0">
                <a:solidFill>
                  <a:schemeClr val="tx2"/>
                </a:solidFill>
              </a:rPr>
              <a:t>PRODUCTS </a:t>
            </a:r>
            <a:br>
              <a:rPr lang="en-US" sz="1600" b="1" dirty="0">
                <a:solidFill>
                  <a:schemeClr val="tx2"/>
                </a:solidFill>
              </a:rPr>
            </a:br>
            <a:r>
              <a:rPr lang="en-US" sz="1600" b="1" dirty="0">
                <a:solidFill>
                  <a:schemeClr val="tx2"/>
                </a:solidFill>
              </a:rPr>
              <a:t>OR SYSTEM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BBEC129-0659-3B40-8348-CB129124EDAC}"/>
              </a:ext>
            </a:extLst>
          </p:cNvPr>
          <p:cNvSpPr/>
          <p:nvPr/>
        </p:nvSpPr>
        <p:spPr>
          <a:xfrm>
            <a:off x="6881191" y="2117086"/>
            <a:ext cx="1985887" cy="489814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" algn="ctr"/>
            <a:r>
              <a:rPr lang="en-US" sz="1600" b="1" dirty="0">
                <a:solidFill>
                  <a:schemeClr val="tx2"/>
                </a:solidFill>
              </a:rPr>
              <a:t>REFERENCE FLOWS</a:t>
            </a:r>
            <a:endParaRPr lang="en-US" sz="1400" dirty="0">
              <a:solidFill>
                <a:schemeClr val="tx2"/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7D2FEA9-19D4-494B-B092-87F440BA0BD2}"/>
              </a:ext>
            </a:extLst>
          </p:cNvPr>
          <p:cNvCxnSpPr>
            <a:cxnSpLocks/>
          </p:cNvCxnSpPr>
          <p:nvPr/>
        </p:nvCxnSpPr>
        <p:spPr>
          <a:xfrm>
            <a:off x="3117414" y="2742744"/>
            <a:ext cx="10690012" cy="12746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D7F3B5C8-3861-624F-AF64-D52BF774A081}"/>
              </a:ext>
            </a:extLst>
          </p:cNvPr>
          <p:cNvSpPr/>
          <p:nvPr/>
        </p:nvSpPr>
        <p:spPr>
          <a:xfrm>
            <a:off x="9605742" y="2208258"/>
            <a:ext cx="4113957" cy="307472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" algn="ctr"/>
            <a:r>
              <a:rPr lang="en-US" sz="1600" b="1" dirty="0">
                <a:solidFill>
                  <a:schemeClr val="tx2"/>
                </a:solidFill>
              </a:rPr>
              <a:t>KEY ENVIRONMENTAL PARAMETERS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A9361DB-8D21-C64C-B08E-DE340B221312}"/>
              </a:ext>
            </a:extLst>
          </p:cNvPr>
          <p:cNvSpPr/>
          <p:nvPr/>
        </p:nvSpPr>
        <p:spPr>
          <a:xfrm>
            <a:off x="3243184" y="3015445"/>
            <a:ext cx="1659784" cy="756115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" algn="ctr"/>
            <a:r>
              <a:rPr lang="en-US" sz="1600" b="1" dirty="0">
                <a:solidFill>
                  <a:schemeClr val="tx2"/>
                </a:solidFill>
              </a:rPr>
              <a:t>SCENARIO 1</a:t>
            </a:r>
          </a:p>
          <a:p>
            <a:pPr marL="45720" algn="ctr"/>
            <a:r>
              <a:rPr lang="en-US" sz="1600" b="1" dirty="0">
                <a:solidFill>
                  <a:schemeClr val="tx2"/>
                </a:solidFill>
              </a:rPr>
              <a:t>Steel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D8F196A-1075-C04C-A3F0-2CEEEFB91AD7}"/>
              </a:ext>
            </a:extLst>
          </p:cNvPr>
          <p:cNvSpPr/>
          <p:nvPr/>
        </p:nvSpPr>
        <p:spPr>
          <a:xfrm>
            <a:off x="3243184" y="4212871"/>
            <a:ext cx="1659784" cy="755779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" algn="ctr"/>
            <a:r>
              <a:rPr lang="en-US" sz="1600" b="1" dirty="0">
                <a:solidFill>
                  <a:schemeClr val="tx2"/>
                </a:solidFill>
              </a:rPr>
              <a:t>SCENARIO 2</a:t>
            </a:r>
          </a:p>
          <a:p>
            <a:pPr marL="45720" algn="ctr"/>
            <a:r>
              <a:rPr lang="en-US" sz="1600" b="1" dirty="0">
                <a:solidFill>
                  <a:schemeClr val="tx2"/>
                </a:solidFill>
              </a:rPr>
              <a:t>SMC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03CA4C5-AE40-644C-8C44-428259205559}"/>
              </a:ext>
            </a:extLst>
          </p:cNvPr>
          <p:cNvCxnSpPr>
            <a:cxnSpLocks/>
          </p:cNvCxnSpPr>
          <p:nvPr/>
        </p:nvCxnSpPr>
        <p:spPr>
          <a:xfrm>
            <a:off x="3117414" y="3952585"/>
            <a:ext cx="197870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D746C55-203D-0A4A-B905-8ADB8C54E131}"/>
              </a:ext>
            </a:extLst>
          </p:cNvPr>
          <p:cNvCxnSpPr>
            <a:cxnSpLocks/>
          </p:cNvCxnSpPr>
          <p:nvPr/>
        </p:nvCxnSpPr>
        <p:spPr>
          <a:xfrm>
            <a:off x="5096122" y="1985216"/>
            <a:ext cx="0" cy="443685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ADD7E06-3B24-7748-9E75-77AFEB04FF57}"/>
              </a:ext>
            </a:extLst>
          </p:cNvPr>
          <p:cNvCxnSpPr>
            <a:cxnSpLocks/>
          </p:cNvCxnSpPr>
          <p:nvPr/>
        </p:nvCxnSpPr>
        <p:spPr>
          <a:xfrm>
            <a:off x="9537162" y="1985216"/>
            <a:ext cx="0" cy="443685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29FA8D61-DA41-A242-B405-7C7004AF8090}"/>
              </a:ext>
            </a:extLst>
          </p:cNvPr>
          <p:cNvSpPr/>
          <p:nvPr/>
        </p:nvSpPr>
        <p:spPr>
          <a:xfrm>
            <a:off x="3117413" y="1985216"/>
            <a:ext cx="10690013" cy="4436850"/>
          </a:xfrm>
          <a:prstGeom prst="rect">
            <a:avLst/>
          </a:prstGeom>
          <a:noFill/>
          <a:ln w="25400">
            <a:solidFill>
              <a:schemeClr val="bg2">
                <a:lumMod val="9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57E9E96-1DE1-8F43-B66B-C5240355CC2B}"/>
              </a:ext>
            </a:extLst>
          </p:cNvPr>
          <p:cNvSpPr/>
          <p:nvPr/>
        </p:nvSpPr>
        <p:spPr>
          <a:xfrm>
            <a:off x="5012779" y="2091017"/>
            <a:ext cx="1787302" cy="541953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" algn="ctr"/>
            <a:r>
              <a:rPr lang="en-US" sz="1600" b="1" dirty="0">
                <a:solidFill>
                  <a:schemeClr val="tx2"/>
                </a:solidFill>
              </a:rPr>
              <a:t>FUNCTIONAL </a:t>
            </a:r>
            <a:br>
              <a:rPr lang="en-US" sz="1600" b="1" dirty="0">
                <a:solidFill>
                  <a:schemeClr val="tx2"/>
                </a:solidFill>
              </a:rPr>
            </a:br>
            <a:r>
              <a:rPr lang="en-US" sz="1600" b="1" dirty="0">
                <a:solidFill>
                  <a:schemeClr val="tx2"/>
                </a:solidFill>
              </a:rPr>
              <a:t>UNIT</a:t>
            </a:r>
            <a:endParaRPr lang="en-US" sz="1400" dirty="0">
              <a:solidFill>
                <a:schemeClr val="tx2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5F8F74C-434D-8344-B564-89E48B0D12AC}"/>
              </a:ext>
            </a:extLst>
          </p:cNvPr>
          <p:cNvCxnSpPr>
            <a:cxnSpLocks/>
          </p:cNvCxnSpPr>
          <p:nvPr/>
        </p:nvCxnSpPr>
        <p:spPr>
          <a:xfrm>
            <a:off x="6676791" y="1985216"/>
            <a:ext cx="0" cy="446058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93BCAF3-7379-D54F-969E-52460285D56D}"/>
              </a:ext>
            </a:extLst>
          </p:cNvPr>
          <p:cNvCxnSpPr>
            <a:cxnSpLocks/>
          </p:cNvCxnSpPr>
          <p:nvPr/>
        </p:nvCxnSpPr>
        <p:spPr>
          <a:xfrm>
            <a:off x="6682024" y="3952585"/>
            <a:ext cx="289876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4BF2D719-1665-B04D-B266-4E0429B53066}"/>
              </a:ext>
            </a:extLst>
          </p:cNvPr>
          <p:cNvSpPr/>
          <p:nvPr/>
        </p:nvSpPr>
        <p:spPr>
          <a:xfrm>
            <a:off x="3243184" y="5439668"/>
            <a:ext cx="1659784" cy="762351"/>
          </a:xfrm>
          <a:prstGeom prst="rect">
            <a:avLst/>
          </a:prstGeom>
          <a:noFill/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" algn="ctr"/>
            <a:r>
              <a:rPr lang="en-US" sz="1600" b="1" dirty="0">
                <a:solidFill>
                  <a:schemeClr val="tx2"/>
                </a:solidFill>
              </a:rPr>
              <a:t>SCENARIO 3</a:t>
            </a:r>
          </a:p>
          <a:p>
            <a:pPr marL="45720" algn="ctr"/>
            <a:r>
              <a:rPr lang="en-US" sz="1600" b="1" dirty="0">
                <a:solidFill>
                  <a:schemeClr val="tx2"/>
                </a:solidFill>
              </a:rPr>
              <a:t>Aluminum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B7CCE28-1BB7-144A-9843-4F46A7AD34CB}"/>
              </a:ext>
            </a:extLst>
          </p:cNvPr>
          <p:cNvCxnSpPr>
            <a:cxnSpLocks/>
          </p:cNvCxnSpPr>
          <p:nvPr/>
        </p:nvCxnSpPr>
        <p:spPr>
          <a:xfrm>
            <a:off x="3117414" y="5185962"/>
            <a:ext cx="1978708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41EE467-C00B-FC4F-9B44-9D22A3BDB2D8}"/>
              </a:ext>
            </a:extLst>
          </p:cNvPr>
          <p:cNvCxnSpPr>
            <a:cxnSpLocks/>
          </p:cNvCxnSpPr>
          <p:nvPr/>
        </p:nvCxnSpPr>
        <p:spPr>
          <a:xfrm>
            <a:off x="6682024" y="5210416"/>
            <a:ext cx="2923718" cy="2126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19C0061-72A0-5347-97E2-3BB64DDE2031}"/>
              </a:ext>
            </a:extLst>
          </p:cNvPr>
          <p:cNvSpPr txBox="1"/>
          <p:nvPr/>
        </p:nvSpPr>
        <p:spPr>
          <a:xfrm>
            <a:off x="6753587" y="4131052"/>
            <a:ext cx="27179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SMC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Raw material (kg): 7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Required gasoline </a:t>
            </a:r>
            <a:r>
              <a:rPr lang="en-US" sz="1600" b="1" dirty="0">
                <a:solidFill>
                  <a:schemeClr val="tx2"/>
                </a:solidFill>
                <a:sym typeface="Wingdings" pitchFamily="2" charset="2"/>
              </a:rPr>
              <a:t>(L): 56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17DC7F4-035A-2E43-893E-3294C40AAEA2}"/>
              </a:ext>
            </a:extLst>
          </p:cNvPr>
          <p:cNvSpPr txBox="1"/>
          <p:nvPr/>
        </p:nvSpPr>
        <p:spPr>
          <a:xfrm>
            <a:off x="6753586" y="5365492"/>
            <a:ext cx="28729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Aluminum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Raw material (kg): 5.9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Required gasoline </a:t>
            </a:r>
            <a:r>
              <a:rPr lang="en-US" sz="1600" b="1" dirty="0">
                <a:solidFill>
                  <a:schemeClr val="tx2"/>
                </a:solidFill>
                <a:sym typeface="Wingdings" pitchFamily="2" charset="2"/>
              </a:rPr>
              <a:t>(L): 30.4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69" name="Text Box 4">
            <a:extLst>
              <a:ext uri="{FF2B5EF4-FFF2-40B4-BE49-F238E27FC236}">
                <a16:creationId xmlns:a16="http://schemas.microsoft.com/office/drawing/2014/main" id="{93E71D65-A902-7049-A915-22188EB80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1065" y="6858921"/>
            <a:ext cx="85884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2"/>
                </a:solidFill>
              </a:rPr>
              <a:t>*200,000 km, additional consumption of 0.00004 L / kg-km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F87FF5-6CC2-A448-89F9-6A4F01D2A52B}"/>
              </a:ext>
            </a:extLst>
          </p:cNvPr>
          <p:cNvSpPr txBox="1"/>
          <p:nvPr/>
        </p:nvSpPr>
        <p:spPr>
          <a:xfrm>
            <a:off x="5221892" y="3952380"/>
            <a:ext cx="13655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tx2"/>
                </a:solidFill>
              </a:rPr>
              <a:t>1 front-end-</a:t>
            </a:r>
            <a:br>
              <a:rPr lang="en-CA" sz="1600" b="1" dirty="0">
                <a:solidFill>
                  <a:schemeClr val="tx2"/>
                </a:solidFill>
              </a:rPr>
            </a:br>
            <a:r>
              <a:rPr lang="en-CA" sz="1600" b="1" dirty="0">
                <a:solidFill>
                  <a:schemeClr val="tx2"/>
                </a:solidFill>
              </a:rPr>
              <a:t>panel of </a:t>
            </a:r>
            <a:br>
              <a:rPr lang="en-CA" sz="1600" b="1" dirty="0">
                <a:solidFill>
                  <a:schemeClr val="tx2"/>
                </a:solidFill>
              </a:rPr>
            </a:br>
            <a:r>
              <a:rPr lang="en-CA" sz="1600" b="1" dirty="0">
                <a:solidFill>
                  <a:schemeClr val="tx2"/>
                </a:solidFill>
              </a:rPr>
              <a:t>equivalent </a:t>
            </a:r>
            <a:br>
              <a:rPr lang="en-CA" sz="1600" b="1" dirty="0">
                <a:solidFill>
                  <a:schemeClr val="tx2"/>
                </a:solidFill>
              </a:rPr>
            </a:br>
            <a:r>
              <a:rPr lang="en-CA" sz="1600" b="1" dirty="0">
                <a:solidFill>
                  <a:schemeClr val="tx2"/>
                </a:solidFill>
              </a:rPr>
              <a:t>rigidity for  </a:t>
            </a:r>
            <a:br>
              <a:rPr lang="en-CA" sz="1600" b="1" dirty="0">
                <a:solidFill>
                  <a:schemeClr val="tx2"/>
                </a:solidFill>
              </a:rPr>
            </a:br>
            <a:r>
              <a:rPr lang="en-CA" sz="1600" b="1" dirty="0">
                <a:solidFill>
                  <a:schemeClr val="tx2"/>
                </a:solidFill>
              </a:rPr>
              <a:t>200,000 km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957BED-AECD-F64E-8661-8A8F061D4D43}"/>
              </a:ext>
            </a:extLst>
          </p:cNvPr>
          <p:cNvSpPr txBox="1"/>
          <p:nvPr/>
        </p:nvSpPr>
        <p:spPr>
          <a:xfrm>
            <a:off x="9714379" y="3334970"/>
            <a:ext cx="3862469" cy="2318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AutoNum type="alphaLcParenR"/>
            </a:pPr>
            <a:r>
              <a:rPr lang="en-CA" sz="1600" b="1" dirty="0">
                <a:solidFill>
                  <a:schemeClr val="tx2"/>
                </a:solidFill>
              </a:rPr>
              <a:t>Final weight of the front end-panel </a:t>
            </a:r>
            <a:r>
              <a:rPr lang="en-CA" sz="1600" b="1" i="1" dirty="0">
                <a:solidFill>
                  <a:schemeClr val="tx2"/>
                </a:solidFill>
              </a:rPr>
              <a:t>(steel 10kg, SMC 7kg, aluminum </a:t>
            </a:r>
            <a:br>
              <a:rPr lang="en-CA" sz="1600" b="1" i="1" dirty="0">
                <a:solidFill>
                  <a:schemeClr val="tx2"/>
                </a:solidFill>
              </a:rPr>
            </a:br>
            <a:r>
              <a:rPr lang="en-CA" sz="1600" b="1" i="1" dirty="0">
                <a:solidFill>
                  <a:schemeClr val="tx2"/>
                </a:solidFill>
              </a:rPr>
              <a:t>3.8 kg) </a:t>
            </a:r>
            <a:r>
              <a:rPr lang="en-CA" sz="1600" b="1" dirty="0">
                <a:solidFill>
                  <a:schemeClr val="tx2"/>
                </a:solidFill>
              </a:rPr>
              <a:t>that directly reflects in the gasoline consumption </a:t>
            </a:r>
          </a:p>
          <a:p>
            <a:pPr marL="342900" indent="-342900">
              <a:spcAft>
                <a:spcPts val="1000"/>
              </a:spcAft>
              <a:buAutoNum type="alphaLcParenR"/>
            </a:pPr>
            <a:r>
              <a:rPr lang="en-CA" sz="1600" b="1" dirty="0">
                <a:solidFill>
                  <a:schemeClr val="tx2"/>
                </a:solidFill>
              </a:rPr>
              <a:t>Resource consumption per kg </a:t>
            </a:r>
            <a:br>
              <a:rPr lang="en-CA" sz="1600" b="1" dirty="0">
                <a:solidFill>
                  <a:schemeClr val="tx2"/>
                </a:solidFill>
              </a:rPr>
            </a:br>
            <a:r>
              <a:rPr lang="en-CA" sz="1600" b="1" dirty="0">
                <a:solidFill>
                  <a:schemeClr val="tx2"/>
                </a:solidFill>
              </a:rPr>
              <a:t>of each material </a:t>
            </a:r>
          </a:p>
          <a:p>
            <a:pPr marL="342900" indent="-342900">
              <a:spcAft>
                <a:spcPts val="1000"/>
              </a:spcAft>
              <a:buAutoNum type="alphaLcParenR"/>
            </a:pPr>
            <a:r>
              <a:rPr lang="en-CA" sz="1600" b="1" dirty="0">
                <a:solidFill>
                  <a:schemeClr val="tx2"/>
                </a:solidFill>
              </a:rPr>
              <a:t>The assumption of 200,000 km </a:t>
            </a:r>
            <a:br>
              <a:rPr lang="en-CA" sz="1600" b="1" dirty="0">
                <a:solidFill>
                  <a:schemeClr val="tx2"/>
                </a:solidFill>
              </a:rPr>
            </a:br>
            <a:r>
              <a:rPr lang="en-CA" sz="1600" b="1" dirty="0">
                <a:solidFill>
                  <a:schemeClr val="tx2"/>
                </a:solidFill>
              </a:rPr>
              <a:t>over car lifetime </a:t>
            </a:r>
            <a:endParaRPr lang="en-US" sz="1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936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fr-CH" altLang="en-US" dirty="0"/>
              <a:t>Automobile component</a:t>
            </a:r>
            <a:r>
              <a:rPr lang="fr-FR" altLang="en-US" dirty="0"/>
              <a:t>: </a:t>
            </a:r>
            <a:r>
              <a:rPr lang="fr-CH" altLang="en-US" dirty="0"/>
              <a:t>System </a:t>
            </a:r>
            <a:r>
              <a:rPr lang="fr-CH" altLang="en-US" dirty="0" err="1"/>
              <a:t>boundaries</a:t>
            </a: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9FCDE9E-AAC1-6847-A8FD-B61E5E34E9B4}"/>
              </a:ext>
            </a:extLst>
          </p:cNvPr>
          <p:cNvGrpSpPr/>
          <p:nvPr/>
        </p:nvGrpSpPr>
        <p:grpSpPr>
          <a:xfrm>
            <a:off x="2607077" y="1471677"/>
            <a:ext cx="9709072" cy="6200645"/>
            <a:chOff x="2734667" y="1667448"/>
            <a:chExt cx="8819071" cy="5632251"/>
          </a:xfrm>
        </p:grpSpPr>
        <p:sp>
          <p:nvSpPr>
            <p:cNvPr id="71" name="Line 18">
              <a:extLst>
                <a:ext uri="{FF2B5EF4-FFF2-40B4-BE49-F238E27FC236}">
                  <a16:creationId xmlns:a16="http://schemas.microsoft.com/office/drawing/2014/main" id="{85F84085-0CE8-354E-8B9A-9216C94F4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7000" y="4633128"/>
              <a:ext cx="890588" cy="0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Rectangle 4">
              <a:extLst>
                <a:ext uri="{FF2B5EF4-FFF2-40B4-BE49-F238E27FC236}">
                  <a16:creationId xmlns:a16="http://schemas.microsoft.com/office/drawing/2014/main" id="{CD6E2B9F-6D5F-3740-9144-68C47B1AC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288" y="4137828"/>
              <a:ext cx="1970087" cy="92076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6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 dirty="0">
                  <a:solidFill>
                    <a:schemeClr val="accent6"/>
                  </a:solidFill>
                  <a:cs typeface="Arial" panose="020B0604020202020204" pitchFamily="34" charset="0"/>
                </a:rPr>
                <a:t>Energy extraction</a:t>
              </a:r>
              <a:br>
                <a:rPr lang="en-US" altLang="en-US" sz="1800" b="0" dirty="0">
                  <a:solidFill>
                    <a:schemeClr val="accent6"/>
                  </a:solidFill>
                  <a:cs typeface="Arial" panose="020B0604020202020204" pitchFamily="34" charset="0"/>
                </a:rPr>
              </a:br>
              <a:r>
                <a:rPr lang="en-US" altLang="en-US" sz="1800" b="0" dirty="0">
                  <a:solidFill>
                    <a:schemeClr val="accent6"/>
                  </a:solidFill>
                  <a:cs typeface="Arial" panose="020B0604020202020204" pitchFamily="34" charset="0"/>
                </a:rPr>
                <a:t>&amp; preparation,</a:t>
              </a:r>
              <a:br>
                <a:rPr lang="en-US" altLang="en-US" sz="1800" b="0" dirty="0">
                  <a:solidFill>
                    <a:schemeClr val="accent6"/>
                  </a:solidFill>
                  <a:cs typeface="Arial" panose="020B0604020202020204" pitchFamily="34" charset="0"/>
                </a:rPr>
              </a:br>
              <a:r>
                <a:rPr lang="en-US" altLang="en-US" sz="1800" b="0" dirty="0">
                  <a:solidFill>
                    <a:schemeClr val="accent6"/>
                  </a:solidFill>
                  <a:cs typeface="Arial" panose="020B0604020202020204" pitchFamily="34" charset="0"/>
                </a:rPr>
                <a:t>raw materials </a:t>
              </a:r>
            </a:p>
          </p:txBody>
        </p:sp>
        <p:sp>
          <p:nvSpPr>
            <p:cNvPr id="73" name="Rectangle 5">
              <a:extLst>
                <a:ext uri="{FF2B5EF4-FFF2-40B4-BE49-F238E27FC236}">
                  <a16:creationId xmlns:a16="http://schemas.microsoft.com/office/drawing/2014/main" id="{D074E6B6-C38C-8A49-9833-003AE64CE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1988" y="2407453"/>
              <a:ext cx="1693862" cy="920765"/>
            </a:xfrm>
            <a:prstGeom prst="rect">
              <a:avLst/>
            </a:prstGeom>
            <a:noFill/>
            <a:ln w="254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 dirty="0">
                  <a:solidFill>
                    <a:schemeClr val="accent6"/>
                  </a:solidFill>
                  <a:cs typeface="Arial" panose="020B0604020202020204" pitchFamily="34" charset="0"/>
                </a:rPr>
                <a:t>Infrastructure, inputs,</a:t>
              </a:r>
              <a:br>
                <a:rPr lang="en-US" altLang="en-US" sz="1800" b="0" dirty="0">
                  <a:solidFill>
                    <a:schemeClr val="accent6"/>
                  </a:solidFill>
                  <a:cs typeface="Arial" panose="020B0604020202020204" pitchFamily="34" charset="0"/>
                </a:rPr>
              </a:br>
              <a:r>
                <a:rPr lang="en-US" altLang="en-US" sz="1800" b="0" dirty="0">
                  <a:solidFill>
                    <a:schemeClr val="accent6"/>
                  </a:solidFill>
                  <a:cs typeface="Arial" panose="020B0604020202020204" pitchFamily="34" charset="0"/>
                </a:rPr>
                <a:t>transportation</a:t>
              </a:r>
            </a:p>
          </p:txBody>
        </p:sp>
        <p:sp>
          <p:nvSpPr>
            <p:cNvPr id="74" name="Rectangle 6">
              <a:extLst>
                <a:ext uri="{FF2B5EF4-FFF2-40B4-BE49-F238E27FC236}">
                  <a16:creationId xmlns:a16="http://schemas.microsoft.com/office/drawing/2014/main" id="{816B1EB0-1DC7-654D-8708-C42026D78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1988" y="3871128"/>
              <a:ext cx="1752600" cy="366767"/>
            </a:xfrm>
            <a:prstGeom prst="rect">
              <a:avLst/>
            </a:prstGeom>
            <a:noFill/>
            <a:ln w="254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>
                  <a:solidFill>
                    <a:schemeClr val="accent6"/>
                  </a:solidFill>
                  <a:cs typeface="Arial" panose="020B0604020202020204" pitchFamily="34" charset="0"/>
                </a:rPr>
                <a:t>Manufacturing</a:t>
              </a:r>
            </a:p>
          </p:txBody>
        </p:sp>
        <p:sp>
          <p:nvSpPr>
            <p:cNvPr id="75" name="Rectangle 7">
              <a:extLst>
                <a:ext uri="{FF2B5EF4-FFF2-40B4-BE49-F238E27FC236}">
                  <a16:creationId xmlns:a16="http://schemas.microsoft.com/office/drawing/2014/main" id="{2787F356-DE4B-2846-A291-47E0B80B0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1988" y="5014128"/>
              <a:ext cx="1752600" cy="366767"/>
            </a:xfrm>
            <a:prstGeom prst="rect">
              <a:avLst/>
            </a:prstGeom>
            <a:noFill/>
            <a:ln w="254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>
                  <a:solidFill>
                    <a:schemeClr val="accent6"/>
                  </a:solidFill>
                  <a:cs typeface="Arial" panose="020B0604020202020204" pitchFamily="34" charset="0"/>
                </a:rPr>
                <a:t>Use</a:t>
              </a:r>
            </a:p>
          </p:txBody>
        </p:sp>
        <p:sp>
          <p:nvSpPr>
            <p:cNvPr id="76" name="Rectangle 8">
              <a:extLst>
                <a:ext uri="{FF2B5EF4-FFF2-40B4-BE49-F238E27FC236}">
                  <a16:creationId xmlns:a16="http://schemas.microsoft.com/office/drawing/2014/main" id="{4147C0C6-D1CF-9F42-BE09-912467A1B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7213" y="5776128"/>
              <a:ext cx="1857375" cy="643766"/>
            </a:xfrm>
            <a:prstGeom prst="rect">
              <a:avLst/>
            </a:prstGeom>
            <a:noFill/>
            <a:ln w="254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 dirty="0">
                  <a:solidFill>
                    <a:schemeClr val="accent6"/>
                  </a:solidFill>
                  <a:cs typeface="Arial" panose="020B0604020202020204" pitchFamily="34" charset="0"/>
                </a:rPr>
                <a:t>Waste </a:t>
              </a:r>
              <a:br>
                <a:rPr lang="en-US" altLang="en-US" sz="1800" b="0" dirty="0">
                  <a:solidFill>
                    <a:schemeClr val="accent6"/>
                  </a:solidFill>
                  <a:cs typeface="Arial" panose="020B0604020202020204" pitchFamily="34" charset="0"/>
                </a:rPr>
              </a:br>
              <a:r>
                <a:rPr lang="en-US" altLang="en-US" sz="1800" b="0" dirty="0">
                  <a:solidFill>
                    <a:schemeClr val="accent6"/>
                  </a:solidFill>
                  <a:cs typeface="Arial" panose="020B0604020202020204" pitchFamily="34" charset="0"/>
                </a:rPr>
                <a:t>Treatment</a:t>
              </a:r>
            </a:p>
          </p:txBody>
        </p:sp>
        <p:sp>
          <p:nvSpPr>
            <p:cNvPr id="77" name="Rectangle 9">
              <a:extLst>
                <a:ext uri="{FF2B5EF4-FFF2-40B4-BE49-F238E27FC236}">
                  <a16:creationId xmlns:a16="http://schemas.microsoft.com/office/drawing/2014/main" id="{34662DBA-3203-8146-A41F-B50813A45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4188" y="3871128"/>
              <a:ext cx="1183017" cy="366767"/>
            </a:xfrm>
            <a:prstGeom prst="rect">
              <a:avLst/>
            </a:prstGeom>
            <a:noFill/>
            <a:ln w="254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>
                  <a:solidFill>
                    <a:schemeClr val="accent6"/>
                  </a:solidFill>
                  <a:cs typeface="Arial" panose="020B0604020202020204" pitchFamily="34" charset="0"/>
                </a:rPr>
                <a:t>Recycling</a:t>
              </a:r>
            </a:p>
          </p:txBody>
        </p:sp>
        <p:sp>
          <p:nvSpPr>
            <p:cNvPr id="78" name="Line 11">
              <a:extLst>
                <a:ext uri="{FF2B5EF4-FFF2-40B4-BE49-F238E27FC236}">
                  <a16:creationId xmlns:a16="http://schemas.microsoft.com/office/drawing/2014/main" id="{779DA65C-7C6F-744A-8D34-DE855B35A0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97588" y="2902753"/>
              <a:ext cx="0" cy="3254375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Line 12">
              <a:extLst>
                <a:ext uri="{FF2B5EF4-FFF2-40B4-BE49-F238E27FC236}">
                  <a16:creationId xmlns:a16="http://schemas.microsoft.com/office/drawing/2014/main" id="{7A9264B0-2698-7E49-8D6E-EBDBD8F76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97588" y="2917104"/>
              <a:ext cx="914400" cy="0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Line 13">
              <a:extLst>
                <a:ext uri="{FF2B5EF4-FFF2-40B4-BE49-F238E27FC236}">
                  <a16:creationId xmlns:a16="http://schemas.microsoft.com/office/drawing/2014/main" id="{49262A8E-4A77-6C4A-92AE-9F045B4223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97588" y="4099728"/>
              <a:ext cx="914400" cy="0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Line 14">
              <a:extLst>
                <a:ext uri="{FF2B5EF4-FFF2-40B4-BE49-F238E27FC236}">
                  <a16:creationId xmlns:a16="http://schemas.microsoft.com/office/drawing/2014/main" id="{D32CD46C-0859-324B-BDF4-ACC7106EB5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97588" y="5242728"/>
              <a:ext cx="914400" cy="0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Line 15">
              <a:extLst>
                <a:ext uri="{FF2B5EF4-FFF2-40B4-BE49-F238E27FC236}">
                  <a16:creationId xmlns:a16="http://schemas.microsoft.com/office/drawing/2014/main" id="{949F3363-6021-A443-9DDC-4EA55BBB16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97588" y="6157128"/>
              <a:ext cx="809625" cy="0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Line 16">
              <a:extLst>
                <a:ext uri="{FF2B5EF4-FFF2-40B4-BE49-F238E27FC236}">
                  <a16:creationId xmlns:a16="http://schemas.microsoft.com/office/drawing/2014/main" id="{D67BB96D-E793-7F4C-B066-35F1CC8544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1906" y="4633128"/>
              <a:ext cx="526981" cy="0"/>
            </a:xfrm>
            <a:prstGeom prst="line">
              <a:avLst/>
            </a:prstGeom>
            <a:noFill/>
            <a:ln w="25400">
              <a:solidFill>
                <a:schemeClr val="accent3"/>
              </a:solidFill>
              <a:round/>
              <a:headEnd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Line 20">
              <a:extLst>
                <a:ext uri="{FF2B5EF4-FFF2-40B4-BE49-F238E27FC236}">
                  <a16:creationId xmlns:a16="http://schemas.microsoft.com/office/drawing/2014/main" id="{AEBE797C-A60F-834C-96C9-8C006D4595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83525" y="3328218"/>
              <a:ext cx="0" cy="506334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21">
              <a:extLst>
                <a:ext uri="{FF2B5EF4-FFF2-40B4-BE49-F238E27FC236}">
                  <a16:creationId xmlns:a16="http://schemas.microsoft.com/office/drawing/2014/main" id="{C56303BC-93B4-C349-A9FE-3B1E0E226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83525" y="4258478"/>
              <a:ext cx="0" cy="742950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Line 22">
              <a:extLst>
                <a:ext uri="{FF2B5EF4-FFF2-40B4-BE49-F238E27FC236}">
                  <a16:creationId xmlns:a16="http://schemas.microsoft.com/office/drawing/2014/main" id="{A1599475-7713-964F-9A9A-88C9FE27D8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83525" y="5401478"/>
              <a:ext cx="0" cy="361950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23">
              <a:extLst>
                <a:ext uri="{FF2B5EF4-FFF2-40B4-BE49-F238E27FC236}">
                  <a16:creationId xmlns:a16="http://schemas.microsoft.com/office/drawing/2014/main" id="{AD90B7DA-A97F-2C4F-88C7-CF5A930DCD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64588" y="6157128"/>
              <a:ext cx="1598612" cy="0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Line 24">
              <a:extLst>
                <a:ext uri="{FF2B5EF4-FFF2-40B4-BE49-F238E27FC236}">
                  <a16:creationId xmlns:a16="http://schemas.microsoft.com/office/drawing/2014/main" id="{6F9C9483-B2B5-C54B-B86D-EE622E0AAC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63200" y="4275940"/>
              <a:ext cx="0" cy="1881188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Line 25">
              <a:extLst>
                <a:ext uri="{FF2B5EF4-FFF2-40B4-BE49-F238E27FC236}">
                  <a16:creationId xmlns:a16="http://schemas.microsoft.com/office/drawing/2014/main" id="{18176A2E-8E75-B149-99E5-23B4CE7832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64588" y="4099728"/>
              <a:ext cx="609600" cy="0"/>
            </a:xfrm>
            <a:prstGeom prst="line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Line 26">
              <a:extLst>
                <a:ext uri="{FF2B5EF4-FFF2-40B4-BE49-F238E27FC236}">
                  <a16:creationId xmlns:a16="http://schemas.microsoft.com/office/drawing/2014/main" id="{B1AD7846-2FD9-4949-B158-50A03C0CFF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83525" y="6436591"/>
              <a:ext cx="0" cy="433388"/>
            </a:xfrm>
            <a:prstGeom prst="line">
              <a:avLst/>
            </a:prstGeom>
            <a:noFill/>
            <a:ln w="25400">
              <a:solidFill>
                <a:schemeClr val="accent3"/>
              </a:solidFill>
              <a:round/>
              <a:headEnd/>
              <a:tailEnd type="arrow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Text Box 27">
              <a:extLst>
                <a:ext uri="{FF2B5EF4-FFF2-40B4-BE49-F238E27FC236}">
                  <a16:creationId xmlns:a16="http://schemas.microsoft.com/office/drawing/2014/main" id="{90B57783-B87C-6C48-9082-F6EAA5C30D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4667" y="4414053"/>
              <a:ext cx="128753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 dirty="0">
                  <a:solidFill>
                    <a:schemeClr val="accent3"/>
                  </a:solidFill>
                  <a:cs typeface="Arial" panose="020B0604020202020204" pitchFamily="34" charset="0"/>
                </a:rPr>
                <a:t>Resources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 sz="1800" b="0" dirty="0">
                <a:solidFill>
                  <a:schemeClr val="accent3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2" name="Text Box 28">
              <a:extLst>
                <a:ext uri="{FF2B5EF4-FFF2-40B4-BE49-F238E27FC236}">
                  <a16:creationId xmlns:a16="http://schemas.microsoft.com/office/drawing/2014/main" id="{C3B7A423-4326-7B43-B47C-DBD27CBDB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0813" y="6930367"/>
              <a:ext cx="295478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 dirty="0">
                  <a:solidFill>
                    <a:schemeClr val="accent3"/>
                  </a:solidFill>
                  <a:cs typeface="Arial" panose="020B0604020202020204" pitchFamily="34" charset="0"/>
                </a:rPr>
                <a:t>Emissions to air, water, soil</a:t>
              </a:r>
            </a:p>
          </p:txBody>
        </p:sp>
        <p:sp>
          <p:nvSpPr>
            <p:cNvPr id="93" name="Rectangle 29">
              <a:extLst>
                <a:ext uri="{FF2B5EF4-FFF2-40B4-BE49-F238E27FC236}">
                  <a16:creationId xmlns:a16="http://schemas.microsoft.com/office/drawing/2014/main" id="{BA684DBF-33A5-AB4A-8F8B-0D64739B9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538" y="2162830"/>
              <a:ext cx="7315200" cy="4453086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94" name="Text Box 31">
              <a:extLst>
                <a:ext uri="{FF2B5EF4-FFF2-40B4-BE49-F238E27FC236}">
                  <a16:creationId xmlns:a16="http://schemas.microsoft.com/office/drawing/2014/main" id="{EFE30B40-BD44-F54B-BC67-9E3EA7D0E7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785" y="1667448"/>
              <a:ext cx="3039615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SYSTEM BOUNDARIES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2A07709-53B4-B447-A55D-8B69BCB458F2}"/>
                </a:ext>
              </a:extLst>
            </p:cNvPr>
            <p:cNvCxnSpPr/>
            <p:nvPr/>
          </p:nvCxnSpPr>
          <p:spPr>
            <a:xfrm>
              <a:off x="4238538" y="3619720"/>
              <a:ext cx="7315200" cy="0"/>
            </a:xfrm>
            <a:prstGeom prst="line">
              <a:avLst/>
            </a:prstGeom>
            <a:ln>
              <a:solidFill>
                <a:schemeClr val="accent5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798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Reference Flows and Main Intermediary Flows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7CC589-4464-6C49-ADB4-2A5CB2FCDD64}"/>
              </a:ext>
            </a:extLst>
          </p:cNvPr>
          <p:cNvSpPr/>
          <p:nvPr/>
        </p:nvSpPr>
        <p:spPr>
          <a:xfrm>
            <a:off x="812879" y="1466480"/>
            <a:ext cx="147716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chemeClr val="tx2"/>
                </a:solidFill>
              </a:rPr>
              <a:t>Reference Flows and Main Intermediary Flows </a:t>
            </a:r>
            <a:r>
              <a:rPr lang="en-US" altLang="en-US" sz="2400" dirty="0">
                <a:solidFill>
                  <a:schemeClr val="tx2"/>
                </a:solidFill>
              </a:rPr>
              <a:t>for a Front-End Panel Transported over 200,000 km	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63" name="Text Box 4">
            <a:extLst>
              <a:ext uri="{FF2B5EF4-FFF2-40B4-BE49-F238E27FC236}">
                <a16:creationId xmlns:a16="http://schemas.microsoft.com/office/drawing/2014/main" id="{34FCE860-959C-CE44-AAA1-1747DD5B8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1065" y="7076276"/>
            <a:ext cx="85884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2"/>
                </a:solidFill>
              </a:rPr>
              <a:t>*200,000 km, additional consumption of 0.00004 L / kg-km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41BB30B-9CEC-D246-B37A-B4634DB32862}"/>
              </a:ext>
            </a:extLst>
          </p:cNvPr>
          <p:cNvCxnSpPr>
            <a:cxnSpLocks/>
          </p:cNvCxnSpPr>
          <p:nvPr/>
        </p:nvCxnSpPr>
        <p:spPr>
          <a:xfrm>
            <a:off x="2963981" y="2939620"/>
            <a:ext cx="12359146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">
            <a:extLst>
              <a:ext uri="{FF2B5EF4-FFF2-40B4-BE49-F238E27FC236}">
                <a16:creationId xmlns:a16="http://schemas.microsoft.com/office/drawing/2014/main" id="{FA8C4D51-4456-754F-9176-04B7ECD26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2188" y="2329930"/>
            <a:ext cx="13773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Composite</a:t>
            </a:r>
          </a:p>
        </p:txBody>
      </p:sp>
      <p:sp>
        <p:nvSpPr>
          <p:cNvPr id="68" name="Rectangle 6">
            <a:extLst>
              <a:ext uri="{FF2B5EF4-FFF2-40B4-BE49-F238E27FC236}">
                <a16:creationId xmlns:a16="http://schemas.microsoft.com/office/drawing/2014/main" id="{9D413181-351D-1B40-B31B-F758337D0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487" y="5299049"/>
            <a:ext cx="13773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End of Life</a:t>
            </a:r>
          </a:p>
        </p:txBody>
      </p:sp>
      <p:sp>
        <p:nvSpPr>
          <p:cNvPr id="69" name="Rectangle 6">
            <a:extLst>
              <a:ext uri="{FF2B5EF4-FFF2-40B4-BE49-F238E27FC236}">
                <a16:creationId xmlns:a16="http://schemas.microsoft.com/office/drawing/2014/main" id="{104A651B-70CE-5840-AAB1-542EC476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87582" y="2191431"/>
            <a:ext cx="131318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Recycled</a:t>
            </a:r>
            <a:br>
              <a:rPr lang="en-GB" altLang="en-US" sz="1800" dirty="0">
                <a:solidFill>
                  <a:schemeClr val="tx2"/>
                </a:solidFill>
              </a:rPr>
            </a:br>
            <a:r>
              <a:rPr lang="en-GB" altLang="en-US" sz="1800" dirty="0" err="1">
                <a:solidFill>
                  <a:schemeClr val="tx2"/>
                </a:solidFill>
              </a:rPr>
              <a:t>Aluminum</a:t>
            </a:r>
            <a:endParaRPr lang="en-GB" altLang="en-US" sz="1800" dirty="0">
              <a:solidFill>
                <a:schemeClr val="tx2"/>
              </a:solidFill>
            </a:endParaRPr>
          </a:p>
        </p:txBody>
      </p:sp>
      <p:sp>
        <p:nvSpPr>
          <p:cNvPr id="70" name="Rectangle 6">
            <a:extLst>
              <a:ext uri="{FF2B5EF4-FFF2-40B4-BE49-F238E27FC236}">
                <a16:creationId xmlns:a16="http://schemas.microsoft.com/office/drawing/2014/main" id="{E5A9B820-E2B1-ED45-A23B-4CF72240A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55423" y="2191431"/>
            <a:ext cx="13131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Virgin</a:t>
            </a:r>
            <a:br>
              <a:rPr lang="en-GB" altLang="en-US" sz="1800" dirty="0">
                <a:solidFill>
                  <a:schemeClr val="tx2"/>
                </a:solidFill>
              </a:rPr>
            </a:br>
            <a:r>
              <a:rPr lang="en-GB" altLang="en-US" sz="1800" dirty="0" err="1">
                <a:solidFill>
                  <a:schemeClr val="tx2"/>
                </a:solidFill>
              </a:rPr>
              <a:t>Aluminum</a:t>
            </a:r>
            <a:endParaRPr lang="en-GB" altLang="en-US" sz="1800" dirty="0">
              <a:solidFill>
                <a:schemeClr val="tx2"/>
              </a:solidFill>
            </a:endParaRPr>
          </a:p>
        </p:txBody>
      </p:sp>
      <p:sp>
        <p:nvSpPr>
          <p:cNvPr id="71" name="Rectangle 6">
            <a:extLst>
              <a:ext uri="{FF2B5EF4-FFF2-40B4-BE49-F238E27FC236}">
                <a16:creationId xmlns:a16="http://schemas.microsoft.com/office/drawing/2014/main" id="{AA7003F1-067E-164D-807E-8B6237281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981" y="3081194"/>
            <a:ext cx="44348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Final weight</a:t>
            </a:r>
          </a:p>
        </p:txBody>
      </p:sp>
      <p:sp>
        <p:nvSpPr>
          <p:cNvPr id="72" name="Rectangle 6">
            <a:extLst>
              <a:ext uri="{FF2B5EF4-FFF2-40B4-BE49-F238E27FC236}">
                <a16:creationId xmlns:a16="http://schemas.microsoft.com/office/drawing/2014/main" id="{036C909C-2CDF-694D-99F0-51D1A7822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981" y="5281760"/>
            <a:ext cx="4434856" cy="1128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Incineration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Controlled landfilling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Landfilling for inert materials</a:t>
            </a:r>
          </a:p>
        </p:txBody>
      </p:sp>
      <p:sp>
        <p:nvSpPr>
          <p:cNvPr id="73" name="Rectangle 6">
            <a:extLst>
              <a:ext uri="{FF2B5EF4-FFF2-40B4-BE49-F238E27FC236}">
                <a16:creationId xmlns:a16="http://schemas.microsoft.com/office/drawing/2014/main" id="{0EE4C369-A539-D14B-BB92-22DFDCEFF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848" y="3081194"/>
            <a:ext cx="11849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Materials</a:t>
            </a:r>
          </a:p>
        </p:txBody>
      </p:sp>
      <p:sp>
        <p:nvSpPr>
          <p:cNvPr id="74" name="Rectangle 6">
            <a:extLst>
              <a:ext uri="{FF2B5EF4-FFF2-40B4-BE49-F238E27FC236}">
                <a16:creationId xmlns:a16="http://schemas.microsoft.com/office/drawing/2014/main" id="{5A04EEEF-4DF0-F343-888D-E64009A91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0819" y="3081194"/>
            <a:ext cx="8958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7.0</a:t>
            </a:r>
          </a:p>
        </p:txBody>
      </p:sp>
      <p:sp>
        <p:nvSpPr>
          <p:cNvPr id="75" name="Rectangle 6">
            <a:extLst>
              <a:ext uri="{FF2B5EF4-FFF2-40B4-BE49-F238E27FC236}">
                <a16:creationId xmlns:a16="http://schemas.microsoft.com/office/drawing/2014/main" id="{1C115D90-D4B4-854E-9E66-A611418E3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0819" y="5281760"/>
            <a:ext cx="895870" cy="1128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7.0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–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–</a:t>
            </a:r>
          </a:p>
        </p:txBody>
      </p:sp>
      <p:sp>
        <p:nvSpPr>
          <p:cNvPr id="76" name="Rectangle 6">
            <a:extLst>
              <a:ext uri="{FF2B5EF4-FFF2-40B4-BE49-F238E27FC236}">
                <a16:creationId xmlns:a16="http://schemas.microsoft.com/office/drawing/2014/main" id="{A667190F-1D81-BE40-A365-443F5EA1A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5672" y="3081194"/>
            <a:ext cx="8958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3.8</a:t>
            </a:r>
          </a:p>
        </p:txBody>
      </p:sp>
      <p:sp>
        <p:nvSpPr>
          <p:cNvPr id="77" name="Rectangle 6">
            <a:extLst>
              <a:ext uri="{FF2B5EF4-FFF2-40B4-BE49-F238E27FC236}">
                <a16:creationId xmlns:a16="http://schemas.microsoft.com/office/drawing/2014/main" id="{E4314122-26F6-9A43-80B8-45180C2AE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08149" y="3081194"/>
            <a:ext cx="6673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3.8</a:t>
            </a:r>
          </a:p>
        </p:txBody>
      </p:sp>
      <p:sp>
        <p:nvSpPr>
          <p:cNvPr id="78" name="Rectangle 6">
            <a:extLst>
              <a:ext uri="{FF2B5EF4-FFF2-40B4-BE49-F238E27FC236}">
                <a16:creationId xmlns:a16="http://schemas.microsoft.com/office/drawing/2014/main" id="{D445A325-812B-A043-8311-102838DD9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5672" y="5281760"/>
            <a:ext cx="895870" cy="1128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–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3.8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–</a:t>
            </a:r>
          </a:p>
        </p:txBody>
      </p:sp>
      <p:sp>
        <p:nvSpPr>
          <p:cNvPr id="79" name="Rectangle 6">
            <a:extLst>
              <a:ext uri="{FF2B5EF4-FFF2-40B4-BE49-F238E27FC236}">
                <a16:creationId xmlns:a16="http://schemas.microsoft.com/office/drawing/2014/main" id="{501F1572-1C23-9847-B0AA-8A429F3EF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3486" y="5300752"/>
            <a:ext cx="895870" cy="1128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–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–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–</a:t>
            </a:r>
          </a:p>
        </p:txBody>
      </p:sp>
      <p:sp>
        <p:nvSpPr>
          <p:cNvPr id="80" name="Rectangle 6">
            <a:extLst>
              <a:ext uri="{FF2B5EF4-FFF2-40B4-BE49-F238E27FC236}">
                <a16:creationId xmlns:a16="http://schemas.microsoft.com/office/drawing/2014/main" id="{90699556-FB7E-BA4C-8883-235C0F616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9017" y="2329930"/>
            <a:ext cx="7360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Steel</a:t>
            </a:r>
          </a:p>
        </p:txBody>
      </p:sp>
      <p:sp>
        <p:nvSpPr>
          <p:cNvPr id="81" name="Rectangle 6">
            <a:extLst>
              <a:ext uri="{FF2B5EF4-FFF2-40B4-BE49-F238E27FC236}">
                <a16:creationId xmlns:a16="http://schemas.microsoft.com/office/drawing/2014/main" id="{1C4826EF-3957-9E41-BC2C-4B0BF92D5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3878" y="2329930"/>
            <a:ext cx="6335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Unit</a:t>
            </a:r>
          </a:p>
        </p:txBody>
      </p:sp>
      <p:sp>
        <p:nvSpPr>
          <p:cNvPr id="82" name="Rectangle 6">
            <a:extLst>
              <a:ext uri="{FF2B5EF4-FFF2-40B4-BE49-F238E27FC236}">
                <a16:creationId xmlns:a16="http://schemas.microsoft.com/office/drawing/2014/main" id="{DD08C913-1B84-0A47-905F-C9D9298AC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290" y="3081194"/>
            <a:ext cx="8958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kg</a:t>
            </a:r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0FB1BE5-92D6-C449-B158-C7D30AC09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5342" y="3081194"/>
            <a:ext cx="6673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10.0</a:t>
            </a:r>
          </a:p>
        </p:txBody>
      </p:sp>
      <p:sp>
        <p:nvSpPr>
          <p:cNvPr id="84" name="Rectangle 6">
            <a:extLst>
              <a:ext uri="{FF2B5EF4-FFF2-40B4-BE49-F238E27FC236}">
                <a16:creationId xmlns:a16="http://schemas.microsoft.com/office/drawing/2014/main" id="{BCD29415-359D-C240-AC3B-30056969E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290" y="5281760"/>
            <a:ext cx="895870" cy="1128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kg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kg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kg</a:t>
            </a:r>
          </a:p>
        </p:txBody>
      </p:sp>
      <p:sp>
        <p:nvSpPr>
          <p:cNvPr id="85" name="Rectangle 6">
            <a:extLst>
              <a:ext uri="{FF2B5EF4-FFF2-40B4-BE49-F238E27FC236}">
                <a16:creationId xmlns:a16="http://schemas.microsoft.com/office/drawing/2014/main" id="{3AC23DFA-C1A1-B540-9723-1A35881F1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0679" y="5300752"/>
            <a:ext cx="895870" cy="1128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–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–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10.0</a:t>
            </a:r>
          </a:p>
        </p:txBody>
      </p:sp>
      <p:sp>
        <p:nvSpPr>
          <p:cNvPr id="86" name="Rectangle 6">
            <a:extLst>
              <a:ext uri="{FF2B5EF4-FFF2-40B4-BE49-F238E27FC236}">
                <a16:creationId xmlns:a16="http://schemas.microsoft.com/office/drawing/2014/main" id="{03FE68A6-0951-0449-B4ED-F5F778FBC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981" y="3687722"/>
            <a:ext cx="4434856" cy="74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Electricity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Oil</a:t>
            </a:r>
          </a:p>
        </p:txBody>
      </p:sp>
      <p:sp>
        <p:nvSpPr>
          <p:cNvPr id="87" name="Rectangle 6">
            <a:extLst>
              <a:ext uri="{FF2B5EF4-FFF2-40B4-BE49-F238E27FC236}">
                <a16:creationId xmlns:a16="http://schemas.microsoft.com/office/drawing/2014/main" id="{EA2294EC-4CEA-5A42-8C59-C687669C9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942" y="3663085"/>
            <a:ext cx="17748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Manufacturing</a:t>
            </a:r>
          </a:p>
        </p:txBody>
      </p:sp>
      <p:sp>
        <p:nvSpPr>
          <p:cNvPr id="88" name="Rectangle 6">
            <a:extLst>
              <a:ext uri="{FF2B5EF4-FFF2-40B4-BE49-F238E27FC236}">
                <a16:creationId xmlns:a16="http://schemas.microsoft.com/office/drawing/2014/main" id="{619E94F6-E9DB-5D49-8321-9740E99E3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3981" y="4685248"/>
            <a:ext cx="44348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Gasoline</a:t>
            </a:r>
          </a:p>
        </p:txBody>
      </p:sp>
      <p:sp>
        <p:nvSpPr>
          <p:cNvPr id="89" name="Rectangle 6">
            <a:extLst>
              <a:ext uri="{FF2B5EF4-FFF2-40B4-BE49-F238E27FC236}">
                <a16:creationId xmlns:a16="http://schemas.microsoft.com/office/drawing/2014/main" id="{23CE9217-088B-7E43-99BF-2FD675EE7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0929" y="4660611"/>
            <a:ext cx="6078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Use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1B0F669-501B-6D46-A246-51E5280544B4}"/>
              </a:ext>
            </a:extLst>
          </p:cNvPr>
          <p:cNvCxnSpPr>
            <a:cxnSpLocks/>
          </p:cNvCxnSpPr>
          <p:nvPr/>
        </p:nvCxnSpPr>
        <p:spPr>
          <a:xfrm>
            <a:off x="2963981" y="5156347"/>
            <a:ext cx="12359146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964BD98-606F-7242-BB79-20D1485BF94B}"/>
              </a:ext>
            </a:extLst>
          </p:cNvPr>
          <p:cNvCxnSpPr>
            <a:cxnSpLocks/>
          </p:cNvCxnSpPr>
          <p:nvPr/>
        </p:nvCxnSpPr>
        <p:spPr>
          <a:xfrm>
            <a:off x="2963981" y="3549220"/>
            <a:ext cx="12359146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1333D16-8920-E44E-A6AD-63F6F3CCE7F3}"/>
              </a:ext>
            </a:extLst>
          </p:cNvPr>
          <p:cNvCxnSpPr>
            <a:cxnSpLocks/>
          </p:cNvCxnSpPr>
          <p:nvPr/>
        </p:nvCxnSpPr>
        <p:spPr>
          <a:xfrm>
            <a:off x="2963981" y="4574455"/>
            <a:ext cx="12359146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6">
            <a:extLst>
              <a:ext uri="{FF2B5EF4-FFF2-40B4-BE49-F238E27FC236}">
                <a16:creationId xmlns:a16="http://schemas.microsoft.com/office/drawing/2014/main" id="{2EC97737-BCAF-3744-BE6B-903D36962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0819" y="4689860"/>
            <a:ext cx="8958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56.0</a:t>
            </a:r>
          </a:p>
        </p:txBody>
      </p:sp>
      <p:sp>
        <p:nvSpPr>
          <p:cNvPr id="101" name="Rectangle 6">
            <a:extLst>
              <a:ext uri="{FF2B5EF4-FFF2-40B4-BE49-F238E27FC236}">
                <a16:creationId xmlns:a16="http://schemas.microsoft.com/office/drawing/2014/main" id="{5A9E11CA-6BEE-1F4C-8572-A7AC06B72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5672" y="4689860"/>
            <a:ext cx="8958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30.4</a:t>
            </a:r>
          </a:p>
        </p:txBody>
      </p:sp>
      <p:sp>
        <p:nvSpPr>
          <p:cNvPr id="102" name="Rectangle 6">
            <a:extLst>
              <a:ext uri="{FF2B5EF4-FFF2-40B4-BE49-F238E27FC236}">
                <a16:creationId xmlns:a16="http://schemas.microsoft.com/office/drawing/2014/main" id="{02CA33C9-F2E3-6348-8668-E850BC449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08149" y="4689860"/>
            <a:ext cx="6673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30.4</a:t>
            </a:r>
          </a:p>
        </p:txBody>
      </p:sp>
      <p:sp>
        <p:nvSpPr>
          <p:cNvPr id="103" name="Rectangle 6">
            <a:extLst>
              <a:ext uri="{FF2B5EF4-FFF2-40B4-BE49-F238E27FC236}">
                <a16:creationId xmlns:a16="http://schemas.microsoft.com/office/drawing/2014/main" id="{63E8ECB2-EEB6-BD46-B1AB-D998D589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290" y="4689860"/>
            <a:ext cx="8958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L</a:t>
            </a:r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E7641BE-ADD4-BB4D-B296-3B1BE226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5342" y="4689860"/>
            <a:ext cx="6673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80.0</a:t>
            </a:r>
          </a:p>
        </p:txBody>
      </p:sp>
      <p:sp>
        <p:nvSpPr>
          <p:cNvPr id="105" name="Rectangle 6">
            <a:extLst>
              <a:ext uri="{FF2B5EF4-FFF2-40B4-BE49-F238E27FC236}">
                <a16:creationId xmlns:a16="http://schemas.microsoft.com/office/drawing/2014/main" id="{D977E173-E309-B94D-9C06-287A092AE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0819" y="3673861"/>
            <a:ext cx="895870" cy="74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4.7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0.56</a:t>
            </a:r>
          </a:p>
        </p:txBody>
      </p:sp>
      <p:sp>
        <p:nvSpPr>
          <p:cNvPr id="106" name="Rectangle 6">
            <a:extLst>
              <a:ext uri="{FF2B5EF4-FFF2-40B4-BE49-F238E27FC236}">
                <a16:creationId xmlns:a16="http://schemas.microsoft.com/office/drawing/2014/main" id="{F28FCE10-F61C-DF40-8AB1-5D565A966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5672" y="3673861"/>
            <a:ext cx="895870" cy="74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15.2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1.8</a:t>
            </a:r>
          </a:p>
        </p:txBody>
      </p:sp>
      <p:sp>
        <p:nvSpPr>
          <p:cNvPr id="107" name="Rectangle 6">
            <a:extLst>
              <a:ext uri="{FF2B5EF4-FFF2-40B4-BE49-F238E27FC236}">
                <a16:creationId xmlns:a16="http://schemas.microsoft.com/office/drawing/2014/main" id="{840A50FD-3217-084A-90D9-A211DEB37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08149" y="3673861"/>
            <a:ext cx="667310" cy="74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15.2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1.8</a:t>
            </a:r>
          </a:p>
        </p:txBody>
      </p:sp>
      <p:sp>
        <p:nvSpPr>
          <p:cNvPr id="108" name="Rectangle 6">
            <a:extLst>
              <a:ext uri="{FF2B5EF4-FFF2-40B4-BE49-F238E27FC236}">
                <a16:creationId xmlns:a16="http://schemas.microsoft.com/office/drawing/2014/main" id="{AFD94E64-EF17-6B4E-B218-0D05CFF68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290" y="3673861"/>
            <a:ext cx="895870" cy="74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kWh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kg</a:t>
            </a:r>
          </a:p>
        </p:txBody>
      </p:sp>
      <p:sp>
        <p:nvSpPr>
          <p:cNvPr id="109" name="Rectangle 6">
            <a:extLst>
              <a:ext uri="{FF2B5EF4-FFF2-40B4-BE49-F238E27FC236}">
                <a16:creationId xmlns:a16="http://schemas.microsoft.com/office/drawing/2014/main" id="{A4B6C52D-CE37-0948-826C-7E2E61C7E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5342" y="3673861"/>
            <a:ext cx="667310" cy="74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19.7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2.3</a:t>
            </a:r>
          </a:p>
        </p:txBody>
      </p:sp>
    </p:spTree>
    <p:extLst>
      <p:ext uri="{BB962C8B-B14F-4D97-AF65-F5344CB8AC3E}">
        <p14:creationId xmlns:p14="http://schemas.microsoft.com/office/powerpoint/2010/main" val="3102660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1D3B-11C1-094C-BA45-77000CB5A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Aggregated inventory matrix E</a:t>
            </a:r>
            <a:endParaRPr lang="en-US" dirty="0"/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3285C374-0925-D346-8F22-00427789D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51158" y="1430796"/>
            <a:ext cx="13314295" cy="6086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4858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CD0A-04D1-884F-A68D-B38E24EE9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Inventory calculation</a:t>
            </a:r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94AF5FA-4803-2D4E-AA3E-7C2986362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19" y="3373833"/>
            <a:ext cx="1670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800" dirty="0">
                <a:solidFill>
                  <a:schemeClr val="tx2"/>
                </a:solidFill>
              </a:rPr>
              <a:t>E · </a:t>
            </a:r>
            <a:r>
              <a:rPr lang="en-US" altLang="en-US" sz="2800" i="1" dirty="0">
                <a:solidFill>
                  <a:schemeClr val="tx2"/>
                </a:solidFill>
              </a:rPr>
              <a:t>y = u</a:t>
            </a:r>
            <a:r>
              <a:rPr lang="en-US" altLang="en-US" sz="2800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02F681-03E2-364B-AA49-3097ACC1A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992" y="6447848"/>
            <a:ext cx="83835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2"/>
                </a:solidFill>
              </a:rPr>
              <a:t>What is the highest contribution to the primary energy? </a:t>
            </a:r>
            <a:endParaRPr lang="en-US" altLang="en-US" sz="2400" dirty="0">
              <a:solidFill>
                <a:schemeClr val="accent1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0" dirty="0">
                <a:solidFill>
                  <a:schemeClr val="accent1"/>
                </a:solidFill>
                <a:sym typeface="Wingdings" pitchFamily="2" charset="2"/>
              </a:rPr>
              <a:t> </a:t>
            </a:r>
            <a:r>
              <a:rPr lang="en-US" altLang="en-US" sz="2400" b="0" dirty="0">
                <a:solidFill>
                  <a:schemeClr val="tx2"/>
                </a:solidFill>
                <a:sym typeface="Wingdings" pitchFamily="2" charset="2"/>
              </a:rPr>
              <a:t>Calculate the respective contributions to the total</a:t>
            </a:r>
            <a:endParaRPr lang="en-US" altLang="en-US" sz="2400" b="0" dirty="0">
              <a:solidFill>
                <a:schemeClr val="tx2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DF3DCF0-60D1-B94E-AA7C-621032AA61BF}"/>
              </a:ext>
            </a:extLst>
          </p:cNvPr>
          <p:cNvGrpSpPr/>
          <p:nvPr/>
        </p:nvGrpSpPr>
        <p:grpSpPr>
          <a:xfrm>
            <a:off x="3527710" y="1281855"/>
            <a:ext cx="11700181" cy="4570778"/>
            <a:chOff x="2548833" y="1837738"/>
            <a:chExt cx="11700181" cy="4570778"/>
          </a:xfrm>
        </p:grpSpPr>
        <p:pic>
          <p:nvPicPr>
            <p:cNvPr id="9" name="Picture 1">
              <a:extLst>
                <a:ext uri="{FF2B5EF4-FFF2-40B4-BE49-F238E27FC236}">
                  <a16:creationId xmlns:a16="http://schemas.microsoft.com/office/drawing/2014/main" id="{64F77A9E-965E-4448-A56F-1571613B6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8833" y="2524066"/>
              <a:ext cx="8675687" cy="3859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FBAEB17C-9E52-C04C-A01A-E98825AF5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24520" y="2483850"/>
              <a:ext cx="3024494" cy="392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Box 1">
              <a:extLst>
                <a:ext uri="{FF2B5EF4-FFF2-40B4-BE49-F238E27FC236}">
                  <a16:creationId xmlns:a16="http://schemas.microsoft.com/office/drawing/2014/main" id="{09C7C851-0A24-2E48-9F50-E69199641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60404" y="1837738"/>
              <a:ext cx="1376363" cy="646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 dirty="0">
                  <a:solidFill>
                    <a:schemeClr val="tx2"/>
                  </a:solidFill>
                </a:rPr>
                <a:t>Steel Front </a:t>
              </a:r>
              <a:br>
                <a:rPr lang="en-US" altLang="en-US" sz="1800" b="0" dirty="0">
                  <a:solidFill>
                    <a:schemeClr val="tx2"/>
                  </a:solidFill>
                </a:rPr>
              </a:br>
              <a:r>
                <a:rPr lang="en-US" altLang="en-US" sz="1800" b="0" dirty="0">
                  <a:solidFill>
                    <a:schemeClr val="tx2"/>
                  </a:solidFill>
                </a:rPr>
                <a:t>end panel</a:t>
              </a:r>
            </a:p>
          </p:txBody>
        </p:sp>
        <p:sp>
          <p:nvSpPr>
            <p:cNvPr id="12" name="TextBox 1">
              <a:extLst>
                <a:ext uri="{FF2B5EF4-FFF2-40B4-BE49-F238E27FC236}">
                  <a16:creationId xmlns:a16="http://schemas.microsoft.com/office/drawing/2014/main" id="{6F3CA7CF-064F-BC41-8CB6-ACD3027A9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8700" y="2017287"/>
              <a:ext cx="7104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 dirty="0">
                  <a:solidFill>
                    <a:schemeClr val="tx2"/>
                  </a:solidFill>
                </a:rPr>
                <a:t>Steel</a:t>
              </a:r>
            </a:p>
          </p:txBody>
        </p:sp>
        <p:sp>
          <p:nvSpPr>
            <p:cNvPr id="13" name="TextBox 1">
              <a:extLst>
                <a:ext uri="{FF2B5EF4-FFF2-40B4-BE49-F238E27FC236}">
                  <a16:creationId xmlns:a16="http://schemas.microsoft.com/office/drawing/2014/main" id="{00144E3C-F247-FC4A-8D5B-CC501AD2DB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4115" y="2017287"/>
              <a:ext cx="82593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 dirty="0" err="1">
                  <a:solidFill>
                    <a:schemeClr val="tx2"/>
                  </a:solidFill>
                </a:rPr>
                <a:t>Electr</a:t>
              </a:r>
              <a:r>
                <a:rPr lang="en-US" altLang="en-US" sz="1800" b="0" dirty="0">
                  <a:solidFill>
                    <a:schemeClr val="tx2"/>
                  </a:solidFill>
                </a:rPr>
                <a:t>.</a:t>
              </a:r>
            </a:p>
          </p:txBody>
        </p:sp>
        <p:sp>
          <p:nvSpPr>
            <p:cNvPr id="14" name="TextBox 1">
              <a:extLst>
                <a:ext uri="{FF2B5EF4-FFF2-40B4-BE49-F238E27FC236}">
                  <a16:creationId xmlns:a16="http://schemas.microsoft.com/office/drawing/2014/main" id="{8080131D-AD81-1C44-B25D-BCF6A00B8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3315" y="2017287"/>
              <a:ext cx="46679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 dirty="0">
                  <a:solidFill>
                    <a:schemeClr val="tx2"/>
                  </a:solidFill>
                </a:rPr>
                <a:t>Oil</a:t>
              </a:r>
            </a:p>
          </p:txBody>
        </p:sp>
        <p:sp>
          <p:nvSpPr>
            <p:cNvPr id="15" name="TextBox 1">
              <a:extLst>
                <a:ext uri="{FF2B5EF4-FFF2-40B4-BE49-F238E27FC236}">
                  <a16:creationId xmlns:a16="http://schemas.microsoft.com/office/drawing/2014/main" id="{C9AE5BE0-34C2-AF48-AAFA-0AFEE4DDD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3594" y="2017287"/>
              <a:ext cx="10951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 dirty="0">
                  <a:solidFill>
                    <a:schemeClr val="tx2"/>
                  </a:solidFill>
                </a:rPr>
                <a:t>Gasoline</a:t>
              </a:r>
            </a:p>
          </p:txBody>
        </p:sp>
        <p:sp>
          <p:nvSpPr>
            <p:cNvPr id="16" name="TextBox 1">
              <a:extLst>
                <a:ext uri="{FF2B5EF4-FFF2-40B4-BE49-F238E27FC236}">
                  <a16:creationId xmlns:a16="http://schemas.microsoft.com/office/drawing/2014/main" id="{F61B9745-3D6D-9C48-82A3-C139B90F5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3471" y="1876611"/>
              <a:ext cx="71045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0" dirty="0">
                  <a:solidFill>
                    <a:schemeClr val="tx2"/>
                  </a:solidFill>
                </a:rPr>
                <a:t>Steel</a:t>
              </a:r>
              <a:br>
                <a:rPr lang="en-US" altLang="en-US" sz="1800" b="0" dirty="0">
                  <a:solidFill>
                    <a:schemeClr val="tx2"/>
                  </a:solidFill>
                </a:rPr>
              </a:br>
              <a:r>
                <a:rPr lang="en-US" altLang="en-US" sz="1800" b="0" dirty="0">
                  <a:solidFill>
                    <a:schemeClr val="tx2"/>
                  </a:solidFill>
                </a:rPr>
                <a:t>disp.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2E54988-ED82-6848-9D5E-015546DA76B9}"/>
              </a:ext>
            </a:extLst>
          </p:cNvPr>
          <p:cNvSpPr/>
          <p:nvPr/>
        </p:nvSpPr>
        <p:spPr>
          <a:xfrm>
            <a:off x="1134616" y="3280049"/>
            <a:ext cx="1998883" cy="793720"/>
          </a:xfrm>
          <a:prstGeom prst="rect">
            <a:avLst/>
          </a:prstGeom>
          <a:noFill/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6100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 2">
  <a:themeElements>
    <a:clrScheme name="SPH brand colors">
      <a:dk1>
        <a:srgbClr val="00274C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Notes (not to be shown in video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AI_PPT_Template_2.potx</Template>
  <TotalTime>17511</TotalTime>
  <Words>417</Words>
  <Application>Microsoft Office PowerPoint</Application>
  <PresentationFormat>Custom</PresentationFormat>
  <Paragraphs>124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Arial Bold</vt:lpstr>
      <vt:lpstr>Calibri</vt:lpstr>
      <vt:lpstr>Courier New</vt:lpstr>
      <vt:lpstr>Wingdings</vt:lpstr>
      <vt:lpstr>Title slide option 2</vt:lpstr>
      <vt:lpstr>Content slide (shown in video)</vt:lpstr>
      <vt:lpstr>2_Content slide (shown in video)</vt:lpstr>
      <vt:lpstr>3_Content slide (shown in video)</vt:lpstr>
      <vt:lpstr>Notes (not to be shown in video)</vt:lpstr>
      <vt:lpstr>PowerPoint Presentation</vt:lpstr>
      <vt:lpstr>Learning Objectives</vt:lpstr>
      <vt:lpstr>Car front-end panel</vt:lpstr>
      <vt:lpstr>Function and functional units</vt:lpstr>
      <vt:lpstr>Automobile component: System boundaries</vt:lpstr>
      <vt:lpstr>Reference Flows and Main Intermediary Flows</vt:lpstr>
      <vt:lpstr>Aggregated inventory matrix E</vt:lpstr>
      <vt:lpstr>Inventory calculation</vt:lpstr>
    </vt:vector>
  </TitlesOfParts>
  <Manager/>
  <Company>University of Michigan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Scott Mahler</dc:creator>
  <cp:keywords/>
  <dc:description/>
  <cp:lastModifiedBy>Olivier Jolliet</cp:lastModifiedBy>
  <cp:revision>751</cp:revision>
  <cp:lastPrinted>2020-08-20T17:37:33Z</cp:lastPrinted>
  <dcterms:created xsi:type="dcterms:W3CDTF">2017-01-17T22:07:36Z</dcterms:created>
  <dcterms:modified xsi:type="dcterms:W3CDTF">2020-11-24T17:59:24Z</dcterms:modified>
  <cp:category/>
</cp:coreProperties>
</file>