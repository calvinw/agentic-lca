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7" r:id="rId1"/>
    <p:sldMasterId id="2147483785" r:id="rId2"/>
    <p:sldMasterId id="2147483806" r:id="rId3"/>
    <p:sldMasterId id="2147483808" r:id="rId4"/>
    <p:sldMasterId id="2147483796" r:id="rId5"/>
  </p:sldMasterIdLst>
  <p:notesMasterIdLst>
    <p:notesMasterId r:id="rId27"/>
  </p:notesMasterIdLst>
  <p:handoutMasterIdLst>
    <p:handoutMasterId r:id="rId28"/>
  </p:handoutMasterIdLst>
  <p:sldIdLst>
    <p:sldId id="267" r:id="rId6"/>
    <p:sldId id="530" r:id="rId7"/>
    <p:sldId id="544" r:id="rId8"/>
    <p:sldId id="521" r:id="rId9"/>
    <p:sldId id="519" r:id="rId10"/>
    <p:sldId id="517" r:id="rId11"/>
    <p:sldId id="522" r:id="rId12"/>
    <p:sldId id="520" r:id="rId13"/>
    <p:sldId id="531" r:id="rId14"/>
    <p:sldId id="532" r:id="rId15"/>
    <p:sldId id="533" r:id="rId16"/>
    <p:sldId id="534" r:id="rId17"/>
    <p:sldId id="535" r:id="rId18"/>
    <p:sldId id="536" r:id="rId19"/>
    <p:sldId id="537" r:id="rId20"/>
    <p:sldId id="538" r:id="rId21"/>
    <p:sldId id="539" r:id="rId22"/>
    <p:sldId id="540" r:id="rId23"/>
    <p:sldId id="541" r:id="rId24"/>
    <p:sldId id="542" r:id="rId25"/>
    <p:sldId id="524" r:id="rId26"/>
  </p:sldIdLst>
  <p:sldSz cx="16257588" cy="9144000"/>
  <p:notesSz cx="6858000" cy="9144000"/>
  <p:defaultTextStyle>
    <a:defPPr>
      <a:defRPr lang="en-US"/>
    </a:defPPr>
    <a:lvl1pPr marL="0" algn="l" defTabSz="812810" rtl="0" eaLnBrk="1" latinLnBrk="0" hangingPunct="1">
      <a:defRPr sz="3200" kern="1200">
        <a:solidFill>
          <a:schemeClr val="tx1"/>
        </a:solidFill>
        <a:latin typeface="+mn-lt"/>
        <a:ea typeface="+mn-ea"/>
        <a:cs typeface="+mn-cs"/>
      </a:defRPr>
    </a:lvl1pPr>
    <a:lvl2pPr marL="812810" algn="l" defTabSz="812810" rtl="0" eaLnBrk="1" latinLnBrk="0" hangingPunct="1">
      <a:defRPr sz="3200" kern="1200">
        <a:solidFill>
          <a:schemeClr val="tx1"/>
        </a:solidFill>
        <a:latin typeface="+mn-lt"/>
        <a:ea typeface="+mn-ea"/>
        <a:cs typeface="+mn-cs"/>
      </a:defRPr>
    </a:lvl2pPr>
    <a:lvl3pPr marL="1625620" algn="l" defTabSz="812810" rtl="0" eaLnBrk="1" latinLnBrk="0" hangingPunct="1">
      <a:defRPr sz="3200" kern="1200">
        <a:solidFill>
          <a:schemeClr val="tx1"/>
        </a:solidFill>
        <a:latin typeface="+mn-lt"/>
        <a:ea typeface="+mn-ea"/>
        <a:cs typeface="+mn-cs"/>
      </a:defRPr>
    </a:lvl3pPr>
    <a:lvl4pPr marL="2438430" algn="l" defTabSz="812810" rtl="0" eaLnBrk="1" latinLnBrk="0" hangingPunct="1">
      <a:defRPr sz="3200" kern="1200">
        <a:solidFill>
          <a:schemeClr val="tx1"/>
        </a:solidFill>
        <a:latin typeface="+mn-lt"/>
        <a:ea typeface="+mn-ea"/>
        <a:cs typeface="+mn-cs"/>
      </a:defRPr>
    </a:lvl4pPr>
    <a:lvl5pPr marL="3251241" algn="l" defTabSz="812810" rtl="0" eaLnBrk="1" latinLnBrk="0" hangingPunct="1">
      <a:defRPr sz="3200" kern="1200">
        <a:solidFill>
          <a:schemeClr val="tx1"/>
        </a:solidFill>
        <a:latin typeface="+mn-lt"/>
        <a:ea typeface="+mn-ea"/>
        <a:cs typeface="+mn-cs"/>
      </a:defRPr>
    </a:lvl5pPr>
    <a:lvl6pPr marL="4064051" algn="l" defTabSz="812810" rtl="0" eaLnBrk="1" latinLnBrk="0" hangingPunct="1">
      <a:defRPr sz="3200" kern="1200">
        <a:solidFill>
          <a:schemeClr val="tx1"/>
        </a:solidFill>
        <a:latin typeface="+mn-lt"/>
        <a:ea typeface="+mn-ea"/>
        <a:cs typeface="+mn-cs"/>
      </a:defRPr>
    </a:lvl6pPr>
    <a:lvl7pPr marL="4876861" algn="l" defTabSz="812810" rtl="0" eaLnBrk="1" latinLnBrk="0" hangingPunct="1">
      <a:defRPr sz="3200" kern="1200">
        <a:solidFill>
          <a:schemeClr val="tx1"/>
        </a:solidFill>
        <a:latin typeface="+mn-lt"/>
        <a:ea typeface="+mn-ea"/>
        <a:cs typeface="+mn-cs"/>
      </a:defRPr>
    </a:lvl7pPr>
    <a:lvl8pPr marL="5689671" algn="l" defTabSz="812810" rtl="0" eaLnBrk="1" latinLnBrk="0" hangingPunct="1">
      <a:defRPr sz="3200" kern="1200">
        <a:solidFill>
          <a:schemeClr val="tx1"/>
        </a:solidFill>
        <a:latin typeface="+mn-lt"/>
        <a:ea typeface="+mn-ea"/>
        <a:cs typeface="+mn-cs"/>
      </a:defRPr>
    </a:lvl8pPr>
    <a:lvl9pPr marL="6502481" algn="l" defTabSz="812810" rtl="0" eaLnBrk="1" latinLnBrk="0" hangingPunct="1">
      <a:defRPr sz="32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slides" id="{C7F91DBA-90A9-5343-8B43-F0D96459C604}">
          <p14:sldIdLst>
            <p14:sldId id="267"/>
            <p14:sldId id="530"/>
            <p14:sldId id="544"/>
            <p14:sldId id="521"/>
            <p14:sldId id="519"/>
            <p14:sldId id="517"/>
            <p14:sldId id="522"/>
            <p14:sldId id="520"/>
            <p14:sldId id="531"/>
            <p14:sldId id="532"/>
            <p14:sldId id="533"/>
            <p14:sldId id="534"/>
            <p14:sldId id="535"/>
            <p14:sldId id="536"/>
            <p14:sldId id="537"/>
            <p14:sldId id="538"/>
            <p14:sldId id="539"/>
            <p14:sldId id="540"/>
            <p14:sldId id="541"/>
            <p14:sldId id="542"/>
            <p14:sldId id="524"/>
          </p14:sldIdLst>
        </p14:section>
      </p14:sectionLst>
    </p:ext>
    <p:ext uri="{EFAFB233-063F-42B5-8137-9DF3F51BA10A}">
      <p15:sldGuideLst xmlns:p15="http://schemas.microsoft.com/office/powerpoint/2012/main">
        <p15:guide id="1" orient="horz" pos="3216" userDrawn="1">
          <p15:clr>
            <a:srgbClr val="A4A3A4"/>
          </p15:clr>
        </p15:guide>
        <p15:guide id="2" pos="5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F92"/>
    <a:srgbClr val="00274C"/>
    <a:srgbClr val="E4E1DF"/>
    <a:srgbClr val="B5B5B5"/>
    <a:srgbClr val="050909"/>
    <a:srgbClr val="FFCB05"/>
    <a:srgbClr val="EA6A20"/>
    <a:srgbClr val="06090A"/>
    <a:srgbClr val="090B0B"/>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00"/>
    <p:restoredTop sz="81013"/>
  </p:normalViewPr>
  <p:slideViewPr>
    <p:cSldViewPr snapToGrid="0">
      <p:cViewPr varScale="1">
        <p:scale>
          <a:sx n="45" d="100"/>
          <a:sy n="45" d="100"/>
        </p:scale>
        <p:origin x="744" y="43"/>
      </p:cViewPr>
      <p:guideLst>
        <p:guide orient="horz" pos="3216"/>
        <p:guide pos="5120"/>
      </p:guideLst>
    </p:cSldViewPr>
  </p:slideViewPr>
  <p:notesTextViewPr>
    <p:cViewPr>
      <p:scale>
        <a:sx n="110" d="100"/>
        <a:sy n="110" d="100"/>
      </p:scale>
      <p:origin x="0" y="0"/>
    </p:cViewPr>
  </p:notesTextViewPr>
  <p:sorterViewPr>
    <p:cViewPr>
      <p:scale>
        <a:sx n="100" d="100"/>
        <a:sy n="100" d="100"/>
      </p:scale>
      <p:origin x="0" y="0"/>
    </p:cViewPr>
  </p:sorterViewPr>
  <p:notesViewPr>
    <p:cSldViewPr snapToGrid="0">
      <p:cViewPr varScale="1">
        <p:scale>
          <a:sx n="131" d="100"/>
          <a:sy n="131" d="100"/>
        </p:scale>
        <p:origin x="515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32C488-5493-244C-B1EB-F7CF3662E0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AD1453-9CD9-5640-A3F8-C0F3421BFA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5623C7-AC5F-3A41-B4CB-88972659BBB1}" type="datetimeFigureOut">
              <a:rPr lang="en-US" smtClean="0"/>
              <a:t>11/24/2020</a:t>
            </a:fld>
            <a:endParaRPr lang="en-US"/>
          </a:p>
        </p:txBody>
      </p:sp>
      <p:sp>
        <p:nvSpPr>
          <p:cNvPr id="4" name="Footer Placeholder 3">
            <a:extLst>
              <a:ext uri="{FF2B5EF4-FFF2-40B4-BE49-F238E27FC236}">
                <a16:creationId xmlns:a16="http://schemas.microsoft.com/office/drawing/2014/main" id="{514A9942-DAC7-014E-98D2-7E2678599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1CB1E6-A261-2741-AFAE-436A65E0D5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EC83E3-4C2A-B644-AB75-B8266C440FBE}" type="slidenum">
              <a:rPr lang="en-US" smtClean="0"/>
              <a:t>‹#›</a:t>
            </a:fld>
            <a:endParaRPr lang="en-US"/>
          </a:p>
        </p:txBody>
      </p:sp>
    </p:spTree>
    <p:extLst>
      <p:ext uri="{BB962C8B-B14F-4D97-AF65-F5344CB8AC3E}">
        <p14:creationId xmlns:p14="http://schemas.microsoft.com/office/powerpoint/2010/main" val="3172161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33527-EF9E-5940-92CE-307645268EE1}" type="datetimeFigureOut">
              <a:rPr lang="en-US" smtClean="0"/>
              <a:t>11/24/2020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3DB68-E51C-0443-B8CE-2997CF470B35}" type="slidenum">
              <a:rPr lang="en-US" smtClean="0"/>
              <a:t>‹#›</a:t>
            </a:fld>
            <a:endParaRPr lang="en-US"/>
          </a:p>
        </p:txBody>
      </p:sp>
    </p:spTree>
    <p:extLst>
      <p:ext uri="{BB962C8B-B14F-4D97-AF65-F5344CB8AC3E}">
        <p14:creationId xmlns:p14="http://schemas.microsoft.com/office/powerpoint/2010/main" val="720693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u="none" dirty="0"/>
          </a:p>
        </p:txBody>
      </p:sp>
      <p:sp>
        <p:nvSpPr>
          <p:cNvPr id="4" name="Slide Number Placeholder 3"/>
          <p:cNvSpPr>
            <a:spLocks noGrp="1"/>
          </p:cNvSpPr>
          <p:nvPr>
            <p:ph type="sldNum" sz="quarter" idx="5"/>
          </p:nvPr>
        </p:nvSpPr>
        <p:spPr/>
        <p:txBody>
          <a:bodyPr/>
          <a:lstStyle/>
          <a:p>
            <a:fld id="{C773DB68-E51C-0443-B8CE-2997CF470B35}" type="slidenum">
              <a:rPr lang="en-US" smtClean="0"/>
              <a:t>1</a:t>
            </a:fld>
            <a:endParaRPr lang="en-US"/>
          </a:p>
        </p:txBody>
      </p:sp>
    </p:spTree>
    <p:extLst>
      <p:ext uri="{BB962C8B-B14F-4D97-AF65-F5344CB8AC3E}">
        <p14:creationId xmlns:p14="http://schemas.microsoft.com/office/powerpoint/2010/main" val="589917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2</a:t>
            </a:fld>
            <a:endParaRPr lang="en-US"/>
          </a:p>
        </p:txBody>
      </p:sp>
    </p:spTree>
    <p:extLst>
      <p:ext uri="{BB962C8B-B14F-4D97-AF65-F5344CB8AC3E}">
        <p14:creationId xmlns:p14="http://schemas.microsoft.com/office/powerpoint/2010/main" val="91627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3</a:t>
            </a:fld>
            <a:endParaRPr lang="en-US"/>
          </a:p>
        </p:txBody>
      </p:sp>
    </p:spTree>
    <p:extLst>
      <p:ext uri="{BB962C8B-B14F-4D97-AF65-F5344CB8AC3E}">
        <p14:creationId xmlns:p14="http://schemas.microsoft.com/office/powerpoint/2010/main" val="2554113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4</a:t>
            </a:fld>
            <a:endParaRPr lang="en-US"/>
          </a:p>
        </p:txBody>
      </p:sp>
    </p:spTree>
    <p:extLst>
      <p:ext uri="{BB962C8B-B14F-4D97-AF65-F5344CB8AC3E}">
        <p14:creationId xmlns:p14="http://schemas.microsoft.com/office/powerpoint/2010/main" val="3327935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5</a:t>
            </a:fld>
            <a:endParaRPr lang="en-US"/>
          </a:p>
        </p:txBody>
      </p:sp>
    </p:spTree>
    <p:extLst>
      <p:ext uri="{BB962C8B-B14F-4D97-AF65-F5344CB8AC3E}">
        <p14:creationId xmlns:p14="http://schemas.microsoft.com/office/powerpoint/2010/main" val="1501632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spcBef>
                <a:spcPct val="10000"/>
              </a:spcBef>
              <a:buFontTx/>
              <a:buNone/>
              <a:defRPr/>
            </a:pPr>
            <a:endParaRPr lang="en-US" sz="2400" dirty="0">
              <a:solidFill>
                <a:schemeClr val="accent6"/>
              </a:solidFill>
            </a:endParaRPr>
          </a:p>
        </p:txBody>
      </p:sp>
      <p:sp>
        <p:nvSpPr>
          <p:cNvPr id="4" name="Slide Number Placeholder 3"/>
          <p:cNvSpPr>
            <a:spLocks noGrp="1"/>
          </p:cNvSpPr>
          <p:nvPr>
            <p:ph type="sldNum" sz="quarter" idx="5"/>
          </p:nvPr>
        </p:nvSpPr>
        <p:spPr/>
        <p:txBody>
          <a:bodyPr/>
          <a:lstStyle/>
          <a:p>
            <a:fld id="{C773DB68-E51C-0443-B8CE-2997CF470B35}" type="slidenum">
              <a:rPr lang="en-US" smtClean="0"/>
              <a:t>6</a:t>
            </a:fld>
            <a:endParaRPr lang="en-US"/>
          </a:p>
        </p:txBody>
      </p:sp>
    </p:spTree>
    <p:extLst>
      <p:ext uri="{BB962C8B-B14F-4D97-AF65-F5344CB8AC3E}">
        <p14:creationId xmlns:p14="http://schemas.microsoft.com/office/powerpoint/2010/main" val="3177532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b="0" kern="1200" baseline="0" dirty="0">
              <a:solidFill>
                <a:schemeClr val="tx1"/>
              </a:solidFill>
              <a:effectLst/>
              <a:latin typeface="Arial" charset="0"/>
              <a:ea typeface="+mn-ea"/>
              <a:cs typeface="+mn-cs"/>
            </a:endParaRPr>
          </a:p>
        </p:txBody>
      </p:sp>
      <p:sp>
        <p:nvSpPr>
          <p:cNvPr id="4" name="Slide Number Placeholder 3"/>
          <p:cNvSpPr>
            <a:spLocks noGrp="1"/>
          </p:cNvSpPr>
          <p:nvPr>
            <p:ph type="sldNum" sz="quarter" idx="5"/>
          </p:nvPr>
        </p:nvSpPr>
        <p:spPr/>
        <p:txBody>
          <a:bodyPr/>
          <a:lstStyle/>
          <a:p>
            <a:fld id="{C773DB68-E51C-0443-B8CE-2997CF470B35}" type="slidenum">
              <a:rPr lang="en-US" smtClean="0"/>
              <a:t>7</a:t>
            </a:fld>
            <a:endParaRPr lang="en-US"/>
          </a:p>
        </p:txBody>
      </p:sp>
    </p:spTree>
    <p:extLst>
      <p:ext uri="{BB962C8B-B14F-4D97-AF65-F5344CB8AC3E}">
        <p14:creationId xmlns:p14="http://schemas.microsoft.com/office/powerpoint/2010/main" val="9975454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8</a:t>
            </a:fld>
            <a:endParaRPr lang="en-US"/>
          </a:p>
        </p:txBody>
      </p:sp>
    </p:spTree>
    <p:extLst>
      <p:ext uri="{BB962C8B-B14F-4D97-AF65-F5344CB8AC3E}">
        <p14:creationId xmlns:p14="http://schemas.microsoft.com/office/powerpoint/2010/main" val="3329090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11</a:t>
            </a:fld>
            <a:endParaRPr lang="en-US"/>
          </a:p>
        </p:txBody>
      </p:sp>
    </p:spTree>
    <p:extLst>
      <p:ext uri="{BB962C8B-B14F-4D97-AF65-F5344CB8AC3E}">
        <p14:creationId xmlns:p14="http://schemas.microsoft.com/office/powerpoint/2010/main" val="431606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12</a:t>
            </a:fld>
            <a:endParaRPr lang="en-US"/>
          </a:p>
        </p:txBody>
      </p:sp>
    </p:spTree>
    <p:extLst>
      <p:ext uri="{BB962C8B-B14F-4D97-AF65-F5344CB8AC3E}">
        <p14:creationId xmlns:p14="http://schemas.microsoft.com/office/powerpoint/2010/main" val="5172894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19</a:t>
            </a:fld>
            <a:endParaRPr lang="en-US"/>
          </a:p>
        </p:txBody>
      </p:sp>
    </p:spTree>
    <p:extLst>
      <p:ext uri="{BB962C8B-B14F-4D97-AF65-F5344CB8AC3E}">
        <p14:creationId xmlns:p14="http://schemas.microsoft.com/office/powerpoint/2010/main" val="17004026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21</a:t>
            </a:fld>
            <a:endParaRPr lang="en-US"/>
          </a:p>
        </p:txBody>
      </p:sp>
    </p:spTree>
    <p:extLst>
      <p:ext uri="{BB962C8B-B14F-4D97-AF65-F5344CB8AC3E}">
        <p14:creationId xmlns:p14="http://schemas.microsoft.com/office/powerpoint/2010/main" val="4052534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620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86959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B94A1462-55F6-494B-8554-951DED06E28A}"/>
              </a:ext>
            </a:extLst>
          </p:cNvPr>
          <p:cNvSpPr>
            <a:spLocks noGrp="1"/>
          </p:cNvSpPr>
          <p:nvPr>
            <p:ph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3604544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2738806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er notes (not to be shown in video)">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81665" y="1301578"/>
            <a:ext cx="13007546" cy="5807676"/>
          </a:xfr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3474145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7000">
              <a:srgbClr val="ECECEC"/>
            </a:gs>
            <a:gs pos="80000">
              <a:schemeClr val="bg1"/>
            </a:gs>
            <a:gs pos="2000">
              <a:schemeClr val="bg1">
                <a:lumMod val="50000"/>
              </a:schemeClr>
            </a:gs>
          </a:gsLst>
          <a:lin ang="16200000" scaled="0"/>
          <a:tileRect/>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F79A2DE-44A3-E846-BDE0-2432CDF19ED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3957" y="0"/>
            <a:ext cx="16271545" cy="7776028"/>
          </a:xfrm>
          <a:prstGeom prst="rect">
            <a:avLst/>
          </a:prstGeom>
        </p:spPr>
      </p:pic>
      <p:sp>
        <p:nvSpPr>
          <p:cNvPr id="3" name="Rectangle 2"/>
          <p:cNvSpPr/>
          <p:nvPr userDrawn="1"/>
        </p:nvSpPr>
        <p:spPr>
          <a:xfrm>
            <a:off x="0" y="7674428"/>
            <a:ext cx="16257588" cy="1469571"/>
          </a:xfrm>
          <a:prstGeom prst="rect">
            <a:avLst/>
          </a:prstGeom>
          <a:solidFill>
            <a:srgbClr val="00274C"/>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descr="M_SchoolPublicHealth_logo_white.png"/>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759986" y="8007770"/>
            <a:ext cx="5372640" cy="767520"/>
          </a:xfrm>
          <a:prstGeom prst="rect">
            <a:avLst/>
          </a:prstGeom>
        </p:spPr>
      </p:pic>
      <p:sp>
        <p:nvSpPr>
          <p:cNvPr id="5" name="Rectangle 4"/>
          <p:cNvSpPr/>
          <p:nvPr userDrawn="1"/>
        </p:nvSpPr>
        <p:spPr>
          <a:xfrm>
            <a:off x="0" y="7623628"/>
            <a:ext cx="16257588" cy="152400"/>
          </a:xfrm>
          <a:prstGeom prst="rect">
            <a:avLst/>
          </a:prstGeom>
          <a:solidFill>
            <a:srgbClr val="FFCB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FA01CEF-1B1A-0A48-82FA-0DF2D06BC503}"/>
              </a:ext>
            </a:extLst>
          </p:cNvPr>
          <p:cNvSpPr/>
          <p:nvPr userDrawn="1"/>
        </p:nvSpPr>
        <p:spPr>
          <a:xfrm>
            <a:off x="0" y="4767944"/>
            <a:ext cx="16257588" cy="2846366"/>
          </a:xfrm>
          <a:prstGeom prst="rect">
            <a:avLst/>
          </a:prstGeom>
          <a:gradFill flip="none" rotWithShape="1">
            <a:gsLst>
              <a:gs pos="100000">
                <a:srgbClr val="587ABC">
                  <a:lumMod val="74000"/>
                  <a:alpha val="55000"/>
                </a:srgbClr>
              </a:gs>
              <a:gs pos="0">
                <a:schemeClr val="bg1">
                  <a:lumMod val="95000"/>
                </a:schemeClr>
              </a:gs>
              <a:gs pos="66000">
                <a:srgbClr val="EEEEEE"/>
              </a:gs>
            </a:gsLst>
            <a:lin ang="1200000" scaled="0"/>
            <a:tileRect/>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25F38555-B398-464F-9B4E-17CD4019591E}"/>
              </a:ext>
            </a:extLst>
          </p:cNvPr>
          <p:cNvPicPr>
            <a:picLocks noChangeAspect="1"/>
          </p:cNvPicPr>
          <p:nvPr userDrawn="1"/>
        </p:nvPicPr>
        <p:blipFill rotWithShape="1">
          <a:blip r:embed="rId5" cstate="hqprint">
            <a:alphaModFix amt="20000"/>
            <a:extLst>
              <a:ext uri="{28A0092B-C50C-407E-A947-70E740481C1C}">
                <a14:useLocalDpi xmlns:a14="http://schemas.microsoft.com/office/drawing/2010/main"/>
              </a:ext>
            </a:extLst>
          </a:blip>
          <a:srcRect/>
          <a:stretch/>
        </p:blipFill>
        <p:spPr>
          <a:xfrm>
            <a:off x="-13957" y="4757918"/>
            <a:ext cx="12192001" cy="2891110"/>
          </a:xfrm>
          <a:prstGeom prst="rect">
            <a:avLst/>
          </a:prstGeom>
        </p:spPr>
      </p:pic>
      <p:cxnSp>
        <p:nvCxnSpPr>
          <p:cNvPr id="18" name="Straight Connector 17">
            <a:extLst>
              <a:ext uri="{FF2B5EF4-FFF2-40B4-BE49-F238E27FC236}">
                <a16:creationId xmlns:a16="http://schemas.microsoft.com/office/drawing/2014/main" id="{33F0919A-AFA5-E147-95FD-08292D7FF4FB}"/>
              </a:ext>
            </a:extLst>
          </p:cNvPr>
          <p:cNvCxnSpPr>
            <a:cxnSpLocks/>
          </p:cNvCxnSpPr>
          <p:nvPr userDrawn="1"/>
        </p:nvCxnSpPr>
        <p:spPr>
          <a:xfrm>
            <a:off x="0" y="6607960"/>
            <a:ext cx="10140043" cy="0"/>
          </a:xfrm>
          <a:prstGeom prst="line">
            <a:avLst/>
          </a:prstGeom>
          <a:ln w="38100">
            <a:solidFill>
              <a:srgbClr val="00274C"/>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5ED9A923-5028-2F43-A7E3-007357342122}"/>
              </a:ext>
            </a:extLst>
          </p:cNvPr>
          <p:cNvSpPr/>
          <p:nvPr userDrawn="1"/>
        </p:nvSpPr>
        <p:spPr>
          <a:xfrm>
            <a:off x="0" y="4550950"/>
            <a:ext cx="16257588" cy="224918"/>
          </a:xfrm>
          <a:prstGeom prst="rect">
            <a:avLst/>
          </a:prstGeom>
          <a:gradFill>
            <a:gsLst>
              <a:gs pos="63000">
                <a:schemeClr val="bg1"/>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3915076"/>
      </p:ext>
    </p:extLst>
  </p:cSld>
  <p:clrMap bg1="lt1" tx1="dk1" bg2="lt2" tx2="dk2" accent1="accent1" accent2="accent2" accent3="accent3" accent4="accent4" accent5="accent5" accent6="accent6" hlink="hlink" folHlink="folHlink"/>
  <p:sldLayoutIdLst>
    <p:sldLayoutId id="214748377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14631828"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14631828" cy="870385"/>
          </a:xfrm>
          <a:prstGeom prst="rect">
            <a:avLst/>
          </a:prstGeom>
        </p:spPr>
        <p:txBody>
          <a:bodyPr vert="horz" lIns="91440" tIns="45720" rIns="91440" bIns="45720" rtlCol="0" anchor="ctr">
            <a:noAutofit/>
          </a:bodyPr>
          <a:lstStyle/>
          <a:p>
            <a:r>
              <a:rPr lang="en-US" dirty="0"/>
              <a:t>Click to edit Master title style</a:t>
            </a:r>
          </a:p>
        </p:txBody>
      </p:sp>
      <p:sp>
        <p:nvSpPr>
          <p:cNvPr id="10" name="Rectangle 9">
            <a:extLst>
              <a:ext uri="{FF2B5EF4-FFF2-40B4-BE49-F238E27FC236}">
                <a16:creationId xmlns:a16="http://schemas.microsoft.com/office/drawing/2014/main" id="{E0D8E102-C795-3941-9125-C4D5BBD0193F}"/>
              </a:ext>
            </a:extLst>
          </p:cNvPr>
          <p:cNvSpPr/>
          <p:nvPr userDrawn="1"/>
        </p:nvSpPr>
        <p:spPr>
          <a:xfrm>
            <a:off x="0" y="0"/>
            <a:ext cx="16257588" cy="224918"/>
          </a:xfrm>
          <a:prstGeom prst="rect">
            <a:avLst/>
          </a:prstGeom>
          <a:gradFill>
            <a:gsLst>
              <a:gs pos="63000">
                <a:srgbClr val="00274C"/>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BB45DA2-7C42-8445-AD00-272875B751FD}"/>
              </a:ext>
            </a:extLst>
          </p:cNvPr>
          <p:cNvCxnSpPr>
            <a:cxnSpLocks/>
          </p:cNvCxnSpPr>
          <p:nvPr userDrawn="1"/>
        </p:nvCxnSpPr>
        <p:spPr>
          <a:xfrm>
            <a:off x="1023582" y="1210794"/>
            <a:ext cx="14343797" cy="0"/>
          </a:xfrm>
          <a:prstGeom prst="line">
            <a:avLst/>
          </a:prstGeom>
          <a:ln w="381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BF1E5EF9-7466-AC4A-8B9B-8C26E6EB2668}"/>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E2D098-25F8-1B47-A897-734EE7598560}"/>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842840"/>
      </p:ext>
    </p:extLst>
  </p:cSld>
  <p:clrMap bg1="lt1" tx1="dk1" bg2="lt2" tx2="dk2" accent1="accent1" accent2="accent2" accent3="accent3" accent4="accent4" accent5="accent5" accent6="accent6" hlink="hlink" folHlink="folHlink"/>
  <p:sldLayoutIdLst>
    <p:sldLayoutId id="2147483791"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E75BEE-68E8-7E41-9537-113B0DA1B9A2}"/>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EABBCB0-652C-4D4B-9603-135F326E9486}"/>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
        <p:nvSpPr>
          <p:cNvPr id="6" name="Text Placeholder 1">
            <a:extLst>
              <a:ext uri="{FF2B5EF4-FFF2-40B4-BE49-F238E27FC236}">
                <a16:creationId xmlns:a16="http://schemas.microsoft.com/office/drawing/2014/main" id="{3FF513C8-0BD3-FA4B-8D9A-FB9C21ECBC36}"/>
              </a:ext>
            </a:extLst>
          </p:cNvPr>
          <p:cNvSpPr>
            <a:spLocks noGrp="1"/>
          </p:cNvSpPr>
          <p:nvPr>
            <p:ph type="body"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1262599898"/>
      </p:ext>
    </p:extLst>
  </p:cSld>
  <p:clrMap bg1="lt1" tx1="dk1" bg2="lt2" tx2="dk2" accent1="accent1" accent2="accent2" accent3="accent3" accent4="accent4" accent5="accent5" accent6="accent6" hlink="hlink" folHlink="folHlink"/>
  <p:sldLayoutIdLst>
    <p:sldLayoutId id="2147483807"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9489860"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9489860" cy="870385"/>
          </a:xfrm>
          <a:prstGeom prst="rect">
            <a:avLst/>
          </a:prstGeom>
        </p:spPr>
        <p:txBody>
          <a:bodyPr vert="horz" lIns="91440" tIns="45720" rIns="91440" bIns="45720" rtlCol="0" anchor="ctr">
            <a:noAutofit/>
          </a:bodyPr>
          <a:lstStyle/>
          <a:p>
            <a:r>
              <a:rPr lang="en-US" dirty="0"/>
              <a:t>Click to edit Master title style</a:t>
            </a:r>
          </a:p>
        </p:txBody>
      </p:sp>
      <p:sp>
        <p:nvSpPr>
          <p:cNvPr id="6" name="Rectangle 5">
            <a:extLst>
              <a:ext uri="{FF2B5EF4-FFF2-40B4-BE49-F238E27FC236}">
                <a16:creationId xmlns:a16="http://schemas.microsoft.com/office/drawing/2014/main" id="{22C5F1F8-1280-884E-8894-968C107F09E4}"/>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1F80828F-C4E5-CD4A-8C1F-761E9B421162}"/>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0462567"/>
      </p:ext>
    </p:extLst>
  </p:cSld>
  <p:clrMap bg1="lt1" tx1="dk1" bg2="lt2" tx2="dk2" accent1="accent1" accent2="accent2" accent3="accent3" accent4="accent4" accent5="accent5" accent6="accent6" hlink="hlink" folHlink="folHlink"/>
  <p:sldLayoutIdLst>
    <p:sldLayoutId id="2147483809"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2084172" y="1066154"/>
            <a:ext cx="12002531" cy="5802312"/>
          </a:xfrm>
          <a:prstGeom prst="rect">
            <a:avLst/>
          </a:prstGeom>
        </p:spPr>
        <p:txBody>
          <a:bodyPr vert="horz" lIns="91440" tIns="45720" rIns="91440" bIns="45720" rtlCol="0">
            <a:normAutofit/>
          </a:bodyPr>
          <a:lstStyle/>
          <a:p>
            <a:pPr lvl="0"/>
            <a:r>
              <a:rPr lang="en-US" dirty="0"/>
              <a:t>Edit Master text styles</a:t>
            </a:r>
          </a:p>
          <a:p>
            <a:pPr lvl="1"/>
            <a:r>
              <a:rPr lang="en-US" dirty="0"/>
              <a:t>	Edit Master text styles</a:t>
            </a:r>
          </a:p>
          <a:p>
            <a:pPr lvl="2"/>
            <a:r>
              <a:rPr lang="en-US" dirty="0"/>
              <a:t>Edit Master Text styles</a:t>
            </a:r>
          </a:p>
        </p:txBody>
      </p:sp>
    </p:spTree>
    <p:extLst>
      <p:ext uri="{BB962C8B-B14F-4D97-AF65-F5344CB8AC3E}">
        <p14:creationId xmlns:p14="http://schemas.microsoft.com/office/powerpoint/2010/main" val="1365302262"/>
      </p:ext>
    </p:extLst>
  </p:cSld>
  <p:clrMap bg1="lt1" tx1="dk1" bg2="lt2" tx2="dk2" accent1="accent1" accent2="accent2" accent3="accent3" accent4="accent4" accent5="accent5" accent6="accent6" hlink="hlink" folHlink="folHlink"/>
  <p:sldLayoutIdLst>
    <p:sldLayoutId id="21474837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Courier New" panose="02070309020205020404" pitchFamily="49" charset="0"/>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2000" kern="1200" baseline="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9.sv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image" Target="../media/image21.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1" y="5058674"/>
            <a:ext cx="14799129" cy="1282491"/>
          </a:xfrm>
          <a:prstGeom prst="rect">
            <a:avLst/>
          </a:prstGeom>
        </p:spPr>
        <p:txBody>
          <a:bodyPr anchor="t">
            <a:normAutofit fontScale="9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5800" b="1" dirty="0"/>
              <a:t>Life Cycle Inventory Databases</a:t>
            </a:r>
            <a:r>
              <a:rPr lang="en-US" sz="2800" b="1" dirty="0"/>
              <a:t/>
            </a:r>
            <a:br>
              <a:rPr lang="en-US" sz="2800" b="1" dirty="0"/>
            </a:br>
            <a:r>
              <a:rPr lang="en-US" altLang="en-US" sz="3900" b="1" dirty="0">
                <a:solidFill>
                  <a:srgbClr val="D86018"/>
                </a:solidFill>
              </a:rPr>
              <a:t>Where to find consistent and high quality LCI data?</a:t>
            </a: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r>
              <a:rPr lang="en-US" sz="2500" b="1" dirty="0"/>
              <a:t>Olivier Jolliet, PhD</a:t>
            </a:r>
            <a:endParaRPr lang="en-US" sz="2500" dirty="0"/>
          </a:p>
        </p:txBody>
      </p:sp>
    </p:spTree>
    <p:extLst>
      <p:ext uri="{BB962C8B-B14F-4D97-AF65-F5344CB8AC3E}">
        <p14:creationId xmlns:p14="http://schemas.microsoft.com/office/powerpoint/2010/main" val="3536684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p:txBody>
          <a:bodyPr/>
          <a:lstStyle/>
          <a:p>
            <a:r>
              <a:rPr lang="en-US" dirty="0">
                <a:solidFill>
                  <a:schemeClr val="tx2"/>
                </a:solidFill>
              </a:rPr>
              <a:t>Learning Objectives</a:t>
            </a:r>
          </a:p>
        </p:txBody>
      </p:sp>
      <p:sp>
        <p:nvSpPr>
          <p:cNvPr id="45" name="Text Placeholder 2">
            <a:extLst>
              <a:ext uri="{FF2B5EF4-FFF2-40B4-BE49-F238E27FC236}">
                <a16:creationId xmlns:a16="http://schemas.microsoft.com/office/drawing/2014/main" id="{1C63FD6C-8B55-0A4A-A3F9-421E18D7D835}"/>
              </a:ext>
            </a:extLst>
          </p:cNvPr>
          <p:cNvSpPr>
            <a:spLocks noGrp="1"/>
          </p:cNvSpPr>
          <p:nvPr>
            <p:ph type="body" sz="quarter" idx="10"/>
          </p:nvPr>
        </p:nvSpPr>
        <p:spPr>
          <a:xfrm>
            <a:off x="880211" y="1596325"/>
            <a:ext cx="14630400" cy="6183824"/>
          </a:xfrm>
        </p:spPr>
        <p:txBody>
          <a:bodyPr>
            <a:normAutofit/>
          </a:bodyPr>
          <a:lstStyle/>
          <a:p>
            <a:pPr marL="693738" indent="-681038">
              <a:spcAft>
                <a:spcPts val="1200"/>
              </a:spcAft>
              <a:buClr>
                <a:schemeClr val="accent1"/>
              </a:buClr>
              <a:buFont typeface="Arial Bold"/>
              <a:buChar char="►"/>
            </a:pPr>
            <a:r>
              <a:rPr lang="en-US" altLang="en-US" dirty="0"/>
              <a:t>Describe the different life cycle inventory (LCI) databases</a:t>
            </a:r>
          </a:p>
          <a:p>
            <a:pPr marL="693738" indent="-681038">
              <a:spcAft>
                <a:spcPts val="3200"/>
              </a:spcAft>
              <a:buClr>
                <a:schemeClr val="accent1"/>
              </a:buClr>
              <a:buFont typeface="Arial Bold"/>
              <a:buChar char="►"/>
            </a:pPr>
            <a:r>
              <a:rPr lang="en-US" dirty="0"/>
              <a:t>Illustrate the data format of the </a:t>
            </a:r>
            <a:r>
              <a:rPr lang="en-US" dirty="0" err="1"/>
              <a:t>ecoinvent</a:t>
            </a:r>
            <a:r>
              <a:rPr lang="en-US" dirty="0"/>
              <a:t> database</a:t>
            </a:r>
          </a:p>
          <a:p>
            <a:pPr marL="693738" indent="-681038">
              <a:spcAft>
                <a:spcPts val="3200"/>
              </a:spcAft>
              <a:buClr>
                <a:schemeClr val="accent1"/>
              </a:buClr>
              <a:buFont typeface="Arial Bold"/>
              <a:buChar char="►"/>
            </a:pPr>
            <a:r>
              <a:rPr lang="en-US" dirty="0"/>
              <a:t>Recognize the different types of data and energy-based </a:t>
            </a:r>
            <a:br>
              <a:rPr lang="en-US" dirty="0"/>
            </a:br>
            <a:r>
              <a:rPr lang="en-US" dirty="0"/>
              <a:t>inventory flows, and use them adequately</a:t>
            </a:r>
          </a:p>
          <a:p>
            <a:pPr marL="693738" indent="-681038">
              <a:spcAft>
                <a:spcPts val="3200"/>
              </a:spcAft>
              <a:buClr>
                <a:schemeClr val="accent1"/>
              </a:buClr>
              <a:buFont typeface="Arial Bold"/>
              <a:buChar char="►"/>
            </a:pPr>
            <a:r>
              <a:rPr lang="en-US" dirty="0"/>
              <a:t>Identify sources for guidance for direct LCI data collection</a:t>
            </a:r>
          </a:p>
        </p:txBody>
      </p:sp>
    </p:spTree>
    <p:extLst>
      <p:ext uri="{BB962C8B-B14F-4D97-AF65-F5344CB8AC3E}">
        <p14:creationId xmlns:p14="http://schemas.microsoft.com/office/powerpoint/2010/main" val="2275473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2CA94A15-2E1D-EF4E-A3FE-19CC78A4FEF0}"/>
              </a:ext>
            </a:extLst>
          </p:cNvPr>
          <p:cNvSpPr/>
          <p:nvPr/>
        </p:nvSpPr>
        <p:spPr>
          <a:xfrm>
            <a:off x="8698037" y="2451493"/>
            <a:ext cx="6746671" cy="82141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dirty="0">
                <a:solidFill>
                  <a:schemeClr val="bg1"/>
                </a:solidFill>
              </a:rPr>
              <a:t>CONSEQUENTIAL</a:t>
            </a:r>
            <a:endParaRPr lang="en-US" b="1" dirty="0">
              <a:solidFill>
                <a:schemeClr val="bg1"/>
              </a:solidFill>
            </a:endParaRPr>
          </a:p>
        </p:txBody>
      </p:sp>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Main LCI database</a:t>
            </a:r>
            <a:endParaRPr lang="en-US" altLang="en-US" sz="3200" dirty="0"/>
          </a:p>
        </p:txBody>
      </p:sp>
      <p:sp>
        <p:nvSpPr>
          <p:cNvPr id="40" name="Title 1">
            <a:extLst>
              <a:ext uri="{FF2B5EF4-FFF2-40B4-BE49-F238E27FC236}">
                <a16:creationId xmlns:a16="http://schemas.microsoft.com/office/drawing/2014/main" id="{1B1BE47B-6022-6941-8A4C-01289F175959}"/>
              </a:ext>
            </a:extLst>
          </p:cNvPr>
          <p:cNvSpPr txBox="1">
            <a:spLocks/>
          </p:cNvSpPr>
          <p:nvPr/>
        </p:nvSpPr>
        <p:spPr>
          <a:xfrm>
            <a:off x="1095375" y="1188172"/>
            <a:ext cx="14191487" cy="914738"/>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sz="3200" b="1" dirty="0"/>
              <a:t>Two types of modeling</a:t>
            </a:r>
            <a:r>
              <a:rPr lang="en-US" altLang="en-US" sz="3200" dirty="0"/>
              <a:t>, answering different questions</a:t>
            </a:r>
          </a:p>
        </p:txBody>
      </p:sp>
      <p:sp>
        <p:nvSpPr>
          <p:cNvPr id="41" name="Content Placeholder 2">
            <a:extLst>
              <a:ext uri="{FF2B5EF4-FFF2-40B4-BE49-F238E27FC236}">
                <a16:creationId xmlns:a16="http://schemas.microsoft.com/office/drawing/2014/main" id="{E5F6AEC7-7EC6-2C47-9848-165004E8F68C}"/>
              </a:ext>
            </a:extLst>
          </p:cNvPr>
          <p:cNvSpPr txBox="1">
            <a:spLocks/>
          </p:cNvSpPr>
          <p:nvPr/>
        </p:nvSpPr>
        <p:spPr>
          <a:xfrm>
            <a:off x="8729034" y="3574989"/>
            <a:ext cx="6746670" cy="3895192"/>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2800" dirty="0"/>
              <a:t>“What are the environmental </a:t>
            </a:r>
            <a:br>
              <a:rPr lang="en-US" altLang="en-US" sz="2800" dirty="0"/>
            </a:br>
            <a:r>
              <a:rPr lang="en-US" altLang="en-US" sz="2800" dirty="0"/>
              <a:t>impacts related to those activities that </a:t>
            </a:r>
            <a:br>
              <a:rPr lang="en-US" altLang="en-US" sz="2800" dirty="0"/>
            </a:br>
            <a:r>
              <a:rPr lang="en-US" altLang="en-US" sz="2800" i="1" dirty="0"/>
              <a:t>are expected to </a:t>
            </a:r>
            <a:r>
              <a:rPr lang="en-US" altLang="en-US" sz="2800" i="1" dirty="0">
                <a:solidFill>
                  <a:schemeClr val="accent2"/>
                </a:solidFill>
              </a:rPr>
              <a:t>change</a:t>
            </a:r>
            <a:r>
              <a:rPr lang="en-US" altLang="en-US" sz="2800" dirty="0"/>
              <a:t> when </a:t>
            </a:r>
            <a:br>
              <a:rPr lang="en-US" altLang="en-US" sz="2800" dirty="0"/>
            </a:br>
            <a:r>
              <a:rPr lang="en-US" altLang="en-US" sz="2800" dirty="0"/>
              <a:t>producing, consuming, and disposing </a:t>
            </a:r>
            <a:br>
              <a:rPr lang="en-US" altLang="en-US" sz="2800" dirty="0"/>
            </a:br>
            <a:r>
              <a:rPr lang="en-US" altLang="en-US" sz="2800" dirty="0"/>
              <a:t>of the product?”</a:t>
            </a:r>
          </a:p>
          <a:p>
            <a:endParaRPr lang="en-US" altLang="en-US" sz="2800" dirty="0"/>
          </a:p>
          <a:p>
            <a:r>
              <a:rPr lang="en-US" altLang="en-US" sz="2800" dirty="0">
                <a:solidFill>
                  <a:schemeClr val="accent2"/>
                </a:solidFill>
                <a:sym typeface="Wingdings" panose="05000000000000000000" pitchFamily="2" charset="2"/>
              </a:rPr>
              <a:t> </a:t>
            </a:r>
            <a:r>
              <a:rPr lang="en-US" altLang="en-US" sz="2800" dirty="0">
                <a:sym typeface="Wingdings" panose="05000000000000000000" pitchFamily="2" charset="2"/>
              </a:rPr>
              <a:t>identify the marginal production </a:t>
            </a:r>
            <a:br>
              <a:rPr lang="en-US" altLang="en-US" sz="2800" dirty="0">
                <a:sym typeface="Wingdings" panose="05000000000000000000" pitchFamily="2" charset="2"/>
              </a:rPr>
            </a:br>
            <a:r>
              <a:rPr lang="en-US" altLang="en-US" sz="2800" dirty="0">
                <a:sym typeface="Wingdings" panose="05000000000000000000" pitchFamily="2" charset="2"/>
              </a:rPr>
              <a:t>(e.g. gas power plant or coal powerplant)</a:t>
            </a:r>
            <a:endParaRPr lang="en-US" altLang="en-US" sz="2800" dirty="0"/>
          </a:p>
        </p:txBody>
      </p:sp>
      <p:sp>
        <p:nvSpPr>
          <p:cNvPr id="42" name="Content Placeholder 2">
            <a:extLst>
              <a:ext uri="{FF2B5EF4-FFF2-40B4-BE49-F238E27FC236}">
                <a16:creationId xmlns:a16="http://schemas.microsoft.com/office/drawing/2014/main" id="{27C6F2B1-07BD-F942-86FE-5B671E222270}"/>
              </a:ext>
            </a:extLst>
          </p:cNvPr>
          <p:cNvSpPr txBox="1">
            <a:spLocks/>
          </p:cNvSpPr>
          <p:nvPr/>
        </p:nvSpPr>
        <p:spPr>
          <a:xfrm>
            <a:off x="1126371" y="3574989"/>
            <a:ext cx="6498794" cy="3373408"/>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2800" dirty="0"/>
              <a:t>“What are (the environmental impacts related to) the </a:t>
            </a:r>
            <a:r>
              <a:rPr lang="en-US" altLang="en-US" sz="2800" i="1" dirty="0">
                <a:solidFill>
                  <a:schemeClr val="accent6"/>
                </a:solidFill>
              </a:rPr>
              <a:t>allocated shares</a:t>
            </a:r>
            <a:r>
              <a:rPr lang="en-US" altLang="en-US" sz="2800" dirty="0">
                <a:solidFill>
                  <a:schemeClr val="accent6"/>
                </a:solidFill>
              </a:rPr>
              <a:t> </a:t>
            </a:r>
            <a:r>
              <a:rPr lang="en-US" altLang="en-US" sz="2800" dirty="0"/>
              <a:t>of the activities that </a:t>
            </a:r>
            <a:r>
              <a:rPr lang="en-US" altLang="en-US" sz="2800" i="1" dirty="0"/>
              <a:t>have </a:t>
            </a:r>
            <a:r>
              <a:rPr lang="en-US" altLang="en-US" sz="2800" i="1" dirty="0">
                <a:solidFill>
                  <a:schemeClr val="accent6"/>
                </a:solidFill>
              </a:rPr>
              <a:t>contributed</a:t>
            </a:r>
            <a:r>
              <a:rPr lang="en-US" altLang="en-US" sz="2800" dirty="0"/>
              <a:t> to the production, consumption, and disposal of the product?” </a:t>
            </a:r>
          </a:p>
          <a:p>
            <a:r>
              <a:rPr lang="en-US" altLang="en-US" sz="2800" dirty="0"/>
              <a:t> </a:t>
            </a:r>
            <a:br>
              <a:rPr lang="en-US" altLang="en-US" sz="2800" dirty="0"/>
            </a:br>
            <a:r>
              <a:rPr lang="en-US" altLang="en-US" sz="2800" dirty="0">
                <a:solidFill>
                  <a:schemeClr val="accent6"/>
                </a:solidFill>
                <a:sym typeface="Wingdings" panose="05000000000000000000" pitchFamily="2" charset="2"/>
              </a:rPr>
              <a:t> </a:t>
            </a:r>
            <a:r>
              <a:rPr lang="en-US" altLang="en-US" sz="2800" dirty="0">
                <a:sym typeface="Wingdings" panose="05000000000000000000" pitchFamily="2" charset="2"/>
              </a:rPr>
              <a:t>use average electricity mix</a:t>
            </a:r>
            <a:endParaRPr lang="en-US" altLang="en-US" sz="2800" dirty="0"/>
          </a:p>
        </p:txBody>
      </p:sp>
      <p:sp>
        <p:nvSpPr>
          <p:cNvPr id="4" name="Rectangle 3">
            <a:extLst>
              <a:ext uri="{FF2B5EF4-FFF2-40B4-BE49-F238E27FC236}">
                <a16:creationId xmlns:a16="http://schemas.microsoft.com/office/drawing/2014/main" id="{2C008B7D-046B-6C4E-8CED-CF2E46A0F8FB}"/>
              </a:ext>
            </a:extLst>
          </p:cNvPr>
          <p:cNvSpPr/>
          <p:nvPr/>
        </p:nvSpPr>
        <p:spPr>
          <a:xfrm>
            <a:off x="1095375" y="2451493"/>
            <a:ext cx="6746671" cy="82141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b="1" dirty="0">
                <a:solidFill>
                  <a:schemeClr val="bg1"/>
                </a:solidFill>
              </a:rPr>
              <a:t>ATTRIBUTIONAL:</a:t>
            </a:r>
            <a:endParaRPr lang="en-US" b="1" dirty="0">
              <a:solidFill>
                <a:schemeClr val="bg1"/>
              </a:solidFill>
            </a:endParaRPr>
          </a:p>
        </p:txBody>
      </p:sp>
    </p:spTree>
    <p:extLst>
      <p:ext uri="{BB962C8B-B14F-4D97-AF65-F5344CB8AC3E}">
        <p14:creationId xmlns:p14="http://schemas.microsoft.com/office/powerpoint/2010/main" val="336012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dirty="0"/>
              <a:t>LCI Data</a:t>
            </a:r>
            <a:endParaRPr lang="en-US" dirty="0">
              <a:solidFill>
                <a:schemeClr val="tx2"/>
              </a:solidFill>
            </a:endParaRPr>
          </a:p>
        </p:txBody>
      </p:sp>
      <p:sp>
        <p:nvSpPr>
          <p:cNvPr id="52" name="Text Placeholder 2">
            <a:extLst>
              <a:ext uri="{FF2B5EF4-FFF2-40B4-BE49-F238E27FC236}">
                <a16:creationId xmlns:a16="http://schemas.microsoft.com/office/drawing/2014/main" id="{533A127C-8182-6541-8317-F1876FE8A59D}"/>
              </a:ext>
            </a:extLst>
          </p:cNvPr>
          <p:cNvSpPr txBox="1">
            <a:spLocks/>
          </p:cNvSpPr>
          <p:nvPr/>
        </p:nvSpPr>
        <p:spPr bwMode="auto">
          <a:xfrm>
            <a:off x="2084198" y="2657256"/>
            <a:ext cx="10702162" cy="106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spcBef>
                <a:spcPct val="20000"/>
              </a:spcBef>
              <a:buClr>
                <a:srgbClr val="FF9900"/>
              </a:buClr>
              <a:buChar char="•"/>
              <a:defRPr sz="3200" b="1">
                <a:solidFill>
                  <a:srgbClr val="01035B"/>
                </a:solidFill>
                <a:latin typeface="Arial" panose="020B0604020202020204" pitchFamily="34" charset="0"/>
              </a:defRPr>
            </a:lvl1pPr>
            <a:lvl2pPr marL="742950" indent="-285750" defTabSz="457200">
              <a:spcBef>
                <a:spcPct val="20000"/>
              </a:spcBef>
              <a:buClr>
                <a:srgbClr val="FF9900"/>
              </a:buClr>
              <a:buChar char="–"/>
              <a:defRPr sz="2800" b="1">
                <a:solidFill>
                  <a:srgbClr val="01035B"/>
                </a:solidFill>
                <a:latin typeface="Arial" panose="020B0604020202020204" pitchFamily="34" charset="0"/>
              </a:defRPr>
            </a:lvl2pPr>
            <a:lvl3pPr marL="1143000" indent="-228600" defTabSz="457200">
              <a:spcBef>
                <a:spcPct val="20000"/>
              </a:spcBef>
              <a:buClr>
                <a:srgbClr val="FF9900"/>
              </a:buClr>
              <a:buChar char="•"/>
              <a:defRPr sz="2400" b="1">
                <a:solidFill>
                  <a:srgbClr val="01035B"/>
                </a:solidFill>
                <a:latin typeface="Arial" panose="020B0604020202020204" pitchFamily="34" charset="0"/>
              </a:defRPr>
            </a:lvl3pPr>
            <a:lvl4pPr marL="1600200" indent="-228600" defTabSz="457200">
              <a:spcBef>
                <a:spcPct val="20000"/>
              </a:spcBef>
              <a:buClr>
                <a:srgbClr val="FF9900"/>
              </a:buClr>
              <a:buChar char="–"/>
              <a:defRPr sz="2000" b="1">
                <a:solidFill>
                  <a:srgbClr val="01035B"/>
                </a:solidFill>
                <a:latin typeface="Arial" panose="020B0604020202020204" pitchFamily="34" charset="0"/>
              </a:defRPr>
            </a:lvl4pPr>
            <a:lvl5pPr marL="2057400" indent="-228600" defTabSz="457200">
              <a:spcBef>
                <a:spcPct val="20000"/>
              </a:spcBef>
              <a:buClr>
                <a:srgbClr val="FF9900"/>
              </a:buClr>
              <a:buChar char="»"/>
              <a:defRPr sz="2000" b="1">
                <a:solidFill>
                  <a:srgbClr val="01035B"/>
                </a:solidFill>
                <a:latin typeface="Arial" panose="020B0604020202020204" pitchFamily="34" charset="0"/>
              </a:defRPr>
            </a:lvl5pPr>
            <a:lvl6pPr marL="25146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buNone/>
            </a:pPr>
            <a:r>
              <a:rPr lang="en-US" sz="2800" b="0" dirty="0">
                <a:solidFill>
                  <a:schemeClr val="tx2"/>
                </a:solidFill>
              </a:rPr>
              <a:t>Existing databases for all background processes, ensuring consistency between data – </a:t>
            </a:r>
            <a:r>
              <a:rPr lang="en-US" sz="2800" b="0" i="1" dirty="0">
                <a:solidFill>
                  <a:schemeClr val="accent5"/>
                </a:solidFill>
              </a:rPr>
              <a:t>A lot of data are available!</a:t>
            </a:r>
          </a:p>
        </p:txBody>
      </p:sp>
      <p:sp>
        <p:nvSpPr>
          <p:cNvPr id="61" name="Oval 60">
            <a:extLst>
              <a:ext uri="{FF2B5EF4-FFF2-40B4-BE49-F238E27FC236}">
                <a16:creationId xmlns:a16="http://schemas.microsoft.com/office/drawing/2014/main" id="{7A5E1E40-E3B2-AE4F-BF75-244805F49C2C}"/>
              </a:ext>
            </a:extLst>
          </p:cNvPr>
          <p:cNvSpPr/>
          <p:nvPr/>
        </p:nvSpPr>
        <p:spPr>
          <a:xfrm>
            <a:off x="1215836" y="2834689"/>
            <a:ext cx="708025" cy="706438"/>
          </a:xfrm>
          <a:prstGeom prst="ellipse">
            <a:avLst/>
          </a:prstGeom>
          <a:solidFill>
            <a:schemeClr val="accent5"/>
          </a:solidFill>
          <a:ln w="9525" cap="flat" cmpd="sng" algn="ctr">
            <a:noFill/>
            <a:prstDash val="solid"/>
          </a:ln>
          <a:effectLst/>
        </p:spPr>
        <p:txBody>
          <a:bodyPr anchor="ctr"/>
          <a:lstStyle/>
          <a:p>
            <a:pPr algn="ctr" defTabSz="812810" eaLnBrk="1" fontAlgn="auto" hangingPunct="1">
              <a:spcBef>
                <a:spcPts val="0"/>
              </a:spcBef>
              <a:spcAft>
                <a:spcPts val="0"/>
              </a:spcAft>
              <a:defRPr/>
            </a:pPr>
            <a:r>
              <a:rPr lang="en-US" sz="3600" b="1" kern="0" dirty="0">
                <a:solidFill>
                  <a:prstClr val="white"/>
                </a:solidFill>
                <a:latin typeface="Arial" panose="020B0604020202020204"/>
              </a:rPr>
              <a:t>1</a:t>
            </a:r>
          </a:p>
        </p:txBody>
      </p:sp>
      <p:sp>
        <p:nvSpPr>
          <p:cNvPr id="62" name="Oval 61">
            <a:extLst>
              <a:ext uri="{FF2B5EF4-FFF2-40B4-BE49-F238E27FC236}">
                <a16:creationId xmlns:a16="http://schemas.microsoft.com/office/drawing/2014/main" id="{66DABDE6-A27A-F340-B881-408842C5702B}"/>
              </a:ext>
            </a:extLst>
          </p:cNvPr>
          <p:cNvSpPr/>
          <p:nvPr/>
        </p:nvSpPr>
        <p:spPr>
          <a:xfrm>
            <a:off x="1215836" y="4503194"/>
            <a:ext cx="708025" cy="708025"/>
          </a:xfrm>
          <a:prstGeom prst="ellipse">
            <a:avLst/>
          </a:prstGeom>
          <a:solidFill>
            <a:schemeClr val="accent5"/>
          </a:solidFill>
          <a:ln w="9525" cap="flat" cmpd="sng" algn="ctr">
            <a:noFill/>
            <a:prstDash val="solid"/>
          </a:ln>
          <a:effectLst/>
        </p:spPr>
        <p:txBody>
          <a:bodyPr anchor="ctr"/>
          <a:lstStyle/>
          <a:p>
            <a:pPr algn="ctr" defTabSz="812810" eaLnBrk="1" fontAlgn="auto" hangingPunct="1">
              <a:spcBef>
                <a:spcPts val="0"/>
              </a:spcBef>
              <a:spcAft>
                <a:spcPts val="0"/>
              </a:spcAft>
              <a:defRPr/>
            </a:pPr>
            <a:r>
              <a:rPr lang="en-US" sz="3600" b="1" kern="0" dirty="0">
                <a:solidFill>
                  <a:prstClr val="white"/>
                </a:solidFill>
                <a:latin typeface="Arial" panose="020B0604020202020204"/>
              </a:rPr>
              <a:t>2</a:t>
            </a:r>
          </a:p>
        </p:txBody>
      </p:sp>
      <p:sp>
        <p:nvSpPr>
          <p:cNvPr id="64" name="TextBox 63">
            <a:extLst>
              <a:ext uri="{FF2B5EF4-FFF2-40B4-BE49-F238E27FC236}">
                <a16:creationId xmlns:a16="http://schemas.microsoft.com/office/drawing/2014/main" id="{EE05A844-D954-4C45-9121-5143D007568F}"/>
              </a:ext>
            </a:extLst>
          </p:cNvPr>
          <p:cNvSpPr txBox="1"/>
          <p:nvPr/>
        </p:nvSpPr>
        <p:spPr>
          <a:xfrm>
            <a:off x="812881" y="1580234"/>
            <a:ext cx="14631828" cy="584775"/>
          </a:xfrm>
          <a:prstGeom prst="rect">
            <a:avLst/>
          </a:prstGeom>
          <a:noFill/>
        </p:spPr>
        <p:txBody>
          <a:bodyPr wrap="square">
            <a:spAutoFit/>
          </a:bodyPr>
          <a:lstStyle/>
          <a:p>
            <a:r>
              <a:rPr lang="en-US" dirty="0">
                <a:solidFill>
                  <a:schemeClr val="tx2"/>
                </a:solidFill>
              </a:rPr>
              <a:t>Finding appropriate LCI data will rely on:</a:t>
            </a:r>
          </a:p>
        </p:txBody>
      </p:sp>
      <p:sp>
        <p:nvSpPr>
          <p:cNvPr id="10" name="Oval 9">
            <a:extLst>
              <a:ext uri="{FF2B5EF4-FFF2-40B4-BE49-F238E27FC236}">
                <a16:creationId xmlns:a16="http://schemas.microsoft.com/office/drawing/2014/main" id="{D2509E45-DC88-7A4A-B33E-A0EAB1A698A3}"/>
              </a:ext>
            </a:extLst>
          </p:cNvPr>
          <p:cNvSpPr/>
          <p:nvPr/>
        </p:nvSpPr>
        <p:spPr>
          <a:xfrm>
            <a:off x="1215835" y="6140976"/>
            <a:ext cx="708025" cy="708025"/>
          </a:xfrm>
          <a:prstGeom prst="ellipse">
            <a:avLst/>
          </a:prstGeom>
          <a:solidFill>
            <a:schemeClr val="accent5"/>
          </a:solidFill>
          <a:ln w="9525" cap="flat" cmpd="sng" algn="ctr">
            <a:noFill/>
            <a:prstDash val="solid"/>
          </a:ln>
          <a:effectLst/>
        </p:spPr>
        <p:txBody>
          <a:bodyPr anchor="ctr"/>
          <a:lstStyle/>
          <a:p>
            <a:pPr algn="ctr" defTabSz="812810" eaLnBrk="1" fontAlgn="auto" hangingPunct="1">
              <a:spcBef>
                <a:spcPts val="0"/>
              </a:spcBef>
              <a:spcAft>
                <a:spcPts val="0"/>
              </a:spcAft>
              <a:defRPr/>
            </a:pPr>
            <a:r>
              <a:rPr lang="en-US" sz="3600" b="1" kern="0" dirty="0">
                <a:solidFill>
                  <a:prstClr val="white"/>
                </a:solidFill>
                <a:latin typeface="Arial" panose="020B0604020202020204"/>
              </a:rPr>
              <a:t>3</a:t>
            </a:r>
          </a:p>
        </p:txBody>
      </p:sp>
      <p:sp>
        <p:nvSpPr>
          <p:cNvPr id="13" name="Text Placeholder 2">
            <a:extLst>
              <a:ext uri="{FF2B5EF4-FFF2-40B4-BE49-F238E27FC236}">
                <a16:creationId xmlns:a16="http://schemas.microsoft.com/office/drawing/2014/main" id="{831DB2F9-0B81-CE42-B157-8638BA917BBE}"/>
              </a:ext>
            </a:extLst>
          </p:cNvPr>
          <p:cNvSpPr txBox="1">
            <a:spLocks/>
          </p:cNvSpPr>
          <p:nvPr/>
        </p:nvSpPr>
        <p:spPr bwMode="auto">
          <a:xfrm>
            <a:off x="2084198" y="4326554"/>
            <a:ext cx="10702162" cy="106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spcBef>
                <a:spcPct val="20000"/>
              </a:spcBef>
              <a:buClr>
                <a:srgbClr val="FF9900"/>
              </a:buClr>
              <a:buChar char="•"/>
              <a:defRPr sz="3200" b="1">
                <a:solidFill>
                  <a:srgbClr val="01035B"/>
                </a:solidFill>
                <a:latin typeface="Arial" panose="020B0604020202020204" pitchFamily="34" charset="0"/>
              </a:defRPr>
            </a:lvl1pPr>
            <a:lvl2pPr marL="742950" indent="-285750" defTabSz="457200">
              <a:spcBef>
                <a:spcPct val="20000"/>
              </a:spcBef>
              <a:buClr>
                <a:srgbClr val="FF9900"/>
              </a:buClr>
              <a:buChar char="–"/>
              <a:defRPr sz="2800" b="1">
                <a:solidFill>
                  <a:srgbClr val="01035B"/>
                </a:solidFill>
                <a:latin typeface="Arial" panose="020B0604020202020204" pitchFamily="34" charset="0"/>
              </a:defRPr>
            </a:lvl2pPr>
            <a:lvl3pPr marL="1143000" indent="-228600" defTabSz="457200">
              <a:spcBef>
                <a:spcPct val="20000"/>
              </a:spcBef>
              <a:buClr>
                <a:srgbClr val="FF9900"/>
              </a:buClr>
              <a:buChar char="•"/>
              <a:defRPr sz="2400" b="1">
                <a:solidFill>
                  <a:srgbClr val="01035B"/>
                </a:solidFill>
                <a:latin typeface="Arial" panose="020B0604020202020204" pitchFamily="34" charset="0"/>
              </a:defRPr>
            </a:lvl3pPr>
            <a:lvl4pPr marL="1600200" indent="-228600" defTabSz="457200">
              <a:spcBef>
                <a:spcPct val="20000"/>
              </a:spcBef>
              <a:buClr>
                <a:srgbClr val="FF9900"/>
              </a:buClr>
              <a:buChar char="–"/>
              <a:defRPr sz="2000" b="1">
                <a:solidFill>
                  <a:srgbClr val="01035B"/>
                </a:solidFill>
                <a:latin typeface="Arial" panose="020B0604020202020204" pitchFamily="34" charset="0"/>
              </a:defRPr>
            </a:lvl4pPr>
            <a:lvl5pPr marL="2057400" indent="-228600" defTabSz="457200">
              <a:spcBef>
                <a:spcPct val="20000"/>
              </a:spcBef>
              <a:buClr>
                <a:srgbClr val="FF9900"/>
              </a:buClr>
              <a:buChar char="»"/>
              <a:defRPr sz="2000" b="1">
                <a:solidFill>
                  <a:srgbClr val="01035B"/>
                </a:solidFill>
                <a:latin typeface="Arial" panose="020B0604020202020204" pitchFamily="34" charset="0"/>
              </a:defRPr>
            </a:lvl5pPr>
            <a:lvl6pPr marL="25146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buNone/>
            </a:pPr>
            <a:r>
              <a:rPr lang="en-US" sz="2800" b="0" dirty="0">
                <a:solidFill>
                  <a:schemeClr val="tx2"/>
                </a:solidFill>
              </a:rPr>
              <a:t>Adapting existing data to the product or service, </a:t>
            </a:r>
            <a:br>
              <a:rPr lang="en-US" sz="2800" b="0" dirty="0">
                <a:solidFill>
                  <a:schemeClr val="tx2"/>
                </a:solidFill>
              </a:rPr>
            </a:br>
            <a:r>
              <a:rPr lang="en-US" sz="2800" b="0" dirty="0">
                <a:solidFill>
                  <a:schemeClr val="tx2"/>
                </a:solidFill>
              </a:rPr>
              <a:t>technology and country or region studied.</a:t>
            </a:r>
            <a:endParaRPr lang="en-US" sz="2800" b="0" i="1" dirty="0">
              <a:solidFill>
                <a:schemeClr val="tx2"/>
              </a:solidFill>
            </a:endParaRPr>
          </a:p>
        </p:txBody>
      </p:sp>
      <p:sp>
        <p:nvSpPr>
          <p:cNvPr id="14" name="Text Placeholder 2">
            <a:extLst>
              <a:ext uri="{FF2B5EF4-FFF2-40B4-BE49-F238E27FC236}">
                <a16:creationId xmlns:a16="http://schemas.microsoft.com/office/drawing/2014/main" id="{76E0DBCF-6832-DF4F-8A60-E315A96C1A0E}"/>
              </a:ext>
            </a:extLst>
          </p:cNvPr>
          <p:cNvSpPr txBox="1">
            <a:spLocks/>
          </p:cNvSpPr>
          <p:nvPr/>
        </p:nvSpPr>
        <p:spPr bwMode="auto">
          <a:xfrm>
            <a:off x="2084198" y="5964336"/>
            <a:ext cx="10702162" cy="106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457200">
              <a:spcBef>
                <a:spcPct val="20000"/>
              </a:spcBef>
              <a:buClr>
                <a:srgbClr val="FF9900"/>
              </a:buClr>
              <a:buChar char="•"/>
              <a:defRPr sz="3200" b="1">
                <a:solidFill>
                  <a:srgbClr val="01035B"/>
                </a:solidFill>
                <a:latin typeface="Arial" panose="020B0604020202020204" pitchFamily="34" charset="0"/>
              </a:defRPr>
            </a:lvl1pPr>
            <a:lvl2pPr marL="742950" indent="-285750" defTabSz="457200">
              <a:spcBef>
                <a:spcPct val="20000"/>
              </a:spcBef>
              <a:buClr>
                <a:srgbClr val="FF9900"/>
              </a:buClr>
              <a:buChar char="–"/>
              <a:defRPr sz="2800" b="1">
                <a:solidFill>
                  <a:srgbClr val="01035B"/>
                </a:solidFill>
                <a:latin typeface="Arial" panose="020B0604020202020204" pitchFamily="34" charset="0"/>
              </a:defRPr>
            </a:lvl2pPr>
            <a:lvl3pPr marL="1143000" indent="-228600" defTabSz="457200">
              <a:spcBef>
                <a:spcPct val="20000"/>
              </a:spcBef>
              <a:buClr>
                <a:srgbClr val="FF9900"/>
              </a:buClr>
              <a:buChar char="•"/>
              <a:defRPr sz="2400" b="1">
                <a:solidFill>
                  <a:srgbClr val="01035B"/>
                </a:solidFill>
                <a:latin typeface="Arial" panose="020B0604020202020204" pitchFamily="34" charset="0"/>
              </a:defRPr>
            </a:lvl3pPr>
            <a:lvl4pPr marL="1600200" indent="-228600" defTabSz="457200">
              <a:spcBef>
                <a:spcPct val="20000"/>
              </a:spcBef>
              <a:buClr>
                <a:srgbClr val="FF9900"/>
              </a:buClr>
              <a:buChar char="–"/>
              <a:defRPr sz="2000" b="1">
                <a:solidFill>
                  <a:srgbClr val="01035B"/>
                </a:solidFill>
                <a:latin typeface="Arial" panose="020B0604020202020204" pitchFamily="34" charset="0"/>
              </a:defRPr>
            </a:lvl4pPr>
            <a:lvl5pPr marL="2057400" indent="-228600" defTabSz="457200">
              <a:spcBef>
                <a:spcPct val="20000"/>
              </a:spcBef>
              <a:buClr>
                <a:srgbClr val="FF9900"/>
              </a:buClr>
              <a:buChar char="»"/>
              <a:defRPr sz="2000" b="1">
                <a:solidFill>
                  <a:srgbClr val="01035B"/>
                </a:solidFill>
                <a:latin typeface="Arial" panose="020B0604020202020204" pitchFamily="34" charset="0"/>
              </a:defRPr>
            </a:lvl5pPr>
            <a:lvl6pPr marL="25146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defTabSz="4572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buNone/>
            </a:pPr>
            <a:r>
              <a:rPr lang="en-US" sz="2800" b="0" dirty="0"/>
              <a:t>Collection of new LCI data, especially for the foreground system.</a:t>
            </a:r>
            <a:br>
              <a:rPr lang="en-US" sz="2800" b="0" dirty="0"/>
            </a:br>
            <a:r>
              <a:rPr lang="en-US" sz="2800" b="0" dirty="0"/>
              <a:t>Hard work and requires to be very systematic.</a:t>
            </a:r>
            <a:endParaRPr lang="en-US" sz="2800" b="0" i="1" dirty="0">
              <a:solidFill>
                <a:schemeClr val="tx2"/>
              </a:solidFill>
            </a:endParaRPr>
          </a:p>
        </p:txBody>
      </p:sp>
    </p:spTree>
    <p:extLst>
      <p:ext uri="{BB962C8B-B14F-4D97-AF65-F5344CB8AC3E}">
        <p14:creationId xmlns:p14="http://schemas.microsoft.com/office/powerpoint/2010/main" val="3889936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B0EC17-4F46-DC46-B976-ED9744899B0E}"/>
              </a:ext>
            </a:extLst>
          </p:cNvPr>
          <p:cNvSpPr/>
          <p:nvPr/>
        </p:nvSpPr>
        <p:spPr>
          <a:xfrm>
            <a:off x="2072153" y="2433673"/>
            <a:ext cx="11902698" cy="5000508"/>
          </a:xfrm>
          <a:prstGeom prst="rect">
            <a:avLst/>
          </a:prstGeom>
          <a:solidFill>
            <a:schemeClr val="bg1"/>
          </a:solidFill>
          <a:ln w="19050">
            <a:solidFill>
              <a:schemeClr val="tx1">
                <a:lumMod val="50000"/>
                <a:lumOff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dirty="0">
                <a:solidFill>
                  <a:schemeClr val="tx2"/>
                </a:solidFill>
              </a:rPr>
              <a:t>Global LCA Data Access network (GLAD)</a:t>
            </a:r>
          </a:p>
        </p:txBody>
      </p:sp>
      <p:pic>
        <p:nvPicPr>
          <p:cNvPr id="12" name="Picture 11">
            <a:extLst>
              <a:ext uri="{FF2B5EF4-FFF2-40B4-BE49-F238E27FC236}">
                <a16:creationId xmlns:a16="http://schemas.microsoft.com/office/drawing/2014/main" id="{20FAF1FC-A080-4E4C-BEB3-2FFCF30129EC}"/>
              </a:ext>
            </a:extLst>
          </p:cNvPr>
          <p:cNvPicPr>
            <a:picLocks noChangeAspect="1"/>
          </p:cNvPicPr>
          <p:nvPr/>
        </p:nvPicPr>
        <p:blipFill>
          <a:blip r:embed="rId3"/>
          <a:stretch>
            <a:fillRect/>
          </a:stretch>
        </p:blipFill>
        <p:spPr>
          <a:xfrm>
            <a:off x="2253511" y="2608163"/>
            <a:ext cx="11504363" cy="4826018"/>
          </a:xfrm>
          <a:prstGeom prst="rect">
            <a:avLst/>
          </a:prstGeom>
        </p:spPr>
      </p:pic>
      <p:pic>
        <p:nvPicPr>
          <p:cNvPr id="13" name="Picture 12">
            <a:extLst>
              <a:ext uri="{FF2B5EF4-FFF2-40B4-BE49-F238E27FC236}">
                <a16:creationId xmlns:a16="http://schemas.microsoft.com/office/drawing/2014/main" id="{F433801F-461B-6144-8E3D-823B3CDFE43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072153" y="1431582"/>
            <a:ext cx="2782881" cy="661874"/>
          </a:xfrm>
          <a:prstGeom prst="rect">
            <a:avLst/>
          </a:prstGeom>
        </p:spPr>
      </p:pic>
      <p:pic>
        <p:nvPicPr>
          <p:cNvPr id="14" name="Picture 13">
            <a:extLst>
              <a:ext uri="{FF2B5EF4-FFF2-40B4-BE49-F238E27FC236}">
                <a16:creationId xmlns:a16="http://schemas.microsoft.com/office/drawing/2014/main" id="{0B6F22C6-9EAF-4643-8F47-F5E3A6C24D7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34827" y="1373161"/>
            <a:ext cx="796313" cy="778715"/>
          </a:xfrm>
          <a:prstGeom prst="rect">
            <a:avLst/>
          </a:prstGeom>
        </p:spPr>
      </p:pic>
      <p:sp>
        <p:nvSpPr>
          <p:cNvPr id="15" name="Oval 14">
            <a:extLst>
              <a:ext uri="{FF2B5EF4-FFF2-40B4-BE49-F238E27FC236}">
                <a16:creationId xmlns:a16="http://schemas.microsoft.com/office/drawing/2014/main" id="{15FDB21E-3E72-F441-BE3D-53E32DB64EE8}"/>
              </a:ext>
            </a:extLst>
          </p:cNvPr>
          <p:cNvSpPr/>
          <p:nvPr/>
        </p:nvSpPr>
        <p:spPr>
          <a:xfrm>
            <a:off x="1081972" y="1450651"/>
            <a:ext cx="707629" cy="707629"/>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1</a:t>
            </a:r>
          </a:p>
        </p:txBody>
      </p:sp>
    </p:spTree>
    <p:extLst>
      <p:ext uri="{BB962C8B-B14F-4D97-AF65-F5344CB8AC3E}">
        <p14:creationId xmlns:p14="http://schemas.microsoft.com/office/powerpoint/2010/main" val="3407980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t>Main LCI databases</a:t>
            </a:r>
            <a:endParaRPr lang="en-US" dirty="0">
              <a:solidFill>
                <a:schemeClr val="tx2"/>
              </a:solidFill>
            </a:endParaRPr>
          </a:p>
        </p:txBody>
      </p:sp>
      <p:sp>
        <p:nvSpPr>
          <p:cNvPr id="19" name="Rectangle 6">
            <a:extLst>
              <a:ext uri="{FF2B5EF4-FFF2-40B4-BE49-F238E27FC236}">
                <a16:creationId xmlns:a16="http://schemas.microsoft.com/office/drawing/2014/main" id="{B45B9FB4-FC22-0D4A-877D-A9102615E698}"/>
              </a:ext>
            </a:extLst>
          </p:cNvPr>
          <p:cNvSpPr txBox="1">
            <a:spLocks noChangeArrowheads="1"/>
          </p:cNvSpPr>
          <p:nvPr/>
        </p:nvSpPr>
        <p:spPr>
          <a:xfrm>
            <a:off x="4249978" y="7087837"/>
            <a:ext cx="8469177" cy="464949"/>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lnSpc>
                <a:spcPct val="80000"/>
              </a:lnSpc>
              <a:spcBef>
                <a:spcPct val="10000"/>
              </a:spcBef>
              <a:defRPr/>
            </a:pPr>
            <a:r>
              <a:rPr lang="en-US" sz="2400" i="1" dirty="0">
                <a:solidFill>
                  <a:schemeClr val="accent6"/>
                </a:solidFill>
              </a:rPr>
              <a:t>Other available databases in Japan, Korea, China, Australia</a:t>
            </a:r>
            <a:endParaRPr lang="en-US" sz="2133" i="1" dirty="0">
              <a:solidFill>
                <a:schemeClr val="accent6"/>
              </a:solidFill>
            </a:endParaRPr>
          </a:p>
          <a:p>
            <a:pPr algn="ctr">
              <a:lnSpc>
                <a:spcPct val="80000"/>
              </a:lnSpc>
              <a:defRPr/>
            </a:pPr>
            <a:endParaRPr lang="en-US" sz="2400" dirty="0"/>
          </a:p>
        </p:txBody>
      </p:sp>
      <p:pic>
        <p:nvPicPr>
          <p:cNvPr id="20" name="Picture 2" descr="ecoinvent">
            <a:extLst>
              <a:ext uri="{FF2B5EF4-FFF2-40B4-BE49-F238E27FC236}">
                <a16:creationId xmlns:a16="http://schemas.microsoft.com/office/drawing/2014/main" id="{36400D61-F348-C742-AA67-4B27248C423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098998" y="1518158"/>
            <a:ext cx="1200216" cy="925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DB598CD8-8989-0C46-B226-C2E302574116}"/>
              </a:ext>
            </a:extLst>
          </p:cNvPr>
          <p:cNvSpPr/>
          <p:nvPr/>
        </p:nvSpPr>
        <p:spPr>
          <a:xfrm>
            <a:off x="703309" y="2663367"/>
            <a:ext cx="3991595" cy="1631216"/>
          </a:xfrm>
          <a:prstGeom prst="rect">
            <a:avLst/>
          </a:prstGeom>
        </p:spPr>
        <p:txBody>
          <a:bodyPr wrap="square">
            <a:spAutoFit/>
          </a:bodyPr>
          <a:lstStyle/>
          <a:p>
            <a:pPr algn="ctr">
              <a:defRPr/>
            </a:pPr>
            <a:r>
              <a:rPr lang="en-US" sz="2400" b="1" dirty="0" err="1">
                <a:solidFill>
                  <a:schemeClr val="tx2"/>
                </a:solidFill>
              </a:rPr>
              <a:t>Ecoinvent</a:t>
            </a:r>
            <a:r>
              <a:rPr lang="en-US" sz="2400" b="1" dirty="0">
                <a:solidFill>
                  <a:schemeClr val="tx2"/>
                </a:solidFill>
              </a:rPr>
              <a:t> database </a:t>
            </a:r>
            <a:r>
              <a:rPr lang="en-US" sz="2400" dirty="0">
                <a:solidFill>
                  <a:schemeClr val="tx2"/>
                </a:solidFill>
              </a:rPr>
              <a:t/>
            </a:r>
            <a:br>
              <a:rPr lang="en-US" sz="2400" dirty="0">
                <a:solidFill>
                  <a:schemeClr val="tx2"/>
                </a:solidFill>
              </a:rPr>
            </a:br>
            <a:r>
              <a:rPr lang="en-US" sz="2400" dirty="0">
                <a:solidFill>
                  <a:schemeClr val="tx2"/>
                </a:solidFill>
              </a:rPr>
              <a:t>developed by research institutions for the Swiss government</a:t>
            </a:r>
          </a:p>
        </p:txBody>
      </p:sp>
      <p:sp>
        <p:nvSpPr>
          <p:cNvPr id="4" name="Rectangle 3">
            <a:extLst>
              <a:ext uri="{FF2B5EF4-FFF2-40B4-BE49-F238E27FC236}">
                <a16:creationId xmlns:a16="http://schemas.microsoft.com/office/drawing/2014/main" id="{7201E529-3273-A54A-ACF8-F2BF9CD92B69}"/>
              </a:ext>
            </a:extLst>
          </p:cNvPr>
          <p:cNvSpPr/>
          <p:nvPr/>
        </p:nvSpPr>
        <p:spPr>
          <a:xfrm>
            <a:off x="4990454" y="2663367"/>
            <a:ext cx="6416299" cy="1938992"/>
          </a:xfrm>
          <a:prstGeom prst="rect">
            <a:avLst/>
          </a:prstGeom>
        </p:spPr>
        <p:txBody>
          <a:bodyPr wrap="square">
            <a:spAutoFit/>
          </a:bodyPr>
          <a:lstStyle/>
          <a:p>
            <a:pPr algn="ctr">
              <a:defRPr/>
            </a:pPr>
            <a:r>
              <a:rPr lang="en-US" sz="2400" b="1" dirty="0">
                <a:solidFill>
                  <a:schemeClr val="tx2"/>
                </a:solidFill>
              </a:rPr>
              <a:t>European Platform on Life Cycle Assessment – Product Environmental Footprint (PEF)</a:t>
            </a:r>
            <a:r>
              <a:rPr lang="en-US" sz="2400" dirty="0">
                <a:solidFill>
                  <a:schemeClr val="tx2"/>
                </a:solidFill>
              </a:rPr>
              <a:t/>
            </a:r>
            <a:br>
              <a:rPr lang="en-US" sz="2400" dirty="0">
                <a:solidFill>
                  <a:schemeClr val="tx2"/>
                </a:solidFill>
              </a:rPr>
            </a:br>
            <a:r>
              <a:rPr lang="en-US" sz="2400" dirty="0">
                <a:solidFill>
                  <a:schemeClr val="tx2"/>
                </a:solidFill>
              </a:rPr>
              <a:t>select data from either node or database – some are free</a:t>
            </a:r>
          </a:p>
        </p:txBody>
      </p:sp>
      <p:sp>
        <p:nvSpPr>
          <p:cNvPr id="6" name="Rectangle 5">
            <a:extLst>
              <a:ext uri="{FF2B5EF4-FFF2-40B4-BE49-F238E27FC236}">
                <a16:creationId xmlns:a16="http://schemas.microsoft.com/office/drawing/2014/main" id="{40D23476-9B28-7942-948C-DAD3945E15F9}"/>
              </a:ext>
            </a:extLst>
          </p:cNvPr>
          <p:cNvSpPr/>
          <p:nvPr/>
        </p:nvSpPr>
        <p:spPr>
          <a:xfrm>
            <a:off x="11740747" y="2663367"/>
            <a:ext cx="3703961" cy="1668149"/>
          </a:xfrm>
          <a:prstGeom prst="rect">
            <a:avLst/>
          </a:prstGeom>
        </p:spPr>
        <p:txBody>
          <a:bodyPr wrap="square">
            <a:spAutoFit/>
          </a:bodyPr>
          <a:lstStyle/>
          <a:p>
            <a:pPr algn="ctr">
              <a:defRPr/>
            </a:pPr>
            <a:r>
              <a:rPr lang="en-US" sz="2400" b="1" dirty="0">
                <a:solidFill>
                  <a:schemeClr val="tx2"/>
                </a:solidFill>
              </a:rPr>
              <a:t>US databases</a:t>
            </a:r>
          </a:p>
          <a:p>
            <a:pPr marL="0" lvl="1" algn="ctr">
              <a:spcBef>
                <a:spcPct val="10000"/>
              </a:spcBef>
              <a:defRPr/>
            </a:pPr>
            <a:r>
              <a:rPr lang="en-US" sz="2400" dirty="0">
                <a:solidFill>
                  <a:schemeClr val="tx2"/>
                </a:solidFill>
              </a:rPr>
              <a:t>Input-output data: 400+ sectors for US – Access via </a:t>
            </a:r>
            <a:r>
              <a:rPr lang="en-US" sz="2400" b="1" dirty="0">
                <a:solidFill>
                  <a:schemeClr val="tx2"/>
                </a:solidFill>
              </a:rPr>
              <a:t>SIMAPRO</a:t>
            </a:r>
          </a:p>
        </p:txBody>
      </p:sp>
      <p:sp>
        <p:nvSpPr>
          <p:cNvPr id="7" name="Rectangle 6">
            <a:extLst>
              <a:ext uri="{FF2B5EF4-FFF2-40B4-BE49-F238E27FC236}">
                <a16:creationId xmlns:a16="http://schemas.microsoft.com/office/drawing/2014/main" id="{AAC2F2D4-332E-C043-9A89-B0D37E6A76B5}"/>
              </a:ext>
            </a:extLst>
          </p:cNvPr>
          <p:cNvSpPr/>
          <p:nvPr/>
        </p:nvSpPr>
        <p:spPr>
          <a:xfrm>
            <a:off x="4203484" y="4875602"/>
            <a:ext cx="8846089" cy="1938992"/>
          </a:xfrm>
          <a:prstGeom prst="rect">
            <a:avLst/>
          </a:prstGeom>
        </p:spPr>
        <p:txBody>
          <a:bodyPr wrap="square">
            <a:spAutoFit/>
          </a:bodyPr>
          <a:lstStyle/>
          <a:p>
            <a:pPr algn="ctr">
              <a:defRPr/>
            </a:pPr>
            <a:r>
              <a:rPr lang="en-US" sz="2400" b="1" dirty="0">
                <a:solidFill>
                  <a:schemeClr val="tx2"/>
                </a:solidFill>
              </a:rPr>
              <a:t>Sector specific databases (e.g. agriculture and foods)</a:t>
            </a:r>
          </a:p>
          <a:p>
            <a:pPr algn="ctr">
              <a:defRPr/>
            </a:pPr>
            <a:r>
              <a:rPr lang="en-US" sz="2400" i="1" dirty="0" err="1">
                <a:solidFill>
                  <a:schemeClr val="tx2"/>
                </a:solidFill>
              </a:rPr>
              <a:t>Agrifootprint</a:t>
            </a:r>
            <a:r>
              <a:rPr lang="en-US" sz="2400" i="1" dirty="0">
                <a:solidFill>
                  <a:schemeClr val="tx2"/>
                </a:solidFill>
              </a:rPr>
              <a:t> database </a:t>
            </a:r>
            <a:r>
              <a:rPr lang="en-US" sz="2400" dirty="0">
                <a:solidFill>
                  <a:schemeClr val="tx2"/>
                </a:solidFill>
              </a:rPr>
              <a:t>– access via </a:t>
            </a:r>
            <a:r>
              <a:rPr lang="en-US" sz="2400" dirty="0" err="1">
                <a:solidFill>
                  <a:schemeClr val="tx2"/>
                </a:solidFill>
              </a:rPr>
              <a:t>Simapro</a:t>
            </a:r>
            <a:r>
              <a:rPr lang="en-US" sz="2400" dirty="0">
                <a:solidFill>
                  <a:schemeClr val="tx2"/>
                </a:solidFill>
              </a:rPr>
              <a:t/>
            </a:r>
            <a:br>
              <a:rPr lang="en-US" sz="2400" dirty="0">
                <a:solidFill>
                  <a:schemeClr val="tx2"/>
                </a:solidFill>
              </a:rPr>
            </a:br>
            <a:r>
              <a:rPr lang="en-US" sz="2400" i="1" dirty="0">
                <a:solidFill>
                  <a:schemeClr val="tx2"/>
                </a:solidFill>
              </a:rPr>
              <a:t>World Food database: </a:t>
            </a:r>
            <a:r>
              <a:rPr lang="en-US" sz="2400" i="1" dirty="0" err="1">
                <a:solidFill>
                  <a:schemeClr val="tx2"/>
                </a:solidFill>
              </a:rPr>
              <a:t>Quantis</a:t>
            </a:r>
            <a:r>
              <a:rPr lang="en-US" sz="2400" i="1" dirty="0">
                <a:solidFill>
                  <a:schemeClr val="tx2"/>
                </a:solidFill>
              </a:rPr>
              <a:t> </a:t>
            </a:r>
            <a:r>
              <a:rPr lang="en-US" sz="2400" dirty="0">
                <a:solidFill>
                  <a:schemeClr val="tx2"/>
                </a:solidFill>
              </a:rPr>
              <a:t>– access via EU platform – node</a:t>
            </a:r>
            <a:br>
              <a:rPr lang="en-US" sz="2400" dirty="0">
                <a:solidFill>
                  <a:schemeClr val="tx2"/>
                </a:solidFill>
              </a:rPr>
            </a:br>
            <a:r>
              <a:rPr lang="en-US" sz="2400" i="1" dirty="0" err="1">
                <a:solidFill>
                  <a:schemeClr val="tx2"/>
                </a:solidFill>
              </a:rPr>
              <a:t>Agribalyse</a:t>
            </a:r>
            <a:r>
              <a:rPr lang="en-US" sz="2400" dirty="0">
                <a:solidFill>
                  <a:schemeClr val="tx2"/>
                </a:solidFill>
              </a:rPr>
              <a:t> – Access via the GLAD network</a:t>
            </a:r>
          </a:p>
          <a:p>
            <a:pPr algn="ctr">
              <a:defRPr/>
            </a:pPr>
            <a:r>
              <a:rPr lang="en-US" sz="2400" i="1" dirty="0">
                <a:solidFill>
                  <a:schemeClr val="tx2"/>
                </a:solidFill>
              </a:rPr>
              <a:t>LCA commons </a:t>
            </a:r>
            <a:r>
              <a:rPr lang="en-US" sz="2400" dirty="0">
                <a:solidFill>
                  <a:schemeClr val="tx2"/>
                </a:solidFill>
              </a:rPr>
              <a:t>- access to USDA LCI data sets</a:t>
            </a:r>
          </a:p>
        </p:txBody>
      </p:sp>
      <p:pic>
        <p:nvPicPr>
          <p:cNvPr id="21" name="Graphic 20">
            <a:extLst>
              <a:ext uri="{FF2B5EF4-FFF2-40B4-BE49-F238E27FC236}">
                <a16:creationId xmlns:a16="http://schemas.microsoft.com/office/drawing/2014/main" id="{7A6B2A53-2EDB-244E-88D9-CD1A386DB9B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8009872" y="1494651"/>
            <a:ext cx="949387" cy="949387"/>
          </a:xfrm>
          <a:prstGeom prst="rect">
            <a:avLst/>
          </a:prstGeom>
        </p:spPr>
      </p:pic>
      <p:pic>
        <p:nvPicPr>
          <p:cNvPr id="23" name="Graphic 22">
            <a:extLst>
              <a:ext uri="{FF2B5EF4-FFF2-40B4-BE49-F238E27FC236}">
                <a16:creationId xmlns:a16="http://schemas.microsoft.com/office/drawing/2014/main" id="{D02C9124-2DEF-C14E-94F0-5C232F9D37FC}"/>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13206977" y="1518158"/>
            <a:ext cx="925880" cy="925880"/>
          </a:xfrm>
          <a:prstGeom prst="rect">
            <a:avLst/>
          </a:prstGeom>
        </p:spPr>
      </p:pic>
    </p:spTree>
    <p:extLst>
      <p:ext uri="{BB962C8B-B14F-4D97-AF65-F5344CB8AC3E}">
        <p14:creationId xmlns:p14="http://schemas.microsoft.com/office/powerpoint/2010/main" val="3102660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solidFill>
                  <a:schemeClr val="tx2"/>
                </a:solidFill>
              </a:rPr>
              <a:t>The </a:t>
            </a:r>
            <a:r>
              <a:rPr lang="en-US" altLang="en-US" dirty="0" err="1">
                <a:solidFill>
                  <a:schemeClr val="tx2"/>
                </a:solidFill>
              </a:rPr>
              <a:t>Ecoinvent</a:t>
            </a:r>
            <a:r>
              <a:rPr lang="en-US" altLang="en-US" dirty="0">
                <a:solidFill>
                  <a:schemeClr val="tx2"/>
                </a:solidFill>
              </a:rPr>
              <a:t> database</a:t>
            </a:r>
            <a:endParaRPr lang="en-US" dirty="0">
              <a:solidFill>
                <a:schemeClr val="tx2"/>
              </a:solidFill>
            </a:endParaRPr>
          </a:p>
        </p:txBody>
      </p:sp>
      <p:pic>
        <p:nvPicPr>
          <p:cNvPr id="7" name="Picture 2" descr="ecoinvent">
            <a:extLst>
              <a:ext uri="{FF2B5EF4-FFF2-40B4-BE49-F238E27FC236}">
                <a16:creationId xmlns:a16="http://schemas.microsoft.com/office/drawing/2014/main" id="{08EEFFC0-4736-8F41-B9EB-92A984E93FF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173427" y="1711451"/>
            <a:ext cx="2296584" cy="1771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6">
            <a:extLst>
              <a:ext uri="{FF2B5EF4-FFF2-40B4-BE49-F238E27FC236}">
                <a16:creationId xmlns:a16="http://schemas.microsoft.com/office/drawing/2014/main" id="{78265F1C-2A95-3E41-9050-8FC1DD10DC6F}"/>
              </a:ext>
            </a:extLst>
          </p:cNvPr>
          <p:cNvSpPr txBox="1">
            <a:spLocks noChangeArrowheads="1"/>
          </p:cNvSpPr>
          <p:nvPr/>
        </p:nvSpPr>
        <p:spPr>
          <a:xfrm>
            <a:off x="3470011" y="3483100"/>
            <a:ext cx="10972800" cy="2946793"/>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914400" lvl="1" indent="-457200">
              <a:lnSpc>
                <a:spcPct val="80000"/>
              </a:lnSpc>
              <a:buClr>
                <a:schemeClr val="accent1"/>
              </a:buClr>
              <a:buFont typeface="Wingdings" pitchFamily="2" charset="2"/>
              <a:buChar char="§"/>
              <a:defRPr/>
            </a:pPr>
            <a:r>
              <a:rPr lang="en-US" dirty="0">
                <a:solidFill>
                  <a:schemeClr val="tx2"/>
                </a:solidFill>
              </a:rPr>
              <a:t>Energy systems - non renewable &amp; renewable</a:t>
            </a:r>
          </a:p>
          <a:p>
            <a:pPr marL="914400" lvl="1" indent="-457200">
              <a:lnSpc>
                <a:spcPct val="80000"/>
              </a:lnSpc>
              <a:buClr>
                <a:schemeClr val="accent1"/>
              </a:buClr>
              <a:buFont typeface="Wingdings" pitchFamily="2" charset="2"/>
              <a:buChar char="§"/>
              <a:defRPr/>
            </a:pPr>
            <a:r>
              <a:rPr lang="en-US" dirty="0">
                <a:solidFill>
                  <a:schemeClr val="tx2"/>
                </a:solidFill>
              </a:rPr>
              <a:t>Materials and building</a:t>
            </a:r>
          </a:p>
          <a:p>
            <a:pPr marL="914400" lvl="1" indent="-457200">
              <a:lnSpc>
                <a:spcPct val="80000"/>
              </a:lnSpc>
              <a:buClr>
                <a:schemeClr val="accent1"/>
              </a:buClr>
              <a:buFont typeface="Wingdings" pitchFamily="2" charset="2"/>
              <a:buChar char="§"/>
              <a:defRPr/>
            </a:pPr>
            <a:r>
              <a:rPr lang="en-US" dirty="0">
                <a:solidFill>
                  <a:schemeClr val="tx2"/>
                </a:solidFill>
              </a:rPr>
              <a:t>Chemicals and metals</a:t>
            </a:r>
          </a:p>
          <a:p>
            <a:pPr marL="914400" lvl="1" indent="-457200">
              <a:lnSpc>
                <a:spcPct val="80000"/>
              </a:lnSpc>
              <a:buClr>
                <a:schemeClr val="accent1"/>
              </a:buClr>
              <a:buFont typeface="Wingdings" pitchFamily="2" charset="2"/>
              <a:buChar char="§"/>
              <a:defRPr/>
            </a:pPr>
            <a:r>
              <a:rPr lang="en-US" dirty="0">
                <a:solidFill>
                  <a:schemeClr val="tx2"/>
                </a:solidFill>
              </a:rPr>
              <a:t>Transports</a:t>
            </a:r>
          </a:p>
          <a:p>
            <a:pPr marL="914400" lvl="1" indent="-457200">
              <a:lnSpc>
                <a:spcPct val="80000"/>
              </a:lnSpc>
              <a:buClr>
                <a:schemeClr val="accent1"/>
              </a:buClr>
              <a:buFont typeface="Wingdings" pitchFamily="2" charset="2"/>
              <a:buChar char="§"/>
              <a:defRPr/>
            </a:pPr>
            <a:r>
              <a:rPr lang="en-US" dirty="0">
                <a:solidFill>
                  <a:schemeClr val="tx2"/>
                </a:solidFill>
              </a:rPr>
              <a:t>Packaging</a:t>
            </a:r>
          </a:p>
          <a:p>
            <a:pPr marL="914400" lvl="1" indent="-457200">
              <a:lnSpc>
                <a:spcPct val="80000"/>
              </a:lnSpc>
              <a:buClr>
                <a:schemeClr val="accent1"/>
              </a:buClr>
              <a:buFont typeface="Wingdings" pitchFamily="2" charset="2"/>
              <a:buChar char="§"/>
              <a:defRPr/>
            </a:pPr>
            <a:r>
              <a:rPr lang="en-US" dirty="0">
                <a:solidFill>
                  <a:schemeClr val="tx2"/>
                </a:solidFill>
              </a:rPr>
              <a:t>Waste treatment</a:t>
            </a:r>
          </a:p>
          <a:p>
            <a:pPr marL="914400" lvl="1" indent="-457200">
              <a:lnSpc>
                <a:spcPct val="80000"/>
              </a:lnSpc>
              <a:buClr>
                <a:schemeClr val="accent1"/>
              </a:buClr>
              <a:buFont typeface="Wingdings" pitchFamily="2" charset="2"/>
              <a:buChar char="§"/>
              <a:defRPr/>
            </a:pPr>
            <a:r>
              <a:rPr lang="en-US" dirty="0">
                <a:solidFill>
                  <a:schemeClr val="tx2"/>
                </a:solidFill>
              </a:rPr>
              <a:t>Agriculture</a:t>
            </a:r>
          </a:p>
        </p:txBody>
      </p:sp>
      <p:sp>
        <p:nvSpPr>
          <p:cNvPr id="3" name="Rectangle 2">
            <a:extLst>
              <a:ext uri="{FF2B5EF4-FFF2-40B4-BE49-F238E27FC236}">
                <a16:creationId xmlns:a16="http://schemas.microsoft.com/office/drawing/2014/main" id="{48905534-6192-A348-81AB-FFF0C588F160}"/>
              </a:ext>
            </a:extLst>
          </p:cNvPr>
          <p:cNvSpPr/>
          <p:nvPr/>
        </p:nvSpPr>
        <p:spPr>
          <a:xfrm>
            <a:off x="3924515" y="2058666"/>
            <a:ext cx="8128000" cy="1077218"/>
          </a:xfrm>
          <a:prstGeom prst="rect">
            <a:avLst/>
          </a:prstGeom>
        </p:spPr>
        <p:txBody>
          <a:bodyPr>
            <a:spAutoFit/>
          </a:bodyPr>
          <a:lstStyle/>
          <a:p>
            <a:pPr>
              <a:defRPr/>
            </a:pPr>
            <a:r>
              <a:rPr lang="en-US" b="1" dirty="0">
                <a:solidFill>
                  <a:schemeClr val="tx2"/>
                </a:solidFill>
              </a:rPr>
              <a:t>The broadest Unit Process level </a:t>
            </a:r>
            <a:br>
              <a:rPr lang="en-US" b="1" dirty="0">
                <a:solidFill>
                  <a:schemeClr val="tx2"/>
                </a:solidFill>
              </a:rPr>
            </a:br>
            <a:r>
              <a:rPr lang="en-US" b="1" dirty="0">
                <a:solidFill>
                  <a:schemeClr val="tx2"/>
                </a:solidFill>
              </a:rPr>
              <a:t>database worldwide</a:t>
            </a:r>
          </a:p>
        </p:txBody>
      </p:sp>
      <p:sp>
        <p:nvSpPr>
          <p:cNvPr id="4" name="Rectangle 3">
            <a:extLst>
              <a:ext uri="{FF2B5EF4-FFF2-40B4-BE49-F238E27FC236}">
                <a16:creationId xmlns:a16="http://schemas.microsoft.com/office/drawing/2014/main" id="{BBEC0B36-4CE6-4949-9084-4345C52C460E}"/>
              </a:ext>
            </a:extLst>
          </p:cNvPr>
          <p:cNvSpPr/>
          <p:nvPr/>
        </p:nvSpPr>
        <p:spPr>
          <a:xfrm>
            <a:off x="3924515" y="7009584"/>
            <a:ext cx="8128000" cy="486287"/>
          </a:xfrm>
          <a:prstGeom prst="rect">
            <a:avLst/>
          </a:prstGeom>
        </p:spPr>
        <p:txBody>
          <a:bodyPr wrap="square">
            <a:spAutoFit/>
          </a:bodyPr>
          <a:lstStyle/>
          <a:p>
            <a:pPr>
              <a:lnSpc>
                <a:spcPct val="80000"/>
              </a:lnSpc>
              <a:spcBef>
                <a:spcPct val="10000"/>
              </a:spcBef>
              <a:buFontTx/>
              <a:buNone/>
              <a:defRPr/>
            </a:pPr>
            <a:r>
              <a:rPr lang="en-US" i="1" dirty="0">
                <a:solidFill>
                  <a:schemeClr val="accent6"/>
                </a:solidFill>
              </a:rPr>
              <a:t>400 Inventory flows for 4000 unit processes</a:t>
            </a:r>
          </a:p>
        </p:txBody>
      </p:sp>
    </p:spTree>
    <p:extLst>
      <p:ext uri="{BB962C8B-B14F-4D97-AF65-F5344CB8AC3E}">
        <p14:creationId xmlns:p14="http://schemas.microsoft.com/office/powerpoint/2010/main" val="239838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dirty="0">
                <a:solidFill>
                  <a:schemeClr val="tx2"/>
                </a:solidFill>
              </a:rPr>
              <a:t>Aggregated or unit processes in databases</a:t>
            </a:r>
          </a:p>
        </p:txBody>
      </p:sp>
      <p:sp>
        <p:nvSpPr>
          <p:cNvPr id="6" name="Content Placeholder 2">
            <a:extLst>
              <a:ext uri="{FF2B5EF4-FFF2-40B4-BE49-F238E27FC236}">
                <a16:creationId xmlns:a16="http://schemas.microsoft.com/office/drawing/2014/main" id="{D6118481-C658-CE4B-9969-FFC033CEABED}"/>
              </a:ext>
            </a:extLst>
          </p:cNvPr>
          <p:cNvSpPr txBox="1">
            <a:spLocks/>
          </p:cNvSpPr>
          <p:nvPr/>
        </p:nvSpPr>
        <p:spPr>
          <a:xfrm>
            <a:off x="1111767" y="1729569"/>
            <a:ext cx="10961413" cy="5446146"/>
          </a:xfrm>
          <a:prstGeom prst="rect">
            <a:avLst/>
          </a:prstGeom>
        </p:spPr>
        <p:txBody>
          <a:bodyPr>
            <a:noAutofit/>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0"/>
              </a:spcBef>
              <a:spcAft>
                <a:spcPts val="500"/>
              </a:spcAft>
            </a:pPr>
            <a:r>
              <a:rPr lang="en-US" b="1" dirty="0">
                <a:solidFill>
                  <a:schemeClr val="tx2"/>
                </a:solidFill>
              </a:rPr>
              <a:t>The </a:t>
            </a:r>
            <a:r>
              <a:rPr lang="en-US" b="1" dirty="0" err="1">
                <a:solidFill>
                  <a:schemeClr val="tx2"/>
                </a:solidFill>
              </a:rPr>
              <a:t>ecoinvent</a:t>
            </a:r>
            <a:r>
              <a:rPr lang="en-US" b="1" dirty="0">
                <a:solidFill>
                  <a:schemeClr val="tx2"/>
                </a:solidFill>
              </a:rPr>
              <a:t> database </a:t>
            </a:r>
            <a:r>
              <a:rPr lang="en-US" dirty="0">
                <a:solidFill>
                  <a:schemeClr val="tx2"/>
                </a:solidFill>
              </a:rPr>
              <a:t>provides all</a:t>
            </a:r>
            <a:r>
              <a:rPr lang="en-US" dirty="0">
                <a:solidFill>
                  <a:schemeClr val="accent4"/>
                </a:solidFill>
              </a:rPr>
              <a:t> intermediary </a:t>
            </a:r>
            <a:r>
              <a:rPr lang="en-US" dirty="0">
                <a:solidFill>
                  <a:schemeClr val="tx2"/>
                </a:solidFill>
              </a:rPr>
              <a:t>and</a:t>
            </a:r>
            <a:r>
              <a:rPr lang="en-US" dirty="0">
                <a:solidFill>
                  <a:schemeClr val="accent3"/>
                </a:solidFill>
              </a:rPr>
              <a:t> </a:t>
            </a:r>
            <a:br>
              <a:rPr lang="en-US" dirty="0">
                <a:solidFill>
                  <a:schemeClr val="accent3"/>
                </a:solidFill>
              </a:rPr>
            </a:br>
            <a:r>
              <a:rPr lang="en-US" dirty="0">
                <a:solidFill>
                  <a:schemeClr val="accent3"/>
                </a:solidFill>
              </a:rPr>
              <a:t>elementary </a:t>
            </a:r>
            <a:r>
              <a:rPr lang="en-US" dirty="0">
                <a:solidFill>
                  <a:schemeClr val="tx2"/>
                </a:solidFill>
              </a:rPr>
              <a:t>flows both</a:t>
            </a:r>
          </a:p>
          <a:p>
            <a:pPr>
              <a:spcBef>
                <a:spcPts val="0"/>
              </a:spcBef>
              <a:spcAft>
                <a:spcPts val="500"/>
              </a:spcAft>
            </a:pPr>
            <a:endParaRPr lang="en-US" dirty="0">
              <a:solidFill>
                <a:schemeClr val="tx2"/>
              </a:solidFill>
            </a:endParaRPr>
          </a:p>
          <a:p>
            <a:pPr marL="914400" lvl="1" indent="-457200">
              <a:spcBef>
                <a:spcPts val="0"/>
              </a:spcBef>
              <a:spcAft>
                <a:spcPts val="1000"/>
              </a:spcAft>
              <a:buClr>
                <a:schemeClr val="accent1"/>
              </a:buClr>
              <a:buFont typeface=".Lucida Grande UI Regular"/>
              <a:buChar char="►"/>
            </a:pPr>
            <a:r>
              <a:rPr lang="en-US" dirty="0">
                <a:solidFill>
                  <a:schemeClr val="tx2"/>
                </a:solidFill>
              </a:rPr>
              <a:t>for direct emissions and extractions at unit process level </a:t>
            </a:r>
            <a:br>
              <a:rPr lang="en-US" dirty="0">
                <a:solidFill>
                  <a:schemeClr val="tx2"/>
                </a:solidFill>
              </a:rPr>
            </a:br>
            <a:r>
              <a:rPr lang="en-US" dirty="0">
                <a:solidFill>
                  <a:schemeClr val="tx2"/>
                </a:solidFill>
              </a:rPr>
              <a:t>(</a:t>
            </a:r>
            <a:r>
              <a:rPr lang="en-US" b="1" dirty="0">
                <a:solidFill>
                  <a:schemeClr val="tx2"/>
                </a:solidFill>
              </a:rPr>
              <a:t>U=UP level</a:t>
            </a:r>
            <a:r>
              <a:rPr lang="en-US" dirty="0">
                <a:solidFill>
                  <a:schemeClr val="tx2"/>
                </a:solidFill>
              </a:rPr>
              <a:t>), and</a:t>
            </a:r>
          </a:p>
          <a:p>
            <a:pPr marL="914400" lvl="1" indent="-457200">
              <a:spcBef>
                <a:spcPts val="0"/>
              </a:spcBef>
              <a:spcAft>
                <a:spcPts val="1600"/>
              </a:spcAft>
              <a:buClr>
                <a:schemeClr val="accent1"/>
              </a:buClr>
              <a:buFont typeface=".Lucida Grande UI Regular"/>
              <a:buChar char="►"/>
            </a:pPr>
            <a:r>
              <a:rPr lang="en-US" dirty="0">
                <a:solidFill>
                  <a:schemeClr val="tx2"/>
                </a:solidFill>
              </a:rPr>
              <a:t>for aggregated inventory emissions and extractions of a </a:t>
            </a:r>
            <a:br>
              <a:rPr lang="en-US" dirty="0">
                <a:solidFill>
                  <a:schemeClr val="tx2"/>
                </a:solidFill>
              </a:rPr>
            </a:br>
            <a:r>
              <a:rPr lang="en-US" dirty="0">
                <a:solidFill>
                  <a:schemeClr val="tx2"/>
                </a:solidFill>
              </a:rPr>
              <a:t>given product, summed up over the entire supply chain </a:t>
            </a:r>
            <a:br>
              <a:rPr lang="en-US" dirty="0">
                <a:solidFill>
                  <a:schemeClr val="tx2"/>
                </a:solidFill>
              </a:rPr>
            </a:br>
            <a:r>
              <a:rPr lang="en-US" dirty="0">
                <a:solidFill>
                  <a:schemeClr val="tx2"/>
                </a:solidFill>
              </a:rPr>
              <a:t>from “cradle to gate” (</a:t>
            </a:r>
            <a:r>
              <a:rPr lang="en-US" b="1" dirty="0">
                <a:solidFill>
                  <a:schemeClr val="tx2"/>
                </a:solidFill>
              </a:rPr>
              <a:t>S=system level</a:t>
            </a:r>
            <a:r>
              <a:rPr lang="en-US" dirty="0">
                <a:solidFill>
                  <a:schemeClr val="tx2"/>
                </a:solidFill>
              </a:rPr>
              <a:t>)</a:t>
            </a:r>
          </a:p>
          <a:p>
            <a:pPr marL="914400" lvl="1" indent="-457200">
              <a:spcBef>
                <a:spcPts val="0"/>
              </a:spcBef>
              <a:spcAft>
                <a:spcPts val="1600"/>
              </a:spcAft>
              <a:buClr>
                <a:schemeClr val="accent1"/>
              </a:buClr>
              <a:buFont typeface="Wingdings" pitchFamily="2" charset="2"/>
              <a:buChar char="§"/>
            </a:pPr>
            <a:endParaRPr lang="en-US" dirty="0">
              <a:solidFill>
                <a:schemeClr val="tx2"/>
              </a:solidFill>
            </a:endParaRPr>
          </a:p>
          <a:p>
            <a:pPr>
              <a:spcBef>
                <a:spcPts val="0"/>
              </a:spcBef>
              <a:spcAft>
                <a:spcPts val="1600"/>
              </a:spcAft>
            </a:pPr>
            <a:r>
              <a:rPr lang="en-US"/>
              <a:t>Many other </a:t>
            </a:r>
            <a:r>
              <a:rPr lang="en-US" dirty="0"/>
              <a:t>databases only provide </a:t>
            </a:r>
            <a:r>
              <a:rPr lang="en-US" i="1" dirty="0">
                <a:solidFill>
                  <a:schemeClr val="accent5"/>
                </a:solidFill>
              </a:rPr>
              <a:t>aggregated flows </a:t>
            </a:r>
          </a:p>
        </p:txBody>
      </p:sp>
    </p:spTree>
    <p:extLst>
      <p:ext uri="{BB962C8B-B14F-4D97-AF65-F5344CB8AC3E}">
        <p14:creationId xmlns:p14="http://schemas.microsoft.com/office/powerpoint/2010/main" val="3763457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21D3B-11C1-094C-BA45-77000CB5A6CD}"/>
              </a:ext>
            </a:extLst>
          </p:cNvPr>
          <p:cNvSpPr>
            <a:spLocks noGrp="1"/>
          </p:cNvSpPr>
          <p:nvPr>
            <p:ph type="title"/>
          </p:nvPr>
        </p:nvSpPr>
        <p:spPr/>
        <p:txBody>
          <a:bodyPr/>
          <a:lstStyle/>
          <a:p>
            <a:r>
              <a:rPr lang="en-US" altLang="en-US" dirty="0">
                <a:solidFill>
                  <a:schemeClr val="tx2"/>
                </a:solidFill>
              </a:rPr>
              <a:t>Life cycle inventory database</a:t>
            </a:r>
            <a:endParaRPr lang="en-US" dirty="0">
              <a:solidFill>
                <a:schemeClr val="tx2"/>
              </a:solidFill>
            </a:endParaRPr>
          </a:p>
        </p:txBody>
      </p:sp>
      <p:sp>
        <p:nvSpPr>
          <p:cNvPr id="25" name="Rectangle 3">
            <a:extLst>
              <a:ext uri="{FF2B5EF4-FFF2-40B4-BE49-F238E27FC236}">
                <a16:creationId xmlns:a16="http://schemas.microsoft.com/office/drawing/2014/main" id="{B7636933-5576-684B-BE49-3D3595D3B67A}"/>
              </a:ext>
            </a:extLst>
          </p:cNvPr>
          <p:cNvSpPr>
            <a:spLocks noChangeArrowheads="1"/>
          </p:cNvSpPr>
          <p:nvPr/>
        </p:nvSpPr>
        <p:spPr bwMode="auto">
          <a:xfrm>
            <a:off x="2200365" y="6703457"/>
            <a:ext cx="112478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indent="0">
              <a:spcBef>
                <a:spcPct val="0"/>
              </a:spcBef>
              <a:spcAft>
                <a:spcPts val="3000"/>
              </a:spcAft>
              <a:buClrTx/>
              <a:buNone/>
            </a:pPr>
            <a:r>
              <a:rPr lang="en-US" altLang="en-US" sz="2800" b="0" i="1" dirty="0">
                <a:solidFill>
                  <a:schemeClr val="accent6"/>
                </a:solidFill>
              </a:rPr>
              <a:t>Calculate the aggregated inventory flows of the total system per FU </a:t>
            </a:r>
            <a:endParaRPr lang="en-US" altLang="en-US" sz="2800" b="0" dirty="0">
              <a:solidFill>
                <a:schemeClr val="tx2"/>
              </a:solidFill>
            </a:endParaRPr>
          </a:p>
        </p:txBody>
      </p:sp>
      <p:sp>
        <p:nvSpPr>
          <p:cNvPr id="26" name="Oval 25">
            <a:extLst>
              <a:ext uri="{FF2B5EF4-FFF2-40B4-BE49-F238E27FC236}">
                <a16:creationId xmlns:a16="http://schemas.microsoft.com/office/drawing/2014/main" id="{3CE52FBA-955E-DE48-A39E-7D6827381218}"/>
              </a:ext>
            </a:extLst>
          </p:cNvPr>
          <p:cNvSpPr/>
          <p:nvPr/>
        </p:nvSpPr>
        <p:spPr>
          <a:xfrm>
            <a:off x="1382570" y="4106801"/>
            <a:ext cx="707629" cy="707629"/>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1</a:t>
            </a:r>
          </a:p>
        </p:txBody>
      </p:sp>
      <p:sp>
        <p:nvSpPr>
          <p:cNvPr id="27" name="Oval 26">
            <a:extLst>
              <a:ext uri="{FF2B5EF4-FFF2-40B4-BE49-F238E27FC236}">
                <a16:creationId xmlns:a16="http://schemas.microsoft.com/office/drawing/2014/main" id="{0D22D10F-615B-704A-92C9-CED6570F92F3}"/>
              </a:ext>
            </a:extLst>
          </p:cNvPr>
          <p:cNvSpPr/>
          <p:nvPr/>
        </p:nvSpPr>
        <p:spPr>
          <a:xfrm>
            <a:off x="1382570" y="4941618"/>
            <a:ext cx="707629" cy="707629"/>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2</a:t>
            </a:r>
          </a:p>
        </p:txBody>
      </p:sp>
      <p:sp>
        <p:nvSpPr>
          <p:cNvPr id="28" name="Oval 27">
            <a:extLst>
              <a:ext uri="{FF2B5EF4-FFF2-40B4-BE49-F238E27FC236}">
                <a16:creationId xmlns:a16="http://schemas.microsoft.com/office/drawing/2014/main" id="{0F2434D5-F6F9-504E-BDFA-D04805825029}"/>
              </a:ext>
            </a:extLst>
          </p:cNvPr>
          <p:cNvSpPr/>
          <p:nvPr/>
        </p:nvSpPr>
        <p:spPr>
          <a:xfrm>
            <a:off x="1382570" y="5787654"/>
            <a:ext cx="707629" cy="707629"/>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3</a:t>
            </a:r>
          </a:p>
        </p:txBody>
      </p:sp>
      <p:sp>
        <p:nvSpPr>
          <p:cNvPr id="29" name="Oval 28">
            <a:extLst>
              <a:ext uri="{FF2B5EF4-FFF2-40B4-BE49-F238E27FC236}">
                <a16:creationId xmlns:a16="http://schemas.microsoft.com/office/drawing/2014/main" id="{06ED438F-5A87-A843-BBB1-4ED0315BF013}"/>
              </a:ext>
            </a:extLst>
          </p:cNvPr>
          <p:cNvSpPr/>
          <p:nvPr/>
        </p:nvSpPr>
        <p:spPr>
          <a:xfrm>
            <a:off x="1382570" y="6611253"/>
            <a:ext cx="707629" cy="707629"/>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b="1" dirty="0"/>
              <a:t>4</a:t>
            </a:r>
          </a:p>
        </p:txBody>
      </p:sp>
      <p:sp>
        <p:nvSpPr>
          <p:cNvPr id="30" name="Rectangle 29">
            <a:extLst>
              <a:ext uri="{FF2B5EF4-FFF2-40B4-BE49-F238E27FC236}">
                <a16:creationId xmlns:a16="http://schemas.microsoft.com/office/drawing/2014/main" id="{88A74CFA-A728-7149-8A1A-1646A1276542}"/>
              </a:ext>
            </a:extLst>
          </p:cNvPr>
          <p:cNvSpPr/>
          <p:nvPr/>
        </p:nvSpPr>
        <p:spPr>
          <a:xfrm>
            <a:off x="878783" y="1380625"/>
            <a:ext cx="13942257" cy="584775"/>
          </a:xfrm>
          <a:prstGeom prst="rect">
            <a:avLst/>
          </a:prstGeom>
        </p:spPr>
        <p:txBody>
          <a:bodyPr wrap="square">
            <a:spAutoFit/>
          </a:bodyPr>
          <a:lstStyle/>
          <a:p>
            <a:pPr lvl="0" defTabSz="457200">
              <a:spcBef>
                <a:spcPct val="20000"/>
              </a:spcBef>
            </a:pPr>
            <a:r>
              <a:rPr lang="en-US" dirty="0">
                <a:solidFill>
                  <a:schemeClr val="tx2"/>
                </a:solidFill>
              </a:rPr>
              <a:t>Life cycle databases provide either: </a:t>
            </a:r>
          </a:p>
        </p:txBody>
      </p:sp>
      <p:sp>
        <p:nvSpPr>
          <p:cNvPr id="5" name="Rectangle 4">
            <a:extLst>
              <a:ext uri="{FF2B5EF4-FFF2-40B4-BE49-F238E27FC236}">
                <a16:creationId xmlns:a16="http://schemas.microsoft.com/office/drawing/2014/main" id="{6F06C66F-B2B5-9044-9233-825C7D7E1950}"/>
              </a:ext>
            </a:extLst>
          </p:cNvPr>
          <p:cNvSpPr/>
          <p:nvPr/>
        </p:nvSpPr>
        <p:spPr>
          <a:xfrm>
            <a:off x="878783" y="2147583"/>
            <a:ext cx="4999902" cy="1569660"/>
          </a:xfrm>
          <a:prstGeom prst="rect">
            <a:avLst/>
          </a:prstGeom>
        </p:spPr>
        <p:txBody>
          <a:bodyPr wrap="square">
            <a:spAutoFit/>
          </a:bodyPr>
          <a:lstStyle/>
          <a:p>
            <a:pPr lvl="0" defTabSz="457200">
              <a:spcBef>
                <a:spcPct val="20000"/>
              </a:spcBef>
              <a:buClr>
                <a:schemeClr val="accent1"/>
              </a:buClr>
            </a:pPr>
            <a:r>
              <a:rPr lang="en-US" dirty="0">
                <a:solidFill>
                  <a:schemeClr val="tx2"/>
                </a:solidFill>
              </a:rPr>
              <a:t>The direct </a:t>
            </a:r>
            <a:r>
              <a:rPr lang="en-US" dirty="0">
                <a:solidFill>
                  <a:srgbClr val="407EC9"/>
                </a:solidFill>
              </a:rPr>
              <a:t>intermediary </a:t>
            </a:r>
            <a:br>
              <a:rPr lang="en-US" dirty="0">
                <a:solidFill>
                  <a:srgbClr val="407EC9"/>
                </a:solidFill>
              </a:rPr>
            </a:br>
            <a:r>
              <a:rPr lang="en-US" dirty="0">
                <a:solidFill>
                  <a:schemeClr val="tx2"/>
                </a:solidFill>
              </a:rPr>
              <a:t>and </a:t>
            </a:r>
            <a:r>
              <a:rPr lang="en-US" dirty="0">
                <a:solidFill>
                  <a:srgbClr val="ADA400"/>
                </a:solidFill>
              </a:rPr>
              <a:t>elementary </a:t>
            </a:r>
            <a:r>
              <a:rPr lang="en-US" dirty="0">
                <a:solidFill>
                  <a:schemeClr val="tx2"/>
                </a:solidFill>
              </a:rPr>
              <a:t>flows at </a:t>
            </a:r>
            <a:br>
              <a:rPr lang="en-US" dirty="0">
                <a:solidFill>
                  <a:schemeClr val="tx2"/>
                </a:solidFill>
              </a:rPr>
            </a:br>
            <a:r>
              <a:rPr lang="en-US" dirty="0">
                <a:solidFill>
                  <a:schemeClr val="tx2"/>
                </a:solidFill>
              </a:rPr>
              <a:t>the </a:t>
            </a:r>
            <a:r>
              <a:rPr lang="en-US" b="1" dirty="0">
                <a:solidFill>
                  <a:schemeClr val="tx2"/>
                </a:solidFill>
              </a:rPr>
              <a:t>Unit</a:t>
            </a:r>
            <a:r>
              <a:rPr lang="en-US" dirty="0">
                <a:solidFill>
                  <a:schemeClr val="tx2"/>
                </a:solidFill>
              </a:rPr>
              <a:t> Process level</a:t>
            </a:r>
          </a:p>
        </p:txBody>
      </p:sp>
      <p:sp>
        <p:nvSpPr>
          <p:cNvPr id="6" name="Rectangle 5">
            <a:extLst>
              <a:ext uri="{FF2B5EF4-FFF2-40B4-BE49-F238E27FC236}">
                <a16:creationId xmlns:a16="http://schemas.microsoft.com/office/drawing/2014/main" id="{507E059E-909E-8D45-8E77-4863FA2E2B08}"/>
              </a:ext>
            </a:extLst>
          </p:cNvPr>
          <p:cNvSpPr/>
          <p:nvPr/>
        </p:nvSpPr>
        <p:spPr>
          <a:xfrm>
            <a:off x="7382611" y="2112180"/>
            <a:ext cx="8128000" cy="1569660"/>
          </a:xfrm>
          <a:prstGeom prst="rect">
            <a:avLst/>
          </a:prstGeom>
        </p:spPr>
        <p:txBody>
          <a:bodyPr>
            <a:spAutoFit/>
          </a:bodyPr>
          <a:lstStyle/>
          <a:p>
            <a:pPr lvl="0" defTabSz="457200">
              <a:spcBef>
                <a:spcPct val="20000"/>
              </a:spcBef>
              <a:buClr>
                <a:schemeClr val="accent1"/>
              </a:buClr>
            </a:pPr>
            <a:r>
              <a:rPr lang="en-US" dirty="0">
                <a:solidFill>
                  <a:schemeClr val="tx2"/>
                </a:solidFill>
              </a:rPr>
              <a:t>The </a:t>
            </a:r>
            <a:r>
              <a:rPr lang="en-US" dirty="0">
                <a:solidFill>
                  <a:srgbClr val="D86018"/>
                </a:solidFill>
              </a:rPr>
              <a:t>aggregated flows</a:t>
            </a:r>
            <a:r>
              <a:rPr lang="en-US" dirty="0"/>
              <a:t> </a:t>
            </a:r>
            <a:r>
              <a:rPr lang="en-US" dirty="0">
                <a:solidFill>
                  <a:schemeClr val="tx2"/>
                </a:solidFill>
              </a:rPr>
              <a:t>at the </a:t>
            </a:r>
            <a:r>
              <a:rPr lang="en-US" b="1" dirty="0">
                <a:solidFill>
                  <a:schemeClr val="tx2"/>
                </a:solidFill>
              </a:rPr>
              <a:t>System</a:t>
            </a:r>
            <a:r>
              <a:rPr lang="en-US" dirty="0">
                <a:solidFill>
                  <a:schemeClr val="tx2"/>
                </a:solidFill>
              </a:rPr>
              <a:t> level, accounting for the entire supply chain of </a:t>
            </a:r>
            <a:br>
              <a:rPr lang="en-US" dirty="0">
                <a:solidFill>
                  <a:schemeClr val="tx2"/>
                </a:solidFill>
              </a:rPr>
            </a:br>
            <a:r>
              <a:rPr lang="en-US" dirty="0">
                <a:solidFill>
                  <a:schemeClr val="tx2"/>
                </a:solidFill>
              </a:rPr>
              <a:t>the considered process </a:t>
            </a:r>
          </a:p>
        </p:txBody>
      </p:sp>
      <p:sp>
        <p:nvSpPr>
          <p:cNvPr id="7" name="Rectangle 6">
            <a:extLst>
              <a:ext uri="{FF2B5EF4-FFF2-40B4-BE49-F238E27FC236}">
                <a16:creationId xmlns:a16="http://schemas.microsoft.com/office/drawing/2014/main" id="{7C3979C3-8F18-6D40-BE54-55067189B7ED}"/>
              </a:ext>
            </a:extLst>
          </p:cNvPr>
          <p:cNvSpPr/>
          <p:nvPr/>
        </p:nvSpPr>
        <p:spPr>
          <a:xfrm>
            <a:off x="5756444" y="2342953"/>
            <a:ext cx="1189504" cy="118950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OR</a:t>
            </a:r>
          </a:p>
        </p:txBody>
      </p:sp>
      <p:sp>
        <p:nvSpPr>
          <p:cNvPr id="9" name="Rectangle 8">
            <a:extLst>
              <a:ext uri="{FF2B5EF4-FFF2-40B4-BE49-F238E27FC236}">
                <a16:creationId xmlns:a16="http://schemas.microsoft.com/office/drawing/2014/main" id="{072C794D-7491-C54D-B414-2B4DCF019027}"/>
              </a:ext>
            </a:extLst>
          </p:cNvPr>
          <p:cNvSpPr/>
          <p:nvPr/>
        </p:nvSpPr>
        <p:spPr>
          <a:xfrm>
            <a:off x="991892" y="3856725"/>
            <a:ext cx="14289437" cy="3706449"/>
          </a:xfrm>
          <a:prstGeom prst="rect">
            <a:avLst/>
          </a:prstGeom>
          <a:noFill/>
          <a:ln w="317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
            <a:extLst>
              <a:ext uri="{FF2B5EF4-FFF2-40B4-BE49-F238E27FC236}">
                <a16:creationId xmlns:a16="http://schemas.microsoft.com/office/drawing/2014/main" id="{A1FA6902-5ED2-974D-B3CF-A7CD304A9AB1}"/>
              </a:ext>
            </a:extLst>
          </p:cNvPr>
          <p:cNvSpPr>
            <a:spLocks noChangeArrowheads="1"/>
          </p:cNvSpPr>
          <p:nvPr/>
        </p:nvSpPr>
        <p:spPr bwMode="auto">
          <a:xfrm>
            <a:off x="2200365" y="4182144"/>
            <a:ext cx="112478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indent="0">
              <a:spcBef>
                <a:spcPct val="0"/>
              </a:spcBef>
              <a:spcAft>
                <a:spcPts val="3000"/>
              </a:spcAft>
              <a:buClrTx/>
              <a:buNone/>
            </a:pPr>
            <a:r>
              <a:rPr lang="en-US" altLang="en-US" sz="2800" b="0" i="1" dirty="0">
                <a:solidFill>
                  <a:schemeClr val="accent6"/>
                </a:solidFill>
              </a:rPr>
              <a:t>Find the direct emission and extraction factors </a:t>
            </a:r>
            <a:r>
              <a:rPr lang="en-US" altLang="en-US" sz="2800" b="0" dirty="0">
                <a:solidFill>
                  <a:schemeClr val="tx2"/>
                </a:solidFill>
              </a:rPr>
              <a:t>of each unit process </a:t>
            </a:r>
          </a:p>
        </p:txBody>
      </p:sp>
      <p:sp>
        <p:nvSpPr>
          <p:cNvPr id="37" name="Rectangle 3">
            <a:extLst>
              <a:ext uri="{FF2B5EF4-FFF2-40B4-BE49-F238E27FC236}">
                <a16:creationId xmlns:a16="http://schemas.microsoft.com/office/drawing/2014/main" id="{99EF64FE-F587-4440-B480-954FD188B932}"/>
              </a:ext>
            </a:extLst>
          </p:cNvPr>
          <p:cNvSpPr>
            <a:spLocks noChangeArrowheads="1"/>
          </p:cNvSpPr>
          <p:nvPr/>
        </p:nvSpPr>
        <p:spPr bwMode="auto">
          <a:xfrm>
            <a:off x="2200365" y="5003555"/>
            <a:ext cx="112478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indent="0">
              <a:spcBef>
                <a:spcPct val="0"/>
              </a:spcBef>
              <a:spcAft>
                <a:spcPts val="3000"/>
              </a:spcAft>
              <a:buClrTx/>
              <a:buNone/>
            </a:pPr>
            <a:r>
              <a:rPr lang="en-US" altLang="en-US" sz="2800" b="0" i="1" dirty="0">
                <a:solidFill>
                  <a:schemeClr val="bg1">
                    <a:lumMod val="75000"/>
                  </a:schemeClr>
                </a:solidFill>
              </a:rPr>
              <a:t>Identify the amount of each Unit process per FU</a:t>
            </a:r>
          </a:p>
        </p:txBody>
      </p:sp>
      <p:sp>
        <p:nvSpPr>
          <p:cNvPr id="38" name="Rectangle 3">
            <a:extLst>
              <a:ext uri="{FF2B5EF4-FFF2-40B4-BE49-F238E27FC236}">
                <a16:creationId xmlns:a16="http://schemas.microsoft.com/office/drawing/2014/main" id="{C6B978CC-E647-EB42-BB6A-60589A35CA7C}"/>
              </a:ext>
            </a:extLst>
          </p:cNvPr>
          <p:cNvSpPr>
            <a:spLocks noChangeArrowheads="1"/>
          </p:cNvSpPr>
          <p:nvPr/>
        </p:nvSpPr>
        <p:spPr bwMode="auto">
          <a:xfrm>
            <a:off x="2200365" y="5886957"/>
            <a:ext cx="112478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14350" indent="-514350">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marL="0" indent="0">
              <a:spcBef>
                <a:spcPct val="0"/>
              </a:spcBef>
              <a:spcAft>
                <a:spcPts val="3000"/>
              </a:spcAft>
              <a:buClrTx/>
              <a:buNone/>
            </a:pPr>
            <a:r>
              <a:rPr lang="en-US" altLang="en-US" sz="2800" b="0" i="1" dirty="0">
                <a:solidFill>
                  <a:schemeClr val="bg1">
                    <a:lumMod val="75000"/>
                  </a:schemeClr>
                </a:solidFill>
              </a:rPr>
              <a:t>Calculate the elementary flows of each UP per FU 	</a:t>
            </a:r>
          </a:p>
        </p:txBody>
      </p:sp>
    </p:spTree>
    <p:extLst>
      <p:ext uri="{BB962C8B-B14F-4D97-AF65-F5344CB8AC3E}">
        <p14:creationId xmlns:p14="http://schemas.microsoft.com/office/powerpoint/2010/main" val="464858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6CD0A-04D1-884F-A68D-B38E24EE91D0}"/>
              </a:ext>
            </a:extLst>
          </p:cNvPr>
          <p:cNvSpPr>
            <a:spLocks noGrp="1"/>
          </p:cNvSpPr>
          <p:nvPr>
            <p:ph type="title"/>
          </p:nvPr>
        </p:nvSpPr>
        <p:spPr/>
        <p:txBody>
          <a:bodyPr/>
          <a:lstStyle/>
          <a:p>
            <a:r>
              <a:rPr lang="en-US" altLang="en-US" sz="3200" dirty="0">
                <a:solidFill>
                  <a:schemeClr val="tx2"/>
                </a:solidFill>
              </a:rPr>
              <a:t>Direct intermediary and elementary flows at Unit Process level</a:t>
            </a:r>
            <a:endParaRPr lang="en-US" sz="3200" dirty="0">
              <a:solidFill>
                <a:schemeClr val="tx2"/>
              </a:solidFill>
            </a:endParaRPr>
          </a:p>
        </p:txBody>
      </p:sp>
      <p:sp>
        <p:nvSpPr>
          <p:cNvPr id="5" name="Oval 4">
            <a:extLst>
              <a:ext uri="{FF2B5EF4-FFF2-40B4-BE49-F238E27FC236}">
                <a16:creationId xmlns:a16="http://schemas.microsoft.com/office/drawing/2014/main" id="{0758ECFB-0CAF-7F4C-AC87-1B9980FA9577}"/>
              </a:ext>
            </a:extLst>
          </p:cNvPr>
          <p:cNvSpPr/>
          <p:nvPr/>
        </p:nvSpPr>
        <p:spPr>
          <a:xfrm>
            <a:off x="773192" y="1421431"/>
            <a:ext cx="511438" cy="51143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1</a:t>
            </a:r>
          </a:p>
        </p:txBody>
      </p:sp>
      <p:sp>
        <p:nvSpPr>
          <p:cNvPr id="13" name="Text Box 41">
            <a:extLst>
              <a:ext uri="{FF2B5EF4-FFF2-40B4-BE49-F238E27FC236}">
                <a16:creationId xmlns:a16="http://schemas.microsoft.com/office/drawing/2014/main" id="{3BB60B22-84AE-3C43-9BA0-126B5FEB1AD4}"/>
              </a:ext>
            </a:extLst>
          </p:cNvPr>
          <p:cNvSpPr txBox="1">
            <a:spLocks noChangeArrowheads="1"/>
          </p:cNvSpPr>
          <p:nvPr/>
        </p:nvSpPr>
        <p:spPr bwMode="auto">
          <a:xfrm>
            <a:off x="7155831" y="2711947"/>
            <a:ext cx="1768475" cy="3816429"/>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endParaRPr lang="en-US" altLang="en-US" sz="2000" dirty="0">
              <a:solidFill>
                <a:schemeClr val="accent6"/>
              </a:solidFill>
              <a:cs typeface="Arial" panose="020B0604020202020204" pitchFamily="34" charset="0"/>
            </a:endParaRPr>
          </a:p>
          <a:p>
            <a:pPr algn="ctr">
              <a:spcBef>
                <a:spcPct val="0"/>
              </a:spcBef>
              <a:buClrTx/>
              <a:buFontTx/>
              <a:buNone/>
            </a:pPr>
            <a:r>
              <a:rPr lang="en-US" altLang="en-US" sz="2000" dirty="0">
                <a:solidFill>
                  <a:schemeClr val="accent6"/>
                </a:solidFill>
                <a:cs typeface="Arial" panose="020B0604020202020204" pitchFamily="34" charset="0"/>
              </a:rPr>
              <a:t>Aluminum, </a:t>
            </a:r>
          </a:p>
          <a:p>
            <a:pPr algn="ctr">
              <a:spcBef>
                <a:spcPct val="0"/>
              </a:spcBef>
              <a:buClrTx/>
              <a:buFontTx/>
              <a:buNone/>
            </a:pPr>
            <a:r>
              <a:rPr lang="en-US" altLang="en-US" sz="2000" dirty="0">
                <a:solidFill>
                  <a:schemeClr val="accent6"/>
                </a:solidFill>
                <a:cs typeface="Arial" panose="020B0604020202020204" pitchFamily="34" charset="0"/>
              </a:rPr>
              <a:t>primary, </a:t>
            </a:r>
          </a:p>
          <a:p>
            <a:pPr algn="ctr">
              <a:spcBef>
                <a:spcPct val="0"/>
              </a:spcBef>
              <a:buClrTx/>
              <a:buFontTx/>
              <a:buNone/>
            </a:pPr>
            <a:r>
              <a:rPr lang="en-US" altLang="en-US" sz="2000" dirty="0">
                <a:solidFill>
                  <a:schemeClr val="accent6"/>
                </a:solidFill>
                <a:cs typeface="Arial" panose="020B0604020202020204" pitchFamily="34" charset="0"/>
              </a:rPr>
              <a:t>liquid</a:t>
            </a: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r>
              <a:rPr lang="en-US" altLang="en-US" sz="1800" dirty="0">
                <a:solidFill>
                  <a:schemeClr val="tx2"/>
                </a:solidFill>
                <a:cs typeface="Arial" panose="020B0604020202020204" pitchFamily="34" charset="0"/>
              </a:rPr>
              <a:t>1 kg</a:t>
            </a: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p:txBody>
      </p:sp>
      <p:sp>
        <p:nvSpPr>
          <p:cNvPr id="16" name="Line 44">
            <a:extLst>
              <a:ext uri="{FF2B5EF4-FFF2-40B4-BE49-F238E27FC236}">
                <a16:creationId xmlns:a16="http://schemas.microsoft.com/office/drawing/2014/main" id="{94B8EF11-B3FA-624A-AC33-1D928EA802DA}"/>
              </a:ext>
            </a:extLst>
          </p:cNvPr>
          <p:cNvSpPr>
            <a:spLocks noChangeShapeType="1"/>
          </p:cNvSpPr>
          <p:nvPr/>
        </p:nvSpPr>
        <p:spPr bwMode="auto">
          <a:xfrm>
            <a:off x="6752605" y="5962294"/>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7" name="Text Box 49">
            <a:extLst>
              <a:ext uri="{FF2B5EF4-FFF2-40B4-BE49-F238E27FC236}">
                <a16:creationId xmlns:a16="http://schemas.microsoft.com/office/drawing/2014/main" id="{B6219096-AC08-824C-B3B3-523B1BE12AE7}"/>
              </a:ext>
            </a:extLst>
          </p:cNvPr>
          <p:cNvSpPr txBox="1">
            <a:spLocks noChangeArrowheads="1"/>
          </p:cNvSpPr>
          <p:nvPr/>
        </p:nvSpPr>
        <p:spPr bwMode="auto">
          <a:xfrm>
            <a:off x="2492820" y="5778144"/>
            <a:ext cx="42621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a:solidFill>
                  <a:schemeClr val="accent4"/>
                </a:solidFill>
                <a:cs typeface="Arial" panose="020B0604020202020204" pitchFamily="34" charset="0"/>
              </a:rPr>
              <a:t>Transport, transoceanic freight ship 3.8 tkm</a:t>
            </a:r>
          </a:p>
        </p:txBody>
      </p:sp>
      <p:sp>
        <p:nvSpPr>
          <p:cNvPr id="18" name="Line 53">
            <a:extLst>
              <a:ext uri="{FF2B5EF4-FFF2-40B4-BE49-F238E27FC236}">
                <a16:creationId xmlns:a16="http://schemas.microsoft.com/office/drawing/2014/main" id="{D63949D5-F4CA-284B-BA87-1A0BDC7BC5C2}"/>
              </a:ext>
            </a:extLst>
          </p:cNvPr>
          <p:cNvSpPr>
            <a:spLocks noChangeShapeType="1"/>
          </p:cNvSpPr>
          <p:nvPr/>
        </p:nvSpPr>
        <p:spPr bwMode="auto">
          <a:xfrm>
            <a:off x="8967170" y="6001081"/>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9" name="Text Box 54">
            <a:extLst>
              <a:ext uri="{FF2B5EF4-FFF2-40B4-BE49-F238E27FC236}">
                <a16:creationId xmlns:a16="http://schemas.microsoft.com/office/drawing/2014/main" id="{0ABE7E3C-11F1-E147-A586-93C2A5F0A8D7}"/>
              </a:ext>
            </a:extLst>
          </p:cNvPr>
          <p:cNvSpPr txBox="1">
            <a:spLocks noChangeArrowheads="1"/>
          </p:cNvSpPr>
          <p:nvPr/>
        </p:nvSpPr>
        <p:spPr bwMode="auto">
          <a:xfrm>
            <a:off x="9402547" y="5816121"/>
            <a:ext cx="44232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4"/>
                </a:solidFill>
                <a:cs typeface="Arial" panose="020B0604020202020204" pitchFamily="34" charset="0"/>
              </a:rPr>
              <a:t>Disposal, filter dust Al electrolysis 2.00 g</a:t>
            </a:r>
          </a:p>
        </p:txBody>
      </p:sp>
      <p:sp>
        <p:nvSpPr>
          <p:cNvPr id="20" name="Line 56">
            <a:extLst>
              <a:ext uri="{FF2B5EF4-FFF2-40B4-BE49-F238E27FC236}">
                <a16:creationId xmlns:a16="http://schemas.microsoft.com/office/drawing/2014/main" id="{54A13EFB-03A7-604C-9402-5A5EF2E11A94}"/>
              </a:ext>
            </a:extLst>
          </p:cNvPr>
          <p:cNvSpPr>
            <a:spLocks noChangeShapeType="1"/>
          </p:cNvSpPr>
          <p:nvPr/>
        </p:nvSpPr>
        <p:spPr bwMode="auto">
          <a:xfrm>
            <a:off x="6752605" y="5097966"/>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1" name="Line 57">
            <a:extLst>
              <a:ext uri="{FF2B5EF4-FFF2-40B4-BE49-F238E27FC236}">
                <a16:creationId xmlns:a16="http://schemas.microsoft.com/office/drawing/2014/main" id="{3CE21D7F-7753-B349-85A1-FCF81C6FEEB3}"/>
              </a:ext>
            </a:extLst>
          </p:cNvPr>
          <p:cNvSpPr>
            <a:spLocks noChangeShapeType="1"/>
          </p:cNvSpPr>
          <p:nvPr/>
        </p:nvSpPr>
        <p:spPr bwMode="auto">
          <a:xfrm>
            <a:off x="6752605" y="4653462"/>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2" name="Line 58">
            <a:extLst>
              <a:ext uri="{FF2B5EF4-FFF2-40B4-BE49-F238E27FC236}">
                <a16:creationId xmlns:a16="http://schemas.microsoft.com/office/drawing/2014/main" id="{84626F31-2DD8-334F-920E-A8A28ACD9ABA}"/>
              </a:ext>
            </a:extLst>
          </p:cNvPr>
          <p:cNvSpPr>
            <a:spLocks noChangeShapeType="1"/>
          </p:cNvSpPr>
          <p:nvPr/>
        </p:nvSpPr>
        <p:spPr bwMode="auto">
          <a:xfrm>
            <a:off x="6752605" y="5501192"/>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3" name="Text Box 59">
            <a:extLst>
              <a:ext uri="{FF2B5EF4-FFF2-40B4-BE49-F238E27FC236}">
                <a16:creationId xmlns:a16="http://schemas.microsoft.com/office/drawing/2014/main" id="{41A941BF-F9E3-9349-B15E-41948C8F85C1}"/>
              </a:ext>
            </a:extLst>
          </p:cNvPr>
          <p:cNvSpPr txBox="1">
            <a:spLocks noChangeArrowheads="1"/>
          </p:cNvSpPr>
          <p:nvPr/>
        </p:nvSpPr>
        <p:spPr bwMode="auto">
          <a:xfrm>
            <a:off x="2238842" y="4465847"/>
            <a:ext cx="45161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a:solidFill>
                  <a:schemeClr val="accent4"/>
                </a:solidFill>
                <a:cs typeface="Arial" panose="020B0604020202020204" pitchFamily="34" charset="0"/>
              </a:rPr>
              <a:t>Electricity mix, aluminum industry 15.9 kWh</a:t>
            </a:r>
          </a:p>
        </p:txBody>
      </p:sp>
      <p:sp>
        <p:nvSpPr>
          <p:cNvPr id="24" name="Text Box 60">
            <a:extLst>
              <a:ext uri="{FF2B5EF4-FFF2-40B4-BE49-F238E27FC236}">
                <a16:creationId xmlns:a16="http://schemas.microsoft.com/office/drawing/2014/main" id="{9E73A470-CE50-284E-9685-F71E92B2557E}"/>
              </a:ext>
            </a:extLst>
          </p:cNvPr>
          <p:cNvSpPr txBox="1">
            <a:spLocks noChangeArrowheads="1"/>
          </p:cNvSpPr>
          <p:nvPr/>
        </p:nvSpPr>
        <p:spPr bwMode="auto">
          <a:xfrm>
            <a:off x="3692954" y="4903279"/>
            <a:ext cx="30620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a:solidFill>
                  <a:schemeClr val="accent4"/>
                </a:solidFill>
                <a:cs typeface="Arial" panose="020B0604020202020204" pitchFamily="34" charset="0"/>
              </a:rPr>
              <a:t>Heat, light fuel oil 0.089 MJ</a:t>
            </a:r>
            <a:endParaRPr lang="en-US" altLang="en-US" sz="1600" b="0" baseline="30000">
              <a:solidFill>
                <a:schemeClr val="accent4"/>
              </a:solidFill>
              <a:cs typeface="Arial" panose="020B0604020202020204" pitchFamily="34" charset="0"/>
            </a:endParaRPr>
          </a:p>
        </p:txBody>
      </p:sp>
      <p:sp>
        <p:nvSpPr>
          <p:cNvPr id="25" name="Text Box 61">
            <a:extLst>
              <a:ext uri="{FF2B5EF4-FFF2-40B4-BE49-F238E27FC236}">
                <a16:creationId xmlns:a16="http://schemas.microsoft.com/office/drawing/2014/main" id="{CCC0EB06-8FD2-854F-B342-95A666ABA919}"/>
              </a:ext>
            </a:extLst>
          </p:cNvPr>
          <p:cNvSpPr txBox="1">
            <a:spLocks noChangeArrowheads="1"/>
          </p:cNvSpPr>
          <p:nvPr/>
        </p:nvSpPr>
        <p:spPr bwMode="auto">
          <a:xfrm>
            <a:off x="3844983" y="5340711"/>
            <a:ext cx="29100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a:solidFill>
                  <a:schemeClr val="accent4"/>
                </a:solidFill>
                <a:cs typeface="Arial" panose="020B0604020202020204" pitchFamily="34" charset="0"/>
              </a:rPr>
              <a:t>Heat, natural gas 0.084 MJ </a:t>
            </a:r>
          </a:p>
        </p:txBody>
      </p:sp>
      <p:sp>
        <p:nvSpPr>
          <p:cNvPr id="26" name="Line 57">
            <a:extLst>
              <a:ext uri="{FF2B5EF4-FFF2-40B4-BE49-F238E27FC236}">
                <a16:creationId xmlns:a16="http://schemas.microsoft.com/office/drawing/2014/main" id="{5E725426-4FB1-DB44-A628-B0AED3922670}"/>
              </a:ext>
            </a:extLst>
          </p:cNvPr>
          <p:cNvSpPr>
            <a:spLocks noChangeShapeType="1"/>
          </p:cNvSpPr>
          <p:nvPr/>
        </p:nvSpPr>
        <p:spPr bwMode="auto">
          <a:xfrm>
            <a:off x="6766892" y="4194672"/>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7" name="Text Box 59">
            <a:extLst>
              <a:ext uri="{FF2B5EF4-FFF2-40B4-BE49-F238E27FC236}">
                <a16:creationId xmlns:a16="http://schemas.microsoft.com/office/drawing/2014/main" id="{783527BF-4942-1642-94C9-EA1AF4259FA1}"/>
              </a:ext>
            </a:extLst>
          </p:cNvPr>
          <p:cNvSpPr txBox="1">
            <a:spLocks noChangeArrowheads="1"/>
          </p:cNvSpPr>
          <p:nvPr/>
        </p:nvSpPr>
        <p:spPr bwMode="auto">
          <a:xfrm>
            <a:off x="2750376" y="4028415"/>
            <a:ext cx="4004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a:solidFill>
                  <a:schemeClr val="accent4"/>
                </a:solidFill>
                <a:cs typeface="Arial" panose="020B0604020202020204" pitchFamily="34" charset="0"/>
              </a:rPr>
              <a:t>Aluminum electrolysis plant 1.54·10</a:t>
            </a:r>
            <a:r>
              <a:rPr lang="en-US" altLang="en-US" sz="1600" b="0" baseline="30000">
                <a:solidFill>
                  <a:schemeClr val="accent4"/>
                </a:solidFill>
                <a:cs typeface="Arial" panose="020B0604020202020204" pitchFamily="34" charset="0"/>
              </a:rPr>
              <a:t>-10</a:t>
            </a:r>
            <a:r>
              <a:rPr lang="en-US" altLang="en-US" sz="1600" b="0">
                <a:solidFill>
                  <a:schemeClr val="accent4"/>
                </a:solidFill>
                <a:cs typeface="Arial" panose="020B0604020202020204" pitchFamily="34" charset="0"/>
              </a:rPr>
              <a:t> p</a:t>
            </a:r>
          </a:p>
        </p:txBody>
      </p:sp>
      <p:sp>
        <p:nvSpPr>
          <p:cNvPr id="28" name="Line 57">
            <a:extLst>
              <a:ext uri="{FF2B5EF4-FFF2-40B4-BE49-F238E27FC236}">
                <a16:creationId xmlns:a16="http://schemas.microsoft.com/office/drawing/2014/main" id="{210C9FEC-C288-524B-99C3-71FEC3E415AE}"/>
              </a:ext>
            </a:extLst>
          </p:cNvPr>
          <p:cNvSpPr>
            <a:spLocks noChangeShapeType="1"/>
          </p:cNvSpPr>
          <p:nvPr/>
        </p:nvSpPr>
        <p:spPr bwMode="auto">
          <a:xfrm>
            <a:off x="6752605" y="2932019"/>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dirty="0"/>
          </a:p>
        </p:txBody>
      </p:sp>
      <p:sp>
        <p:nvSpPr>
          <p:cNvPr id="29" name="Text Box 59">
            <a:extLst>
              <a:ext uri="{FF2B5EF4-FFF2-40B4-BE49-F238E27FC236}">
                <a16:creationId xmlns:a16="http://schemas.microsoft.com/office/drawing/2014/main" id="{264C2416-B0EC-3546-9346-15C8F13D77C8}"/>
              </a:ext>
            </a:extLst>
          </p:cNvPr>
          <p:cNvSpPr txBox="1">
            <a:spLocks noChangeArrowheads="1"/>
          </p:cNvSpPr>
          <p:nvPr/>
        </p:nvSpPr>
        <p:spPr bwMode="auto">
          <a:xfrm>
            <a:off x="4034571" y="2716119"/>
            <a:ext cx="27204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4"/>
                </a:solidFill>
                <a:cs typeface="Arial" panose="020B0604020202020204" pitchFamily="34" charset="0"/>
              </a:rPr>
              <a:t>Aluminum oxide 1.93 kg</a:t>
            </a:r>
          </a:p>
        </p:txBody>
      </p:sp>
      <p:sp>
        <p:nvSpPr>
          <p:cNvPr id="30" name="Line 57">
            <a:extLst>
              <a:ext uri="{FF2B5EF4-FFF2-40B4-BE49-F238E27FC236}">
                <a16:creationId xmlns:a16="http://schemas.microsoft.com/office/drawing/2014/main" id="{56874864-109B-2042-A25D-1AE6AE4196EB}"/>
              </a:ext>
            </a:extLst>
          </p:cNvPr>
          <p:cNvSpPr>
            <a:spLocks noChangeShapeType="1"/>
          </p:cNvSpPr>
          <p:nvPr/>
        </p:nvSpPr>
        <p:spPr bwMode="auto">
          <a:xfrm>
            <a:off x="6752605" y="3362820"/>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1" name="Text Box 59">
            <a:extLst>
              <a:ext uri="{FF2B5EF4-FFF2-40B4-BE49-F238E27FC236}">
                <a16:creationId xmlns:a16="http://schemas.microsoft.com/office/drawing/2014/main" id="{F094A741-4AA6-E041-A948-41495E57286A}"/>
              </a:ext>
            </a:extLst>
          </p:cNvPr>
          <p:cNvSpPr txBox="1">
            <a:spLocks noChangeArrowheads="1"/>
          </p:cNvSpPr>
          <p:nvPr/>
        </p:nvSpPr>
        <p:spPr bwMode="auto">
          <a:xfrm>
            <a:off x="2857689" y="3153551"/>
            <a:ext cx="38973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a:solidFill>
                  <a:schemeClr val="accent4"/>
                </a:solidFill>
                <a:cs typeface="Arial" panose="020B0604020202020204" pitchFamily="34" charset="0"/>
              </a:rPr>
              <a:t>Anode, aluminum electrolysis 0.448 kg</a:t>
            </a:r>
          </a:p>
        </p:txBody>
      </p:sp>
      <p:sp>
        <p:nvSpPr>
          <p:cNvPr id="32" name="Line 57">
            <a:extLst>
              <a:ext uri="{FF2B5EF4-FFF2-40B4-BE49-F238E27FC236}">
                <a16:creationId xmlns:a16="http://schemas.microsoft.com/office/drawing/2014/main" id="{DDBEB310-5278-5348-A912-38FF92AD74E0}"/>
              </a:ext>
            </a:extLst>
          </p:cNvPr>
          <p:cNvSpPr>
            <a:spLocks noChangeShapeType="1"/>
          </p:cNvSpPr>
          <p:nvPr/>
        </p:nvSpPr>
        <p:spPr bwMode="auto">
          <a:xfrm>
            <a:off x="6770067" y="3796208"/>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3" name="Text Box 59">
            <a:extLst>
              <a:ext uri="{FF2B5EF4-FFF2-40B4-BE49-F238E27FC236}">
                <a16:creationId xmlns:a16="http://schemas.microsoft.com/office/drawing/2014/main" id="{E79731DD-64EF-5B48-8D94-041F867C94B5}"/>
              </a:ext>
            </a:extLst>
          </p:cNvPr>
          <p:cNvSpPr txBox="1">
            <a:spLocks noChangeArrowheads="1"/>
          </p:cNvSpPr>
          <p:nvPr/>
        </p:nvSpPr>
        <p:spPr bwMode="auto">
          <a:xfrm>
            <a:off x="2525014" y="3590983"/>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a:solidFill>
                  <a:schemeClr val="accent4"/>
                </a:solidFill>
                <a:cs typeface="Arial" panose="020B0604020202020204" pitchFamily="34" charset="0"/>
              </a:rPr>
              <a:t>Cathode, aluminum electrolysis 0.0181 kg</a:t>
            </a:r>
          </a:p>
        </p:txBody>
      </p:sp>
      <p:sp>
        <p:nvSpPr>
          <p:cNvPr id="34" name="Line 53">
            <a:extLst>
              <a:ext uri="{FF2B5EF4-FFF2-40B4-BE49-F238E27FC236}">
                <a16:creationId xmlns:a16="http://schemas.microsoft.com/office/drawing/2014/main" id="{DE4F405C-A5FE-B743-9D88-A165A05E1BBA}"/>
              </a:ext>
            </a:extLst>
          </p:cNvPr>
          <p:cNvSpPr>
            <a:spLocks noChangeShapeType="1"/>
          </p:cNvSpPr>
          <p:nvPr/>
        </p:nvSpPr>
        <p:spPr bwMode="auto">
          <a:xfrm>
            <a:off x="8978282" y="6344419"/>
            <a:ext cx="381000" cy="0"/>
          </a:xfrm>
          <a:prstGeom prst="line">
            <a:avLst/>
          </a:prstGeom>
          <a:noFill/>
          <a:ln w="25400">
            <a:solidFill>
              <a:schemeClr val="accent4"/>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5" name="Text Box 54">
            <a:extLst>
              <a:ext uri="{FF2B5EF4-FFF2-40B4-BE49-F238E27FC236}">
                <a16:creationId xmlns:a16="http://schemas.microsoft.com/office/drawing/2014/main" id="{2674F939-8BF7-9449-9820-3E82A6C11F76}"/>
              </a:ext>
            </a:extLst>
          </p:cNvPr>
          <p:cNvSpPr txBox="1">
            <a:spLocks noChangeArrowheads="1"/>
          </p:cNvSpPr>
          <p:nvPr/>
        </p:nvSpPr>
        <p:spPr bwMode="auto">
          <a:xfrm>
            <a:off x="9402547" y="6146323"/>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4"/>
                </a:solidFill>
                <a:cs typeface="Arial" panose="020B0604020202020204" pitchFamily="34" charset="0"/>
              </a:rPr>
              <a:t>Disposal, </a:t>
            </a:r>
            <a:r>
              <a:rPr lang="en-US" altLang="en-US" sz="1600" b="0" dirty="0" err="1">
                <a:solidFill>
                  <a:schemeClr val="accent4"/>
                </a:solidFill>
                <a:cs typeface="Arial" panose="020B0604020202020204" pitchFamily="34" charset="0"/>
              </a:rPr>
              <a:t>redmud</a:t>
            </a:r>
            <a:r>
              <a:rPr lang="en-US" altLang="en-US" sz="1600" b="0" dirty="0">
                <a:solidFill>
                  <a:schemeClr val="accent4"/>
                </a:solidFill>
                <a:cs typeface="Arial" panose="020B0604020202020204" pitchFamily="34" charset="0"/>
              </a:rPr>
              <a:t> from bauxite digestion 1.36</a:t>
            </a:r>
            <a:r>
              <a:rPr lang="en-US" altLang="en-US" sz="1600" dirty="0">
                <a:solidFill>
                  <a:schemeClr val="accent4"/>
                </a:solidFill>
                <a:cs typeface="Arial" panose="020B0604020202020204" pitchFamily="34" charset="0"/>
              </a:rPr>
              <a:t> </a:t>
            </a:r>
            <a:r>
              <a:rPr lang="en-US" altLang="en-US" sz="1600" b="0" dirty="0">
                <a:solidFill>
                  <a:schemeClr val="accent4"/>
                </a:solidFill>
                <a:cs typeface="Arial" panose="020B0604020202020204" pitchFamily="34" charset="0"/>
              </a:rPr>
              <a:t>kg</a:t>
            </a:r>
          </a:p>
        </p:txBody>
      </p:sp>
      <p:sp>
        <p:nvSpPr>
          <p:cNvPr id="36" name="Line 56">
            <a:extLst>
              <a:ext uri="{FF2B5EF4-FFF2-40B4-BE49-F238E27FC236}">
                <a16:creationId xmlns:a16="http://schemas.microsoft.com/office/drawing/2014/main" id="{E659D0D3-8A6F-DB40-92FC-64167CF1B703}"/>
              </a:ext>
            </a:extLst>
          </p:cNvPr>
          <p:cNvSpPr>
            <a:spLocks noChangeShapeType="1"/>
          </p:cNvSpPr>
          <p:nvPr/>
        </p:nvSpPr>
        <p:spPr bwMode="auto">
          <a:xfrm>
            <a:off x="8978282" y="556395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7" name="Line 57">
            <a:extLst>
              <a:ext uri="{FF2B5EF4-FFF2-40B4-BE49-F238E27FC236}">
                <a16:creationId xmlns:a16="http://schemas.microsoft.com/office/drawing/2014/main" id="{B5E1961C-F65F-ED44-B3DF-754C29B14152}"/>
              </a:ext>
            </a:extLst>
          </p:cNvPr>
          <p:cNvSpPr>
            <a:spLocks noChangeShapeType="1"/>
          </p:cNvSpPr>
          <p:nvPr/>
        </p:nvSpPr>
        <p:spPr bwMode="auto">
          <a:xfrm>
            <a:off x="8984632" y="412024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8" name="Line 57">
            <a:extLst>
              <a:ext uri="{FF2B5EF4-FFF2-40B4-BE49-F238E27FC236}">
                <a16:creationId xmlns:a16="http://schemas.microsoft.com/office/drawing/2014/main" id="{3D80A39C-0786-2B41-AE9B-86C0837E97C1}"/>
              </a:ext>
            </a:extLst>
          </p:cNvPr>
          <p:cNvSpPr>
            <a:spLocks noChangeShapeType="1"/>
          </p:cNvSpPr>
          <p:nvPr/>
        </p:nvSpPr>
        <p:spPr bwMode="auto">
          <a:xfrm>
            <a:off x="8984632" y="3776901"/>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9" name="Line 57">
            <a:extLst>
              <a:ext uri="{FF2B5EF4-FFF2-40B4-BE49-F238E27FC236}">
                <a16:creationId xmlns:a16="http://schemas.microsoft.com/office/drawing/2014/main" id="{DC5EEF51-2985-A442-B8A0-AC4AFF6E40C3}"/>
              </a:ext>
            </a:extLst>
          </p:cNvPr>
          <p:cNvSpPr>
            <a:spLocks noChangeShapeType="1"/>
          </p:cNvSpPr>
          <p:nvPr/>
        </p:nvSpPr>
        <p:spPr bwMode="auto">
          <a:xfrm>
            <a:off x="8978282" y="274687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40" name="Line 57">
            <a:extLst>
              <a:ext uri="{FF2B5EF4-FFF2-40B4-BE49-F238E27FC236}">
                <a16:creationId xmlns:a16="http://schemas.microsoft.com/office/drawing/2014/main" id="{1A3136EE-AB0C-4F45-A8E1-B0CD209695BC}"/>
              </a:ext>
            </a:extLst>
          </p:cNvPr>
          <p:cNvSpPr>
            <a:spLocks noChangeShapeType="1"/>
          </p:cNvSpPr>
          <p:nvPr/>
        </p:nvSpPr>
        <p:spPr bwMode="auto">
          <a:xfrm>
            <a:off x="8978282" y="309021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41" name="Line 57">
            <a:extLst>
              <a:ext uri="{FF2B5EF4-FFF2-40B4-BE49-F238E27FC236}">
                <a16:creationId xmlns:a16="http://schemas.microsoft.com/office/drawing/2014/main" id="{2E413F84-C138-5341-B0FB-9EC19D7778B1}"/>
              </a:ext>
            </a:extLst>
          </p:cNvPr>
          <p:cNvSpPr>
            <a:spLocks noChangeShapeType="1"/>
          </p:cNvSpPr>
          <p:nvPr/>
        </p:nvSpPr>
        <p:spPr bwMode="auto">
          <a:xfrm>
            <a:off x="8963995" y="343355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42" name="Text Box 59">
            <a:extLst>
              <a:ext uri="{FF2B5EF4-FFF2-40B4-BE49-F238E27FC236}">
                <a16:creationId xmlns:a16="http://schemas.microsoft.com/office/drawing/2014/main" id="{1CB9E21D-69E5-8E4B-9C42-E7308419CE97}"/>
              </a:ext>
            </a:extLst>
          </p:cNvPr>
          <p:cNvSpPr txBox="1">
            <a:spLocks noChangeArrowheads="1"/>
          </p:cNvSpPr>
          <p:nvPr/>
        </p:nvSpPr>
        <p:spPr bwMode="auto">
          <a:xfrm>
            <a:off x="9402547" y="3937732"/>
            <a:ext cx="32378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Nitrogen oxides 63.9 mg</a:t>
            </a:r>
          </a:p>
        </p:txBody>
      </p:sp>
      <p:sp>
        <p:nvSpPr>
          <p:cNvPr id="43" name="Text Box 60">
            <a:extLst>
              <a:ext uri="{FF2B5EF4-FFF2-40B4-BE49-F238E27FC236}">
                <a16:creationId xmlns:a16="http://schemas.microsoft.com/office/drawing/2014/main" id="{6CE90CE4-469C-AC4B-9105-00178607F95B}"/>
              </a:ext>
            </a:extLst>
          </p:cNvPr>
          <p:cNvSpPr txBox="1">
            <a:spLocks noChangeArrowheads="1"/>
          </p:cNvSpPr>
          <p:nvPr/>
        </p:nvSpPr>
        <p:spPr bwMode="auto">
          <a:xfrm>
            <a:off x="9432830" y="5396552"/>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None/>
            </a:pPr>
            <a:r>
              <a:rPr lang="en-US" altLang="en-US" sz="1600" b="0" dirty="0">
                <a:solidFill>
                  <a:schemeClr val="accent3"/>
                </a:solidFill>
                <a:cs typeface="Arial" panose="020B0604020202020204" pitchFamily="34" charset="0"/>
              </a:rPr>
              <a:t>Heat, waste 56.0 MJ</a:t>
            </a:r>
            <a:r>
              <a:rPr lang="en-US" altLang="fr-FR" sz="1600" b="0" dirty="0">
                <a:solidFill>
                  <a:schemeClr val="accent3"/>
                </a:solidFill>
                <a:cs typeface="Arial" panose="020B0604020202020204" pitchFamily="34" charset="0"/>
              </a:rPr>
              <a:t>/</a:t>
            </a:r>
            <a:r>
              <a:rPr lang="en-US" altLang="en-US" sz="1600" b="0" dirty="0">
                <a:solidFill>
                  <a:schemeClr val="accent3"/>
                </a:solidFill>
                <a:cs typeface="Arial" panose="020B0604020202020204" pitchFamily="34" charset="0"/>
              </a:rPr>
              <a:t>kg Al primary liquid</a:t>
            </a:r>
          </a:p>
        </p:txBody>
      </p:sp>
      <p:sp>
        <p:nvSpPr>
          <p:cNvPr id="44" name="Text Box 59">
            <a:extLst>
              <a:ext uri="{FF2B5EF4-FFF2-40B4-BE49-F238E27FC236}">
                <a16:creationId xmlns:a16="http://schemas.microsoft.com/office/drawing/2014/main" id="{C10A3B0D-512F-0344-8B8D-4AED4F4DCF4A}"/>
              </a:ext>
            </a:extLst>
          </p:cNvPr>
          <p:cNvSpPr txBox="1">
            <a:spLocks noChangeArrowheads="1"/>
          </p:cNvSpPr>
          <p:nvPr/>
        </p:nvSpPr>
        <p:spPr bwMode="auto">
          <a:xfrm>
            <a:off x="9402547" y="3607624"/>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Hydrogen fluoride 539 mg</a:t>
            </a:r>
          </a:p>
        </p:txBody>
      </p:sp>
      <p:sp>
        <p:nvSpPr>
          <p:cNvPr id="45" name="Text Box 59">
            <a:extLst>
              <a:ext uri="{FF2B5EF4-FFF2-40B4-BE49-F238E27FC236}">
                <a16:creationId xmlns:a16="http://schemas.microsoft.com/office/drawing/2014/main" id="{24A69865-453D-1240-8B83-72DB1DCFD053}"/>
              </a:ext>
            </a:extLst>
          </p:cNvPr>
          <p:cNvSpPr txBox="1">
            <a:spLocks noChangeArrowheads="1"/>
          </p:cNvSpPr>
          <p:nvPr/>
        </p:nvSpPr>
        <p:spPr bwMode="auto">
          <a:xfrm>
            <a:off x="9402547" y="2559548"/>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a:solidFill>
                  <a:schemeClr val="accent3"/>
                </a:solidFill>
                <a:cs typeface="Arial" panose="020B0604020202020204" pitchFamily="34" charset="0"/>
              </a:rPr>
              <a:t>Benzo(a)pyrene 1.30 mg</a:t>
            </a:r>
          </a:p>
        </p:txBody>
      </p:sp>
      <p:sp>
        <p:nvSpPr>
          <p:cNvPr id="46" name="Text Box 59">
            <a:extLst>
              <a:ext uri="{FF2B5EF4-FFF2-40B4-BE49-F238E27FC236}">
                <a16:creationId xmlns:a16="http://schemas.microsoft.com/office/drawing/2014/main" id="{8216144E-DF70-B846-9297-554B5C44D2D0}"/>
              </a:ext>
            </a:extLst>
          </p:cNvPr>
          <p:cNvSpPr txBox="1">
            <a:spLocks noChangeArrowheads="1"/>
          </p:cNvSpPr>
          <p:nvPr/>
        </p:nvSpPr>
        <p:spPr bwMode="auto">
          <a:xfrm>
            <a:off x="9402547" y="2900092"/>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Carbon dioxide, fossil 1.50 kg</a:t>
            </a:r>
          </a:p>
        </p:txBody>
      </p:sp>
      <p:sp>
        <p:nvSpPr>
          <p:cNvPr id="47" name="Text Box 59">
            <a:extLst>
              <a:ext uri="{FF2B5EF4-FFF2-40B4-BE49-F238E27FC236}">
                <a16:creationId xmlns:a16="http://schemas.microsoft.com/office/drawing/2014/main" id="{607ED870-F026-DF4F-AEC6-C861CFA9C122}"/>
              </a:ext>
            </a:extLst>
          </p:cNvPr>
          <p:cNvSpPr txBox="1">
            <a:spLocks noChangeArrowheads="1"/>
          </p:cNvSpPr>
          <p:nvPr/>
        </p:nvSpPr>
        <p:spPr bwMode="auto">
          <a:xfrm>
            <a:off x="9402547" y="3262794"/>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Carbon monoxide, biogenic 91.7 g</a:t>
            </a:r>
          </a:p>
        </p:txBody>
      </p:sp>
      <p:sp>
        <p:nvSpPr>
          <p:cNvPr id="48" name="Line 56">
            <a:extLst>
              <a:ext uri="{FF2B5EF4-FFF2-40B4-BE49-F238E27FC236}">
                <a16:creationId xmlns:a16="http://schemas.microsoft.com/office/drawing/2014/main" id="{CB7E08F7-7D3E-D842-B9A9-00F14F7EE24B}"/>
              </a:ext>
            </a:extLst>
          </p:cNvPr>
          <p:cNvSpPr>
            <a:spLocks noChangeShapeType="1"/>
          </p:cNvSpPr>
          <p:nvPr/>
        </p:nvSpPr>
        <p:spPr bwMode="auto">
          <a:xfrm>
            <a:off x="8978282" y="4463587"/>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49" name="Text Box 60">
            <a:extLst>
              <a:ext uri="{FF2B5EF4-FFF2-40B4-BE49-F238E27FC236}">
                <a16:creationId xmlns:a16="http://schemas.microsoft.com/office/drawing/2014/main" id="{59CDDCC4-2896-5147-94AA-F09AA490F044}"/>
              </a:ext>
            </a:extLst>
          </p:cNvPr>
          <p:cNvSpPr txBox="1">
            <a:spLocks noChangeArrowheads="1"/>
          </p:cNvSpPr>
          <p:nvPr/>
        </p:nvSpPr>
        <p:spPr bwMode="auto">
          <a:xfrm>
            <a:off x="9402547" y="4279400"/>
            <a:ext cx="1744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PAH 45.7 mg</a:t>
            </a:r>
            <a:endParaRPr lang="en-US" altLang="en-US" sz="1600" b="0" baseline="30000" dirty="0">
              <a:solidFill>
                <a:schemeClr val="accent3"/>
              </a:solidFill>
              <a:cs typeface="Arial" panose="020B0604020202020204" pitchFamily="34" charset="0"/>
            </a:endParaRPr>
          </a:p>
        </p:txBody>
      </p:sp>
      <p:sp>
        <p:nvSpPr>
          <p:cNvPr id="50" name="Line 56">
            <a:extLst>
              <a:ext uri="{FF2B5EF4-FFF2-40B4-BE49-F238E27FC236}">
                <a16:creationId xmlns:a16="http://schemas.microsoft.com/office/drawing/2014/main" id="{E8CD2031-FC98-284C-9185-310FB05619B9}"/>
              </a:ext>
            </a:extLst>
          </p:cNvPr>
          <p:cNvSpPr>
            <a:spLocks noChangeShapeType="1"/>
          </p:cNvSpPr>
          <p:nvPr/>
        </p:nvSpPr>
        <p:spPr bwMode="auto">
          <a:xfrm>
            <a:off x="8992570" y="4806930"/>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51" name="Text Box 60">
            <a:extLst>
              <a:ext uri="{FF2B5EF4-FFF2-40B4-BE49-F238E27FC236}">
                <a16:creationId xmlns:a16="http://schemas.microsoft.com/office/drawing/2014/main" id="{561BAAF4-6D9E-9F4A-8F85-673560272FA1}"/>
              </a:ext>
            </a:extLst>
          </p:cNvPr>
          <p:cNvSpPr txBox="1">
            <a:spLocks noChangeArrowheads="1"/>
          </p:cNvSpPr>
          <p:nvPr/>
        </p:nvSpPr>
        <p:spPr bwMode="auto">
          <a:xfrm>
            <a:off x="9402547" y="4628733"/>
            <a:ext cx="32120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Particulates, &lt; 2.5 µm 2.61 g</a:t>
            </a:r>
            <a:endParaRPr lang="en-US" altLang="en-US" sz="1600" b="0" baseline="30000" dirty="0">
              <a:solidFill>
                <a:schemeClr val="accent3"/>
              </a:solidFill>
              <a:cs typeface="Arial" panose="020B0604020202020204" pitchFamily="34" charset="0"/>
            </a:endParaRPr>
          </a:p>
        </p:txBody>
      </p:sp>
      <p:sp>
        <p:nvSpPr>
          <p:cNvPr id="52" name="Line 56">
            <a:extLst>
              <a:ext uri="{FF2B5EF4-FFF2-40B4-BE49-F238E27FC236}">
                <a16:creationId xmlns:a16="http://schemas.microsoft.com/office/drawing/2014/main" id="{1CFB5877-04C3-4142-8E65-BA16613F23B1}"/>
              </a:ext>
            </a:extLst>
          </p:cNvPr>
          <p:cNvSpPr>
            <a:spLocks noChangeShapeType="1"/>
          </p:cNvSpPr>
          <p:nvPr/>
        </p:nvSpPr>
        <p:spPr bwMode="auto">
          <a:xfrm>
            <a:off x="8992570" y="5150273"/>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53" name="Text Box 60">
            <a:extLst>
              <a:ext uri="{FF2B5EF4-FFF2-40B4-BE49-F238E27FC236}">
                <a16:creationId xmlns:a16="http://schemas.microsoft.com/office/drawing/2014/main" id="{468C1D45-BD8D-8946-AC43-293BCA8BCBB0}"/>
              </a:ext>
            </a:extLst>
          </p:cNvPr>
          <p:cNvSpPr txBox="1">
            <a:spLocks noChangeArrowheads="1"/>
          </p:cNvSpPr>
          <p:nvPr/>
        </p:nvSpPr>
        <p:spPr bwMode="auto">
          <a:xfrm>
            <a:off x="9402547" y="4980446"/>
            <a:ext cx="24783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Sulfur dioxide 8.83 g</a:t>
            </a:r>
            <a:endParaRPr lang="en-US" altLang="en-US" sz="1600" b="0" baseline="30000" dirty="0">
              <a:solidFill>
                <a:schemeClr val="accent3"/>
              </a:solidFill>
              <a:cs typeface="Arial" panose="020B0604020202020204" pitchFamily="34" charset="0"/>
            </a:endParaRPr>
          </a:p>
        </p:txBody>
      </p:sp>
      <p:pic>
        <p:nvPicPr>
          <p:cNvPr id="54" name="Picture 48">
            <a:extLst>
              <a:ext uri="{FF2B5EF4-FFF2-40B4-BE49-F238E27FC236}">
                <a16:creationId xmlns:a16="http://schemas.microsoft.com/office/drawing/2014/main" id="{EE824D41-8CF4-6F4F-9D54-590AB15E2C23}"/>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390781" y="4814591"/>
            <a:ext cx="130968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Rectangle 54">
            <a:extLst>
              <a:ext uri="{FF2B5EF4-FFF2-40B4-BE49-F238E27FC236}">
                <a16:creationId xmlns:a16="http://schemas.microsoft.com/office/drawing/2014/main" id="{93DFEE01-B0A2-A644-A74F-9D6A78849055}"/>
              </a:ext>
            </a:extLst>
          </p:cNvPr>
          <p:cNvSpPr/>
          <p:nvPr/>
        </p:nvSpPr>
        <p:spPr>
          <a:xfrm>
            <a:off x="944247" y="1402494"/>
            <a:ext cx="14575153" cy="954107"/>
          </a:xfrm>
          <a:prstGeom prst="rect">
            <a:avLst/>
          </a:prstGeom>
        </p:spPr>
        <p:txBody>
          <a:bodyPr wrap="square">
            <a:spAutoFit/>
          </a:bodyPr>
          <a:lstStyle/>
          <a:p>
            <a:pPr algn="ctr"/>
            <a:r>
              <a:rPr lang="en-US" altLang="en-US" sz="2800" dirty="0">
                <a:solidFill>
                  <a:schemeClr val="tx2"/>
                </a:solidFill>
              </a:rPr>
              <a:t>These are the direct </a:t>
            </a:r>
            <a:r>
              <a:rPr lang="en-US" altLang="en-US" sz="2800" dirty="0">
                <a:solidFill>
                  <a:schemeClr val="accent4"/>
                </a:solidFill>
              </a:rPr>
              <a:t>intermediary</a:t>
            </a:r>
            <a:r>
              <a:rPr lang="en-US" altLang="en-US" sz="2800" dirty="0">
                <a:solidFill>
                  <a:schemeClr val="tx2"/>
                </a:solidFill>
              </a:rPr>
              <a:t> flows and emission or extraction from the considered process, i.e.</a:t>
            </a:r>
            <a:r>
              <a:rPr lang="en-US" altLang="en-US" sz="2800" dirty="0"/>
              <a:t> </a:t>
            </a:r>
            <a:r>
              <a:rPr lang="en-US" altLang="en-US" sz="2800" dirty="0">
                <a:solidFill>
                  <a:schemeClr val="accent3"/>
                </a:solidFill>
              </a:rPr>
              <a:t>the direct elementary flows per unit of this UP</a:t>
            </a:r>
            <a:endParaRPr lang="en-US" sz="2800" dirty="0">
              <a:solidFill>
                <a:schemeClr val="accent3"/>
              </a:solidFill>
            </a:endParaRPr>
          </a:p>
        </p:txBody>
      </p:sp>
    </p:spTree>
    <p:extLst>
      <p:ext uri="{BB962C8B-B14F-4D97-AF65-F5344CB8AC3E}">
        <p14:creationId xmlns:p14="http://schemas.microsoft.com/office/powerpoint/2010/main" val="73146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57F0A-8771-D347-8003-BBF6E8E8CDE6}"/>
              </a:ext>
            </a:extLst>
          </p:cNvPr>
          <p:cNvSpPr>
            <a:spLocks noGrp="1"/>
          </p:cNvSpPr>
          <p:nvPr>
            <p:ph type="title"/>
          </p:nvPr>
        </p:nvSpPr>
        <p:spPr/>
        <p:txBody>
          <a:bodyPr/>
          <a:lstStyle/>
          <a:p>
            <a:r>
              <a:rPr lang="en-US" dirty="0">
                <a:solidFill>
                  <a:schemeClr val="tx2"/>
                </a:solidFill>
              </a:rPr>
              <a:t>Unit Process data: aluminum liquid, </a:t>
            </a:r>
            <a:r>
              <a:rPr lang="en-US" dirty="0" err="1">
                <a:solidFill>
                  <a:schemeClr val="tx2"/>
                </a:solidFill>
              </a:rPr>
              <a:t>ecoinvent</a:t>
            </a:r>
            <a:r>
              <a:rPr lang="en-US" dirty="0">
                <a:solidFill>
                  <a:schemeClr val="tx2"/>
                </a:solidFill>
              </a:rPr>
              <a:t> in </a:t>
            </a:r>
            <a:r>
              <a:rPr lang="en-US" dirty="0" err="1">
                <a:solidFill>
                  <a:schemeClr val="tx2"/>
                </a:solidFill>
              </a:rPr>
              <a:t>Simapro</a:t>
            </a:r>
            <a:endParaRPr lang="en-US" dirty="0">
              <a:solidFill>
                <a:schemeClr val="tx2"/>
              </a:solidFill>
            </a:endParaRPr>
          </a:p>
        </p:txBody>
      </p:sp>
      <p:pic>
        <p:nvPicPr>
          <p:cNvPr id="7" name="Picture 6">
            <a:extLst>
              <a:ext uri="{FF2B5EF4-FFF2-40B4-BE49-F238E27FC236}">
                <a16:creationId xmlns:a16="http://schemas.microsoft.com/office/drawing/2014/main" id="{5E8C1D83-4B4B-2846-B09A-36C914B6239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97317" y="1447800"/>
            <a:ext cx="13354654" cy="6282267"/>
          </a:xfrm>
          <a:prstGeom prst="rect">
            <a:avLst/>
          </a:prstGeom>
        </p:spPr>
      </p:pic>
      <p:sp>
        <p:nvSpPr>
          <p:cNvPr id="8" name="Text Box 61">
            <a:extLst>
              <a:ext uri="{FF2B5EF4-FFF2-40B4-BE49-F238E27FC236}">
                <a16:creationId xmlns:a16="http://schemas.microsoft.com/office/drawing/2014/main" id="{79A3EA09-9E2E-6747-9DB4-532FF7E47688}"/>
              </a:ext>
            </a:extLst>
          </p:cNvPr>
          <p:cNvSpPr txBox="1">
            <a:spLocks noChangeArrowheads="1"/>
          </p:cNvSpPr>
          <p:nvPr/>
        </p:nvSpPr>
        <p:spPr bwMode="auto">
          <a:xfrm>
            <a:off x="1392441" y="4648504"/>
            <a:ext cx="34202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dirty="0">
                <a:solidFill>
                  <a:schemeClr val="accent4"/>
                </a:solidFill>
                <a:cs typeface="Arial" panose="020B0604020202020204" pitchFamily="34" charset="0"/>
              </a:rPr>
              <a:t>Disposal intermediary processes</a:t>
            </a:r>
          </a:p>
        </p:txBody>
      </p:sp>
      <p:sp>
        <p:nvSpPr>
          <p:cNvPr id="9" name="Text Box 61">
            <a:extLst>
              <a:ext uri="{FF2B5EF4-FFF2-40B4-BE49-F238E27FC236}">
                <a16:creationId xmlns:a16="http://schemas.microsoft.com/office/drawing/2014/main" id="{72461818-F1A7-AB4B-B31A-D834163D404B}"/>
              </a:ext>
            </a:extLst>
          </p:cNvPr>
          <p:cNvSpPr txBox="1">
            <a:spLocks noChangeArrowheads="1"/>
          </p:cNvSpPr>
          <p:nvPr/>
        </p:nvSpPr>
        <p:spPr bwMode="auto">
          <a:xfrm>
            <a:off x="1396463" y="2463383"/>
            <a:ext cx="21216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dirty="0">
                <a:solidFill>
                  <a:schemeClr val="accent4"/>
                </a:solidFill>
                <a:cs typeface="Arial" panose="020B0604020202020204" pitchFamily="34" charset="0"/>
              </a:rPr>
              <a:t>Product output</a:t>
            </a:r>
          </a:p>
        </p:txBody>
      </p:sp>
      <p:sp>
        <p:nvSpPr>
          <p:cNvPr id="10" name="Text Box 61">
            <a:extLst>
              <a:ext uri="{FF2B5EF4-FFF2-40B4-BE49-F238E27FC236}">
                <a16:creationId xmlns:a16="http://schemas.microsoft.com/office/drawing/2014/main" id="{9C43CE23-CE6B-8C4F-806C-E0AB29DF480C}"/>
              </a:ext>
            </a:extLst>
          </p:cNvPr>
          <p:cNvSpPr txBox="1">
            <a:spLocks noChangeArrowheads="1"/>
          </p:cNvSpPr>
          <p:nvPr/>
        </p:nvSpPr>
        <p:spPr bwMode="auto">
          <a:xfrm>
            <a:off x="1504949" y="4095360"/>
            <a:ext cx="447163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dirty="0">
                <a:solidFill>
                  <a:schemeClr val="accent5"/>
                </a:solidFill>
                <a:cs typeface="Arial" panose="020B0604020202020204" pitchFamily="34" charset="0"/>
              </a:rPr>
              <a:t>Direct </a:t>
            </a:r>
            <a:r>
              <a:rPr lang="en-US" altLang="en-US" sz="1600" dirty="0">
                <a:solidFill>
                  <a:schemeClr val="accent3"/>
                </a:solidFill>
                <a:cs typeface="Arial" panose="020B0604020202020204" pitchFamily="34" charset="0"/>
              </a:rPr>
              <a:t>Resource extractions</a:t>
            </a:r>
          </a:p>
        </p:txBody>
      </p:sp>
    </p:spTree>
    <p:extLst>
      <p:ext uri="{BB962C8B-B14F-4D97-AF65-F5344CB8AC3E}">
        <p14:creationId xmlns:p14="http://schemas.microsoft.com/office/powerpoint/2010/main" val="194038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AC15A-E771-F04E-BB32-3C83DA376940}"/>
              </a:ext>
            </a:extLst>
          </p:cNvPr>
          <p:cNvSpPr>
            <a:spLocks noGrp="1"/>
          </p:cNvSpPr>
          <p:nvPr>
            <p:ph type="title"/>
          </p:nvPr>
        </p:nvSpPr>
        <p:spPr/>
        <p:txBody>
          <a:bodyPr/>
          <a:lstStyle/>
          <a:p>
            <a:r>
              <a:rPr lang="en-US" dirty="0">
                <a:solidFill>
                  <a:schemeClr val="tx2"/>
                </a:solidFill>
              </a:rPr>
              <a:t>Unit Process data: aluminum liquid, </a:t>
            </a:r>
            <a:r>
              <a:rPr lang="en-US" dirty="0" err="1">
                <a:solidFill>
                  <a:schemeClr val="tx2"/>
                </a:solidFill>
              </a:rPr>
              <a:t>ecoinvent</a:t>
            </a:r>
            <a:r>
              <a:rPr lang="en-US" dirty="0">
                <a:solidFill>
                  <a:schemeClr val="tx2"/>
                </a:solidFill>
              </a:rPr>
              <a:t> in </a:t>
            </a:r>
            <a:r>
              <a:rPr lang="en-US" dirty="0" err="1">
                <a:solidFill>
                  <a:schemeClr val="tx2"/>
                </a:solidFill>
              </a:rPr>
              <a:t>Simapro</a:t>
            </a:r>
            <a:endParaRPr lang="en-US" dirty="0">
              <a:solidFill>
                <a:schemeClr val="tx2"/>
              </a:solidFill>
            </a:endParaRPr>
          </a:p>
        </p:txBody>
      </p:sp>
      <p:pic>
        <p:nvPicPr>
          <p:cNvPr id="4" name="Picture 3">
            <a:extLst>
              <a:ext uri="{FF2B5EF4-FFF2-40B4-BE49-F238E27FC236}">
                <a16:creationId xmlns:a16="http://schemas.microsoft.com/office/drawing/2014/main" id="{DC30F8AE-0C60-754F-910B-A612D098DDD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24218" y="1583755"/>
            <a:ext cx="14335556" cy="3363868"/>
          </a:xfrm>
          <a:prstGeom prst="rect">
            <a:avLst/>
          </a:prstGeom>
        </p:spPr>
      </p:pic>
      <p:sp>
        <p:nvSpPr>
          <p:cNvPr id="5" name="Text Box 61">
            <a:extLst>
              <a:ext uri="{FF2B5EF4-FFF2-40B4-BE49-F238E27FC236}">
                <a16:creationId xmlns:a16="http://schemas.microsoft.com/office/drawing/2014/main" id="{A989383B-C868-CD47-8EBD-1F108D87E303}"/>
              </a:ext>
            </a:extLst>
          </p:cNvPr>
          <p:cNvSpPr txBox="1">
            <a:spLocks noChangeArrowheads="1"/>
          </p:cNvSpPr>
          <p:nvPr/>
        </p:nvSpPr>
        <p:spPr bwMode="auto">
          <a:xfrm>
            <a:off x="1314909" y="1763892"/>
            <a:ext cx="24508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dirty="0">
                <a:solidFill>
                  <a:schemeClr val="accent5"/>
                </a:solidFill>
                <a:cs typeface="Arial" panose="020B0604020202020204" pitchFamily="34" charset="0"/>
              </a:rPr>
              <a:t>Direct</a:t>
            </a:r>
            <a:r>
              <a:rPr lang="en-US" altLang="en-US" sz="1600" dirty="0">
                <a:solidFill>
                  <a:schemeClr val="accent3"/>
                </a:solidFill>
                <a:cs typeface="Arial" panose="020B0604020202020204" pitchFamily="34" charset="0"/>
              </a:rPr>
              <a:t> emissions to air</a:t>
            </a:r>
          </a:p>
        </p:txBody>
      </p:sp>
      <p:pic>
        <p:nvPicPr>
          <p:cNvPr id="6" name="Picture 5">
            <a:extLst>
              <a:ext uri="{FF2B5EF4-FFF2-40B4-BE49-F238E27FC236}">
                <a16:creationId xmlns:a16="http://schemas.microsoft.com/office/drawing/2014/main" id="{8E516F39-D8B7-C64D-BA43-165EC5F260F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930320" y="5085061"/>
            <a:ext cx="14332597" cy="1288730"/>
          </a:xfrm>
          <a:prstGeom prst="rect">
            <a:avLst/>
          </a:prstGeom>
        </p:spPr>
      </p:pic>
      <p:sp>
        <p:nvSpPr>
          <p:cNvPr id="7" name="Text Box 61">
            <a:extLst>
              <a:ext uri="{FF2B5EF4-FFF2-40B4-BE49-F238E27FC236}">
                <a16:creationId xmlns:a16="http://schemas.microsoft.com/office/drawing/2014/main" id="{4E37DAEF-1A75-8F41-BD79-CA5336D5571F}"/>
              </a:ext>
            </a:extLst>
          </p:cNvPr>
          <p:cNvSpPr txBox="1">
            <a:spLocks noChangeArrowheads="1"/>
          </p:cNvSpPr>
          <p:nvPr/>
        </p:nvSpPr>
        <p:spPr bwMode="auto">
          <a:xfrm>
            <a:off x="1314909" y="5169164"/>
            <a:ext cx="34202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dirty="0">
                <a:solidFill>
                  <a:schemeClr val="accent4"/>
                </a:solidFill>
                <a:cs typeface="Arial" panose="020B0604020202020204" pitchFamily="34" charset="0"/>
              </a:rPr>
              <a:t>Disposal intermediary processes</a:t>
            </a:r>
          </a:p>
        </p:txBody>
      </p:sp>
      <p:sp>
        <p:nvSpPr>
          <p:cNvPr id="8" name="Text Box 61">
            <a:extLst>
              <a:ext uri="{FF2B5EF4-FFF2-40B4-BE49-F238E27FC236}">
                <a16:creationId xmlns:a16="http://schemas.microsoft.com/office/drawing/2014/main" id="{C00CE316-3E85-1B48-81A7-D650AFC473BF}"/>
              </a:ext>
            </a:extLst>
          </p:cNvPr>
          <p:cNvSpPr txBox="1">
            <a:spLocks noChangeArrowheads="1"/>
          </p:cNvSpPr>
          <p:nvPr/>
        </p:nvSpPr>
        <p:spPr bwMode="auto">
          <a:xfrm>
            <a:off x="12522631" y="1531443"/>
            <a:ext cx="26191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dirty="0">
                <a:solidFill>
                  <a:schemeClr val="accent6"/>
                </a:solidFill>
                <a:cs typeface="Arial" panose="020B0604020202020204" pitchFamily="34" charset="0"/>
              </a:rPr>
              <a:t>Data quality pedigree</a:t>
            </a:r>
          </a:p>
          <a:p>
            <a:pPr algn="r">
              <a:spcBef>
                <a:spcPct val="0"/>
              </a:spcBef>
              <a:buClrTx/>
              <a:buFontTx/>
              <a:buNone/>
            </a:pPr>
            <a:r>
              <a:rPr lang="en-US" altLang="en-US" sz="1600" dirty="0">
                <a:solidFill>
                  <a:schemeClr val="accent6"/>
                </a:solidFill>
                <a:cs typeface="Arial" panose="020B0604020202020204" pitchFamily="34" charset="0"/>
              </a:rPr>
              <a:t>1=best, 5=worst</a:t>
            </a:r>
          </a:p>
        </p:txBody>
      </p:sp>
      <p:sp>
        <p:nvSpPr>
          <p:cNvPr id="9" name="Text Box 61">
            <a:extLst>
              <a:ext uri="{FF2B5EF4-FFF2-40B4-BE49-F238E27FC236}">
                <a16:creationId xmlns:a16="http://schemas.microsoft.com/office/drawing/2014/main" id="{93AE110F-672C-E443-BF02-11CB9B9E63A1}"/>
              </a:ext>
            </a:extLst>
          </p:cNvPr>
          <p:cNvSpPr txBox="1">
            <a:spLocks noChangeArrowheads="1"/>
          </p:cNvSpPr>
          <p:nvPr/>
        </p:nvSpPr>
        <p:spPr bwMode="auto">
          <a:xfrm>
            <a:off x="8980580" y="1561288"/>
            <a:ext cx="218705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dirty="0">
                <a:solidFill>
                  <a:schemeClr val="accent6"/>
                </a:solidFill>
                <a:cs typeface="Arial" panose="020B0604020202020204" pitchFamily="34" charset="0"/>
              </a:rPr>
              <a:t>Data uncertainty</a:t>
            </a:r>
          </a:p>
        </p:txBody>
      </p:sp>
      <p:sp>
        <p:nvSpPr>
          <p:cNvPr id="10" name="Text Box 61">
            <a:extLst>
              <a:ext uri="{FF2B5EF4-FFF2-40B4-BE49-F238E27FC236}">
                <a16:creationId xmlns:a16="http://schemas.microsoft.com/office/drawing/2014/main" id="{A30AAC75-E6B2-F44B-BDD9-050E25FC46AC}"/>
              </a:ext>
            </a:extLst>
          </p:cNvPr>
          <p:cNvSpPr txBox="1">
            <a:spLocks noChangeArrowheads="1"/>
          </p:cNvSpPr>
          <p:nvPr/>
        </p:nvSpPr>
        <p:spPr bwMode="auto">
          <a:xfrm>
            <a:off x="878783" y="6757261"/>
            <a:ext cx="1463182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2400" dirty="0">
                <a:solidFill>
                  <a:schemeClr val="accent6"/>
                </a:solidFill>
                <a:cs typeface="Arial" panose="020B0604020202020204" pitchFamily="34" charset="0"/>
              </a:rPr>
              <a:t>Data uncertainty: </a:t>
            </a:r>
            <a:r>
              <a:rPr lang="en-US" altLang="en-US" sz="2400" b="0" dirty="0">
                <a:solidFill>
                  <a:schemeClr val="tx2"/>
                </a:solidFill>
                <a:cs typeface="Arial" panose="020B0604020202020204" pitchFamily="34" charset="0"/>
              </a:rPr>
              <a:t>For a lognormal distribution, an SD</a:t>
            </a:r>
            <a:r>
              <a:rPr lang="en-US" altLang="en-US" sz="2400" b="0" baseline="30000" dirty="0">
                <a:solidFill>
                  <a:schemeClr val="tx2"/>
                </a:solidFill>
                <a:cs typeface="Arial" panose="020B0604020202020204" pitchFamily="34" charset="0"/>
              </a:rPr>
              <a:t>2 </a:t>
            </a:r>
            <a:r>
              <a:rPr lang="en-US" altLang="en-US" sz="2400" b="0" dirty="0">
                <a:solidFill>
                  <a:schemeClr val="tx2"/>
                </a:solidFill>
                <a:cs typeface="Arial" panose="020B0604020202020204" pitchFamily="34" charset="0"/>
              </a:rPr>
              <a:t>of 3 means that the 95% confidence interval is between amount/3 and amount × 3</a:t>
            </a:r>
          </a:p>
        </p:txBody>
      </p:sp>
    </p:spTree>
    <p:extLst>
      <p:ext uri="{BB962C8B-B14F-4D97-AF65-F5344CB8AC3E}">
        <p14:creationId xmlns:p14="http://schemas.microsoft.com/office/powerpoint/2010/main" val="1656021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F24F3-A696-2741-85F9-A88CED9DB7C6}"/>
              </a:ext>
            </a:extLst>
          </p:cNvPr>
          <p:cNvSpPr>
            <a:spLocks noGrp="1"/>
          </p:cNvSpPr>
          <p:nvPr>
            <p:ph type="title"/>
          </p:nvPr>
        </p:nvSpPr>
        <p:spPr/>
        <p:txBody>
          <a:bodyPr/>
          <a:lstStyle/>
          <a:p>
            <a:r>
              <a:rPr lang="en-US" altLang="en-US" sz="4000" dirty="0">
                <a:solidFill>
                  <a:schemeClr val="tx2"/>
                </a:solidFill>
              </a:rPr>
              <a:t>Aggregated inventory at system level: aluminum primary liquid</a:t>
            </a:r>
            <a:endParaRPr lang="en-US" sz="4000" dirty="0">
              <a:solidFill>
                <a:schemeClr val="tx2"/>
              </a:solidFill>
            </a:endParaRPr>
          </a:p>
        </p:txBody>
      </p:sp>
      <p:sp>
        <p:nvSpPr>
          <p:cNvPr id="4" name="Rectangle 3">
            <a:extLst>
              <a:ext uri="{FF2B5EF4-FFF2-40B4-BE49-F238E27FC236}">
                <a16:creationId xmlns:a16="http://schemas.microsoft.com/office/drawing/2014/main" id="{965255CA-B7A6-AF46-86EC-401B5A677886}"/>
              </a:ext>
            </a:extLst>
          </p:cNvPr>
          <p:cNvSpPr/>
          <p:nvPr/>
        </p:nvSpPr>
        <p:spPr>
          <a:xfrm>
            <a:off x="1586473" y="6699094"/>
            <a:ext cx="13216447" cy="954107"/>
          </a:xfrm>
          <a:prstGeom prst="rect">
            <a:avLst/>
          </a:prstGeom>
        </p:spPr>
        <p:txBody>
          <a:bodyPr wrap="square">
            <a:spAutoFit/>
          </a:bodyPr>
          <a:lstStyle/>
          <a:p>
            <a:pPr algn="ctr"/>
            <a:r>
              <a:rPr lang="en-US" sz="2800" dirty="0">
                <a:solidFill>
                  <a:schemeClr val="tx2"/>
                </a:solidFill>
              </a:rPr>
              <a:t>These are </a:t>
            </a:r>
            <a:r>
              <a:rPr lang="en-US" sz="2800" b="1" dirty="0">
                <a:solidFill>
                  <a:schemeClr val="accent3"/>
                </a:solidFill>
              </a:rPr>
              <a:t>ALL </a:t>
            </a:r>
            <a:r>
              <a:rPr lang="en-US" sz="2800" dirty="0">
                <a:solidFill>
                  <a:schemeClr val="accent3"/>
                </a:solidFill>
              </a:rPr>
              <a:t>elementary flows </a:t>
            </a:r>
            <a:r>
              <a:rPr lang="en-US" sz="2800" dirty="0">
                <a:solidFill>
                  <a:schemeClr val="tx2"/>
                </a:solidFill>
              </a:rPr>
              <a:t>since by definition the </a:t>
            </a:r>
            <a:r>
              <a:rPr lang="en-US" sz="2800" dirty="0">
                <a:solidFill>
                  <a:schemeClr val="accent5"/>
                </a:solidFill>
              </a:rPr>
              <a:t>aggregated</a:t>
            </a:r>
            <a:r>
              <a:rPr lang="en-US" sz="2800" dirty="0">
                <a:solidFill>
                  <a:schemeClr val="accent3"/>
                </a:solidFill>
              </a:rPr>
              <a:t> inventory </a:t>
            </a:r>
            <a:r>
              <a:rPr lang="en-US" sz="2800" dirty="0">
                <a:solidFill>
                  <a:schemeClr val="tx2"/>
                </a:solidFill>
              </a:rPr>
              <a:t>is the sum of </a:t>
            </a:r>
            <a:r>
              <a:rPr lang="en-US" sz="2800" dirty="0">
                <a:solidFill>
                  <a:schemeClr val="accent3"/>
                </a:solidFill>
              </a:rPr>
              <a:t>all elementary flows per FU </a:t>
            </a:r>
            <a:r>
              <a:rPr lang="en-US" sz="2800" dirty="0">
                <a:solidFill>
                  <a:schemeClr val="tx2"/>
                </a:solidFill>
              </a:rPr>
              <a:t>of all unit processes</a:t>
            </a:r>
          </a:p>
        </p:txBody>
      </p:sp>
      <p:sp>
        <p:nvSpPr>
          <p:cNvPr id="5" name="Text Box 41">
            <a:extLst>
              <a:ext uri="{FF2B5EF4-FFF2-40B4-BE49-F238E27FC236}">
                <a16:creationId xmlns:a16="http://schemas.microsoft.com/office/drawing/2014/main" id="{0351577D-0AC1-0646-82FC-8C416BEA7504}"/>
              </a:ext>
            </a:extLst>
          </p:cNvPr>
          <p:cNvSpPr txBox="1">
            <a:spLocks noChangeArrowheads="1"/>
          </p:cNvSpPr>
          <p:nvPr/>
        </p:nvSpPr>
        <p:spPr bwMode="auto">
          <a:xfrm>
            <a:off x="7244556" y="1487315"/>
            <a:ext cx="1768475" cy="4924425"/>
          </a:xfrm>
          <a:prstGeom prst="rect">
            <a:avLst/>
          </a:prstGeom>
          <a:noFill/>
          <a:ln w="50800">
            <a:solidFill>
              <a:schemeClr val="accent6"/>
            </a:solidFill>
            <a:miter lim="800000"/>
            <a:headEnd/>
            <a:tailEnd/>
          </a:ln>
          <a:effectLst/>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ctr">
              <a:spcBef>
                <a:spcPct val="0"/>
              </a:spcBef>
              <a:buClrTx/>
              <a:buFontTx/>
              <a:buNone/>
            </a:pPr>
            <a:endParaRPr lang="en-US" altLang="en-US" sz="2000" dirty="0">
              <a:solidFill>
                <a:schemeClr val="accent6"/>
              </a:solidFill>
              <a:cs typeface="Arial" panose="020B0604020202020204" pitchFamily="34" charset="0"/>
            </a:endParaRPr>
          </a:p>
          <a:p>
            <a:pPr algn="ctr">
              <a:spcBef>
                <a:spcPct val="0"/>
              </a:spcBef>
              <a:buClrTx/>
              <a:buFontTx/>
              <a:buNone/>
            </a:pPr>
            <a:r>
              <a:rPr lang="en-US" altLang="en-US" sz="2000" dirty="0">
                <a:solidFill>
                  <a:schemeClr val="accent6"/>
                </a:solidFill>
                <a:cs typeface="Arial" panose="020B0604020202020204" pitchFamily="34" charset="0"/>
              </a:rPr>
              <a:t>Aluminum, </a:t>
            </a:r>
          </a:p>
          <a:p>
            <a:pPr algn="ctr">
              <a:spcBef>
                <a:spcPct val="0"/>
              </a:spcBef>
              <a:buClrTx/>
              <a:buFontTx/>
              <a:buNone/>
            </a:pPr>
            <a:r>
              <a:rPr lang="en-US" altLang="en-US" sz="2000" dirty="0">
                <a:solidFill>
                  <a:schemeClr val="accent6"/>
                </a:solidFill>
                <a:cs typeface="Arial" panose="020B0604020202020204" pitchFamily="34" charset="0"/>
              </a:rPr>
              <a:t>primary, </a:t>
            </a:r>
          </a:p>
          <a:p>
            <a:pPr algn="ctr">
              <a:spcBef>
                <a:spcPct val="0"/>
              </a:spcBef>
              <a:buClrTx/>
              <a:buFontTx/>
              <a:buNone/>
            </a:pPr>
            <a:r>
              <a:rPr lang="en-US" altLang="en-US" sz="2000" dirty="0">
                <a:solidFill>
                  <a:schemeClr val="accent6"/>
                </a:solidFill>
                <a:cs typeface="Arial" panose="020B0604020202020204" pitchFamily="34" charset="0"/>
              </a:rPr>
              <a:t>liquid</a:t>
            </a: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r>
              <a:rPr lang="en-US" altLang="en-US" sz="1800" dirty="0">
                <a:solidFill>
                  <a:schemeClr val="tx2"/>
                </a:solidFill>
                <a:cs typeface="Arial" panose="020B0604020202020204" pitchFamily="34" charset="0"/>
              </a:rPr>
              <a:t>1 kg</a:t>
            </a: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800" dirty="0">
              <a:solidFill>
                <a:schemeClr val="tx2"/>
              </a:solidFill>
              <a:cs typeface="Arial" panose="020B0604020202020204" pitchFamily="34"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a:p>
            <a:pPr algn="ctr">
              <a:spcBef>
                <a:spcPct val="0"/>
              </a:spcBef>
              <a:buClrTx/>
              <a:buFontTx/>
              <a:buNone/>
            </a:pPr>
            <a:endParaRPr lang="en-US" altLang="en-US" sz="1600" b="0" dirty="0">
              <a:solidFill>
                <a:srgbClr val="000000"/>
              </a:solidFill>
              <a:latin typeface="Times New Roman" panose="02020603050405020304" pitchFamily="18" charset="0"/>
            </a:endParaRPr>
          </a:p>
        </p:txBody>
      </p:sp>
      <p:sp>
        <p:nvSpPr>
          <p:cNvPr id="6" name="Line 53">
            <a:extLst>
              <a:ext uri="{FF2B5EF4-FFF2-40B4-BE49-F238E27FC236}">
                <a16:creationId xmlns:a16="http://schemas.microsoft.com/office/drawing/2014/main" id="{0E14DC46-3BC7-1C4A-B810-18788E91A9CD}"/>
              </a:ext>
            </a:extLst>
          </p:cNvPr>
          <p:cNvSpPr>
            <a:spLocks noChangeShapeType="1"/>
          </p:cNvSpPr>
          <p:nvPr/>
        </p:nvSpPr>
        <p:spPr bwMode="auto">
          <a:xfrm>
            <a:off x="9055895" y="504810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7" name="Text Box 54">
            <a:extLst>
              <a:ext uri="{FF2B5EF4-FFF2-40B4-BE49-F238E27FC236}">
                <a16:creationId xmlns:a16="http://schemas.microsoft.com/office/drawing/2014/main" id="{3D02FA0D-0AF7-1744-BA0A-E3D6388FFA16}"/>
              </a:ext>
            </a:extLst>
          </p:cNvPr>
          <p:cNvSpPr txBox="1">
            <a:spLocks noChangeArrowheads="1"/>
          </p:cNvSpPr>
          <p:nvPr/>
        </p:nvSpPr>
        <p:spPr bwMode="auto">
          <a:xfrm>
            <a:off x="9491272" y="4863142"/>
            <a:ext cx="442322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Methane, biogenic 51.7 mg</a:t>
            </a:r>
          </a:p>
        </p:txBody>
      </p:sp>
      <p:sp>
        <p:nvSpPr>
          <p:cNvPr id="8" name="Line 56">
            <a:extLst>
              <a:ext uri="{FF2B5EF4-FFF2-40B4-BE49-F238E27FC236}">
                <a16:creationId xmlns:a16="http://schemas.microsoft.com/office/drawing/2014/main" id="{B794D7EB-C7FC-6047-9C48-BECAD1534340}"/>
              </a:ext>
            </a:extLst>
          </p:cNvPr>
          <p:cNvSpPr>
            <a:spLocks noChangeShapeType="1"/>
          </p:cNvSpPr>
          <p:nvPr/>
        </p:nvSpPr>
        <p:spPr bwMode="auto">
          <a:xfrm>
            <a:off x="6841330" y="416625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9" name="Line 57">
            <a:extLst>
              <a:ext uri="{FF2B5EF4-FFF2-40B4-BE49-F238E27FC236}">
                <a16:creationId xmlns:a16="http://schemas.microsoft.com/office/drawing/2014/main" id="{13C089E7-C218-8149-ADEA-597083AC7238}"/>
              </a:ext>
            </a:extLst>
          </p:cNvPr>
          <p:cNvSpPr>
            <a:spLocks noChangeShapeType="1"/>
          </p:cNvSpPr>
          <p:nvPr/>
        </p:nvSpPr>
        <p:spPr bwMode="auto">
          <a:xfrm>
            <a:off x="6841330" y="372174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0" name="Line 58">
            <a:extLst>
              <a:ext uri="{FF2B5EF4-FFF2-40B4-BE49-F238E27FC236}">
                <a16:creationId xmlns:a16="http://schemas.microsoft.com/office/drawing/2014/main" id="{6B9C01A7-DF3E-3F4C-93D1-ABB2ED8A7AC2}"/>
              </a:ext>
            </a:extLst>
          </p:cNvPr>
          <p:cNvSpPr>
            <a:spLocks noChangeShapeType="1"/>
          </p:cNvSpPr>
          <p:nvPr/>
        </p:nvSpPr>
        <p:spPr bwMode="auto">
          <a:xfrm>
            <a:off x="6841330" y="4911253"/>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1" name="Line 57">
            <a:extLst>
              <a:ext uri="{FF2B5EF4-FFF2-40B4-BE49-F238E27FC236}">
                <a16:creationId xmlns:a16="http://schemas.microsoft.com/office/drawing/2014/main" id="{0AB6A55D-8EDC-8E41-9072-5034D938233C}"/>
              </a:ext>
            </a:extLst>
          </p:cNvPr>
          <p:cNvSpPr>
            <a:spLocks noChangeShapeType="1"/>
          </p:cNvSpPr>
          <p:nvPr/>
        </p:nvSpPr>
        <p:spPr bwMode="auto">
          <a:xfrm>
            <a:off x="6855617" y="326295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2" name="Text Box 59">
            <a:extLst>
              <a:ext uri="{FF2B5EF4-FFF2-40B4-BE49-F238E27FC236}">
                <a16:creationId xmlns:a16="http://schemas.microsoft.com/office/drawing/2014/main" id="{93046513-7E21-E341-9336-DEF7D08ADFA1}"/>
              </a:ext>
            </a:extLst>
          </p:cNvPr>
          <p:cNvSpPr txBox="1">
            <a:spLocks noChangeArrowheads="1"/>
          </p:cNvSpPr>
          <p:nvPr/>
        </p:nvSpPr>
        <p:spPr bwMode="auto">
          <a:xfrm>
            <a:off x="2839101" y="3096701"/>
            <a:ext cx="40046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Crude oil in ground 1.18 kg</a:t>
            </a:r>
          </a:p>
        </p:txBody>
      </p:sp>
      <p:sp>
        <p:nvSpPr>
          <p:cNvPr id="13" name="Line 57">
            <a:extLst>
              <a:ext uri="{FF2B5EF4-FFF2-40B4-BE49-F238E27FC236}">
                <a16:creationId xmlns:a16="http://schemas.microsoft.com/office/drawing/2014/main" id="{571DC89A-FBCA-5043-BD60-EE7A04B343CB}"/>
              </a:ext>
            </a:extLst>
          </p:cNvPr>
          <p:cNvSpPr>
            <a:spLocks noChangeShapeType="1"/>
          </p:cNvSpPr>
          <p:nvPr/>
        </p:nvSpPr>
        <p:spPr bwMode="auto">
          <a:xfrm>
            <a:off x="6841330" y="200030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dirty="0"/>
          </a:p>
        </p:txBody>
      </p:sp>
      <p:sp>
        <p:nvSpPr>
          <p:cNvPr id="14" name="Text Box 59">
            <a:extLst>
              <a:ext uri="{FF2B5EF4-FFF2-40B4-BE49-F238E27FC236}">
                <a16:creationId xmlns:a16="http://schemas.microsoft.com/office/drawing/2014/main" id="{79581D71-D67C-234F-A6B7-0A5C5B4B68BD}"/>
              </a:ext>
            </a:extLst>
          </p:cNvPr>
          <p:cNvSpPr txBox="1">
            <a:spLocks noChangeArrowheads="1"/>
          </p:cNvSpPr>
          <p:nvPr/>
        </p:nvSpPr>
        <p:spPr bwMode="auto">
          <a:xfrm>
            <a:off x="3715669" y="1784405"/>
            <a:ext cx="31280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Natural gas in ground 525 dm</a:t>
            </a:r>
            <a:r>
              <a:rPr lang="en-US" altLang="en-US" sz="1600" b="0" baseline="30000" dirty="0">
                <a:solidFill>
                  <a:schemeClr val="accent3"/>
                </a:solidFill>
                <a:cs typeface="Arial" panose="020B0604020202020204" pitchFamily="34" charset="0"/>
              </a:rPr>
              <a:t>3</a:t>
            </a:r>
          </a:p>
        </p:txBody>
      </p:sp>
      <p:sp>
        <p:nvSpPr>
          <p:cNvPr id="15" name="Line 57">
            <a:extLst>
              <a:ext uri="{FF2B5EF4-FFF2-40B4-BE49-F238E27FC236}">
                <a16:creationId xmlns:a16="http://schemas.microsoft.com/office/drawing/2014/main" id="{34456EB2-1AFC-D44C-87BC-D1E7AA69B829}"/>
              </a:ext>
            </a:extLst>
          </p:cNvPr>
          <p:cNvSpPr>
            <a:spLocks noChangeShapeType="1"/>
          </p:cNvSpPr>
          <p:nvPr/>
        </p:nvSpPr>
        <p:spPr bwMode="auto">
          <a:xfrm>
            <a:off x="6841330" y="2431106"/>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6" name="Text Box 59">
            <a:extLst>
              <a:ext uri="{FF2B5EF4-FFF2-40B4-BE49-F238E27FC236}">
                <a16:creationId xmlns:a16="http://schemas.microsoft.com/office/drawing/2014/main" id="{99A35319-5462-8543-A56E-D28FE3B0587E}"/>
              </a:ext>
            </a:extLst>
          </p:cNvPr>
          <p:cNvSpPr txBox="1">
            <a:spLocks noChangeArrowheads="1"/>
          </p:cNvSpPr>
          <p:nvPr/>
        </p:nvSpPr>
        <p:spPr bwMode="auto">
          <a:xfrm>
            <a:off x="2946414" y="2221837"/>
            <a:ext cx="389730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Brown coal in ground 1.20 kg </a:t>
            </a:r>
          </a:p>
        </p:txBody>
      </p:sp>
      <p:sp>
        <p:nvSpPr>
          <p:cNvPr id="17" name="Line 57">
            <a:extLst>
              <a:ext uri="{FF2B5EF4-FFF2-40B4-BE49-F238E27FC236}">
                <a16:creationId xmlns:a16="http://schemas.microsoft.com/office/drawing/2014/main" id="{65CF858F-0DBC-9D4B-A799-1A5D96E64EE6}"/>
              </a:ext>
            </a:extLst>
          </p:cNvPr>
          <p:cNvSpPr>
            <a:spLocks noChangeShapeType="1"/>
          </p:cNvSpPr>
          <p:nvPr/>
        </p:nvSpPr>
        <p:spPr bwMode="auto">
          <a:xfrm>
            <a:off x="6858792" y="286449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8" name="Line 53">
            <a:extLst>
              <a:ext uri="{FF2B5EF4-FFF2-40B4-BE49-F238E27FC236}">
                <a16:creationId xmlns:a16="http://schemas.microsoft.com/office/drawing/2014/main" id="{1D2623A4-83EE-DA45-9AE9-EDCBA07FEFB3}"/>
              </a:ext>
            </a:extLst>
          </p:cNvPr>
          <p:cNvSpPr>
            <a:spLocks noChangeShapeType="1"/>
          </p:cNvSpPr>
          <p:nvPr/>
        </p:nvSpPr>
        <p:spPr bwMode="auto">
          <a:xfrm>
            <a:off x="9067007" y="537017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19" name="Text Box 54">
            <a:extLst>
              <a:ext uri="{FF2B5EF4-FFF2-40B4-BE49-F238E27FC236}">
                <a16:creationId xmlns:a16="http://schemas.microsoft.com/office/drawing/2014/main" id="{FD139EAB-C260-3946-A2F9-2C287E285F42}"/>
              </a:ext>
            </a:extLst>
          </p:cNvPr>
          <p:cNvSpPr txBox="1">
            <a:spLocks noChangeArrowheads="1"/>
          </p:cNvSpPr>
          <p:nvPr/>
        </p:nvSpPr>
        <p:spPr bwMode="auto">
          <a:xfrm>
            <a:off x="9491272" y="5214609"/>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Nitrogen oxides 19.6 g</a:t>
            </a:r>
          </a:p>
        </p:txBody>
      </p:sp>
      <p:sp>
        <p:nvSpPr>
          <p:cNvPr id="20" name="Line 56">
            <a:extLst>
              <a:ext uri="{FF2B5EF4-FFF2-40B4-BE49-F238E27FC236}">
                <a16:creationId xmlns:a16="http://schemas.microsoft.com/office/drawing/2014/main" id="{807D2730-5070-8A4B-A060-39D9F519F7FD}"/>
              </a:ext>
            </a:extLst>
          </p:cNvPr>
          <p:cNvSpPr>
            <a:spLocks noChangeShapeType="1"/>
          </p:cNvSpPr>
          <p:nvPr/>
        </p:nvSpPr>
        <p:spPr bwMode="auto">
          <a:xfrm>
            <a:off x="9067007" y="4653505"/>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1" name="Line 57">
            <a:extLst>
              <a:ext uri="{FF2B5EF4-FFF2-40B4-BE49-F238E27FC236}">
                <a16:creationId xmlns:a16="http://schemas.microsoft.com/office/drawing/2014/main" id="{2CD12AA6-7AD6-B743-AA3D-EFDBD3B703E8}"/>
              </a:ext>
            </a:extLst>
          </p:cNvPr>
          <p:cNvSpPr>
            <a:spLocks noChangeShapeType="1"/>
          </p:cNvSpPr>
          <p:nvPr/>
        </p:nvSpPr>
        <p:spPr bwMode="auto">
          <a:xfrm>
            <a:off x="9073357" y="3273590"/>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2" name="Line 57">
            <a:extLst>
              <a:ext uri="{FF2B5EF4-FFF2-40B4-BE49-F238E27FC236}">
                <a16:creationId xmlns:a16="http://schemas.microsoft.com/office/drawing/2014/main" id="{7696A20F-942A-2E45-B7E9-2E6AC83A906A}"/>
              </a:ext>
            </a:extLst>
          </p:cNvPr>
          <p:cNvSpPr>
            <a:spLocks noChangeShapeType="1"/>
          </p:cNvSpPr>
          <p:nvPr/>
        </p:nvSpPr>
        <p:spPr bwMode="auto">
          <a:xfrm>
            <a:off x="9073357" y="2930247"/>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3" name="Line 57">
            <a:extLst>
              <a:ext uri="{FF2B5EF4-FFF2-40B4-BE49-F238E27FC236}">
                <a16:creationId xmlns:a16="http://schemas.microsoft.com/office/drawing/2014/main" id="{3772B8BA-5386-AE4B-B773-56F4926CE0D2}"/>
              </a:ext>
            </a:extLst>
          </p:cNvPr>
          <p:cNvSpPr>
            <a:spLocks noChangeShapeType="1"/>
          </p:cNvSpPr>
          <p:nvPr/>
        </p:nvSpPr>
        <p:spPr bwMode="auto">
          <a:xfrm>
            <a:off x="9067007" y="1900218"/>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4" name="Line 57">
            <a:extLst>
              <a:ext uri="{FF2B5EF4-FFF2-40B4-BE49-F238E27FC236}">
                <a16:creationId xmlns:a16="http://schemas.microsoft.com/office/drawing/2014/main" id="{4CC573DE-F53A-3945-8970-D462D81A9C97}"/>
              </a:ext>
            </a:extLst>
          </p:cNvPr>
          <p:cNvSpPr>
            <a:spLocks noChangeShapeType="1"/>
          </p:cNvSpPr>
          <p:nvPr/>
        </p:nvSpPr>
        <p:spPr bwMode="auto">
          <a:xfrm>
            <a:off x="9067007" y="2243561"/>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5" name="Line 57">
            <a:extLst>
              <a:ext uri="{FF2B5EF4-FFF2-40B4-BE49-F238E27FC236}">
                <a16:creationId xmlns:a16="http://schemas.microsoft.com/office/drawing/2014/main" id="{F960C7C0-9F52-AE46-BC81-890D3D3CABE8}"/>
              </a:ext>
            </a:extLst>
          </p:cNvPr>
          <p:cNvSpPr>
            <a:spLocks noChangeShapeType="1"/>
          </p:cNvSpPr>
          <p:nvPr/>
        </p:nvSpPr>
        <p:spPr bwMode="auto">
          <a:xfrm>
            <a:off x="9052720" y="258690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26" name="Text Box 59">
            <a:extLst>
              <a:ext uri="{FF2B5EF4-FFF2-40B4-BE49-F238E27FC236}">
                <a16:creationId xmlns:a16="http://schemas.microsoft.com/office/drawing/2014/main" id="{802DD4D5-CE18-0047-944F-460F979DCDB8}"/>
              </a:ext>
            </a:extLst>
          </p:cNvPr>
          <p:cNvSpPr txBox="1">
            <a:spLocks noChangeArrowheads="1"/>
          </p:cNvSpPr>
          <p:nvPr/>
        </p:nvSpPr>
        <p:spPr bwMode="auto">
          <a:xfrm>
            <a:off x="9491272" y="3091078"/>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Carbon monoxide, biogenic 91.8 g</a:t>
            </a:r>
          </a:p>
        </p:txBody>
      </p:sp>
      <p:sp>
        <p:nvSpPr>
          <p:cNvPr id="27" name="Text Box 60">
            <a:extLst>
              <a:ext uri="{FF2B5EF4-FFF2-40B4-BE49-F238E27FC236}">
                <a16:creationId xmlns:a16="http://schemas.microsoft.com/office/drawing/2014/main" id="{78A0A125-B6BF-8F46-BF8A-58F7B0F02DA2}"/>
              </a:ext>
            </a:extLst>
          </p:cNvPr>
          <p:cNvSpPr txBox="1">
            <a:spLocks noChangeArrowheads="1"/>
          </p:cNvSpPr>
          <p:nvPr/>
        </p:nvSpPr>
        <p:spPr bwMode="auto">
          <a:xfrm>
            <a:off x="9448007" y="1341404"/>
            <a:ext cx="46039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Heat, waste 66.6 MJ</a:t>
            </a:r>
            <a:endParaRPr lang="en-US" altLang="en-US" sz="1600" b="0" baseline="30000" dirty="0">
              <a:solidFill>
                <a:schemeClr val="accent3"/>
              </a:solidFill>
              <a:cs typeface="Arial" panose="020B0604020202020204" pitchFamily="34" charset="0"/>
            </a:endParaRPr>
          </a:p>
        </p:txBody>
      </p:sp>
      <p:sp>
        <p:nvSpPr>
          <p:cNvPr id="28" name="Text Box 59">
            <a:extLst>
              <a:ext uri="{FF2B5EF4-FFF2-40B4-BE49-F238E27FC236}">
                <a16:creationId xmlns:a16="http://schemas.microsoft.com/office/drawing/2014/main" id="{008CD5A7-1729-6F40-A0D6-0C5381F3FDD0}"/>
              </a:ext>
            </a:extLst>
          </p:cNvPr>
          <p:cNvSpPr txBox="1">
            <a:spLocks noChangeArrowheads="1"/>
          </p:cNvSpPr>
          <p:nvPr/>
        </p:nvSpPr>
        <p:spPr bwMode="auto">
          <a:xfrm>
            <a:off x="9491272" y="2760970"/>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Carbon dioxide, fossil 9.40 kg</a:t>
            </a:r>
          </a:p>
        </p:txBody>
      </p:sp>
      <p:sp>
        <p:nvSpPr>
          <p:cNvPr id="29" name="Text Box 59">
            <a:extLst>
              <a:ext uri="{FF2B5EF4-FFF2-40B4-BE49-F238E27FC236}">
                <a16:creationId xmlns:a16="http://schemas.microsoft.com/office/drawing/2014/main" id="{FD27872B-8044-B244-B705-5A73AFB2CEEA}"/>
              </a:ext>
            </a:extLst>
          </p:cNvPr>
          <p:cNvSpPr txBox="1">
            <a:spLocks noChangeArrowheads="1"/>
          </p:cNvSpPr>
          <p:nvPr/>
        </p:nvSpPr>
        <p:spPr bwMode="auto">
          <a:xfrm>
            <a:off x="9491272" y="1712894"/>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Arsenic 1.88 mg</a:t>
            </a:r>
          </a:p>
        </p:txBody>
      </p:sp>
      <p:sp>
        <p:nvSpPr>
          <p:cNvPr id="30" name="Text Box 59">
            <a:extLst>
              <a:ext uri="{FF2B5EF4-FFF2-40B4-BE49-F238E27FC236}">
                <a16:creationId xmlns:a16="http://schemas.microsoft.com/office/drawing/2014/main" id="{84A0963E-ECDB-F947-804C-ADA1BBF4E9DC}"/>
              </a:ext>
            </a:extLst>
          </p:cNvPr>
          <p:cNvSpPr txBox="1">
            <a:spLocks noChangeArrowheads="1"/>
          </p:cNvSpPr>
          <p:nvPr/>
        </p:nvSpPr>
        <p:spPr bwMode="auto">
          <a:xfrm>
            <a:off x="9491272" y="2053438"/>
            <a:ext cx="34895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Arsenic, ion 44.0 mg</a:t>
            </a:r>
          </a:p>
        </p:txBody>
      </p:sp>
      <p:sp>
        <p:nvSpPr>
          <p:cNvPr id="31" name="Text Box 59">
            <a:extLst>
              <a:ext uri="{FF2B5EF4-FFF2-40B4-BE49-F238E27FC236}">
                <a16:creationId xmlns:a16="http://schemas.microsoft.com/office/drawing/2014/main" id="{4F5E6792-5E0D-2743-AFB6-89979D07F56D}"/>
              </a:ext>
            </a:extLst>
          </p:cNvPr>
          <p:cNvSpPr txBox="1">
            <a:spLocks noChangeArrowheads="1"/>
          </p:cNvSpPr>
          <p:nvPr/>
        </p:nvSpPr>
        <p:spPr bwMode="auto">
          <a:xfrm>
            <a:off x="9491272" y="2416140"/>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Benzo[a]pyrene 2.74 mg</a:t>
            </a:r>
          </a:p>
        </p:txBody>
      </p:sp>
      <p:sp>
        <p:nvSpPr>
          <p:cNvPr id="32" name="Line 56">
            <a:extLst>
              <a:ext uri="{FF2B5EF4-FFF2-40B4-BE49-F238E27FC236}">
                <a16:creationId xmlns:a16="http://schemas.microsoft.com/office/drawing/2014/main" id="{99570BE2-8180-A544-A279-A757E312D5B4}"/>
              </a:ext>
            </a:extLst>
          </p:cNvPr>
          <p:cNvSpPr>
            <a:spLocks noChangeShapeType="1"/>
          </p:cNvSpPr>
          <p:nvPr/>
        </p:nvSpPr>
        <p:spPr bwMode="auto">
          <a:xfrm>
            <a:off x="9067007" y="3616933"/>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3" name="Text Box 60">
            <a:extLst>
              <a:ext uri="{FF2B5EF4-FFF2-40B4-BE49-F238E27FC236}">
                <a16:creationId xmlns:a16="http://schemas.microsoft.com/office/drawing/2014/main" id="{CC077323-8B9D-3E4A-9C32-B79274B3ACA5}"/>
              </a:ext>
            </a:extLst>
          </p:cNvPr>
          <p:cNvSpPr txBox="1">
            <a:spLocks noChangeArrowheads="1"/>
          </p:cNvSpPr>
          <p:nvPr/>
        </p:nvSpPr>
        <p:spPr bwMode="auto">
          <a:xfrm>
            <a:off x="9491272" y="3432746"/>
            <a:ext cx="17447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CFC-14 252 mg</a:t>
            </a:r>
            <a:endParaRPr lang="en-US" altLang="en-US" sz="1600" b="0" baseline="30000" dirty="0">
              <a:solidFill>
                <a:schemeClr val="accent3"/>
              </a:solidFill>
              <a:cs typeface="Arial" panose="020B0604020202020204" pitchFamily="34" charset="0"/>
            </a:endParaRPr>
          </a:p>
        </p:txBody>
      </p:sp>
      <p:sp>
        <p:nvSpPr>
          <p:cNvPr id="34" name="Line 56">
            <a:extLst>
              <a:ext uri="{FF2B5EF4-FFF2-40B4-BE49-F238E27FC236}">
                <a16:creationId xmlns:a16="http://schemas.microsoft.com/office/drawing/2014/main" id="{1847EBFF-D14D-5C44-8C11-3C25AE6C9728}"/>
              </a:ext>
            </a:extLst>
          </p:cNvPr>
          <p:cNvSpPr>
            <a:spLocks noChangeShapeType="1"/>
          </p:cNvSpPr>
          <p:nvPr/>
        </p:nvSpPr>
        <p:spPr bwMode="auto">
          <a:xfrm>
            <a:off x="9081295" y="3960276"/>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5" name="Text Box 60">
            <a:extLst>
              <a:ext uri="{FF2B5EF4-FFF2-40B4-BE49-F238E27FC236}">
                <a16:creationId xmlns:a16="http://schemas.microsoft.com/office/drawing/2014/main" id="{1A3A19E9-33E6-1442-AFFE-B2527783049E}"/>
              </a:ext>
            </a:extLst>
          </p:cNvPr>
          <p:cNvSpPr txBox="1">
            <a:spLocks noChangeArrowheads="1"/>
          </p:cNvSpPr>
          <p:nvPr/>
        </p:nvSpPr>
        <p:spPr bwMode="auto">
          <a:xfrm>
            <a:off x="9491272" y="3782079"/>
            <a:ext cx="321200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Dioxins 1.74 ng</a:t>
            </a:r>
            <a:endParaRPr lang="en-US" altLang="en-US" sz="1600" b="0" baseline="30000" dirty="0">
              <a:solidFill>
                <a:schemeClr val="accent3"/>
              </a:solidFill>
              <a:cs typeface="Arial" panose="020B0604020202020204" pitchFamily="34" charset="0"/>
            </a:endParaRPr>
          </a:p>
        </p:txBody>
      </p:sp>
      <p:sp>
        <p:nvSpPr>
          <p:cNvPr id="36" name="Line 56">
            <a:extLst>
              <a:ext uri="{FF2B5EF4-FFF2-40B4-BE49-F238E27FC236}">
                <a16:creationId xmlns:a16="http://schemas.microsoft.com/office/drawing/2014/main" id="{9FDDC2B0-6CE3-FB4C-AB92-252DF38978D2}"/>
              </a:ext>
            </a:extLst>
          </p:cNvPr>
          <p:cNvSpPr>
            <a:spLocks noChangeShapeType="1"/>
          </p:cNvSpPr>
          <p:nvPr/>
        </p:nvSpPr>
        <p:spPr bwMode="auto">
          <a:xfrm>
            <a:off x="9081295" y="4303619"/>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37" name="Text Box 60">
            <a:extLst>
              <a:ext uri="{FF2B5EF4-FFF2-40B4-BE49-F238E27FC236}">
                <a16:creationId xmlns:a16="http://schemas.microsoft.com/office/drawing/2014/main" id="{A8A4E952-4175-9944-A7ED-2E8A2E8BA746}"/>
              </a:ext>
            </a:extLst>
          </p:cNvPr>
          <p:cNvSpPr txBox="1">
            <a:spLocks noChangeArrowheads="1"/>
          </p:cNvSpPr>
          <p:nvPr/>
        </p:nvSpPr>
        <p:spPr bwMode="auto">
          <a:xfrm>
            <a:off x="9491272" y="4133792"/>
            <a:ext cx="24783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HFC-116 28.2 mg</a:t>
            </a:r>
            <a:endParaRPr lang="en-US" altLang="en-US" sz="1600" b="0" baseline="30000" dirty="0">
              <a:solidFill>
                <a:schemeClr val="accent3"/>
              </a:solidFill>
              <a:cs typeface="Arial" panose="020B0604020202020204" pitchFamily="34" charset="0"/>
            </a:endParaRPr>
          </a:p>
        </p:txBody>
      </p:sp>
      <p:pic>
        <p:nvPicPr>
          <p:cNvPr id="38" name="Picture 48">
            <a:extLst>
              <a:ext uri="{FF2B5EF4-FFF2-40B4-BE49-F238E27FC236}">
                <a16:creationId xmlns:a16="http://schemas.microsoft.com/office/drawing/2014/main" id="{F1C7B3FE-2161-8540-A438-A9C7826B225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479506" y="3882877"/>
            <a:ext cx="1309687" cy="11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60">
            <a:extLst>
              <a:ext uri="{FF2B5EF4-FFF2-40B4-BE49-F238E27FC236}">
                <a16:creationId xmlns:a16="http://schemas.microsoft.com/office/drawing/2014/main" id="{340BAC2A-9E37-9B43-B292-9E676DBD3D90}"/>
              </a:ext>
            </a:extLst>
          </p:cNvPr>
          <p:cNvSpPr txBox="1">
            <a:spLocks noChangeArrowheads="1"/>
          </p:cNvSpPr>
          <p:nvPr/>
        </p:nvSpPr>
        <p:spPr bwMode="auto">
          <a:xfrm>
            <a:off x="9491272" y="4495300"/>
            <a:ext cx="28850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Hydrogen fluoride 676 mg</a:t>
            </a:r>
            <a:endParaRPr lang="en-US" altLang="en-US" sz="1600" b="0" baseline="30000" dirty="0">
              <a:solidFill>
                <a:schemeClr val="accent3"/>
              </a:solidFill>
              <a:cs typeface="Arial" panose="020B0604020202020204" pitchFamily="34" charset="0"/>
            </a:endParaRPr>
          </a:p>
        </p:txBody>
      </p:sp>
      <p:sp>
        <p:nvSpPr>
          <p:cNvPr id="40" name="Line 57">
            <a:extLst>
              <a:ext uri="{FF2B5EF4-FFF2-40B4-BE49-F238E27FC236}">
                <a16:creationId xmlns:a16="http://schemas.microsoft.com/office/drawing/2014/main" id="{5688FCA7-F6D8-DF41-9462-746E9160C3CE}"/>
              </a:ext>
            </a:extLst>
          </p:cNvPr>
          <p:cNvSpPr>
            <a:spLocks noChangeShapeType="1"/>
          </p:cNvSpPr>
          <p:nvPr/>
        </p:nvSpPr>
        <p:spPr bwMode="auto">
          <a:xfrm>
            <a:off x="9067007" y="5749204"/>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41" name="Line 57">
            <a:extLst>
              <a:ext uri="{FF2B5EF4-FFF2-40B4-BE49-F238E27FC236}">
                <a16:creationId xmlns:a16="http://schemas.microsoft.com/office/drawing/2014/main" id="{22074D68-FE1C-E443-A7F2-37E79F1EB5BA}"/>
              </a:ext>
            </a:extLst>
          </p:cNvPr>
          <p:cNvSpPr>
            <a:spLocks noChangeShapeType="1"/>
          </p:cNvSpPr>
          <p:nvPr/>
        </p:nvSpPr>
        <p:spPr bwMode="auto">
          <a:xfrm>
            <a:off x="9067007" y="607128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42" name="Line 57">
            <a:extLst>
              <a:ext uri="{FF2B5EF4-FFF2-40B4-BE49-F238E27FC236}">
                <a16:creationId xmlns:a16="http://schemas.microsoft.com/office/drawing/2014/main" id="{7F17E160-616F-6B48-931E-BF5D92528801}"/>
              </a:ext>
            </a:extLst>
          </p:cNvPr>
          <p:cNvSpPr>
            <a:spLocks noChangeShapeType="1"/>
          </p:cNvSpPr>
          <p:nvPr/>
        </p:nvSpPr>
        <p:spPr bwMode="auto">
          <a:xfrm>
            <a:off x="9052720" y="6393360"/>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43" name="Text Box 59">
            <a:extLst>
              <a:ext uri="{FF2B5EF4-FFF2-40B4-BE49-F238E27FC236}">
                <a16:creationId xmlns:a16="http://schemas.microsoft.com/office/drawing/2014/main" id="{38DFD490-F36F-C14C-89B1-131002A10544}"/>
              </a:ext>
            </a:extLst>
          </p:cNvPr>
          <p:cNvSpPr txBox="1">
            <a:spLocks noChangeArrowheads="1"/>
          </p:cNvSpPr>
          <p:nvPr/>
        </p:nvSpPr>
        <p:spPr bwMode="auto">
          <a:xfrm>
            <a:off x="9491272" y="5561880"/>
            <a:ext cx="30506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PAH 88.7 mg</a:t>
            </a:r>
          </a:p>
        </p:txBody>
      </p:sp>
      <mc:AlternateContent xmlns:mc="http://schemas.openxmlformats.org/markup-compatibility/2006" xmlns:a14="http://schemas.microsoft.com/office/drawing/2010/main">
        <mc:Choice Requires="a14">
          <p:sp>
            <p:nvSpPr>
              <p:cNvPr id="44" name="Text Box 59">
                <a:extLst>
                  <a:ext uri="{FF2B5EF4-FFF2-40B4-BE49-F238E27FC236}">
                    <a16:creationId xmlns:a16="http://schemas.microsoft.com/office/drawing/2014/main" id="{0542F974-9CE6-3842-94D6-0DEE28E18AAF}"/>
                  </a:ext>
                </a:extLst>
              </p:cNvPr>
              <p:cNvSpPr txBox="1">
                <a:spLocks noChangeArrowheads="1"/>
              </p:cNvSpPr>
              <p:nvPr/>
            </p:nvSpPr>
            <p:spPr bwMode="auto">
              <a:xfrm>
                <a:off x="9491272" y="5902424"/>
                <a:ext cx="3489527"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Particulates, ,2.5</a:t>
                </a:r>
                <a14:m>
                  <m:oMath xmlns:m="http://schemas.openxmlformats.org/officeDocument/2006/math">
                    <m:r>
                      <a:rPr lang="en-US" altLang="en-US" sz="1600" b="0" i="1" smtClean="0">
                        <a:solidFill>
                          <a:schemeClr val="accent3"/>
                        </a:solidFill>
                        <a:latin typeface="Cambria Math" panose="02040503050406030204" pitchFamily="18" charset="0"/>
                        <a:ea typeface="Cambria Math" panose="02040503050406030204" pitchFamily="18" charset="0"/>
                        <a:cs typeface="Arial" panose="020B0604020202020204" pitchFamily="34" charset="0"/>
                      </a:rPr>
                      <m:t>𝜇</m:t>
                    </m:r>
                  </m:oMath>
                </a14:m>
                <a:r>
                  <a:rPr lang="en-US" altLang="en-US" sz="1600" b="0" dirty="0">
                    <a:solidFill>
                      <a:schemeClr val="accent3"/>
                    </a:solidFill>
                    <a:cs typeface="Arial" panose="020B0604020202020204" pitchFamily="34" charset="0"/>
                  </a:rPr>
                  <a:t>m 4.95 g</a:t>
                </a:r>
              </a:p>
            </p:txBody>
          </p:sp>
        </mc:Choice>
        <mc:Fallback xmlns="">
          <p:sp>
            <p:nvSpPr>
              <p:cNvPr id="44" name="Text Box 59">
                <a:extLst>
                  <a:ext uri="{FF2B5EF4-FFF2-40B4-BE49-F238E27FC236}">
                    <a16:creationId xmlns:a16="http://schemas.microsoft.com/office/drawing/2014/main" id="{0542F974-9CE6-3842-94D6-0DEE28E18AAF}"/>
                  </a:ext>
                </a:extLst>
              </p:cNvPr>
              <p:cNvSpPr txBox="1">
                <a:spLocks noRot="1" noChangeAspect="1" noMove="1" noResize="1" noEditPoints="1" noAdjustHandles="1" noChangeArrowheads="1" noChangeShapeType="1" noTextEdit="1"/>
              </p:cNvSpPr>
              <p:nvPr/>
            </p:nvSpPr>
            <p:spPr bwMode="auto">
              <a:xfrm>
                <a:off x="9491272" y="5902424"/>
                <a:ext cx="3489527" cy="338554"/>
              </a:xfrm>
              <a:prstGeom prst="rect">
                <a:avLst/>
              </a:prstGeom>
              <a:blipFill>
                <a:blip r:embed="rId3"/>
                <a:stretch>
                  <a:fillRect l="-725" t="-3704" b="-259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5" name="Text Box 59">
            <a:extLst>
              <a:ext uri="{FF2B5EF4-FFF2-40B4-BE49-F238E27FC236}">
                <a16:creationId xmlns:a16="http://schemas.microsoft.com/office/drawing/2014/main" id="{ADBB7901-D06D-5A4F-AF47-0135AB915A94}"/>
              </a:ext>
            </a:extLst>
          </p:cNvPr>
          <p:cNvSpPr txBox="1">
            <a:spLocks noChangeArrowheads="1"/>
          </p:cNvSpPr>
          <p:nvPr/>
        </p:nvSpPr>
        <p:spPr bwMode="auto">
          <a:xfrm>
            <a:off x="9491272" y="6222596"/>
            <a:ext cx="402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b="0" dirty="0">
                <a:solidFill>
                  <a:schemeClr val="accent3"/>
                </a:solidFill>
                <a:cs typeface="Arial" panose="020B0604020202020204" pitchFamily="34" charset="0"/>
              </a:rPr>
              <a:t>Sulfur dioxide 38.0 g</a:t>
            </a:r>
          </a:p>
        </p:txBody>
      </p:sp>
      <p:sp>
        <p:nvSpPr>
          <p:cNvPr id="46" name="Text Box 59">
            <a:extLst>
              <a:ext uri="{FF2B5EF4-FFF2-40B4-BE49-F238E27FC236}">
                <a16:creationId xmlns:a16="http://schemas.microsoft.com/office/drawing/2014/main" id="{46F97572-AA5C-BF47-A811-4E4DB6A9F99A}"/>
              </a:ext>
            </a:extLst>
          </p:cNvPr>
          <p:cNvSpPr txBox="1">
            <a:spLocks noChangeArrowheads="1"/>
          </p:cNvSpPr>
          <p:nvPr/>
        </p:nvSpPr>
        <p:spPr bwMode="auto">
          <a:xfrm>
            <a:off x="2327567" y="3534133"/>
            <a:ext cx="45161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Uranium in ground 58.3 mg</a:t>
            </a:r>
          </a:p>
        </p:txBody>
      </p:sp>
      <p:sp>
        <p:nvSpPr>
          <p:cNvPr id="47" name="Text Box 60">
            <a:extLst>
              <a:ext uri="{FF2B5EF4-FFF2-40B4-BE49-F238E27FC236}">
                <a16:creationId xmlns:a16="http://schemas.microsoft.com/office/drawing/2014/main" id="{0E420F7D-5111-D94D-8E5A-7A74F9BB7B12}"/>
              </a:ext>
            </a:extLst>
          </p:cNvPr>
          <p:cNvSpPr txBox="1">
            <a:spLocks noChangeArrowheads="1"/>
          </p:cNvSpPr>
          <p:nvPr/>
        </p:nvSpPr>
        <p:spPr bwMode="auto">
          <a:xfrm>
            <a:off x="878783" y="3917470"/>
            <a:ext cx="596493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Aluminum in ground, </a:t>
            </a:r>
            <a:br>
              <a:rPr lang="en-US" altLang="en-US" sz="1600" b="0" dirty="0">
                <a:solidFill>
                  <a:schemeClr val="accent3"/>
                </a:solidFill>
                <a:cs typeface="Arial" panose="020B0604020202020204" pitchFamily="34" charset="0"/>
              </a:rPr>
            </a:br>
            <a:r>
              <a:rPr lang="en-US" altLang="en-US" sz="1600" b="0" dirty="0">
                <a:solidFill>
                  <a:schemeClr val="accent3"/>
                </a:solidFill>
                <a:cs typeface="Arial" panose="020B0604020202020204" pitchFamily="34" charset="0"/>
              </a:rPr>
              <a:t>24% in bauxite, 11% in crude ore 1.16 kg</a:t>
            </a:r>
            <a:endParaRPr lang="en-US" altLang="en-US" sz="1600" b="0" baseline="30000" dirty="0">
              <a:solidFill>
                <a:schemeClr val="accent3"/>
              </a:solidFill>
              <a:cs typeface="Arial" panose="020B0604020202020204" pitchFamily="34" charset="0"/>
            </a:endParaRPr>
          </a:p>
        </p:txBody>
      </p:sp>
      <p:sp>
        <p:nvSpPr>
          <p:cNvPr id="48" name="Text Box 61">
            <a:extLst>
              <a:ext uri="{FF2B5EF4-FFF2-40B4-BE49-F238E27FC236}">
                <a16:creationId xmlns:a16="http://schemas.microsoft.com/office/drawing/2014/main" id="{5CDB2AE5-2F62-AC4D-8EE0-5B8D22061279}"/>
              </a:ext>
            </a:extLst>
          </p:cNvPr>
          <p:cNvSpPr txBox="1">
            <a:spLocks noChangeArrowheads="1"/>
          </p:cNvSpPr>
          <p:nvPr/>
        </p:nvSpPr>
        <p:spPr bwMode="auto">
          <a:xfrm>
            <a:off x="2613739" y="4750772"/>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lgn="r">
              <a:spcBef>
                <a:spcPct val="0"/>
              </a:spcBef>
              <a:buClrTx/>
              <a:buFontTx/>
              <a:buNone/>
            </a:pPr>
            <a:r>
              <a:rPr lang="en-US" altLang="en-US" sz="1600" b="0" dirty="0">
                <a:solidFill>
                  <a:schemeClr val="accent3"/>
                </a:solidFill>
                <a:cs typeface="Arial" panose="020B0604020202020204" pitchFamily="34" charset="0"/>
              </a:rPr>
              <a:t>Occupation, forest, intensive 0.101 m2a</a:t>
            </a:r>
          </a:p>
        </p:txBody>
      </p:sp>
      <p:sp>
        <p:nvSpPr>
          <p:cNvPr id="49" name="Line 57">
            <a:extLst>
              <a:ext uri="{FF2B5EF4-FFF2-40B4-BE49-F238E27FC236}">
                <a16:creationId xmlns:a16="http://schemas.microsoft.com/office/drawing/2014/main" id="{28AAB889-7808-3541-935C-0A21FBA59DC4}"/>
              </a:ext>
            </a:extLst>
          </p:cNvPr>
          <p:cNvSpPr>
            <a:spLocks noChangeShapeType="1"/>
          </p:cNvSpPr>
          <p:nvPr/>
        </p:nvSpPr>
        <p:spPr bwMode="auto">
          <a:xfrm>
            <a:off x="9067007" y="1496182"/>
            <a:ext cx="381000" cy="0"/>
          </a:xfrm>
          <a:prstGeom prst="line">
            <a:avLst/>
          </a:prstGeom>
          <a:noFill/>
          <a:ln w="25400">
            <a:solidFill>
              <a:schemeClr val="accent3"/>
            </a:solidFill>
            <a:round/>
            <a:headEnd/>
            <a:tailEnd type="arrow" w="sm" len="med"/>
          </a:ln>
          <a:extLst>
            <a:ext uri="{909E8E84-426E-40DD-AFC4-6F175D3DCCD1}">
              <a14:hiddenFill xmlns:a14="http://schemas.microsoft.com/office/drawing/2010/main">
                <a:noFill/>
              </a14:hiddenFill>
            </a:ext>
          </a:extLst>
        </p:spPr>
        <p:txBody>
          <a:bodyPr/>
          <a:lstStyle/>
          <a:p>
            <a:endParaRPr lang="en-US"/>
          </a:p>
        </p:txBody>
      </p:sp>
      <p:sp>
        <p:nvSpPr>
          <p:cNvPr id="50" name="Rectangle 49">
            <a:extLst>
              <a:ext uri="{FF2B5EF4-FFF2-40B4-BE49-F238E27FC236}">
                <a16:creationId xmlns:a16="http://schemas.microsoft.com/office/drawing/2014/main" id="{C7DCBE8D-B062-3049-A225-B3B8BE94A34B}"/>
              </a:ext>
            </a:extLst>
          </p:cNvPr>
          <p:cNvSpPr/>
          <p:nvPr/>
        </p:nvSpPr>
        <p:spPr>
          <a:xfrm>
            <a:off x="1190847" y="6699094"/>
            <a:ext cx="14034976" cy="950400"/>
          </a:xfrm>
          <a:prstGeom prst="rect">
            <a:avLst/>
          </a:prstGeom>
          <a:noFill/>
          <a:ln w="317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Text Box 59">
            <a:extLst>
              <a:ext uri="{FF2B5EF4-FFF2-40B4-BE49-F238E27FC236}">
                <a16:creationId xmlns:a16="http://schemas.microsoft.com/office/drawing/2014/main" id="{DEDED48C-E3B7-2F4B-8E35-6457B615CFE8}"/>
              </a:ext>
            </a:extLst>
          </p:cNvPr>
          <p:cNvSpPr txBox="1">
            <a:spLocks noChangeArrowheads="1"/>
          </p:cNvSpPr>
          <p:nvPr/>
        </p:nvSpPr>
        <p:spPr bwMode="auto">
          <a:xfrm>
            <a:off x="2598650" y="2708708"/>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r">
              <a:spcBef>
                <a:spcPct val="0"/>
              </a:spcBef>
              <a:buClrTx/>
              <a:buFontTx/>
              <a:buNone/>
              <a:defRPr sz="1600" b="0">
                <a:solidFill>
                  <a:schemeClr val="accent3"/>
                </a:solidFill>
                <a:latin typeface="Arial" panose="020B0604020202020204" pitchFamily="34" charset="0"/>
                <a:cs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r>
              <a:rPr lang="en-US" altLang="en-US" dirty="0"/>
              <a:t>Hard coal in ground 2.01 kg</a:t>
            </a:r>
          </a:p>
        </p:txBody>
      </p:sp>
      <p:sp>
        <p:nvSpPr>
          <p:cNvPr id="52" name="Oval 51">
            <a:extLst>
              <a:ext uri="{FF2B5EF4-FFF2-40B4-BE49-F238E27FC236}">
                <a16:creationId xmlns:a16="http://schemas.microsoft.com/office/drawing/2014/main" id="{B928DA24-E491-4C4F-AD59-E2887016D1A5}"/>
              </a:ext>
            </a:extLst>
          </p:cNvPr>
          <p:cNvSpPr/>
          <p:nvPr/>
        </p:nvSpPr>
        <p:spPr>
          <a:xfrm>
            <a:off x="773192" y="1421431"/>
            <a:ext cx="511438" cy="51143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4</a:t>
            </a:r>
          </a:p>
        </p:txBody>
      </p:sp>
    </p:spTree>
    <p:extLst>
      <p:ext uri="{BB962C8B-B14F-4D97-AF65-F5344CB8AC3E}">
        <p14:creationId xmlns:p14="http://schemas.microsoft.com/office/powerpoint/2010/main" val="24016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AF7F2-DFAC-B343-8D17-BB9C0728248D}"/>
              </a:ext>
            </a:extLst>
          </p:cNvPr>
          <p:cNvSpPr>
            <a:spLocks noGrp="1"/>
          </p:cNvSpPr>
          <p:nvPr>
            <p:ph type="title"/>
          </p:nvPr>
        </p:nvSpPr>
        <p:spPr/>
        <p:txBody>
          <a:bodyPr/>
          <a:lstStyle/>
          <a:p>
            <a:r>
              <a:rPr lang="en-US" sz="4000" dirty="0">
                <a:solidFill>
                  <a:schemeClr val="tx2"/>
                </a:solidFill>
              </a:rPr>
              <a:t>Aggregated system data: aluminum liquid, </a:t>
            </a:r>
            <a:r>
              <a:rPr lang="en-US" sz="4000" dirty="0" err="1">
                <a:solidFill>
                  <a:schemeClr val="tx2"/>
                </a:solidFill>
              </a:rPr>
              <a:t>ecoinvent</a:t>
            </a:r>
            <a:r>
              <a:rPr lang="en-US" sz="4000" dirty="0">
                <a:solidFill>
                  <a:schemeClr val="tx2"/>
                </a:solidFill>
              </a:rPr>
              <a:t> in </a:t>
            </a:r>
            <a:r>
              <a:rPr lang="en-US" sz="4000" dirty="0" err="1">
                <a:solidFill>
                  <a:schemeClr val="tx2"/>
                </a:solidFill>
              </a:rPr>
              <a:t>Simapro</a:t>
            </a:r>
            <a:endParaRPr lang="en-US" sz="4000" dirty="0">
              <a:solidFill>
                <a:schemeClr val="tx2"/>
              </a:solidFill>
            </a:endParaRPr>
          </a:p>
        </p:txBody>
      </p:sp>
      <p:pic>
        <p:nvPicPr>
          <p:cNvPr id="4" name="Picture 3">
            <a:extLst>
              <a:ext uri="{FF2B5EF4-FFF2-40B4-BE49-F238E27FC236}">
                <a16:creationId xmlns:a16="http://schemas.microsoft.com/office/drawing/2014/main" id="{EBDADC37-AC28-F842-830F-C409AB043D8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01"/>
          <a:stretch/>
        </p:blipFill>
        <p:spPr>
          <a:xfrm>
            <a:off x="878782" y="1422400"/>
            <a:ext cx="14376457" cy="6146800"/>
          </a:xfrm>
          <a:prstGeom prst="rect">
            <a:avLst/>
          </a:prstGeom>
          <a:ln w="19050">
            <a:solidFill>
              <a:schemeClr val="tx1">
                <a:lumMod val="50000"/>
                <a:lumOff val="50000"/>
              </a:schemeClr>
            </a:solidFill>
          </a:ln>
        </p:spPr>
      </p:pic>
      <p:sp>
        <p:nvSpPr>
          <p:cNvPr id="5" name="Text Box 61">
            <a:extLst>
              <a:ext uri="{FF2B5EF4-FFF2-40B4-BE49-F238E27FC236}">
                <a16:creationId xmlns:a16="http://schemas.microsoft.com/office/drawing/2014/main" id="{F88D9377-57B0-6449-9EF6-CF304252BB0D}"/>
              </a:ext>
            </a:extLst>
          </p:cNvPr>
          <p:cNvSpPr txBox="1">
            <a:spLocks noChangeArrowheads="1"/>
          </p:cNvSpPr>
          <p:nvPr/>
        </p:nvSpPr>
        <p:spPr bwMode="auto">
          <a:xfrm>
            <a:off x="991892" y="4598371"/>
            <a:ext cx="58190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dirty="0">
                <a:solidFill>
                  <a:schemeClr val="accent5"/>
                </a:solidFill>
                <a:cs typeface="Arial" panose="020B0604020202020204" pitchFamily="34" charset="0"/>
              </a:rPr>
              <a:t>Aggregated </a:t>
            </a:r>
            <a:r>
              <a:rPr lang="en-US" altLang="en-US" sz="1600" dirty="0">
                <a:solidFill>
                  <a:schemeClr val="accent3"/>
                </a:solidFill>
                <a:cs typeface="Arial" panose="020B0604020202020204" pitchFamily="34" charset="0"/>
              </a:rPr>
              <a:t>Resource extractions from environment</a:t>
            </a:r>
          </a:p>
        </p:txBody>
      </p:sp>
    </p:spTree>
    <p:extLst>
      <p:ext uri="{BB962C8B-B14F-4D97-AF65-F5344CB8AC3E}">
        <p14:creationId xmlns:p14="http://schemas.microsoft.com/office/powerpoint/2010/main" val="2247940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242DF-E7C8-D54C-BF80-BE623492AB8E}"/>
              </a:ext>
            </a:extLst>
          </p:cNvPr>
          <p:cNvSpPr>
            <a:spLocks noGrp="1"/>
          </p:cNvSpPr>
          <p:nvPr>
            <p:ph type="title"/>
          </p:nvPr>
        </p:nvSpPr>
        <p:spPr/>
        <p:txBody>
          <a:bodyPr/>
          <a:lstStyle/>
          <a:p>
            <a:r>
              <a:rPr lang="en-US" sz="4000" dirty="0">
                <a:solidFill>
                  <a:schemeClr val="tx2"/>
                </a:solidFill>
              </a:rPr>
              <a:t>Aggregated system data: aluminum liquid, </a:t>
            </a:r>
            <a:r>
              <a:rPr lang="en-US" sz="4000" dirty="0" err="1">
                <a:solidFill>
                  <a:schemeClr val="tx2"/>
                </a:solidFill>
              </a:rPr>
              <a:t>ecoinvent</a:t>
            </a:r>
            <a:r>
              <a:rPr lang="en-US" sz="4000" dirty="0">
                <a:solidFill>
                  <a:schemeClr val="tx2"/>
                </a:solidFill>
              </a:rPr>
              <a:t> in </a:t>
            </a:r>
            <a:r>
              <a:rPr lang="en-US" sz="4000" dirty="0" err="1">
                <a:solidFill>
                  <a:schemeClr val="tx2"/>
                </a:solidFill>
              </a:rPr>
              <a:t>Simapro</a:t>
            </a:r>
            <a:endParaRPr lang="en-US" sz="4000" dirty="0">
              <a:solidFill>
                <a:schemeClr val="tx2"/>
              </a:solidFill>
            </a:endParaRPr>
          </a:p>
        </p:txBody>
      </p:sp>
      <p:pic>
        <p:nvPicPr>
          <p:cNvPr id="4" name="Picture 3">
            <a:extLst>
              <a:ext uri="{FF2B5EF4-FFF2-40B4-BE49-F238E27FC236}">
                <a16:creationId xmlns:a16="http://schemas.microsoft.com/office/drawing/2014/main" id="{5ADA1FBB-C2FB-4844-80FD-A760394784E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999203" y="1436106"/>
            <a:ext cx="14376264" cy="3459480"/>
          </a:xfrm>
          <a:prstGeom prst="rect">
            <a:avLst/>
          </a:prstGeom>
        </p:spPr>
      </p:pic>
      <p:pic>
        <p:nvPicPr>
          <p:cNvPr id="5" name="Picture 4">
            <a:extLst>
              <a:ext uri="{FF2B5EF4-FFF2-40B4-BE49-F238E27FC236}">
                <a16:creationId xmlns:a16="http://schemas.microsoft.com/office/drawing/2014/main" id="{B8C9314D-778D-B142-BE65-4B167094ABF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998097" y="4810916"/>
            <a:ext cx="14377370" cy="2612772"/>
          </a:xfrm>
          <a:prstGeom prst="rect">
            <a:avLst/>
          </a:prstGeom>
        </p:spPr>
      </p:pic>
      <p:sp>
        <p:nvSpPr>
          <p:cNvPr id="6" name="Text Box 61">
            <a:extLst>
              <a:ext uri="{FF2B5EF4-FFF2-40B4-BE49-F238E27FC236}">
                <a16:creationId xmlns:a16="http://schemas.microsoft.com/office/drawing/2014/main" id="{1110AC9B-7B93-8F4F-B854-1E58F02E7BE6}"/>
              </a:ext>
            </a:extLst>
          </p:cNvPr>
          <p:cNvSpPr txBox="1">
            <a:spLocks noChangeArrowheads="1"/>
          </p:cNvSpPr>
          <p:nvPr/>
        </p:nvSpPr>
        <p:spPr bwMode="auto">
          <a:xfrm>
            <a:off x="2016051" y="1436106"/>
            <a:ext cx="42299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9900"/>
              </a:buClr>
              <a:buChar char="•"/>
              <a:defRPr sz="3200" b="1">
                <a:solidFill>
                  <a:srgbClr val="01035B"/>
                </a:solidFill>
                <a:latin typeface="Arial" panose="020B0604020202020204" pitchFamily="34" charset="0"/>
              </a:defRPr>
            </a:lvl1pPr>
            <a:lvl2pPr marL="742950" indent="-285750">
              <a:spcBef>
                <a:spcPct val="20000"/>
              </a:spcBef>
              <a:buClr>
                <a:srgbClr val="FF9900"/>
              </a:buClr>
              <a:buChar char="–"/>
              <a:defRPr sz="2800" b="1">
                <a:solidFill>
                  <a:srgbClr val="01035B"/>
                </a:solidFill>
                <a:latin typeface="Arial" panose="020B0604020202020204" pitchFamily="34" charset="0"/>
              </a:defRPr>
            </a:lvl2pPr>
            <a:lvl3pPr marL="1143000" indent="-228600">
              <a:spcBef>
                <a:spcPct val="20000"/>
              </a:spcBef>
              <a:buClr>
                <a:srgbClr val="FF9900"/>
              </a:buClr>
              <a:buChar char="•"/>
              <a:defRPr sz="2400" b="1">
                <a:solidFill>
                  <a:srgbClr val="01035B"/>
                </a:solidFill>
                <a:latin typeface="Arial" panose="020B0604020202020204" pitchFamily="34" charset="0"/>
              </a:defRPr>
            </a:lvl3pPr>
            <a:lvl4pPr marL="1600200" indent="-228600">
              <a:spcBef>
                <a:spcPct val="20000"/>
              </a:spcBef>
              <a:buClr>
                <a:srgbClr val="FF9900"/>
              </a:buClr>
              <a:buChar char="–"/>
              <a:defRPr sz="2000" b="1">
                <a:solidFill>
                  <a:srgbClr val="01035B"/>
                </a:solidFill>
                <a:latin typeface="Arial" panose="020B0604020202020204" pitchFamily="34" charset="0"/>
              </a:defRPr>
            </a:lvl4pPr>
            <a:lvl5pPr marL="2057400" indent="-228600">
              <a:spcBef>
                <a:spcPct val="20000"/>
              </a:spcBef>
              <a:buClr>
                <a:srgbClr val="FF9900"/>
              </a:buClr>
              <a:buChar char="»"/>
              <a:defRPr sz="2000" b="1">
                <a:solidFill>
                  <a:srgbClr val="01035B"/>
                </a:solidFill>
                <a:latin typeface="Arial" panose="020B0604020202020204" pitchFamily="34" charset="0"/>
              </a:defRPr>
            </a:lvl5pPr>
            <a:lvl6pPr marL="25146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6pPr>
            <a:lvl7pPr marL="29718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7pPr>
            <a:lvl8pPr marL="34290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8pPr>
            <a:lvl9pPr marL="3886200" indent="-228600" eaLnBrk="0" fontAlgn="base" hangingPunct="0">
              <a:spcBef>
                <a:spcPct val="20000"/>
              </a:spcBef>
              <a:spcAft>
                <a:spcPct val="0"/>
              </a:spcAft>
              <a:buClr>
                <a:srgbClr val="FF9900"/>
              </a:buClr>
              <a:buChar char="»"/>
              <a:defRPr sz="2000" b="1">
                <a:solidFill>
                  <a:srgbClr val="01035B"/>
                </a:solidFill>
                <a:latin typeface="Arial" panose="020B0604020202020204" pitchFamily="34" charset="0"/>
              </a:defRPr>
            </a:lvl9pPr>
          </a:lstStyle>
          <a:p>
            <a:pPr>
              <a:spcBef>
                <a:spcPct val="0"/>
              </a:spcBef>
              <a:buClrTx/>
              <a:buFontTx/>
              <a:buNone/>
            </a:pPr>
            <a:r>
              <a:rPr lang="en-US" altLang="en-US" sz="1600" dirty="0">
                <a:solidFill>
                  <a:schemeClr val="accent5"/>
                </a:solidFill>
                <a:cs typeface="Arial" panose="020B0604020202020204" pitchFamily="34" charset="0"/>
              </a:rPr>
              <a:t>Aggregated</a:t>
            </a:r>
            <a:r>
              <a:rPr lang="en-US" altLang="en-US" sz="1600" dirty="0">
                <a:solidFill>
                  <a:schemeClr val="accent3"/>
                </a:solidFill>
                <a:cs typeface="Arial" panose="020B0604020202020204" pitchFamily="34" charset="0"/>
              </a:rPr>
              <a:t> emissions to air</a:t>
            </a:r>
          </a:p>
        </p:txBody>
      </p:sp>
    </p:spTree>
    <p:extLst>
      <p:ext uri="{BB962C8B-B14F-4D97-AF65-F5344CB8AC3E}">
        <p14:creationId xmlns:p14="http://schemas.microsoft.com/office/powerpoint/2010/main" val="3992999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88922-C5A6-4C4E-8607-59040F4D0D47}"/>
              </a:ext>
            </a:extLst>
          </p:cNvPr>
          <p:cNvSpPr>
            <a:spLocks noGrp="1"/>
          </p:cNvSpPr>
          <p:nvPr>
            <p:ph type="title"/>
          </p:nvPr>
        </p:nvSpPr>
        <p:spPr/>
        <p:txBody>
          <a:bodyPr/>
          <a:lstStyle/>
          <a:p>
            <a:r>
              <a:rPr lang="fr-CH" altLang="en-US" dirty="0">
                <a:solidFill>
                  <a:schemeClr val="tx2"/>
                </a:solidFill>
                <a:latin typeface="Arial" panose="020B0604020202020204" pitchFamily="34" charset="0"/>
                <a:cs typeface="Arial" panose="020B0604020202020204" pitchFamily="34" charset="0"/>
              </a:rPr>
              <a:t>Use of </a:t>
            </a:r>
            <a:r>
              <a:rPr lang="fr-CH" altLang="en-US" dirty="0" err="1">
                <a:solidFill>
                  <a:schemeClr val="tx2"/>
                </a:solidFill>
                <a:latin typeface="Arial" panose="020B0604020202020204" pitchFamily="34" charset="0"/>
                <a:cs typeface="Arial" panose="020B0604020202020204" pitchFamily="34" charset="0"/>
              </a:rPr>
              <a:t>ecoinvent</a:t>
            </a:r>
            <a:r>
              <a:rPr lang="fr-CH" altLang="en-US" dirty="0">
                <a:solidFill>
                  <a:schemeClr val="tx2"/>
                </a:solidFill>
                <a:latin typeface="Arial" panose="020B0604020202020204" pitchFamily="34" charset="0"/>
                <a:cs typeface="Arial" panose="020B0604020202020204" pitchFamily="34" charset="0"/>
              </a:rPr>
              <a:t>: </a:t>
            </a:r>
            <a:r>
              <a:rPr lang="en-US" altLang="en-US" dirty="0">
                <a:solidFill>
                  <a:schemeClr val="tx2"/>
                </a:solidFill>
                <a:latin typeface="Arial" panose="020B0604020202020204" pitchFamily="34" charset="0"/>
                <a:cs typeface="Arial" panose="020B0604020202020204" pitchFamily="34" charset="0"/>
              </a:rPr>
              <a:t>tips for good use – be careful</a:t>
            </a:r>
            <a:endParaRPr lang="en-US" dirty="0">
              <a:solidFill>
                <a:schemeClr val="tx2"/>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DDE17426-457E-DD48-8C86-9842FF85F15A}"/>
              </a:ext>
            </a:extLst>
          </p:cNvPr>
          <p:cNvSpPr txBox="1">
            <a:spLocks noChangeArrowheads="1"/>
          </p:cNvSpPr>
          <p:nvPr/>
        </p:nvSpPr>
        <p:spPr>
          <a:xfrm>
            <a:off x="4842771" y="6057901"/>
            <a:ext cx="10388870" cy="962831"/>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ct val="50000"/>
              </a:spcBef>
              <a:defRPr/>
            </a:pPr>
            <a:r>
              <a:rPr lang="fr-CH" sz="2933" b="1" dirty="0">
                <a:solidFill>
                  <a:schemeClr val="tx2"/>
                </a:solidFill>
              </a:rPr>
              <a:t>Be sure to </a:t>
            </a:r>
            <a:r>
              <a:rPr lang="fr-CH" sz="2933" b="1" dirty="0" err="1">
                <a:solidFill>
                  <a:schemeClr val="tx2"/>
                </a:solidFill>
              </a:rPr>
              <a:t>include</a:t>
            </a:r>
            <a:r>
              <a:rPr lang="fr-CH" sz="2933" b="1" dirty="0">
                <a:solidFill>
                  <a:schemeClr val="tx2"/>
                </a:solidFill>
              </a:rPr>
              <a:t> </a:t>
            </a:r>
            <a:r>
              <a:rPr lang="fr-CH" sz="2933" dirty="0">
                <a:solidFill>
                  <a:schemeClr val="tx2"/>
                </a:solidFill>
              </a:rPr>
              <a:t>end-of-life </a:t>
            </a:r>
            <a:r>
              <a:rPr lang="fr-CH" sz="2933" dirty="0" err="1">
                <a:solidFill>
                  <a:schemeClr val="tx2"/>
                </a:solidFill>
              </a:rPr>
              <a:t>process</a:t>
            </a:r>
            <a:r>
              <a:rPr lang="fr-CH" sz="2933" dirty="0">
                <a:solidFill>
                  <a:schemeClr val="tx2"/>
                </a:solidFill>
              </a:rPr>
              <a:t> &amp; </a:t>
            </a:r>
            <a:r>
              <a:rPr lang="fr-CH" sz="2933" dirty="0" err="1">
                <a:solidFill>
                  <a:schemeClr val="accent6"/>
                </a:solidFill>
              </a:rPr>
              <a:t>only</a:t>
            </a:r>
            <a:r>
              <a:rPr lang="fr-CH" sz="2933" dirty="0">
                <a:solidFill>
                  <a:schemeClr val="accent6"/>
                </a:solidFill>
              </a:rPr>
              <a:t> use </a:t>
            </a:r>
            <a:r>
              <a:rPr lang="fr-CH" sz="2933" dirty="0" err="1">
                <a:solidFill>
                  <a:schemeClr val="accent6"/>
                </a:solidFill>
              </a:rPr>
              <a:t>fossil</a:t>
            </a:r>
            <a:r>
              <a:rPr lang="fr-CH" sz="2933" dirty="0"/>
              <a:t> </a:t>
            </a:r>
            <a:r>
              <a:rPr lang="fr-CH" sz="2933" dirty="0">
                <a:solidFill>
                  <a:schemeClr val="tx2"/>
                </a:solidFill>
              </a:rPr>
              <a:t>CO</a:t>
            </a:r>
            <a:r>
              <a:rPr lang="fr-CH" sz="2933" baseline="-25000" dirty="0">
                <a:solidFill>
                  <a:schemeClr val="tx2"/>
                </a:solidFill>
              </a:rPr>
              <a:t>2</a:t>
            </a:r>
            <a:r>
              <a:rPr lang="fr-CH" sz="2933" dirty="0">
                <a:solidFill>
                  <a:schemeClr val="tx2"/>
                </a:solidFill>
              </a:rPr>
              <a:t>, </a:t>
            </a:r>
            <a:br>
              <a:rPr lang="fr-CH" sz="2933" dirty="0">
                <a:solidFill>
                  <a:schemeClr val="tx2"/>
                </a:solidFill>
              </a:rPr>
            </a:br>
            <a:r>
              <a:rPr lang="fr-CH" sz="2933" dirty="0">
                <a:solidFill>
                  <a:schemeClr val="accent6"/>
                </a:solidFill>
              </a:rPr>
              <a:t>not</a:t>
            </a:r>
            <a:r>
              <a:rPr lang="fr-CH" sz="2933" dirty="0"/>
              <a:t> </a:t>
            </a:r>
            <a:r>
              <a:rPr lang="fr-CH" sz="2933" dirty="0" err="1">
                <a:solidFill>
                  <a:schemeClr val="accent6"/>
                </a:solidFill>
              </a:rPr>
              <a:t>biogenic</a:t>
            </a:r>
            <a:r>
              <a:rPr lang="fr-CH" sz="2933" dirty="0">
                <a:solidFill>
                  <a:schemeClr val="accent6"/>
                </a:solidFill>
              </a:rPr>
              <a:t> </a:t>
            </a:r>
            <a:r>
              <a:rPr lang="fr-CH" sz="2933" dirty="0">
                <a:solidFill>
                  <a:schemeClr val="tx2"/>
                </a:solidFill>
              </a:rPr>
              <a:t>CO</a:t>
            </a:r>
            <a:r>
              <a:rPr lang="fr-CH" sz="2933" baseline="-25000" dirty="0">
                <a:solidFill>
                  <a:schemeClr val="tx2"/>
                </a:solidFill>
              </a:rPr>
              <a:t>2</a:t>
            </a:r>
            <a:r>
              <a:rPr lang="fr-CH" sz="2933" dirty="0">
                <a:solidFill>
                  <a:schemeClr val="tx2"/>
                </a:solidFill>
              </a:rPr>
              <a:t>. </a:t>
            </a:r>
            <a:r>
              <a:rPr lang="fr-CH" sz="2933" dirty="0" err="1">
                <a:solidFill>
                  <a:schemeClr val="accent6"/>
                </a:solidFill>
              </a:rPr>
              <a:t>Avoid</a:t>
            </a:r>
            <a:r>
              <a:rPr lang="fr-CH" sz="2933" dirty="0">
                <a:solidFill>
                  <a:schemeClr val="accent6"/>
                </a:solidFill>
              </a:rPr>
              <a:t> to use </a:t>
            </a:r>
            <a:r>
              <a:rPr lang="fr-CH" sz="2933" dirty="0" err="1">
                <a:solidFill>
                  <a:schemeClr val="accent6"/>
                </a:solidFill>
              </a:rPr>
              <a:t>heavy</a:t>
            </a:r>
            <a:r>
              <a:rPr lang="fr-CH" sz="2933" dirty="0">
                <a:solidFill>
                  <a:schemeClr val="accent6"/>
                </a:solidFill>
              </a:rPr>
              <a:t> </a:t>
            </a:r>
            <a:r>
              <a:rPr lang="fr-CH" sz="2933" dirty="0" err="1">
                <a:solidFill>
                  <a:schemeClr val="accent6"/>
                </a:solidFill>
              </a:rPr>
              <a:t>metal</a:t>
            </a:r>
            <a:r>
              <a:rPr lang="fr-CH" sz="2933" dirty="0">
                <a:solidFill>
                  <a:schemeClr val="accent6"/>
                </a:solidFill>
              </a:rPr>
              <a:t> </a:t>
            </a:r>
            <a:r>
              <a:rPr lang="fr-CH" sz="2933" dirty="0" err="1">
                <a:solidFill>
                  <a:schemeClr val="accent6"/>
                </a:solidFill>
              </a:rPr>
              <a:t>uptake</a:t>
            </a:r>
            <a:r>
              <a:rPr lang="fr-CH" sz="2933" dirty="0">
                <a:solidFill>
                  <a:schemeClr val="accent6"/>
                </a:solidFill>
              </a:rPr>
              <a:t> by </a:t>
            </a:r>
            <a:r>
              <a:rPr lang="fr-CH" sz="2933" dirty="0" err="1">
                <a:solidFill>
                  <a:schemeClr val="accent6"/>
                </a:solidFill>
              </a:rPr>
              <a:t>crops</a:t>
            </a:r>
            <a:r>
              <a:rPr lang="fr-CH" sz="2933" dirty="0">
                <a:solidFill>
                  <a:schemeClr val="accent6"/>
                </a:solidFill>
              </a:rPr>
              <a:t>.</a:t>
            </a:r>
            <a:endParaRPr lang="fr-FR" sz="2933" dirty="0"/>
          </a:p>
        </p:txBody>
      </p:sp>
      <p:sp>
        <p:nvSpPr>
          <p:cNvPr id="6" name="Rectangle 3">
            <a:extLst>
              <a:ext uri="{FF2B5EF4-FFF2-40B4-BE49-F238E27FC236}">
                <a16:creationId xmlns:a16="http://schemas.microsoft.com/office/drawing/2014/main" id="{BBB51D37-5439-CB4A-BCC5-4D6DF7EE0D7E}"/>
              </a:ext>
            </a:extLst>
          </p:cNvPr>
          <p:cNvSpPr>
            <a:spLocks noChangeArrowheads="1"/>
          </p:cNvSpPr>
          <p:nvPr/>
        </p:nvSpPr>
        <p:spPr bwMode="auto">
          <a:xfrm>
            <a:off x="1014743" y="1889126"/>
            <a:ext cx="3076810" cy="559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spcAft>
                <a:spcPts val="1000"/>
              </a:spcAft>
              <a:buNone/>
            </a:pPr>
            <a:r>
              <a:rPr lang="en-US" altLang="en-US" sz="2600" b="1" dirty="0">
                <a:solidFill>
                  <a:schemeClr val="accent5"/>
                </a:solidFill>
                <a:latin typeface="Arial" panose="020B0604020202020204" pitchFamily="34" charset="0"/>
                <a:cs typeface="Arial" panose="020B0604020202020204" pitchFamily="34" charset="0"/>
              </a:rPr>
              <a:t>ELECTRICITY:</a:t>
            </a:r>
            <a:r>
              <a:rPr lang="en-US" altLang="en-US" sz="2600" dirty="0">
                <a:latin typeface="Arial" panose="020B0604020202020204" pitchFamily="34" charset="0"/>
                <a:cs typeface="Arial" panose="020B0604020202020204" pitchFamily="34" charset="0"/>
              </a:rPr>
              <a:t/>
            </a:r>
            <a:br>
              <a:rPr lang="en-US" altLang="en-US" sz="2600" dirty="0">
                <a:latin typeface="Arial" panose="020B0604020202020204" pitchFamily="34" charset="0"/>
                <a:cs typeface="Arial" panose="020B0604020202020204" pitchFamily="34" charset="0"/>
              </a:rPr>
            </a:br>
            <a:r>
              <a:rPr lang="fr-CH" sz="2400" dirty="0">
                <a:solidFill>
                  <a:schemeClr val="tx2"/>
                </a:solidFill>
                <a:latin typeface="Arial" panose="020B0604020202020204" pitchFamily="34" charset="0"/>
                <a:cs typeface="Arial" panose="020B0604020202020204" pitchFamily="34" charset="0"/>
              </a:rPr>
              <a:t>select the mix </a:t>
            </a:r>
            <a:r>
              <a:rPr lang="fr-CH" sz="2400" dirty="0" err="1">
                <a:solidFill>
                  <a:schemeClr val="tx2"/>
                </a:solidFill>
                <a:latin typeface="Arial" panose="020B0604020202020204" pitchFamily="34" charset="0"/>
                <a:cs typeface="Arial" panose="020B0604020202020204" pitchFamily="34" charset="0"/>
              </a:rPr>
              <a:t>corresponding</a:t>
            </a:r>
            <a:r>
              <a:rPr lang="fr-CH" sz="2400" dirty="0">
                <a:solidFill>
                  <a:schemeClr val="tx2"/>
                </a:solidFill>
                <a:latin typeface="Arial" panose="020B0604020202020204" pitchFamily="34" charset="0"/>
                <a:cs typeface="Arial" panose="020B0604020202020204" pitchFamily="34" charset="0"/>
              </a:rPr>
              <a:t> to </a:t>
            </a:r>
            <a:r>
              <a:rPr lang="fr-CH" sz="2400" dirty="0" err="1">
                <a:solidFill>
                  <a:schemeClr val="tx2"/>
                </a:solidFill>
                <a:latin typeface="Arial" panose="020B0604020202020204" pitchFamily="34" charset="0"/>
                <a:cs typeface="Arial" panose="020B0604020202020204" pitchFamily="34" charset="0"/>
              </a:rPr>
              <a:t>each</a:t>
            </a:r>
            <a:r>
              <a:rPr lang="fr-CH" sz="2400" dirty="0">
                <a:solidFill>
                  <a:schemeClr val="tx2"/>
                </a:solidFill>
                <a:latin typeface="Arial" panose="020B0604020202020204" pitchFamily="34" charset="0"/>
                <a:cs typeface="Arial" panose="020B0604020202020204" pitchFamily="34" charset="0"/>
              </a:rPr>
              <a:t> scenario</a:t>
            </a:r>
          </a:p>
          <a:p>
            <a:pPr>
              <a:spcBef>
                <a:spcPct val="0"/>
              </a:spcBef>
              <a:spcAft>
                <a:spcPts val="2000"/>
              </a:spcAft>
              <a:buNone/>
            </a:pPr>
            <a:r>
              <a:rPr lang="fr-CH" sz="2400" b="1" dirty="0">
                <a:solidFill>
                  <a:schemeClr val="tx2"/>
                </a:solidFill>
                <a:latin typeface="Arial" panose="020B0604020202020204" pitchFamily="34" charset="0"/>
                <a:cs typeface="Arial" panose="020B0604020202020204" pitchFamily="34" charset="0"/>
              </a:rPr>
              <a:t>Medium voltage </a:t>
            </a:r>
            <a:r>
              <a:rPr lang="fr-CH" sz="2400" dirty="0">
                <a:solidFill>
                  <a:schemeClr val="tx2"/>
                </a:solidFill>
                <a:latin typeface="Arial" panose="020B0604020202020204" pitchFamily="34" charset="0"/>
                <a:cs typeface="Arial" panose="020B0604020202020204" pitchFamily="34" charset="0"/>
              </a:rPr>
              <a:t/>
            </a:r>
            <a:br>
              <a:rPr lang="fr-CH" sz="2400" dirty="0">
                <a:solidFill>
                  <a:schemeClr val="tx2"/>
                </a:solidFill>
                <a:latin typeface="Arial" panose="020B0604020202020204" pitchFamily="34" charset="0"/>
                <a:cs typeface="Arial" panose="020B0604020202020204" pitchFamily="34" charset="0"/>
              </a:rPr>
            </a:br>
            <a:r>
              <a:rPr lang="fr-CH" sz="2400" dirty="0">
                <a:solidFill>
                  <a:schemeClr val="tx2"/>
                </a:solidFill>
                <a:latin typeface="Arial" panose="020B0604020202020204" pitchFamily="34" charset="0"/>
                <a:cs typeface="Arial" panose="020B0604020202020204" pitchFamily="34" charset="0"/>
              </a:rPr>
              <a:t>for </a:t>
            </a:r>
            <a:r>
              <a:rPr lang="fr-CH" sz="2400" dirty="0" err="1">
                <a:solidFill>
                  <a:schemeClr val="tx2"/>
                </a:solidFill>
                <a:latin typeface="Arial" panose="020B0604020202020204" pitchFamily="34" charset="0"/>
                <a:cs typeface="Arial" panose="020B0604020202020204" pitchFamily="34" charset="0"/>
              </a:rPr>
              <a:t>industrial</a:t>
            </a:r>
            <a:r>
              <a:rPr lang="fr-CH" sz="2400" dirty="0">
                <a:solidFill>
                  <a:schemeClr val="tx2"/>
                </a:solidFill>
                <a:latin typeface="Arial" panose="020B0604020202020204" pitchFamily="34" charset="0"/>
                <a:cs typeface="Arial" panose="020B0604020202020204" pitchFamily="34" charset="0"/>
              </a:rPr>
              <a:t> use, </a:t>
            </a:r>
            <a:br>
              <a:rPr lang="fr-CH" sz="2400" dirty="0">
                <a:solidFill>
                  <a:schemeClr val="tx2"/>
                </a:solidFill>
                <a:latin typeface="Arial" panose="020B0604020202020204" pitchFamily="34" charset="0"/>
                <a:cs typeface="Arial" panose="020B0604020202020204" pitchFamily="34" charset="0"/>
              </a:rPr>
            </a:br>
            <a:r>
              <a:rPr lang="fr-CH" sz="2400" b="1" dirty="0" err="1">
                <a:solidFill>
                  <a:schemeClr val="tx2"/>
                </a:solidFill>
                <a:latin typeface="Arial" panose="020B0604020202020204" pitchFamily="34" charset="0"/>
                <a:cs typeface="Arial" panose="020B0604020202020204" pitchFamily="34" charset="0"/>
              </a:rPr>
              <a:t>Low</a:t>
            </a:r>
            <a:r>
              <a:rPr lang="fr-CH" sz="2400" b="1" dirty="0">
                <a:solidFill>
                  <a:schemeClr val="tx2"/>
                </a:solidFill>
                <a:latin typeface="Arial" panose="020B0604020202020204" pitchFamily="34" charset="0"/>
                <a:cs typeface="Arial" panose="020B0604020202020204" pitchFamily="34" charset="0"/>
              </a:rPr>
              <a:t> voltage </a:t>
            </a:r>
            <a:r>
              <a:rPr lang="fr-CH" sz="2400" dirty="0">
                <a:solidFill>
                  <a:schemeClr val="tx2"/>
                </a:solidFill>
                <a:latin typeface="Arial" panose="020B0604020202020204" pitchFamily="34" charset="0"/>
                <a:cs typeface="Arial" panose="020B0604020202020204" pitchFamily="34" charset="0"/>
              </a:rPr>
              <a:t>for </a:t>
            </a:r>
            <a:r>
              <a:rPr lang="fr-CH" sz="2400" dirty="0" err="1">
                <a:solidFill>
                  <a:schemeClr val="tx2"/>
                </a:solidFill>
                <a:latin typeface="Arial" panose="020B0604020202020204" pitchFamily="34" charset="0"/>
                <a:cs typeface="Arial" panose="020B0604020202020204" pitchFamily="34" charset="0"/>
              </a:rPr>
              <a:t>household</a:t>
            </a:r>
            <a:r>
              <a:rPr lang="fr-CH" sz="2400" dirty="0">
                <a:solidFill>
                  <a:schemeClr val="tx2"/>
                </a:solidFill>
                <a:latin typeface="Arial" panose="020B0604020202020204" pitchFamily="34" charset="0"/>
                <a:cs typeface="Arial" panose="020B0604020202020204" pitchFamily="34" charset="0"/>
              </a:rPr>
              <a:t> use</a:t>
            </a:r>
          </a:p>
          <a:p>
            <a:pPr>
              <a:spcBef>
                <a:spcPct val="0"/>
              </a:spcBef>
              <a:spcAft>
                <a:spcPts val="1000"/>
              </a:spcAft>
              <a:buNone/>
            </a:pPr>
            <a:endParaRPr lang="fr-CH" altLang="en-US" sz="2400" dirty="0">
              <a:solidFill>
                <a:schemeClr val="tx2"/>
              </a:solidFill>
              <a:latin typeface="Arial" panose="020B0604020202020204" pitchFamily="34" charset="0"/>
              <a:cs typeface="Arial" panose="020B0604020202020204" pitchFamily="34" charset="0"/>
            </a:endParaRPr>
          </a:p>
          <a:p>
            <a:pPr>
              <a:spcBef>
                <a:spcPct val="0"/>
              </a:spcBef>
              <a:spcAft>
                <a:spcPts val="1000"/>
              </a:spcAft>
              <a:buNone/>
            </a:pPr>
            <a:r>
              <a:rPr lang="en-US" altLang="en-US" sz="2600" b="1" dirty="0">
                <a:solidFill>
                  <a:schemeClr val="accent4"/>
                </a:solidFill>
                <a:latin typeface="Arial" panose="020B0604020202020204" pitchFamily="34" charset="0"/>
                <a:cs typeface="Arial" panose="020B0604020202020204" pitchFamily="34" charset="0"/>
              </a:rPr>
              <a:t>TRANSPORT:</a:t>
            </a:r>
            <a:r>
              <a:rPr lang="en-US" altLang="en-US" sz="2600" dirty="0">
                <a:latin typeface="Arial" panose="020B0604020202020204" pitchFamily="34" charset="0"/>
                <a:cs typeface="Arial" panose="020B0604020202020204" pitchFamily="34" charset="0"/>
              </a:rPr>
              <a:t/>
            </a:r>
            <a:br>
              <a:rPr lang="en-US" altLang="en-US" sz="2600" dirty="0">
                <a:latin typeface="Arial" panose="020B0604020202020204" pitchFamily="34" charset="0"/>
                <a:cs typeface="Arial" panose="020B0604020202020204" pitchFamily="34" charset="0"/>
              </a:rPr>
            </a:br>
            <a:r>
              <a:rPr lang="fr-CH" sz="2400" dirty="0" err="1">
                <a:solidFill>
                  <a:schemeClr val="tx2"/>
                </a:solidFill>
                <a:latin typeface="Arial" panose="020B0604020202020204" pitchFamily="34" charset="0"/>
                <a:cs typeface="Arial" panose="020B0604020202020204" pitchFamily="34" charset="0"/>
              </a:rPr>
              <a:t>beware</a:t>
            </a:r>
            <a:r>
              <a:rPr lang="fr-CH" sz="2400" dirty="0">
                <a:solidFill>
                  <a:schemeClr val="tx2"/>
                </a:solidFill>
                <a:latin typeface="Arial" panose="020B0604020202020204" pitchFamily="34" charset="0"/>
                <a:cs typeface="Arial" panose="020B0604020202020204" pitchFamily="34" charset="0"/>
              </a:rPr>
              <a:t> the </a:t>
            </a:r>
            <a:r>
              <a:rPr lang="fr-CH" sz="2400" dirty="0" err="1">
                <a:solidFill>
                  <a:schemeClr val="tx2"/>
                </a:solidFill>
                <a:latin typeface="Arial" panose="020B0604020202020204" pitchFamily="34" charset="0"/>
                <a:cs typeface="Arial" panose="020B0604020202020204" pitchFamily="34" charset="0"/>
              </a:rPr>
              <a:t>load</a:t>
            </a:r>
            <a:r>
              <a:rPr lang="fr-CH" sz="2400" dirty="0">
                <a:solidFill>
                  <a:schemeClr val="tx2"/>
                </a:solidFill>
                <a:latin typeface="Arial" panose="020B0604020202020204" pitchFamily="34" charset="0"/>
                <a:cs typeface="Arial" panose="020B0604020202020204" pitchFamily="34" charset="0"/>
              </a:rPr>
              <a:t> rate</a:t>
            </a:r>
          </a:p>
          <a:p>
            <a:pPr>
              <a:spcBef>
                <a:spcPct val="0"/>
              </a:spcBef>
              <a:spcAft>
                <a:spcPts val="1000"/>
              </a:spcAft>
              <a:buNone/>
            </a:pPr>
            <a:r>
              <a:rPr lang="fr-CH" sz="2400" i="1" dirty="0">
                <a:solidFill>
                  <a:schemeClr val="accent4"/>
                </a:solidFill>
                <a:latin typeface="Arial" panose="020B0604020202020204" pitchFamily="34" charset="0"/>
                <a:cs typeface="Arial" panose="020B0604020202020204" pitchFamily="34" charset="0"/>
              </a:rPr>
              <a:t>(</a:t>
            </a:r>
            <a:r>
              <a:rPr lang="fr-CH" sz="2400" i="1" dirty="0" err="1">
                <a:solidFill>
                  <a:schemeClr val="accent4"/>
                </a:solidFill>
                <a:latin typeface="Arial" panose="020B0604020202020204" pitchFamily="34" charset="0"/>
                <a:cs typeface="Arial" panose="020B0604020202020204" pitchFamily="34" charset="0"/>
              </a:rPr>
              <a:t>includes</a:t>
            </a:r>
            <a:r>
              <a:rPr lang="fr-CH" sz="2400" i="1" dirty="0">
                <a:solidFill>
                  <a:schemeClr val="accent4"/>
                </a:solidFill>
                <a:latin typeface="Arial" panose="020B0604020202020204" pitchFamily="34" charset="0"/>
                <a:cs typeface="Arial" panose="020B0604020202020204" pitchFamily="34" charset="0"/>
              </a:rPr>
              <a:t> 40% </a:t>
            </a:r>
            <a:r>
              <a:rPr lang="fr-CH" sz="2400" i="1" dirty="0" err="1">
                <a:solidFill>
                  <a:schemeClr val="accent4"/>
                </a:solidFill>
                <a:latin typeface="Arial" panose="020B0604020202020204" pitchFamily="34" charset="0"/>
                <a:cs typeface="Arial" panose="020B0604020202020204" pitchFamily="34" charset="0"/>
              </a:rPr>
              <a:t>empty</a:t>
            </a:r>
            <a:r>
              <a:rPr lang="fr-CH" sz="2400" i="1" dirty="0">
                <a:solidFill>
                  <a:schemeClr val="accent4"/>
                </a:solidFill>
                <a:latin typeface="Arial" panose="020B0604020202020204" pitchFamily="34" charset="0"/>
                <a:cs typeface="Arial" panose="020B0604020202020204" pitchFamily="34" charset="0"/>
              </a:rPr>
              <a:t> trips for trucks)</a:t>
            </a:r>
          </a:p>
        </p:txBody>
      </p:sp>
      <p:cxnSp>
        <p:nvCxnSpPr>
          <p:cNvPr id="7" name="Straight Connector 6">
            <a:extLst>
              <a:ext uri="{FF2B5EF4-FFF2-40B4-BE49-F238E27FC236}">
                <a16:creationId xmlns:a16="http://schemas.microsoft.com/office/drawing/2014/main" id="{933AFA93-4CBF-0349-AF68-B3CC2AEFE227}"/>
              </a:ext>
            </a:extLst>
          </p:cNvPr>
          <p:cNvCxnSpPr>
            <a:cxnSpLocks/>
          </p:cNvCxnSpPr>
          <p:nvPr/>
        </p:nvCxnSpPr>
        <p:spPr>
          <a:xfrm>
            <a:off x="4392178" y="1549831"/>
            <a:ext cx="0" cy="6059837"/>
          </a:xfrm>
          <a:prstGeom prst="line">
            <a:avLst/>
          </a:prstGeom>
          <a:ln w="31750"/>
          <a:effectLst/>
        </p:spPr>
        <p:style>
          <a:lnRef idx="2">
            <a:schemeClr val="accent1"/>
          </a:lnRef>
          <a:fillRef idx="0">
            <a:schemeClr val="accent1"/>
          </a:fillRef>
          <a:effectRef idx="1">
            <a:schemeClr val="accent1"/>
          </a:effectRef>
          <a:fontRef idx="minor">
            <a:schemeClr val="tx1"/>
          </a:fontRef>
        </p:style>
      </p:cxnSp>
      <p:sp>
        <p:nvSpPr>
          <p:cNvPr id="8" name="Rectangle 3">
            <a:extLst>
              <a:ext uri="{FF2B5EF4-FFF2-40B4-BE49-F238E27FC236}">
                <a16:creationId xmlns:a16="http://schemas.microsoft.com/office/drawing/2014/main" id="{0D047A2B-D9C4-A241-8550-C2AAE69D5361}"/>
              </a:ext>
            </a:extLst>
          </p:cNvPr>
          <p:cNvSpPr>
            <a:spLocks noChangeArrowheads="1"/>
          </p:cNvSpPr>
          <p:nvPr/>
        </p:nvSpPr>
        <p:spPr bwMode="auto">
          <a:xfrm>
            <a:off x="4734148" y="1549831"/>
            <a:ext cx="11021242" cy="4155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spcBef>
                <a:spcPct val="0"/>
              </a:spcBef>
              <a:buNone/>
            </a:pPr>
            <a:r>
              <a:rPr lang="en-US" altLang="en-US" sz="2600" b="1" dirty="0">
                <a:solidFill>
                  <a:schemeClr val="tx2"/>
                </a:solidFill>
                <a:latin typeface="Arial" panose="020B0604020202020204" pitchFamily="34" charset="0"/>
                <a:cs typeface="Arial" panose="020B0604020202020204" pitchFamily="34" charset="0"/>
              </a:rPr>
              <a:t>Data in energy sector available in three forms:</a:t>
            </a:r>
          </a:p>
          <a:p>
            <a:pPr>
              <a:spcBef>
                <a:spcPct val="0"/>
              </a:spcBef>
              <a:buNone/>
            </a:pPr>
            <a:endParaRPr lang="en-US" altLang="en-US" sz="2600" b="1" dirty="0">
              <a:solidFill>
                <a:schemeClr val="accent3"/>
              </a:solidFill>
              <a:latin typeface="Arial" panose="020B0604020202020204" pitchFamily="34" charset="0"/>
              <a:cs typeface="Arial" panose="020B0604020202020204" pitchFamily="34" charset="0"/>
            </a:endParaRPr>
          </a:p>
          <a:p>
            <a:pPr marL="609585" indent="-431789">
              <a:spcBef>
                <a:spcPts val="800"/>
              </a:spcBef>
              <a:spcAft>
                <a:spcPts val="800"/>
              </a:spcAft>
              <a:buFontTx/>
              <a:buAutoNum type="alphaLcParenR"/>
              <a:defRPr/>
            </a:pPr>
            <a:r>
              <a:rPr lang="fr-CH" sz="2400" dirty="0" err="1">
                <a:solidFill>
                  <a:schemeClr val="tx2"/>
                </a:solidFill>
                <a:latin typeface="Arial" panose="020B0604020202020204" pitchFamily="34" charset="0"/>
                <a:cs typeface="Arial" panose="020B0604020202020204" pitchFamily="34" charset="0"/>
              </a:rPr>
              <a:t>Energy</a:t>
            </a:r>
            <a:r>
              <a:rPr lang="fr-CH" sz="2400" dirty="0">
                <a:solidFill>
                  <a:schemeClr val="tx2"/>
                </a:solidFill>
                <a:latin typeface="Arial" panose="020B0604020202020204" pitchFamily="34" charset="0"/>
                <a:cs typeface="Arial" panose="020B0604020202020204" pitchFamily="34" charset="0"/>
              </a:rPr>
              <a:t> data </a:t>
            </a:r>
            <a:r>
              <a:rPr lang="fr-CH" sz="2400" b="1" dirty="0">
                <a:solidFill>
                  <a:schemeClr val="accent2"/>
                </a:solidFill>
                <a:latin typeface="Arial" panose="020B0604020202020204" pitchFamily="34" charset="0"/>
                <a:cs typeface="Arial" panose="020B0604020202020204" pitchFamily="34" charset="0"/>
              </a:rPr>
              <a:t>per fuel unit </a:t>
            </a:r>
            <a:r>
              <a:rPr lang="fr-CH" sz="2400" b="1" dirty="0" err="1">
                <a:solidFill>
                  <a:schemeClr val="accent2"/>
                </a:solidFill>
                <a:latin typeface="Arial" panose="020B0604020202020204" pitchFamily="34" charset="0"/>
                <a:cs typeface="Arial" panose="020B0604020202020204" pitchFamily="34" charset="0"/>
              </a:rPr>
              <a:t>quantity</a:t>
            </a:r>
            <a:r>
              <a:rPr lang="fr-CH" sz="2400" dirty="0">
                <a:latin typeface="Arial" panose="020B0604020202020204" pitchFamily="34" charset="0"/>
                <a:cs typeface="Arial" panose="020B0604020202020204" pitchFamily="34" charset="0"/>
              </a:rPr>
              <a:t>, </a:t>
            </a:r>
            <a:br>
              <a:rPr lang="fr-CH" sz="2400" dirty="0">
                <a:latin typeface="Arial" panose="020B0604020202020204" pitchFamily="34" charset="0"/>
                <a:cs typeface="Arial" panose="020B0604020202020204" pitchFamily="34" charset="0"/>
              </a:rPr>
            </a:br>
            <a:r>
              <a:rPr lang="fr-CH" sz="2400" dirty="0" err="1">
                <a:solidFill>
                  <a:schemeClr val="tx2"/>
                </a:solidFill>
                <a:latin typeface="Arial" panose="020B0604020202020204" pitchFamily="34" charset="0"/>
                <a:cs typeface="Arial" panose="020B0604020202020204" pitchFamily="34" charset="0"/>
              </a:rPr>
              <a:t>e.g</a:t>
            </a:r>
            <a:r>
              <a:rPr lang="fr-CH" sz="2400" dirty="0">
                <a:solidFill>
                  <a:schemeClr val="tx2"/>
                </a:solidFill>
                <a:latin typeface="Arial" panose="020B0604020202020204" pitchFamily="34" charset="0"/>
                <a:cs typeface="Arial" panose="020B0604020202020204" pitchFamily="34" charset="0"/>
              </a:rPr>
              <a:t>. per kg </a:t>
            </a:r>
            <a:r>
              <a:rPr lang="fr-CH" sz="2400" dirty="0" err="1">
                <a:solidFill>
                  <a:schemeClr val="tx2"/>
                </a:solidFill>
                <a:latin typeface="Arial" panose="020B0604020202020204" pitchFamily="34" charset="0"/>
                <a:cs typeface="Arial" panose="020B0604020202020204" pitchFamily="34" charset="0"/>
              </a:rPr>
              <a:t>oil</a:t>
            </a:r>
            <a:r>
              <a:rPr lang="fr-CH" sz="2400" dirty="0">
                <a:solidFill>
                  <a:schemeClr val="tx2"/>
                </a:solidFill>
                <a:latin typeface="Arial" panose="020B0604020202020204" pitchFamily="34" charset="0"/>
                <a:cs typeface="Arial" panose="020B0604020202020204" pitchFamily="34" charset="0"/>
              </a:rPr>
              <a:t> or liter </a:t>
            </a:r>
            <a:r>
              <a:rPr lang="fr-CH" sz="2400" dirty="0" err="1">
                <a:solidFill>
                  <a:schemeClr val="tx2"/>
                </a:solidFill>
                <a:latin typeface="Arial" panose="020B0604020202020204" pitchFamily="34" charset="0"/>
                <a:cs typeface="Arial" panose="020B0604020202020204" pitchFamily="34" charset="0"/>
              </a:rPr>
              <a:t>gasoline</a:t>
            </a:r>
            <a:r>
              <a:rPr lang="fr-CH" sz="2400" dirty="0">
                <a:solidFill>
                  <a:schemeClr val="tx2"/>
                </a:solidFill>
                <a:latin typeface="Arial" panose="020B0604020202020204" pitchFamily="34" charset="0"/>
                <a:cs typeface="Arial" panose="020B0604020202020204" pitchFamily="34" charset="0"/>
              </a:rPr>
              <a:t>: </a:t>
            </a:r>
            <a:r>
              <a:rPr lang="fr-CH" sz="2400" dirty="0" err="1">
                <a:solidFill>
                  <a:schemeClr val="accent2"/>
                </a:solidFill>
                <a:latin typeface="Arial" panose="020B0604020202020204" pitchFamily="34" charset="0"/>
                <a:cs typeface="Arial" panose="020B0604020202020204" pitchFamily="34" charset="0"/>
              </a:rPr>
              <a:t>without</a:t>
            </a:r>
            <a:r>
              <a:rPr lang="fr-CH" sz="2400" dirty="0">
                <a:solidFill>
                  <a:schemeClr val="tx2"/>
                </a:solidFill>
                <a:latin typeface="Arial" panose="020B0604020202020204" pitchFamily="34" charset="0"/>
                <a:cs typeface="Arial" panose="020B0604020202020204" pitchFamily="34" charset="0"/>
              </a:rPr>
              <a:t> combustion,</a:t>
            </a:r>
          </a:p>
          <a:p>
            <a:pPr marL="609585" indent="-431789">
              <a:spcBef>
                <a:spcPct val="50000"/>
              </a:spcBef>
              <a:spcAft>
                <a:spcPts val="800"/>
              </a:spcAft>
              <a:buFontTx/>
              <a:buAutoNum type="alphaLcParenR"/>
              <a:defRPr/>
            </a:pPr>
            <a:r>
              <a:rPr lang="fr-CH" sz="2400" dirty="0" err="1">
                <a:solidFill>
                  <a:schemeClr val="tx2"/>
                </a:solidFill>
                <a:latin typeface="Arial" panose="020B0604020202020204" pitchFamily="34" charset="0"/>
                <a:cs typeface="Arial" panose="020B0604020202020204" pitchFamily="34" charset="0"/>
              </a:rPr>
              <a:t>Energy</a:t>
            </a:r>
            <a:r>
              <a:rPr lang="fr-CH" sz="2400" dirty="0">
                <a:latin typeface="Arial" panose="020B0604020202020204" pitchFamily="34" charset="0"/>
                <a:cs typeface="Arial" panose="020B0604020202020204" pitchFamily="34" charset="0"/>
              </a:rPr>
              <a:t> </a:t>
            </a:r>
            <a:r>
              <a:rPr lang="fr-CH" sz="2400" b="1" dirty="0">
                <a:solidFill>
                  <a:schemeClr val="accent4"/>
                </a:solidFill>
                <a:latin typeface="Arial" panose="020B0604020202020204" pitchFamily="34" charset="0"/>
                <a:cs typeface="Arial" panose="020B0604020202020204" pitchFamily="34" charset="0"/>
              </a:rPr>
              <a:t>per MJ final (</a:t>
            </a:r>
            <a:r>
              <a:rPr lang="fr-CH" sz="2400" b="1" dirty="0" err="1">
                <a:solidFill>
                  <a:schemeClr val="accent4"/>
                </a:solidFill>
                <a:latin typeface="Arial" panose="020B0604020202020204" pitchFamily="34" charset="0"/>
                <a:cs typeface="Arial" panose="020B0604020202020204" pitchFamily="34" charset="0"/>
              </a:rPr>
              <a:t>bought</a:t>
            </a:r>
            <a:r>
              <a:rPr lang="fr-CH" sz="2400" b="1" dirty="0">
                <a:solidFill>
                  <a:schemeClr val="accent4"/>
                </a:solidFill>
                <a:latin typeface="Arial" panose="020B0604020202020204" pitchFamily="34" charset="0"/>
                <a:cs typeface="Arial" panose="020B0604020202020204" pitchFamily="34" charset="0"/>
              </a:rPr>
              <a:t>) </a:t>
            </a:r>
            <a:r>
              <a:rPr lang="fr-CH" sz="2400" dirty="0" err="1">
                <a:solidFill>
                  <a:schemeClr val="tx2"/>
                </a:solidFill>
                <a:latin typeface="Arial" panose="020B0604020202020204" pitchFamily="34" charset="0"/>
                <a:cs typeface="Arial" panose="020B0604020202020204" pitchFamily="34" charset="0"/>
              </a:rPr>
              <a:t>energy</a:t>
            </a:r>
            <a:r>
              <a:rPr lang="fr-CH" sz="2400" dirty="0">
                <a:solidFill>
                  <a:schemeClr val="tx2"/>
                </a:solidFill>
                <a:latin typeface="Arial" panose="020B0604020202020204" pitchFamily="34" charset="0"/>
                <a:cs typeface="Arial" panose="020B0604020202020204" pitchFamily="34" charset="0"/>
              </a:rPr>
              <a:t>: </a:t>
            </a:r>
            <a:r>
              <a:rPr lang="fr-CH" sz="2400" b="1" dirty="0">
                <a:solidFill>
                  <a:schemeClr val="tx2"/>
                </a:solidFill>
                <a:latin typeface="Arial" panose="020B0604020202020204" pitchFamily="34" charset="0"/>
                <a:cs typeface="Arial" panose="020B0604020202020204" pitchFamily="34" charset="0"/>
              </a:rPr>
              <a:t>"</a:t>
            </a:r>
            <a:r>
              <a:rPr lang="fr-CH" sz="2400" b="1" dirty="0" err="1">
                <a:solidFill>
                  <a:schemeClr val="accent4"/>
                </a:solidFill>
                <a:latin typeface="Arial" panose="020B0604020202020204" pitchFamily="34" charset="0"/>
                <a:cs typeface="Arial" panose="020B0604020202020204" pitchFamily="34" charset="0"/>
              </a:rPr>
              <a:t>burned</a:t>
            </a:r>
            <a:r>
              <a:rPr lang="fr-CH" sz="2400" b="1" dirty="0">
                <a:solidFill>
                  <a:schemeClr val="tx2"/>
                </a:solidFill>
                <a:latin typeface="Arial" panose="020B0604020202020204" pitchFamily="34" charset="0"/>
                <a:cs typeface="Arial" panose="020B0604020202020204" pitchFamily="34" charset="0"/>
              </a:rPr>
              <a:t>" = </a:t>
            </a:r>
            <a:r>
              <a:rPr lang="fr-CH" sz="2400" b="1" dirty="0" err="1">
                <a:solidFill>
                  <a:schemeClr val="accent4"/>
                </a:solidFill>
                <a:latin typeface="Arial" panose="020B0604020202020204" pitchFamily="34" charset="0"/>
                <a:cs typeface="Arial" panose="020B0604020202020204" pitchFamily="34" charset="0"/>
              </a:rPr>
              <a:t>with</a:t>
            </a:r>
            <a:r>
              <a:rPr lang="fr-CH" sz="2400" b="1" dirty="0">
                <a:solidFill>
                  <a:srgbClr val="FFCC00"/>
                </a:solidFill>
                <a:latin typeface="Arial" panose="020B0604020202020204" pitchFamily="34" charset="0"/>
                <a:cs typeface="Arial" panose="020B0604020202020204" pitchFamily="34" charset="0"/>
              </a:rPr>
              <a:t> </a:t>
            </a:r>
            <a:r>
              <a:rPr lang="fr-CH" sz="2400" b="1" dirty="0">
                <a:solidFill>
                  <a:schemeClr val="tx2"/>
                </a:solidFill>
                <a:latin typeface="Arial" panose="020B0604020202020204" pitchFamily="34" charset="0"/>
                <a:cs typeface="Arial" panose="020B0604020202020204" pitchFamily="34" charset="0"/>
              </a:rPr>
              <a:t>combustion</a:t>
            </a:r>
            <a:r>
              <a:rPr lang="fr-CH" sz="2400" dirty="0">
                <a:solidFill>
                  <a:schemeClr val="tx2"/>
                </a:solidFill>
                <a:latin typeface="Arial" panose="020B0604020202020204" pitchFamily="34" charset="0"/>
                <a:cs typeface="Arial" panose="020B0604020202020204" pitchFamily="34" charset="0"/>
              </a:rPr>
              <a:t/>
            </a:r>
            <a:br>
              <a:rPr lang="fr-CH" sz="2400" dirty="0">
                <a:solidFill>
                  <a:schemeClr val="tx2"/>
                </a:solidFill>
                <a:latin typeface="Arial" panose="020B0604020202020204" pitchFamily="34" charset="0"/>
                <a:cs typeface="Arial" panose="020B0604020202020204" pitchFamily="34" charset="0"/>
              </a:rPr>
            </a:br>
            <a:r>
              <a:rPr lang="fr-CH" sz="2400" dirty="0">
                <a:solidFill>
                  <a:schemeClr val="tx2"/>
                </a:solidFill>
                <a:latin typeface="Arial" panose="020B0604020202020204" pitchFamily="34" charset="0"/>
                <a:cs typeface="Arial" panose="020B0604020202020204" pitchFamily="34" charset="0"/>
              </a:rPr>
              <a:t>Use the net </a:t>
            </a:r>
            <a:r>
              <a:rPr lang="fr-CH" sz="2400" dirty="0" err="1">
                <a:solidFill>
                  <a:schemeClr val="tx2"/>
                </a:solidFill>
                <a:latin typeface="Arial" panose="020B0604020202020204" pitchFamily="34" charset="0"/>
                <a:cs typeface="Arial" panose="020B0604020202020204" pitchFamily="34" charset="0"/>
              </a:rPr>
              <a:t>calorific</a:t>
            </a:r>
            <a:r>
              <a:rPr lang="fr-CH" sz="2400" dirty="0">
                <a:solidFill>
                  <a:schemeClr val="tx2"/>
                </a:solidFill>
                <a:latin typeface="Arial" panose="020B0604020202020204" pitchFamily="34" charset="0"/>
                <a:cs typeface="Arial" panose="020B0604020202020204" pitchFamily="34" charset="0"/>
              </a:rPr>
              <a:t> values to </a:t>
            </a:r>
            <a:r>
              <a:rPr lang="fr-CH" sz="2400" dirty="0" err="1">
                <a:solidFill>
                  <a:schemeClr val="tx2"/>
                </a:solidFill>
                <a:latin typeface="Arial" panose="020B0604020202020204" pitchFamily="34" charset="0"/>
                <a:cs typeface="Arial" panose="020B0604020202020204" pitchFamily="34" charset="0"/>
              </a:rPr>
              <a:t>convert</a:t>
            </a:r>
            <a:r>
              <a:rPr lang="fr-CH" sz="2400" dirty="0">
                <a:solidFill>
                  <a:schemeClr val="tx2"/>
                </a:solidFill>
                <a:latin typeface="Arial" panose="020B0604020202020204" pitchFamily="34" charset="0"/>
                <a:cs typeface="Arial" panose="020B0604020202020204" pitchFamily="34" charset="0"/>
              </a:rPr>
              <a:t> back to fuel </a:t>
            </a:r>
            <a:r>
              <a:rPr lang="fr-CH" sz="2400" dirty="0" err="1">
                <a:solidFill>
                  <a:schemeClr val="tx2"/>
                </a:solidFill>
                <a:latin typeface="Arial" panose="020B0604020202020204" pitchFamily="34" charset="0"/>
                <a:cs typeface="Arial" panose="020B0604020202020204" pitchFamily="34" charset="0"/>
              </a:rPr>
              <a:t>quantities</a:t>
            </a:r>
            <a:r>
              <a:rPr lang="fr-CH" sz="2400" dirty="0">
                <a:solidFill>
                  <a:schemeClr val="tx2"/>
                </a:solidFill>
                <a:latin typeface="Arial" panose="020B0604020202020204" pitchFamily="34" charset="0"/>
                <a:cs typeface="Arial" panose="020B0604020202020204" pitchFamily="34" charset="0"/>
              </a:rPr>
              <a:t> </a:t>
            </a:r>
            <a:br>
              <a:rPr lang="fr-CH" sz="2400" dirty="0">
                <a:solidFill>
                  <a:schemeClr val="tx2"/>
                </a:solidFill>
                <a:latin typeface="Arial" panose="020B0604020202020204" pitchFamily="34" charset="0"/>
                <a:cs typeface="Arial" panose="020B0604020202020204" pitchFamily="34" charset="0"/>
              </a:rPr>
            </a:br>
            <a:r>
              <a:rPr lang="fr-CH" sz="2400" i="1" dirty="0">
                <a:solidFill>
                  <a:schemeClr val="tx2"/>
                </a:solidFill>
                <a:latin typeface="Arial" panose="020B0604020202020204" pitchFamily="34" charset="0"/>
                <a:cs typeface="Arial" panose="020B0604020202020204" pitchFamily="34" charset="0"/>
              </a:rPr>
              <a:t>(kg </a:t>
            </a:r>
            <a:r>
              <a:rPr lang="fr-CH" sz="2400" i="1" dirty="0" err="1">
                <a:solidFill>
                  <a:schemeClr val="tx2"/>
                </a:solidFill>
                <a:latin typeface="Arial" panose="020B0604020202020204" pitchFamily="34" charset="0"/>
                <a:cs typeface="Arial" panose="020B0604020202020204" pitchFamily="34" charset="0"/>
              </a:rPr>
              <a:t>oil</a:t>
            </a:r>
            <a:r>
              <a:rPr lang="fr-CH" sz="2400" i="1" dirty="0">
                <a:solidFill>
                  <a:schemeClr val="tx2"/>
                </a:solidFill>
                <a:latin typeface="Arial" panose="020B0604020202020204" pitchFamily="34" charset="0"/>
                <a:cs typeface="Arial" panose="020B0604020202020204" pitchFamily="34" charset="0"/>
              </a:rPr>
              <a:t>, m</a:t>
            </a:r>
            <a:r>
              <a:rPr lang="fr-CH" sz="2400" i="1" baseline="30000" dirty="0">
                <a:solidFill>
                  <a:schemeClr val="tx2"/>
                </a:solidFill>
                <a:latin typeface="Arial" panose="020B0604020202020204" pitchFamily="34" charset="0"/>
                <a:cs typeface="Arial" panose="020B0604020202020204" pitchFamily="34" charset="0"/>
              </a:rPr>
              <a:t>3</a:t>
            </a:r>
            <a:r>
              <a:rPr lang="fr-CH" sz="2400" i="1" dirty="0">
                <a:solidFill>
                  <a:schemeClr val="tx2"/>
                </a:solidFill>
                <a:latin typeface="Arial" panose="020B0604020202020204" pitchFamily="34" charset="0"/>
                <a:cs typeface="Arial" panose="020B0604020202020204" pitchFamily="34" charset="0"/>
              </a:rPr>
              <a:t> </a:t>
            </a:r>
            <a:r>
              <a:rPr lang="fr-CH" sz="2400" i="1" dirty="0" err="1">
                <a:solidFill>
                  <a:schemeClr val="tx2"/>
                </a:solidFill>
                <a:latin typeface="Arial" panose="020B0604020202020204" pitchFamily="34" charset="0"/>
                <a:cs typeface="Arial" panose="020B0604020202020204" pitchFamily="34" charset="0"/>
              </a:rPr>
              <a:t>gas</a:t>
            </a:r>
            <a:r>
              <a:rPr lang="fr-CH" sz="2400" i="1" dirty="0">
                <a:solidFill>
                  <a:schemeClr val="tx2"/>
                </a:solidFill>
                <a:latin typeface="Arial" panose="020B0604020202020204" pitchFamily="34" charset="0"/>
                <a:cs typeface="Arial" panose="020B0604020202020204" pitchFamily="34" charset="0"/>
              </a:rPr>
              <a:t> or liter </a:t>
            </a:r>
            <a:r>
              <a:rPr lang="fr-CH" sz="2400" i="1" dirty="0" err="1">
                <a:solidFill>
                  <a:schemeClr val="tx2"/>
                </a:solidFill>
                <a:latin typeface="Arial" panose="020B0604020202020204" pitchFamily="34" charset="0"/>
                <a:cs typeface="Arial" panose="020B0604020202020204" pitchFamily="34" charset="0"/>
              </a:rPr>
              <a:t>gasoline</a:t>
            </a:r>
            <a:r>
              <a:rPr lang="fr-CH" sz="2400" i="1" dirty="0">
                <a:solidFill>
                  <a:schemeClr val="tx2"/>
                </a:solidFill>
                <a:latin typeface="Arial" panose="020B0604020202020204" pitchFamily="34" charset="0"/>
                <a:cs typeface="Arial" panose="020B0604020202020204" pitchFamily="34" charset="0"/>
              </a:rPr>
              <a:t>)</a:t>
            </a:r>
          </a:p>
          <a:p>
            <a:pPr marL="609585" indent="-431789">
              <a:spcBef>
                <a:spcPct val="50000"/>
              </a:spcBef>
              <a:buFontTx/>
              <a:buAutoNum type="alphaLcParenR"/>
              <a:defRPr/>
            </a:pPr>
            <a:r>
              <a:rPr lang="fr-CH" sz="2400" dirty="0" err="1">
                <a:solidFill>
                  <a:schemeClr val="tx2"/>
                </a:solidFill>
                <a:latin typeface="Arial" panose="020B0604020202020204" pitchFamily="34" charset="0"/>
                <a:cs typeface="Arial" panose="020B0604020202020204" pitchFamily="34" charset="0"/>
              </a:rPr>
              <a:t>Energy</a:t>
            </a:r>
            <a:r>
              <a:rPr lang="fr-CH" sz="2400" dirty="0">
                <a:solidFill>
                  <a:schemeClr val="tx2"/>
                </a:solidFill>
                <a:latin typeface="Arial" panose="020B0604020202020204" pitchFamily="34" charset="0"/>
                <a:cs typeface="Arial" panose="020B0604020202020204" pitchFamily="34" charset="0"/>
              </a:rPr>
              <a:t> </a:t>
            </a:r>
            <a:r>
              <a:rPr lang="fr-CH" sz="2400" b="1" dirty="0">
                <a:solidFill>
                  <a:schemeClr val="accent3"/>
                </a:solidFill>
                <a:latin typeface="Arial" panose="020B0604020202020204" pitchFamily="34" charset="0"/>
                <a:cs typeface="Arial" panose="020B0604020202020204" pitchFamily="34" charset="0"/>
              </a:rPr>
              <a:t>per MJ </a:t>
            </a:r>
            <a:r>
              <a:rPr lang="fr-CH" sz="2400" b="1" dirty="0" err="1">
                <a:solidFill>
                  <a:schemeClr val="accent3"/>
                </a:solidFill>
                <a:latin typeface="Arial" panose="020B0604020202020204" pitchFamily="34" charset="0"/>
                <a:cs typeface="Arial" panose="020B0604020202020204" pitchFamily="34" charset="0"/>
              </a:rPr>
              <a:t>useful</a:t>
            </a:r>
            <a:r>
              <a:rPr lang="fr-CH" sz="2400" b="1" dirty="0">
                <a:solidFill>
                  <a:schemeClr val="accent3"/>
                </a:solidFill>
                <a:latin typeface="Arial" panose="020B0604020202020204" pitchFamily="34" charset="0"/>
                <a:cs typeface="Arial" panose="020B0604020202020204" pitchFamily="34" charset="0"/>
              </a:rPr>
              <a:t> (</a:t>
            </a:r>
            <a:r>
              <a:rPr lang="fr-CH" sz="2400" b="1" dirty="0" err="1">
                <a:solidFill>
                  <a:schemeClr val="accent3"/>
                </a:solidFill>
                <a:latin typeface="Arial" panose="020B0604020202020204" pitchFamily="34" charset="0"/>
                <a:cs typeface="Arial" panose="020B0604020202020204" pitchFamily="34" charset="0"/>
              </a:rPr>
              <a:t>delivered</a:t>
            </a:r>
            <a:r>
              <a:rPr lang="fr-CH" sz="2400" b="1" dirty="0">
                <a:solidFill>
                  <a:schemeClr val="accent3"/>
                </a:solidFill>
                <a:latin typeface="Arial" panose="020B0604020202020204" pitchFamily="34" charset="0"/>
                <a:cs typeface="Arial" panose="020B0604020202020204" pitchFamily="34" charset="0"/>
              </a:rPr>
              <a:t>)</a:t>
            </a:r>
            <a:r>
              <a:rPr lang="fr-CH" sz="2400" b="1" dirty="0">
                <a:solidFill>
                  <a:schemeClr val="tx2"/>
                </a:solidFill>
                <a:latin typeface="Arial" panose="020B0604020202020204" pitchFamily="34" charset="0"/>
                <a:cs typeface="Arial" panose="020B0604020202020204" pitchFamily="34" charset="0"/>
              </a:rPr>
              <a:t> </a:t>
            </a:r>
            <a:r>
              <a:rPr lang="fr-CH" sz="2400" dirty="0" err="1">
                <a:solidFill>
                  <a:schemeClr val="tx2"/>
                </a:solidFill>
                <a:latin typeface="Arial" panose="020B0604020202020204" pitchFamily="34" charset="0"/>
                <a:cs typeface="Arial" panose="020B0604020202020204" pitchFamily="34" charset="0"/>
              </a:rPr>
              <a:t>energy</a:t>
            </a:r>
            <a:r>
              <a:rPr lang="fr-CH" sz="2400" dirty="0">
                <a:solidFill>
                  <a:schemeClr val="tx2"/>
                </a:solidFill>
                <a:latin typeface="Arial" panose="020B0604020202020204" pitchFamily="34" charset="0"/>
                <a:cs typeface="Arial" panose="020B0604020202020204" pitchFamily="34" charset="0"/>
              </a:rPr>
              <a:t>: </a:t>
            </a:r>
            <a:r>
              <a:rPr lang="fr-CH" sz="2400" b="1" dirty="0">
                <a:solidFill>
                  <a:schemeClr val="tx2"/>
                </a:solidFill>
                <a:latin typeface="Arial" panose="020B0604020202020204" pitchFamily="34" charset="0"/>
                <a:cs typeface="Arial" panose="020B0604020202020204" pitchFamily="34" charset="0"/>
              </a:rPr>
              <a:t>"</a:t>
            </a:r>
            <a:r>
              <a:rPr lang="fr-CH" sz="2400" b="1" dirty="0" err="1">
                <a:solidFill>
                  <a:schemeClr val="accent3"/>
                </a:solidFill>
                <a:latin typeface="Arial" panose="020B0604020202020204" pitchFamily="34" charset="0"/>
                <a:cs typeface="Arial" panose="020B0604020202020204" pitchFamily="34" charset="0"/>
              </a:rPr>
              <a:t>heat</a:t>
            </a:r>
            <a:r>
              <a:rPr lang="fr-CH" sz="2400" b="1" dirty="0">
                <a:solidFill>
                  <a:schemeClr val="tx2"/>
                </a:solidFill>
                <a:latin typeface="Arial" panose="020B0604020202020204" pitchFamily="34" charset="0"/>
                <a:cs typeface="Arial" panose="020B0604020202020204" pitchFamily="34" charset="0"/>
              </a:rPr>
              <a:t>" = </a:t>
            </a:r>
            <a:r>
              <a:rPr lang="fr-CH" sz="2400" b="1" dirty="0" err="1">
                <a:solidFill>
                  <a:schemeClr val="accent3"/>
                </a:solidFill>
                <a:latin typeface="Arial" panose="020B0604020202020204" pitchFamily="34" charset="0"/>
                <a:cs typeface="Arial" panose="020B0604020202020204" pitchFamily="34" charset="0"/>
              </a:rPr>
              <a:t>with</a:t>
            </a:r>
            <a:r>
              <a:rPr lang="fr-CH" sz="2400" b="1" dirty="0">
                <a:solidFill>
                  <a:srgbClr val="FF0000"/>
                </a:solidFill>
                <a:latin typeface="Arial" panose="020B0604020202020204" pitchFamily="34" charset="0"/>
                <a:cs typeface="Arial" panose="020B0604020202020204" pitchFamily="34" charset="0"/>
              </a:rPr>
              <a:t> </a:t>
            </a:r>
            <a:r>
              <a:rPr lang="fr-CH" sz="2400" b="1" dirty="0">
                <a:solidFill>
                  <a:schemeClr val="tx2"/>
                </a:solidFill>
                <a:latin typeface="Arial" panose="020B0604020202020204" pitchFamily="34" charset="0"/>
                <a:cs typeface="Arial" panose="020B0604020202020204" pitchFamily="34" charset="0"/>
              </a:rPr>
              <a:t>combustion</a:t>
            </a:r>
          </a:p>
          <a:p>
            <a:pPr>
              <a:spcBef>
                <a:spcPct val="0"/>
              </a:spcBef>
              <a:buNone/>
            </a:pPr>
            <a:endParaRPr lang="en-US" altLang="en-US" sz="2400" dirty="0">
              <a:solidFill>
                <a:schemeClr val="tx2"/>
              </a:solidFill>
              <a:latin typeface="Arial" panose="020B0604020202020204" pitchFamily="34" charset="0"/>
              <a:cs typeface="Arial" panose="020B0604020202020204" pitchFamily="34" charset="0"/>
            </a:endParaRPr>
          </a:p>
        </p:txBody>
      </p:sp>
      <p:pic>
        <p:nvPicPr>
          <p:cNvPr id="14" name="Picture 13">
            <a:extLst>
              <a:ext uri="{FF2B5EF4-FFF2-40B4-BE49-F238E27FC236}">
                <a16:creationId xmlns:a16="http://schemas.microsoft.com/office/drawing/2014/main" id="{07726F54-19B0-8C4D-BC22-EA6F36DC2FA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flipH="1">
            <a:off x="878783" y="1376193"/>
            <a:ext cx="636614" cy="582047"/>
          </a:xfrm>
          <a:prstGeom prst="rect">
            <a:avLst/>
          </a:prstGeom>
        </p:spPr>
      </p:pic>
      <p:pic>
        <p:nvPicPr>
          <p:cNvPr id="18" name="Picture 17">
            <a:extLst>
              <a:ext uri="{FF2B5EF4-FFF2-40B4-BE49-F238E27FC236}">
                <a16:creationId xmlns:a16="http://schemas.microsoft.com/office/drawing/2014/main" id="{2B073FAD-68D5-0148-8544-B5FDC583A0C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78783" y="5160936"/>
            <a:ext cx="814779" cy="564935"/>
          </a:xfrm>
          <a:prstGeom prst="rect">
            <a:avLst/>
          </a:prstGeom>
        </p:spPr>
      </p:pic>
    </p:spTree>
    <p:extLst>
      <p:ext uri="{BB962C8B-B14F-4D97-AF65-F5344CB8AC3E}">
        <p14:creationId xmlns:p14="http://schemas.microsoft.com/office/powerpoint/2010/main" val="1471624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06F70-B1F2-9C43-96F8-40E7F8CA69AB}"/>
              </a:ext>
            </a:extLst>
          </p:cNvPr>
          <p:cNvSpPr>
            <a:spLocks noGrp="1"/>
          </p:cNvSpPr>
          <p:nvPr>
            <p:ph type="title"/>
          </p:nvPr>
        </p:nvSpPr>
        <p:spPr/>
        <p:txBody>
          <a:bodyPr/>
          <a:lstStyle/>
          <a:p>
            <a:r>
              <a:rPr lang="en-US" altLang="en-US" dirty="0"/>
              <a:t>Use of </a:t>
            </a:r>
            <a:r>
              <a:rPr lang="en-US" altLang="en-US" dirty="0" err="1"/>
              <a:t>ecoinvent</a:t>
            </a:r>
            <a:r>
              <a:rPr lang="en-US" altLang="en-US" dirty="0"/>
              <a:t>: Air emissions interpretation</a:t>
            </a:r>
            <a:endParaRPr lang="en-US" dirty="0"/>
          </a:p>
        </p:txBody>
      </p:sp>
      <p:sp>
        <p:nvSpPr>
          <p:cNvPr id="4" name="Content Placeholder 2">
            <a:extLst>
              <a:ext uri="{FF2B5EF4-FFF2-40B4-BE49-F238E27FC236}">
                <a16:creationId xmlns:a16="http://schemas.microsoft.com/office/drawing/2014/main" id="{A0D09E01-6A29-E64F-BCAE-D2468B9B2D02}"/>
              </a:ext>
            </a:extLst>
          </p:cNvPr>
          <p:cNvSpPr txBox="1">
            <a:spLocks/>
          </p:cNvSpPr>
          <p:nvPr/>
        </p:nvSpPr>
        <p:spPr>
          <a:xfrm>
            <a:off x="878783" y="1532001"/>
            <a:ext cx="14631828" cy="6034616"/>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spcAft>
                <a:spcPts val="800"/>
              </a:spcAft>
              <a:buClr>
                <a:schemeClr val="accent1"/>
              </a:buClr>
              <a:buFont typeface=".Lucida Grande UI Regular"/>
              <a:buChar char="►"/>
            </a:pPr>
            <a:r>
              <a:rPr lang="en-US" altLang="en-US" sz="2600" b="1" dirty="0">
                <a:solidFill>
                  <a:schemeClr val="accent5"/>
                </a:solidFill>
              </a:rPr>
              <a:t>Benzene emissions </a:t>
            </a:r>
            <a:r>
              <a:rPr lang="en-US" altLang="en-US" sz="2600" dirty="0">
                <a:solidFill>
                  <a:schemeClr val="tx2"/>
                </a:solidFill>
              </a:rPr>
              <a:t>are reported under “benzene” rather than “aromatic hydrocarbons” or </a:t>
            </a:r>
            <a:br>
              <a:rPr lang="en-US" altLang="en-US" sz="2600" dirty="0">
                <a:solidFill>
                  <a:schemeClr val="tx2"/>
                </a:solidFill>
              </a:rPr>
            </a:br>
            <a:r>
              <a:rPr lang="en-US" altLang="en-US" sz="2600" dirty="0">
                <a:solidFill>
                  <a:schemeClr val="tx2"/>
                </a:solidFill>
              </a:rPr>
              <a:t>“non-methane volatile organic compounds” (NMVOCs). </a:t>
            </a:r>
          </a:p>
          <a:p>
            <a:pPr marL="457200" indent="-457200">
              <a:spcAft>
                <a:spcPts val="800"/>
              </a:spcAft>
              <a:buClr>
                <a:schemeClr val="accent1"/>
              </a:buClr>
              <a:buFont typeface=".Lucida Grande UI Regular"/>
              <a:buChar char="►"/>
            </a:pPr>
            <a:r>
              <a:rPr lang="en-US" altLang="en-US" sz="2600" b="1" dirty="0">
                <a:solidFill>
                  <a:schemeClr val="accent3"/>
                </a:solidFill>
              </a:rPr>
              <a:t>Particulate emissions </a:t>
            </a:r>
            <a:r>
              <a:rPr lang="en-US" altLang="en-US" sz="2600" dirty="0">
                <a:solidFill>
                  <a:schemeClr val="tx2"/>
                </a:solidFill>
              </a:rPr>
              <a:t>classified between PM</a:t>
            </a:r>
            <a:r>
              <a:rPr lang="en-US" altLang="en-US" sz="2600" baseline="-25000" dirty="0">
                <a:solidFill>
                  <a:schemeClr val="tx2"/>
                </a:solidFill>
              </a:rPr>
              <a:t>2.5</a:t>
            </a:r>
            <a:r>
              <a:rPr lang="en-US" altLang="en-US" sz="2600" dirty="0">
                <a:solidFill>
                  <a:schemeClr val="tx2"/>
                </a:solidFill>
              </a:rPr>
              <a:t> (particles less than 2.5 µm in aerodynamic diameter) , PM</a:t>
            </a:r>
            <a:r>
              <a:rPr lang="en-US" altLang="en-US" sz="2600" baseline="-25000" dirty="0">
                <a:solidFill>
                  <a:schemeClr val="tx2"/>
                </a:solidFill>
              </a:rPr>
              <a:t>10</a:t>
            </a:r>
            <a:r>
              <a:rPr lang="en-US" altLang="en-US" sz="2600" dirty="0">
                <a:solidFill>
                  <a:schemeClr val="tx2"/>
                </a:solidFill>
              </a:rPr>
              <a:t>-PM</a:t>
            </a:r>
            <a:r>
              <a:rPr lang="en-US" altLang="en-US" sz="2600" baseline="-25000" dirty="0">
                <a:solidFill>
                  <a:schemeClr val="tx2"/>
                </a:solidFill>
              </a:rPr>
              <a:t>2.5</a:t>
            </a:r>
            <a:r>
              <a:rPr lang="en-US" altLang="en-US" sz="2600" dirty="0">
                <a:solidFill>
                  <a:schemeClr val="tx2"/>
                </a:solidFill>
              </a:rPr>
              <a:t> and TPM-PM</a:t>
            </a:r>
            <a:r>
              <a:rPr lang="en-US" altLang="en-US" sz="2600" baseline="-25000" dirty="0">
                <a:solidFill>
                  <a:schemeClr val="tx2"/>
                </a:solidFill>
              </a:rPr>
              <a:t>10</a:t>
            </a:r>
            <a:r>
              <a:rPr lang="en-US" altLang="en-US" sz="2600" dirty="0">
                <a:solidFill>
                  <a:schemeClr val="tx2"/>
                </a:solidFill>
              </a:rPr>
              <a:t> (greater than 10 µm). </a:t>
            </a:r>
          </a:p>
          <a:p>
            <a:pPr marL="457200" indent="-457200">
              <a:spcAft>
                <a:spcPts val="800"/>
              </a:spcAft>
              <a:buClr>
                <a:schemeClr val="accent1"/>
              </a:buClr>
              <a:buFont typeface=".Lucida Grande UI Regular"/>
              <a:buChar char="►"/>
            </a:pPr>
            <a:r>
              <a:rPr lang="en-US" altLang="en-US" sz="2600" b="1" dirty="0">
                <a:solidFill>
                  <a:schemeClr val="accent4"/>
                </a:solidFill>
              </a:rPr>
              <a:t>For CO</a:t>
            </a:r>
            <a:r>
              <a:rPr lang="en-US" altLang="en-US" sz="2600" b="1" baseline="-25000" dirty="0">
                <a:solidFill>
                  <a:schemeClr val="accent4"/>
                </a:solidFill>
              </a:rPr>
              <a:t>2</a:t>
            </a:r>
            <a:r>
              <a:rPr lang="en-US" altLang="en-US" sz="2600" b="1" dirty="0">
                <a:solidFill>
                  <a:schemeClr val="accent4"/>
                </a:solidFill>
              </a:rPr>
              <a:t>, CO, and CH</a:t>
            </a:r>
            <a:r>
              <a:rPr lang="en-US" altLang="en-US" sz="2600" b="1" baseline="-25000" dirty="0">
                <a:solidFill>
                  <a:schemeClr val="accent4"/>
                </a:solidFill>
              </a:rPr>
              <a:t>4</a:t>
            </a:r>
            <a:r>
              <a:rPr lang="en-US" altLang="en-US" sz="2600" dirty="0">
                <a:solidFill>
                  <a:schemeClr val="tx2"/>
                </a:solidFill>
              </a:rPr>
              <a:t>, a distinction is made between fossilized sources and biogenic sources in that case CO</a:t>
            </a:r>
            <a:r>
              <a:rPr lang="en-US" altLang="en-US" sz="2600" baseline="-25000" dirty="0">
                <a:solidFill>
                  <a:schemeClr val="tx2"/>
                </a:solidFill>
              </a:rPr>
              <a:t>2</a:t>
            </a:r>
            <a:r>
              <a:rPr lang="en-US" altLang="en-US" sz="2600" dirty="0">
                <a:solidFill>
                  <a:schemeClr val="tx2"/>
                </a:solidFill>
              </a:rPr>
              <a:t> fixed during biomass growth is accounted for </a:t>
            </a:r>
            <a:r>
              <a:rPr lang="en-US" altLang="en-US" sz="2600" dirty="0">
                <a:solidFill>
                  <a:schemeClr val="accent1"/>
                </a:solidFill>
                <a:sym typeface="Wingdings" panose="05000000000000000000" pitchFamily="2" charset="2"/>
              </a:rPr>
              <a:t></a:t>
            </a:r>
            <a:r>
              <a:rPr lang="en-US" altLang="en-US" sz="2600" dirty="0">
                <a:solidFill>
                  <a:schemeClr val="tx2"/>
                </a:solidFill>
              </a:rPr>
              <a:t> special care to ensure that the corresponding combustion of CO</a:t>
            </a:r>
            <a:r>
              <a:rPr lang="en-US" altLang="en-US" sz="2600" baseline="-25000" dirty="0">
                <a:solidFill>
                  <a:schemeClr val="tx2"/>
                </a:solidFill>
              </a:rPr>
              <a:t>2</a:t>
            </a:r>
            <a:r>
              <a:rPr lang="en-US" altLang="en-US" sz="2600" dirty="0">
                <a:solidFill>
                  <a:schemeClr val="tx2"/>
                </a:solidFill>
              </a:rPr>
              <a:t> is also taken into account during use or product end-of-life (</a:t>
            </a:r>
            <a:r>
              <a:rPr lang="en-US" altLang="en-US" sz="2600" dirty="0" err="1">
                <a:solidFill>
                  <a:schemeClr val="tx2"/>
                </a:solidFill>
              </a:rPr>
              <a:t>e,g</a:t>
            </a:r>
            <a:r>
              <a:rPr lang="en-US" altLang="en-US" sz="2600" dirty="0">
                <a:solidFill>
                  <a:schemeClr val="tx2"/>
                </a:solidFill>
              </a:rPr>
              <a:t>, incineration, landfill). A pragmatic solution to ensure reliability is to only account for fossil (non-biogenic) </a:t>
            </a:r>
          </a:p>
          <a:p>
            <a:pPr marL="457200" indent="-457200">
              <a:spcAft>
                <a:spcPts val="800"/>
              </a:spcAft>
              <a:buClr>
                <a:schemeClr val="accent1"/>
              </a:buClr>
              <a:buFont typeface=".Lucida Grande UI Regular"/>
              <a:buChar char="►"/>
            </a:pPr>
            <a:r>
              <a:rPr lang="en-US" altLang="en-US" sz="2600" dirty="0">
                <a:solidFill>
                  <a:schemeClr val="tx2"/>
                </a:solidFill>
              </a:rPr>
              <a:t>For the </a:t>
            </a:r>
            <a:r>
              <a:rPr lang="en-US" altLang="en-US" sz="2600" b="1" dirty="0">
                <a:solidFill>
                  <a:schemeClr val="accent6"/>
                </a:solidFill>
              </a:rPr>
              <a:t>polycyclic aromatic hydrocarbons </a:t>
            </a:r>
            <a:r>
              <a:rPr lang="en-US" altLang="en-US" sz="2600" dirty="0">
                <a:solidFill>
                  <a:schemeClr val="tx2"/>
                </a:solidFill>
              </a:rPr>
              <a:t>(PAHs), benzo[a]pyrene emissions are separate. </a:t>
            </a:r>
          </a:p>
          <a:p>
            <a:pPr marL="457200" indent="-457200">
              <a:spcAft>
                <a:spcPts val="800"/>
              </a:spcAft>
              <a:buClr>
                <a:schemeClr val="accent1"/>
              </a:buClr>
              <a:buFont typeface=".Lucida Grande UI Regular"/>
              <a:buChar char="►"/>
            </a:pPr>
            <a:r>
              <a:rPr lang="en-US" altLang="en-US" sz="2600" dirty="0">
                <a:solidFill>
                  <a:schemeClr val="tx2"/>
                </a:solidFill>
              </a:rPr>
              <a:t>The </a:t>
            </a:r>
            <a:r>
              <a:rPr lang="en-US" altLang="en-US" sz="2600" b="1" dirty="0">
                <a:solidFill>
                  <a:schemeClr val="accent2"/>
                </a:solidFill>
              </a:rPr>
              <a:t>dioxin and furan emissions </a:t>
            </a:r>
            <a:r>
              <a:rPr lang="en-US" altLang="en-US" sz="2600" dirty="0">
                <a:solidFill>
                  <a:schemeClr val="tx2"/>
                </a:solidFill>
              </a:rPr>
              <a:t>are expressed as equivalent </a:t>
            </a:r>
            <a:br>
              <a:rPr lang="en-US" altLang="en-US" sz="2600" dirty="0">
                <a:solidFill>
                  <a:schemeClr val="tx2"/>
                </a:solidFill>
              </a:rPr>
            </a:br>
            <a:r>
              <a:rPr lang="en-US" altLang="en-US" sz="2600" dirty="0">
                <a:solidFill>
                  <a:schemeClr val="tx2"/>
                </a:solidFill>
              </a:rPr>
              <a:t>2,3,7,8-trichloro-dibenzodioxine (TCDD) emissions.</a:t>
            </a:r>
          </a:p>
        </p:txBody>
      </p:sp>
    </p:spTree>
    <p:extLst>
      <p:ext uri="{BB962C8B-B14F-4D97-AF65-F5344CB8AC3E}">
        <p14:creationId xmlns:p14="http://schemas.microsoft.com/office/powerpoint/2010/main" val="79854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A5B4-1E2A-794E-8C9D-B8026ED9B679}"/>
              </a:ext>
            </a:extLst>
          </p:cNvPr>
          <p:cNvSpPr>
            <a:spLocks noGrp="1"/>
          </p:cNvSpPr>
          <p:nvPr>
            <p:ph type="title"/>
          </p:nvPr>
        </p:nvSpPr>
        <p:spPr/>
        <p:txBody>
          <a:bodyPr/>
          <a:lstStyle/>
          <a:p>
            <a:r>
              <a:rPr lang="en-US" altLang="en-US" dirty="0"/>
              <a:t>New features of </a:t>
            </a:r>
            <a:r>
              <a:rPr lang="en-US" altLang="en-US" dirty="0" err="1"/>
              <a:t>ecoinvent</a:t>
            </a:r>
            <a:r>
              <a:rPr lang="en-US" altLang="en-US" dirty="0"/>
              <a:t> 3</a:t>
            </a:r>
            <a:endParaRPr lang="en-US" dirty="0"/>
          </a:p>
        </p:txBody>
      </p:sp>
      <p:sp>
        <p:nvSpPr>
          <p:cNvPr id="4" name="Content Placeholder 2">
            <a:extLst>
              <a:ext uri="{FF2B5EF4-FFF2-40B4-BE49-F238E27FC236}">
                <a16:creationId xmlns:a16="http://schemas.microsoft.com/office/drawing/2014/main" id="{3B7C08F3-A384-494B-95C7-BFD4D298A016}"/>
              </a:ext>
            </a:extLst>
          </p:cNvPr>
          <p:cNvSpPr txBox="1">
            <a:spLocks/>
          </p:cNvSpPr>
          <p:nvPr/>
        </p:nvSpPr>
        <p:spPr>
          <a:xfrm>
            <a:off x="921726" y="1626138"/>
            <a:ext cx="14065136" cy="5084627"/>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200" indent="-457200">
              <a:spcBef>
                <a:spcPts val="0"/>
              </a:spcBef>
              <a:spcAft>
                <a:spcPts val="1600"/>
              </a:spcAft>
              <a:buClr>
                <a:schemeClr val="accent1"/>
              </a:buClr>
              <a:buFont typeface=".Lucida Grande UI Regular"/>
              <a:buChar char="►"/>
            </a:pPr>
            <a:r>
              <a:rPr lang="en-US" altLang="en-US" sz="3000" dirty="0">
                <a:solidFill>
                  <a:schemeClr val="tx2"/>
                </a:solidFill>
              </a:rPr>
              <a:t>Modelling of water flows</a:t>
            </a:r>
          </a:p>
          <a:p>
            <a:pPr marL="457200" indent="-457200">
              <a:spcBef>
                <a:spcPts val="0"/>
              </a:spcBef>
              <a:spcAft>
                <a:spcPts val="1600"/>
              </a:spcAft>
              <a:buClr>
                <a:schemeClr val="accent1"/>
              </a:buClr>
              <a:buFont typeface=".Lucida Grande UI Regular"/>
              <a:buChar char="►"/>
            </a:pPr>
            <a:r>
              <a:rPr lang="en-US" altLang="en-US" sz="3000" dirty="0">
                <a:solidFill>
                  <a:schemeClr val="tx2"/>
                </a:solidFill>
              </a:rPr>
              <a:t>Updated datasets for electricity production (&gt;20 additional countries worldwide), </a:t>
            </a:r>
            <a:br>
              <a:rPr lang="en-US" altLang="en-US" sz="3000" dirty="0">
                <a:solidFill>
                  <a:schemeClr val="tx2"/>
                </a:solidFill>
              </a:rPr>
            </a:br>
            <a:r>
              <a:rPr lang="en-US" altLang="en-US" sz="3000" dirty="0">
                <a:solidFill>
                  <a:schemeClr val="tx2"/>
                </a:solidFill>
              </a:rPr>
              <a:t>wood sector, recycling activities, chemicals, fruit and vegetables.</a:t>
            </a:r>
          </a:p>
          <a:p>
            <a:pPr marL="457200" indent="-457200">
              <a:spcBef>
                <a:spcPts val="0"/>
              </a:spcBef>
              <a:spcAft>
                <a:spcPts val="1600"/>
              </a:spcAft>
              <a:buClr>
                <a:schemeClr val="accent1"/>
              </a:buClr>
              <a:buFont typeface=".Lucida Grande UI Regular"/>
              <a:buChar char="►"/>
            </a:pPr>
            <a:r>
              <a:rPr lang="en-US" altLang="en-US" sz="3000" b="1" dirty="0">
                <a:solidFill>
                  <a:schemeClr val="tx2"/>
                </a:solidFill>
              </a:rPr>
              <a:t>Different modelling strategies: </a:t>
            </a:r>
            <a:r>
              <a:rPr lang="en-US" altLang="en-US" sz="3000" dirty="0">
                <a:solidFill>
                  <a:schemeClr val="accent6"/>
                </a:solidFill>
              </a:rPr>
              <a:t>attributional</a:t>
            </a:r>
            <a:r>
              <a:rPr lang="en-US" altLang="en-US" sz="3000" dirty="0">
                <a:solidFill>
                  <a:schemeClr val="tx2"/>
                </a:solidFill>
              </a:rPr>
              <a:t>, </a:t>
            </a:r>
            <a:r>
              <a:rPr lang="en-US" altLang="en-US" sz="3000" dirty="0">
                <a:solidFill>
                  <a:schemeClr val="accent3"/>
                </a:solidFill>
              </a:rPr>
              <a:t>cut-off</a:t>
            </a:r>
            <a:r>
              <a:rPr lang="en-US" altLang="en-US" sz="3000" dirty="0">
                <a:solidFill>
                  <a:schemeClr val="tx2"/>
                </a:solidFill>
              </a:rPr>
              <a:t> and </a:t>
            </a:r>
            <a:r>
              <a:rPr lang="en-US" altLang="en-US" sz="3000" dirty="0">
                <a:solidFill>
                  <a:schemeClr val="accent2"/>
                </a:solidFill>
              </a:rPr>
              <a:t>consequential </a:t>
            </a:r>
            <a:r>
              <a:rPr lang="en-US" altLang="en-US" sz="3000" dirty="0">
                <a:solidFill>
                  <a:schemeClr val="tx2"/>
                </a:solidFill>
              </a:rPr>
              <a:t>modeling. </a:t>
            </a:r>
          </a:p>
          <a:p>
            <a:pPr marL="457200" indent="-457200">
              <a:spcBef>
                <a:spcPts val="0"/>
              </a:spcBef>
              <a:spcAft>
                <a:spcPts val="1600"/>
              </a:spcAft>
              <a:buClr>
                <a:schemeClr val="accent1"/>
              </a:buClr>
              <a:buFont typeface=".Lucida Grande UI Regular"/>
              <a:buChar char="►"/>
            </a:pPr>
            <a:r>
              <a:rPr lang="en-US" altLang="en-US" sz="3000" dirty="0">
                <a:solidFill>
                  <a:schemeClr val="tx2"/>
                </a:solidFill>
              </a:rPr>
              <a:t>At present </a:t>
            </a:r>
            <a:r>
              <a:rPr lang="en-US" altLang="en-US" sz="3000" i="1" dirty="0">
                <a:solidFill>
                  <a:schemeClr val="accent4"/>
                </a:solidFill>
              </a:rPr>
              <a:t>recommended to use the cut-off version (called “recycled content unit option”). </a:t>
            </a:r>
            <a:r>
              <a:rPr lang="en-US" altLang="en-US" sz="3000" dirty="0">
                <a:solidFill>
                  <a:schemeClr val="tx2"/>
                </a:solidFill>
              </a:rPr>
              <a:t>In the </a:t>
            </a:r>
            <a:r>
              <a:rPr lang="en-US" altLang="en-US" sz="3000" dirty="0">
                <a:solidFill>
                  <a:schemeClr val="accent3"/>
                </a:solidFill>
              </a:rPr>
              <a:t>cut-off model</a:t>
            </a:r>
            <a:r>
              <a:rPr lang="en-US" altLang="en-US" sz="3000" dirty="0">
                <a:solidFill>
                  <a:schemeClr val="tx2"/>
                </a:solidFill>
              </a:rPr>
              <a:t>, the primary producer does not receive any credit for the provision of any recyclable materials. As a consequence, recyclable materials are available burden-free to recycling processes.</a:t>
            </a:r>
          </a:p>
        </p:txBody>
      </p:sp>
      <p:sp>
        <p:nvSpPr>
          <p:cNvPr id="6" name="Rectangle 5">
            <a:extLst>
              <a:ext uri="{FF2B5EF4-FFF2-40B4-BE49-F238E27FC236}">
                <a16:creationId xmlns:a16="http://schemas.microsoft.com/office/drawing/2014/main" id="{87561F56-6493-5744-9CC6-A40F9FB2B535}"/>
              </a:ext>
            </a:extLst>
          </p:cNvPr>
          <p:cNvSpPr/>
          <p:nvPr/>
        </p:nvSpPr>
        <p:spPr>
          <a:xfrm>
            <a:off x="1138700" y="6927743"/>
            <a:ext cx="14328968" cy="58893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en-US" sz="2400" i="1" dirty="0"/>
              <a:t>In the future, allocation at the point of substitution could be of interest… but if separation first applied</a:t>
            </a:r>
          </a:p>
        </p:txBody>
      </p:sp>
    </p:spTree>
    <p:extLst>
      <p:ext uri="{BB962C8B-B14F-4D97-AF65-F5344CB8AC3E}">
        <p14:creationId xmlns:p14="http://schemas.microsoft.com/office/powerpoint/2010/main" val="4114988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2893A-F186-6C4C-A635-C2C8F80EC43A}"/>
              </a:ext>
            </a:extLst>
          </p:cNvPr>
          <p:cNvSpPr>
            <a:spLocks noGrp="1"/>
          </p:cNvSpPr>
          <p:nvPr>
            <p:ph type="title"/>
          </p:nvPr>
        </p:nvSpPr>
        <p:spPr/>
        <p:txBody>
          <a:bodyPr/>
          <a:lstStyle/>
          <a:p>
            <a:r>
              <a:rPr lang="en-US" altLang="en-US" dirty="0"/>
              <a:t>Collecting LCI data</a:t>
            </a:r>
            <a:endParaRPr lang="en-US" dirty="0"/>
          </a:p>
        </p:txBody>
      </p:sp>
      <p:sp>
        <p:nvSpPr>
          <p:cNvPr id="4" name="Content Placeholder 2">
            <a:extLst>
              <a:ext uri="{FF2B5EF4-FFF2-40B4-BE49-F238E27FC236}">
                <a16:creationId xmlns:a16="http://schemas.microsoft.com/office/drawing/2014/main" id="{1BAE0E55-9A0C-3E4C-BEF6-38D7E5DC0E8F}"/>
              </a:ext>
            </a:extLst>
          </p:cNvPr>
          <p:cNvSpPr txBox="1">
            <a:spLocks/>
          </p:cNvSpPr>
          <p:nvPr/>
        </p:nvSpPr>
        <p:spPr>
          <a:xfrm>
            <a:off x="1100625" y="7231951"/>
            <a:ext cx="14409986" cy="422438"/>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r">
              <a:defRPr/>
            </a:pPr>
            <a:r>
              <a:rPr lang="en-US" sz="1400" dirty="0">
                <a:solidFill>
                  <a:schemeClr val="tx1">
                    <a:lumMod val="50000"/>
                    <a:lumOff val="50000"/>
                  </a:schemeClr>
                </a:solidFill>
              </a:rPr>
              <a:t>See </a:t>
            </a:r>
            <a:r>
              <a:rPr lang="en-US" sz="1400" dirty="0" err="1">
                <a:solidFill>
                  <a:schemeClr val="tx1">
                    <a:lumMod val="50000"/>
                    <a:lumOff val="50000"/>
                  </a:schemeClr>
                </a:solidFill>
              </a:rPr>
              <a:t>Sonneman</a:t>
            </a:r>
            <a:r>
              <a:rPr lang="en-US" sz="1400" dirty="0">
                <a:solidFill>
                  <a:schemeClr val="tx1">
                    <a:lumMod val="50000"/>
                    <a:lumOff val="50000"/>
                  </a:schemeClr>
                </a:solidFill>
              </a:rPr>
              <a:t> et al., 2.2.3.1 Global guidance principles</a:t>
            </a:r>
          </a:p>
        </p:txBody>
      </p:sp>
      <p:sp>
        <p:nvSpPr>
          <p:cNvPr id="5" name="Rectangle 4">
            <a:extLst>
              <a:ext uri="{FF2B5EF4-FFF2-40B4-BE49-F238E27FC236}">
                <a16:creationId xmlns:a16="http://schemas.microsoft.com/office/drawing/2014/main" id="{9575EA76-ECB6-144E-AA96-C365EEAEFE79}"/>
              </a:ext>
            </a:extLst>
          </p:cNvPr>
          <p:cNvSpPr/>
          <p:nvPr/>
        </p:nvSpPr>
        <p:spPr>
          <a:xfrm>
            <a:off x="878783" y="1642746"/>
            <a:ext cx="14631828" cy="523220"/>
          </a:xfrm>
          <a:prstGeom prst="rect">
            <a:avLst/>
          </a:prstGeom>
        </p:spPr>
        <p:txBody>
          <a:bodyPr wrap="square">
            <a:spAutoFit/>
          </a:bodyPr>
          <a:lstStyle/>
          <a:p>
            <a:pPr algn="ctr">
              <a:defRPr/>
            </a:pPr>
            <a:r>
              <a:rPr lang="en-US" sz="2800" dirty="0">
                <a:solidFill>
                  <a:schemeClr val="tx2"/>
                </a:solidFill>
              </a:rPr>
              <a:t>The following options for data collection exist, as data collection procedures or sources:</a:t>
            </a:r>
          </a:p>
        </p:txBody>
      </p:sp>
      <p:cxnSp>
        <p:nvCxnSpPr>
          <p:cNvPr id="6" name="Straight Connector 5">
            <a:extLst>
              <a:ext uri="{FF2B5EF4-FFF2-40B4-BE49-F238E27FC236}">
                <a16:creationId xmlns:a16="http://schemas.microsoft.com/office/drawing/2014/main" id="{3D781266-88AC-C047-9E2F-15533CB3EE90}"/>
              </a:ext>
            </a:extLst>
          </p:cNvPr>
          <p:cNvCxnSpPr>
            <a:cxnSpLocks/>
          </p:cNvCxnSpPr>
          <p:nvPr/>
        </p:nvCxnSpPr>
        <p:spPr>
          <a:xfrm>
            <a:off x="6918402" y="2743199"/>
            <a:ext cx="0" cy="4267875"/>
          </a:xfrm>
          <a:prstGeom prst="line">
            <a:avLst/>
          </a:prstGeom>
          <a:ln w="31750"/>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FE6F3EAD-40BB-BD4A-B1D0-F74C3EE6D209}"/>
              </a:ext>
            </a:extLst>
          </p:cNvPr>
          <p:cNvSpPr/>
          <p:nvPr/>
        </p:nvSpPr>
        <p:spPr>
          <a:xfrm>
            <a:off x="1328233" y="4270276"/>
            <a:ext cx="5311201" cy="2677656"/>
          </a:xfrm>
          <a:prstGeom prst="rect">
            <a:avLst/>
          </a:prstGeom>
        </p:spPr>
        <p:txBody>
          <a:bodyPr wrap="square">
            <a:spAutoFit/>
          </a:bodyPr>
          <a:lstStyle/>
          <a:p>
            <a:pPr>
              <a:defRPr/>
            </a:pPr>
            <a:r>
              <a:rPr lang="en-US" sz="2400" b="1" dirty="0">
                <a:solidFill>
                  <a:schemeClr val="accent4"/>
                </a:solidFill>
              </a:rPr>
              <a:t>Primary data can include</a:t>
            </a:r>
          </a:p>
          <a:p>
            <a:pPr>
              <a:defRPr/>
            </a:pPr>
            <a:endParaRPr lang="en-US" sz="2400" dirty="0">
              <a:solidFill>
                <a:schemeClr val="tx2"/>
              </a:solidFill>
            </a:endParaRPr>
          </a:p>
          <a:p>
            <a:pPr>
              <a:defRPr/>
            </a:pPr>
            <a:r>
              <a:rPr lang="en-US" sz="2400" dirty="0">
                <a:solidFill>
                  <a:schemeClr val="tx2"/>
                </a:solidFill>
              </a:rPr>
              <a:t>interviews, questionnaires or surveys, bookkeeping or enterprise, resource planning (ERP) system, data collection tools (online, offline) and on-site measurements.</a:t>
            </a:r>
          </a:p>
        </p:txBody>
      </p:sp>
      <p:cxnSp>
        <p:nvCxnSpPr>
          <p:cNvPr id="14" name="Straight Connector 13">
            <a:extLst>
              <a:ext uri="{FF2B5EF4-FFF2-40B4-BE49-F238E27FC236}">
                <a16:creationId xmlns:a16="http://schemas.microsoft.com/office/drawing/2014/main" id="{257AE4DC-3DE3-A441-9287-0729C2487897}"/>
              </a:ext>
            </a:extLst>
          </p:cNvPr>
          <p:cNvCxnSpPr>
            <a:cxnSpLocks/>
          </p:cNvCxnSpPr>
          <p:nvPr/>
        </p:nvCxnSpPr>
        <p:spPr>
          <a:xfrm>
            <a:off x="10805282" y="2743199"/>
            <a:ext cx="0" cy="4267875"/>
          </a:xfrm>
          <a:prstGeom prst="line">
            <a:avLst/>
          </a:prstGeom>
          <a:ln w="31750"/>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5FFC42DE-F337-834B-BEA7-9D8177E37C7F}"/>
              </a:ext>
            </a:extLst>
          </p:cNvPr>
          <p:cNvSpPr/>
          <p:nvPr/>
        </p:nvSpPr>
        <p:spPr>
          <a:xfrm>
            <a:off x="7268706" y="4270276"/>
            <a:ext cx="3226612" cy="1938992"/>
          </a:xfrm>
          <a:prstGeom prst="rect">
            <a:avLst/>
          </a:prstGeom>
        </p:spPr>
        <p:txBody>
          <a:bodyPr wrap="square">
            <a:spAutoFit/>
          </a:bodyPr>
          <a:lstStyle/>
          <a:p>
            <a:pPr>
              <a:defRPr/>
            </a:pPr>
            <a:r>
              <a:rPr lang="en-US" sz="2400" b="1" dirty="0">
                <a:solidFill>
                  <a:schemeClr val="accent4"/>
                </a:solidFill>
              </a:rPr>
              <a:t>Secondary data can </a:t>
            </a:r>
            <a:br>
              <a:rPr lang="en-US" sz="2400" b="1" dirty="0">
                <a:solidFill>
                  <a:schemeClr val="accent4"/>
                </a:solidFill>
              </a:rPr>
            </a:br>
            <a:r>
              <a:rPr lang="en-US" sz="2400" b="1" dirty="0">
                <a:solidFill>
                  <a:schemeClr val="accent4"/>
                </a:solidFill>
              </a:rPr>
              <a:t>include</a:t>
            </a:r>
          </a:p>
          <a:p>
            <a:pPr>
              <a:defRPr/>
            </a:pPr>
            <a:endParaRPr lang="en-US" sz="2400" dirty="0">
              <a:solidFill>
                <a:schemeClr val="tx2"/>
              </a:solidFill>
            </a:endParaRPr>
          </a:p>
          <a:p>
            <a:pPr>
              <a:defRPr/>
            </a:pPr>
            <a:r>
              <a:rPr lang="en-US" sz="2400" dirty="0">
                <a:solidFill>
                  <a:schemeClr val="tx2"/>
                </a:solidFill>
              </a:rPr>
              <a:t>interviews, statistics</a:t>
            </a:r>
            <a:br>
              <a:rPr lang="en-US" sz="2400" dirty="0">
                <a:solidFill>
                  <a:schemeClr val="tx2"/>
                </a:solidFill>
              </a:rPr>
            </a:br>
            <a:r>
              <a:rPr lang="en-US" sz="2400" dirty="0">
                <a:solidFill>
                  <a:schemeClr val="tx2"/>
                </a:solidFill>
              </a:rPr>
              <a:t>and literature</a:t>
            </a:r>
          </a:p>
        </p:txBody>
      </p:sp>
      <p:sp>
        <p:nvSpPr>
          <p:cNvPr id="16" name="Rectangle 15">
            <a:extLst>
              <a:ext uri="{FF2B5EF4-FFF2-40B4-BE49-F238E27FC236}">
                <a16:creationId xmlns:a16="http://schemas.microsoft.com/office/drawing/2014/main" id="{FDE68B37-DC5C-594B-93B7-0A4105FEC871}"/>
              </a:ext>
            </a:extLst>
          </p:cNvPr>
          <p:cNvSpPr/>
          <p:nvPr/>
        </p:nvSpPr>
        <p:spPr>
          <a:xfrm>
            <a:off x="11084251" y="4270276"/>
            <a:ext cx="4426360" cy="2308324"/>
          </a:xfrm>
          <a:prstGeom prst="rect">
            <a:avLst/>
          </a:prstGeom>
        </p:spPr>
        <p:txBody>
          <a:bodyPr wrap="square">
            <a:spAutoFit/>
          </a:bodyPr>
          <a:lstStyle/>
          <a:p>
            <a:pPr>
              <a:defRPr/>
            </a:pPr>
            <a:r>
              <a:rPr lang="en-US" sz="2400" b="1" dirty="0">
                <a:solidFill>
                  <a:schemeClr val="accent4"/>
                </a:solidFill>
              </a:rPr>
              <a:t>Data generation can include</a:t>
            </a:r>
          </a:p>
          <a:p>
            <a:pPr>
              <a:defRPr/>
            </a:pPr>
            <a:endParaRPr lang="en-US" sz="2400" dirty="0">
              <a:solidFill>
                <a:schemeClr val="tx2"/>
              </a:solidFill>
            </a:endParaRPr>
          </a:p>
          <a:p>
            <a:pPr>
              <a:defRPr/>
            </a:pPr>
            <a:r>
              <a:rPr lang="en-US" sz="2400" dirty="0">
                <a:solidFill>
                  <a:schemeClr val="tx2"/>
                </a:solidFill>
              </a:rPr>
              <a:t>calculations (e.g., missing emission factors from input data) and estimates.</a:t>
            </a:r>
          </a:p>
          <a:p>
            <a:pPr>
              <a:defRPr/>
            </a:pPr>
            <a:endParaRPr lang="en-US" sz="2400" dirty="0">
              <a:solidFill>
                <a:schemeClr val="tx2"/>
              </a:solidFill>
            </a:endParaRPr>
          </a:p>
        </p:txBody>
      </p:sp>
      <p:pic>
        <p:nvPicPr>
          <p:cNvPr id="17" name="Picture 16">
            <a:extLst>
              <a:ext uri="{FF2B5EF4-FFF2-40B4-BE49-F238E27FC236}">
                <a16:creationId xmlns:a16="http://schemas.microsoft.com/office/drawing/2014/main" id="{B0F43149-2C58-7248-8162-596398C81BA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885765" y="2743199"/>
            <a:ext cx="1393311" cy="1227311"/>
          </a:xfrm>
          <a:prstGeom prst="rect">
            <a:avLst/>
          </a:prstGeom>
        </p:spPr>
      </p:pic>
      <p:pic>
        <p:nvPicPr>
          <p:cNvPr id="18" name="Picture 17">
            <a:extLst>
              <a:ext uri="{FF2B5EF4-FFF2-40B4-BE49-F238E27FC236}">
                <a16:creationId xmlns:a16="http://schemas.microsoft.com/office/drawing/2014/main" id="{DB5D1D6A-6D5D-AB44-B468-36350942ED1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224293" y="2759151"/>
            <a:ext cx="1275099" cy="1195405"/>
          </a:xfrm>
          <a:prstGeom prst="rect">
            <a:avLst/>
          </a:prstGeom>
        </p:spPr>
      </p:pic>
      <p:pic>
        <p:nvPicPr>
          <p:cNvPr id="19" name="Picture 18">
            <a:extLst>
              <a:ext uri="{FF2B5EF4-FFF2-40B4-BE49-F238E27FC236}">
                <a16:creationId xmlns:a16="http://schemas.microsoft.com/office/drawing/2014/main" id="{1C4695F2-013C-B041-BC40-1723233FD2B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3343" y="2759151"/>
            <a:ext cx="1168176" cy="1245369"/>
          </a:xfrm>
          <a:prstGeom prst="rect">
            <a:avLst/>
          </a:prstGeom>
        </p:spPr>
      </p:pic>
    </p:spTree>
    <p:extLst>
      <p:ext uri="{BB962C8B-B14F-4D97-AF65-F5344CB8AC3E}">
        <p14:creationId xmlns:p14="http://schemas.microsoft.com/office/powerpoint/2010/main" val="4149670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EAE6F-986F-E447-94D2-238FE37036CA}"/>
              </a:ext>
            </a:extLst>
          </p:cNvPr>
          <p:cNvSpPr>
            <a:spLocks noGrp="1"/>
          </p:cNvSpPr>
          <p:nvPr>
            <p:ph type="title"/>
          </p:nvPr>
        </p:nvSpPr>
        <p:spPr/>
        <p:txBody>
          <a:bodyPr/>
          <a:lstStyle/>
          <a:p>
            <a:r>
              <a:rPr lang="en-US" dirty="0">
                <a:solidFill>
                  <a:schemeClr val="tx2"/>
                </a:solidFill>
              </a:rPr>
              <a:t>Data collection: focus on the foreground system</a:t>
            </a:r>
          </a:p>
        </p:txBody>
      </p:sp>
      <p:sp>
        <p:nvSpPr>
          <p:cNvPr id="4" name="Content Placeholder 2">
            <a:extLst>
              <a:ext uri="{FF2B5EF4-FFF2-40B4-BE49-F238E27FC236}">
                <a16:creationId xmlns:a16="http://schemas.microsoft.com/office/drawing/2014/main" id="{A74388C1-F8FA-B044-9CFD-93A40A2C3668}"/>
              </a:ext>
            </a:extLst>
          </p:cNvPr>
          <p:cNvSpPr txBox="1">
            <a:spLocks/>
          </p:cNvSpPr>
          <p:nvPr/>
        </p:nvSpPr>
        <p:spPr>
          <a:xfrm>
            <a:off x="916930" y="1430742"/>
            <a:ext cx="14379234" cy="2598817"/>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800" b="1" dirty="0">
                <a:solidFill>
                  <a:schemeClr val="tx2"/>
                </a:solidFill>
              </a:rPr>
              <a:t>Whenever possible, </a:t>
            </a:r>
            <a:r>
              <a:rPr lang="en-US" sz="2800" dirty="0">
                <a:solidFill>
                  <a:schemeClr val="tx2"/>
                </a:solidFill>
              </a:rPr>
              <a:t>primary data shall be collected for all foreground processes and significant background processes under the financial control or operational control of the company undertaking the product inventory. For all other processes, data of the highest quality shall be collected.</a:t>
            </a:r>
          </a:p>
          <a:p>
            <a:r>
              <a:rPr lang="en-US" sz="2800" dirty="0">
                <a:solidFill>
                  <a:schemeClr val="tx2"/>
                </a:solidFill>
              </a:rPr>
              <a:t>This can be achieved by extrapolation, adapting a similar (but not representative) process to match the considered process, or by simply using a similar process as a proxy.</a:t>
            </a:r>
          </a:p>
        </p:txBody>
      </p:sp>
      <p:sp>
        <p:nvSpPr>
          <p:cNvPr id="5" name="Content Placeholder 2">
            <a:extLst>
              <a:ext uri="{FF2B5EF4-FFF2-40B4-BE49-F238E27FC236}">
                <a16:creationId xmlns:a16="http://schemas.microsoft.com/office/drawing/2014/main" id="{93A27473-6424-A74E-BA01-E52183127DAB}"/>
              </a:ext>
            </a:extLst>
          </p:cNvPr>
          <p:cNvSpPr txBox="1">
            <a:spLocks/>
          </p:cNvSpPr>
          <p:nvPr/>
        </p:nvSpPr>
        <p:spPr>
          <a:xfrm>
            <a:off x="878783" y="7103326"/>
            <a:ext cx="14553571" cy="527807"/>
          </a:xfrm>
          <a:prstGeom prst="rect">
            <a:avLst/>
          </a:prstGeom>
        </p:spPr>
        <p:txBody>
          <a:bodyPr/>
          <a:lst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i="1" dirty="0" err="1">
                <a:solidFill>
                  <a:schemeClr val="tx2"/>
                </a:solidFill>
              </a:rPr>
              <a:t>Sonnemann</a:t>
            </a:r>
            <a:r>
              <a:rPr lang="en-US" sz="2400" i="1" dirty="0">
                <a:solidFill>
                  <a:schemeClr val="tx2"/>
                </a:solidFill>
              </a:rPr>
              <a:t> and </a:t>
            </a:r>
            <a:r>
              <a:rPr lang="en-US" sz="2400" i="1" dirty="0" err="1">
                <a:solidFill>
                  <a:schemeClr val="tx2"/>
                </a:solidFill>
              </a:rPr>
              <a:t>Vigon</a:t>
            </a:r>
            <a:r>
              <a:rPr lang="en-US" sz="2400" i="1" dirty="0">
                <a:solidFill>
                  <a:schemeClr val="tx2"/>
                </a:solidFill>
              </a:rPr>
              <a:t> (2011) provide additional guidance on how to collect data for a given unit process.</a:t>
            </a:r>
          </a:p>
        </p:txBody>
      </p:sp>
      <p:sp>
        <p:nvSpPr>
          <p:cNvPr id="6" name="Rectangle 5">
            <a:extLst>
              <a:ext uri="{FF2B5EF4-FFF2-40B4-BE49-F238E27FC236}">
                <a16:creationId xmlns:a16="http://schemas.microsoft.com/office/drawing/2014/main" id="{B26241DC-13A7-404A-8C58-162D40E1D7CD}"/>
              </a:ext>
            </a:extLst>
          </p:cNvPr>
          <p:cNvSpPr/>
          <p:nvPr/>
        </p:nvSpPr>
        <p:spPr>
          <a:xfrm>
            <a:off x="1713496" y="4540944"/>
            <a:ext cx="12786101" cy="2246769"/>
          </a:xfrm>
          <a:prstGeom prst="rect">
            <a:avLst/>
          </a:prstGeom>
        </p:spPr>
        <p:txBody>
          <a:bodyPr wrap="square">
            <a:spAutoFit/>
          </a:bodyPr>
          <a:lstStyle/>
          <a:p>
            <a:pPr marL="0" lvl="1">
              <a:spcAft>
                <a:spcPts val="800"/>
              </a:spcAft>
            </a:pPr>
            <a:r>
              <a:rPr lang="en-US" sz="2400" dirty="0">
                <a:solidFill>
                  <a:schemeClr val="tx2"/>
                </a:solidFill>
              </a:rPr>
              <a:t>As suggested by the </a:t>
            </a:r>
            <a:r>
              <a:rPr lang="en-US" sz="2400" b="1" dirty="0">
                <a:solidFill>
                  <a:schemeClr val="accent3"/>
                </a:solidFill>
              </a:rPr>
              <a:t>greenhouse gas protocol </a:t>
            </a:r>
            <a:r>
              <a:rPr lang="en-US" sz="2400" i="1" dirty="0">
                <a:solidFill>
                  <a:schemeClr val="tx2"/>
                </a:solidFill>
              </a:rPr>
              <a:t>(WRI and WBCSD 2011, appendix C), </a:t>
            </a:r>
            <a:br>
              <a:rPr lang="en-US" sz="2400" i="1" dirty="0">
                <a:solidFill>
                  <a:schemeClr val="tx2"/>
                </a:solidFill>
              </a:rPr>
            </a:br>
            <a:r>
              <a:rPr lang="en-US" sz="2400" dirty="0">
                <a:solidFill>
                  <a:schemeClr val="tx2"/>
                </a:solidFill>
              </a:rPr>
              <a:t>it may be useful to establish a management plan, </a:t>
            </a:r>
          </a:p>
          <a:p>
            <a:pPr marL="457200" lvl="1" indent="-457200">
              <a:spcAft>
                <a:spcPts val="800"/>
              </a:spcAft>
              <a:buClr>
                <a:schemeClr val="accent3"/>
              </a:buClr>
              <a:buFont typeface="+mj-lt"/>
              <a:buAutoNum type="alphaUcPeriod"/>
            </a:pPr>
            <a:r>
              <a:rPr lang="en-US" sz="2400" b="1" dirty="0">
                <a:solidFill>
                  <a:schemeClr val="tx2"/>
                </a:solidFill>
              </a:rPr>
              <a:t> </a:t>
            </a:r>
            <a:r>
              <a:rPr lang="en-US" sz="2400" dirty="0">
                <a:solidFill>
                  <a:schemeClr val="tx2"/>
                </a:solidFill>
              </a:rPr>
              <a:t>identifying all unit processes, </a:t>
            </a:r>
          </a:p>
          <a:p>
            <a:pPr marL="457200" lvl="1" indent="-457200">
              <a:spcAft>
                <a:spcPts val="800"/>
              </a:spcAft>
              <a:buClr>
                <a:schemeClr val="accent3"/>
              </a:buClr>
              <a:buFont typeface="+mj-lt"/>
              <a:buAutoNum type="alphaUcPeriod"/>
            </a:pPr>
            <a:r>
              <a:rPr lang="en-US" sz="2400" b="1" dirty="0">
                <a:solidFill>
                  <a:schemeClr val="tx2"/>
                </a:solidFill>
              </a:rPr>
              <a:t> </a:t>
            </a:r>
            <a:r>
              <a:rPr lang="en-US" sz="2400" dirty="0">
                <a:solidFill>
                  <a:schemeClr val="tx2"/>
                </a:solidFill>
              </a:rPr>
              <a:t>collecting screening data for all processes, and </a:t>
            </a:r>
          </a:p>
          <a:p>
            <a:pPr marL="457200" lvl="1" indent="-457200">
              <a:buClr>
                <a:schemeClr val="accent3"/>
              </a:buClr>
              <a:buFont typeface="+mj-lt"/>
              <a:buAutoNum type="alphaUcPeriod"/>
            </a:pPr>
            <a:r>
              <a:rPr lang="en-US" sz="2400" b="1" dirty="0">
                <a:solidFill>
                  <a:schemeClr val="tx2"/>
                </a:solidFill>
              </a:rPr>
              <a:t> </a:t>
            </a:r>
            <a:r>
              <a:rPr lang="en-US" sz="2400" dirty="0">
                <a:solidFill>
                  <a:schemeClr val="tx2"/>
                </a:solidFill>
              </a:rPr>
              <a:t>refining the data collection for the processes contributing most to the Life Cycle Impacts.</a:t>
            </a:r>
          </a:p>
        </p:txBody>
      </p:sp>
      <p:sp>
        <p:nvSpPr>
          <p:cNvPr id="7" name="Rectangle 6">
            <a:extLst>
              <a:ext uri="{FF2B5EF4-FFF2-40B4-BE49-F238E27FC236}">
                <a16:creationId xmlns:a16="http://schemas.microsoft.com/office/drawing/2014/main" id="{1158731B-66F0-9446-836D-81D3D9A5858A}"/>
              </a:ext>
            </a:extLst>
          </p:cNvPr>
          <p:cNvSpPr/>
          <p:nvPr/>
        </p:nvSpPr>
        <p:spPr>
          <a:xfrm>
            <a:off x="1429689" y="4473290"/>
            <a:ext cx="13353714" cy="2458695"/>
          </a:xfrm>
          <a:prstGeom prst="rect">
            <a:avLst/>
          </a:prstGeom>
          <a:noFill/>
          <a:ln w="317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7161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439A4-B037-4F4E-AFCE-96000C7C1237}"/>
              </a:ext>
            </a:extLst>
          </p:cNvPr>
          <p:cNvSpPr>
            <a:spLocks noGrp="1"/>
          </p:cNvSpPr>
          <p:nvPr>
            <p:ph type="title"/>
          </p:nvPr>
        </p:nvSpPr>
        <p:spPr>
          <a:xfrm>
            <a:off x="812880" y="279400"/>
            <a:ext cx="14631828" cy="870385"/>
          </a:xfrm>
        </p:spPr>
        <p:txBody>
          <a:bodyPr/>
          <a:lstStyle/>
          <a:p>
            <a:r>
              <a:rPr lang="en-US" altLang="en-US" dirty="0">
                <a:solidFill>
                  <a:schemeClr val="tx2"/>
                </a:solidFill>
              </a:rPr>
              <a:t>Summary</a:t>
            </a:r>
            <a:endParaRPr lang="en-US" sz="2800" dirty="0">
              <a:solidFill>
                <a:schemeClr val="tx2"/>
              </a:solidFill>
            </a:endParaRPr>
          </a:p>
        </p:txBody>
      </p:sp>
      <p:sp>
        <p:nvSpPr>
          <p:cNvPr id="8" name="Text Placeholder 2">
            <a:extLst>
              <a:ext uri="{FF2B5EF4-FFF2-40B4-BE49-F238E27FC236}">
                <a16:creationId xmlns:a16="http://schemas.microsoft.com/office/drawing/2014/main" id="{1860404C-E3DD-DB44-9F60-421612D67065}"/>
              </a:ext>
            </a:extLst>
          </p:cNvPr>
          <p:cNvSpPr>
            <a:spLocks noGrp="1"/>
          </p:cNvSpPr>
          <p:nvPr>
            <p:ph type="body" sz="quarter" idx="10"/>
          </p:nvPr>
        </p:nvSpPr>
        <p:spPr>
          <a:xfrm>
            <a:off x="880211" y="1783975"/>
            <a:ext cx="14630400" cy="5810193"/>
          </a:xfrm>
        </p:spPr>
        <p:txBody>
          <a:bodyPr>
            <a:normAutofit/>
          </a:bodyPr>
          <a:lstStyle/>
          <a:p>
            <a:pPr marL="693738" indent="-681038">
              <a:spcAft>
                <a:spcPts val="1200"/>
              </a:spcAft>
              <a:buClr>
                <a:schemeClr val="accent1"/>
              </a:buClr>
              <a:buFont typeface="Arial Bold"/>
              <a:buChar char="►"/>
            </a:pPr>
            <a:r>
              <a:rPr lang="en-US" altLang="en-US" dirty="0"/>
              <a:t>Availability of LCI data has made the realization of an LCA substantially easier, enabling the practitioner to focus on the foreground system</a:t>
            </a:r>
          </a:p>
          <a:p>
            <a:pPr marL="693738" indent="-681038">
              <a:spcAft>
                <a:spcPts val="3200"/>
              </a:spcAft>
              <a:buClr>
                <a:schemeClr val="accent1"/>
              </a:buClr>
              <a:buFont typeface="Arial Bold"/>
              <a:buChar char="►"/>
            </a:pPr>
            <a:r>
              <a:rPr lang="en-US" dirty="0"/>
              <a:t>Consistency between background data (e.g. electricity mix) is key </a:t>
            </a:r>
            <a:br>
              <a:rPr lang="en-US" dirty="0"/>
            </a:br>
            <a:r>
              <a:rPr lang="en-US" dirty="0"/>
              <a:t>when comparing different products</a:t>
            </a:r>
          </a:p>
          <a:p>
            <a:pPr marL="693738" indent="-681038">
              <a:spcAft>
                <a:spcPts val="3200"/>
              </a:spcAft>
              <a:buClr>
                <a:schemeClr val="accent1"/>
              </a:buClr>
              <a:buFont typeface="Arial Bold"/>
              <a:buChar char="►"/>
            </a:pPr>
            <a:r>
              <a:rPr lang="en-US" dirty="0"/>
              <a:t>Care must be take when using </a:t>
            </a:r>
            <a:r>
              <a:rPr lang="en-US" dirty="0" err="1"/>
              <a:t>ecoinvent</a:t>
            </a:r>
            <a:r>
              <a:rPr lang="en-US" dirty="0"/>
              <a:t> data to recognize what type of energy and resource use is has been modelled for a given process</a:t>
            </a:r>
          </a:p>
          <a:p>
            <a:pPr marL="693738" indent="-681038">
              <a:spcAft>
                <a:spcPts val="3200"/>
              </a:spcAft>
              <a:buClr>
                <a:schemeClr val="accent1"/>
              </a:buClr>
              <a:buFont typeface="Arial Bold"/>
              <a:buChar char="►"/>
            </a:pPr>
            <a:r>
              <a:rPr lang="en-US" dirty="0"/>
              <a:t>Direct LCI data collection is hard work!</a:t>
            </a:r>
          </a:p>
        </p:txBody>
      </p:sp>
    </p:spTree>
    <p:extLst>
      <p:ext uri="{BB962C8B-B14F-4D97-AF65-F5344CB8AC3E}">
        <p14:creationId xmlns:p14="http://schemas.microsoft.com/office/powerpoint/2010/main" val="3416137914"/>
      </p:ext>
    </p:extLst>
  </p:cSld>
  <p:clrMapOvr>
    <a:masterClrMapping/>
  </p:clrMapOvr>
</p:sld>
</file>

<file path=ppt/theme/theme1.xml><?xml version="1.0" encoding="utf-8"?>
<a:theme xmlns:a="http://schemas.openxmlformats.org/drawingml/2006/main" name="Title slide option 2">
  <a:themeElements>
    <a:clrScheme name="SPH brand colors">
      <a:dk1>
        <a:srgbClr val="00274C"/>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Notes (not to be shown in vide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AI_PPT_Template_2.potx</Template>
  <TotalTime>18879</TotalTime>
  <Words>1723</Words>
  <Application>Microsoft Office PowerPoint</Application>
  <PresentationFormat>Custom</PresentationFormat>
  <Paragraphs>216</Paragraphs>
  <Slides>21</Slides>
  <Notes>12</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21</vt:i4>
      </vt:variant>
    </vt:vector>
  </HeadingPairs>
  <TitlesOfParts>
    <vt:vector size="35" baseType="lpstr">
      <vt:lpstr>ＭＳ Ｐゴシック</vt:lpstr>
      <vt:lpstr>.Lucida Grande UI Regular</vt:lpstr>
      <vt:lpstr>Arial</vt:lpstr>
      <vt:lpstr>Arial Bold</vt:lpstr>
      <vt:lpstr>Calibri</vt:lpstr>
      <vt:lpstr>Cambria Math</vt:lpstr>
      <vt:lpstr>Courier New</vt:lpstr>
      <vt:lpstr>Times New Roman</vt:lpstr>
      <vt:lpstr>Wingdings</vt:lpstr>
      <vt:lpstr>Title slide option 2</vt:lpstr>
      <vt:lpstr>Content slide (shown in video)</vt:lpstr>
      <vt:lpstr>2_Content slide (shown in video)</vt:lpstr>
      <vt:lpstr>3_Content slide (shown in video)</vt:lpstr>
      <vt:lpstr>Notes (not to be shown in video)</vt:lpstr>
      <vt:lpstr>PowerPoint Presentation</vt:lpstr>
      <vt:lpstr>Learning Objectives</vt:lpstr>
      <vt:lpstr>Main LCI database</vt:lpstr>
      <vt:lpstr>LCI Data</vt:lpstr>
      <vt:lpstr>Global LCA Data Access network (GLAD)</vt:lpstr>
      <vt:lpstr>Main LCI databases</vt:lpstr>
      <vt:lpstr>The Ecoinvent database</vt:lpstr>
      <vt:lpstr>Aggregated or unit processes in databases</vt:lpstr>
      <vt:lpstr>Life cycle inventory database</vt:lpstr>
      <vt:lpstr>Direct intermediary and elementary flows at Unit Process level</vt:lpstr>
      <vt:lpstr>Unit Process data: aluminum liquid, ecoinvent in Simapro</vt:lpstr>
      <vt:lpstr>Unit Process data: aluminum liquid, ecoinvent in Simapro</vt:lpstr>
      <vt:lpstr>Aggregated inventory at system level: aluminum primary liquid</vt:lpstr>
      <vt:lpstr>Aggregated system data: aluminum liquid, ecoinvent in Simapro</vt:lpstr>
      <vt:lpstr>Aggregated system data: aluminum liquid, ecoinvent in Simapro</vt:lpstr>
      <vt:lpstr>Use of ecoinvent: tips for good use – be careful</vt:lpstr>
      <vt:lpstr>Use of ecoinvent: Air emissions interpretation</vt:lpstr>
      <vt:lpstr>New features of ecoinvent 3</vt:lpstr>
      <vt:lpstr>Collecting LCI data</vt:lpstr>
      <vt:lpstr>Data collection: focus on the foreground system</vt:lpstr>
      <vt:lpstr>Summary</vt:lpstr>
    </vt:vector>
  </TitlesOfParts>
  <Manager/>
  <Company>University of Michigan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Scott Mahler</dc:creator>
  <cp:keywords/>
  <dc:description/>
  <cp:lastModifiedBy>Olivier Jolliet</cp:lastModifiedBy>
  <cp:revision>768</cp:revision>
  <cp:lastPrinted>2020-08-20T17:37:33Z</cp:lastPrinted>
  <dcterms:created xsi:type="dcterms:W3CDTF">2017-01-17T22:07:36Z</dcterms:created>
  <dcterms:modified xsi:type="dcterms:W3CDTF">2020-11-24T17:57:02Z</dcterms:modified>
  <cp:category/>
</cp:coreProperties>
</file>