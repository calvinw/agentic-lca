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Calibri" panose="020F0502020204030204" pitchFamily="34" charset="0"/>
      <p:regular r:id="rId20"/>
      <p:bold r:id="rId21"/>
      <p:italic r:id="rId22"/>
      <p:boldItalic r:id="rId23"/>
    </p:embeddedFont>
    <p:embeddedFont>
      <p:font typeface="Nunito" pitchFamily="2" charset="77"/>
      <p:regular r:id="rId24"/>
      <p:bold r:id="rId25"/>
      <p:italic r:id="rId26"/>
      <p:boldItalic r:id="rId27"/>
    </p:embeddedFont>
    <p:embeddedFont>
      <p:font typeface="Roboto" panose="020000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2183C9E-A954-4A8D-819A-762C222C750F}">
  <a:tblStyle styleId="{22183C9E-A954-4A8D-819A-762C222C750F}"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36"/>
    <p:restoredTop sz="94698"/>
  </p:normalViewPr>
  <p:slideViewPr>
    <p:cSldViewPr snapToGrid="0">
      <p:cViewPr varScale="1">
        <p:scale>
          <a:sx n="133" d="100"/>
          <a:sy n="133" d="100"/>
        </p:scale>
        <p:origin x="192" y="43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 name="Google Shape;22;p2"/>
          <p:cNvGrpSpPr/>
          <p:nvPr/>
        </p:nvGrpSpPr>
        <p:grpSpPr>
          <a:xfrm>
            <a:off x="7057468" y="5088"/>
            <a:ext cx="1851281" cy="752108"/>
            <a:chOff x="6917201" y="0"/>
            <a:chExt cx="2227776"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 name="Google Shape;26;p2"/>
          <p:cNvGrpSpPr/>
          <p:nvPr/>
        </p:nvGrpSpPr>
        <p:grpSpPr>
          <a:xfrm>
            <a:off x="6553032" y="4217852"/>
            <a:ext cx="2389067" cy="925737"/>
            <a:chOff x="6917201" y="0"/>
            <a:chExt cx="2227776"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0" name="Google Shape;30;p2"/>
          <p:cNvGrpSpPr/>
          <p:nvPr/>
        </p:nvGrpSpPr>
        <p:grpSpPr>
          <a:xfrm>
            <a:off x="199149" y="4055652"/>
            <a:ext cx="2795413" cy="1083308"/>
            <a:chOff x="6917201" y="0"/>
            <a:chExt cx="2227776"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 name="Google Shape;34;p2"/>
          <p:cNvSpPr txBox="1">
            <a:spLocks noGrp="1"/>
          </p:cNvSpPr>
          <p:nvPr>
            <p:ph type="ctrTitle"/>
          </p:nvPr>
        </p:nvSpPr>
        <p:spPr>
          <a:xfrm>
            <a:off x="1858703" y="1822833"/>
            <a:ext cx="5361300" cy="14481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9" name="Google Shape;39;p3"/>
          <p:cNvGrpSpPr/>
          <p:nvPr/>
        </p:nvGrpSpPr>
        <p:grpSpPr>
          <a:xfrm>
            <a:off x="5959222" y="4119576"/>
            <a:ext cx="2520951" cy="1024165"/>
            <a:chOff x="6917201" y="0"/>
            <a:chExt cx="2227776"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3" name="Google Shape;43;p3"/>
          <p:cNvGrpSpPr/>
          <p:nvPr/>
        </p:nvGrpSpPr>
        <p:grpSpPr>
          <a:xfrm>
            <a:off x="199149" y="2"/>
            <a:ext cx="2795413" cy="1083308"/>
            <a:chOff x="6917201" y="0"/>
            <a:chExt cx="2227776"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 name="Google Shape;47;p3"/>
          <p:cNvSpPr txBox="1">
            <a:spLocks noGrp="1"/>
          </p:cNvSpPr>
          <p:nvPr>
            <p:ph type="title" hasCustomPrompt="1"/>
          </p:nvPr>
        </p:nvSpPr>
        <p:spPr>
          <a:xfrm>
            <a:off x="1385850" y="1383850"/>
            <a:ext cx="6372300" cy="1379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48" name="Google Shape;48;p3"/>
          <p:cNvSpPr txBox="1">
            <a:spLocks noGrp="1"/>
          </p:cNvSpPr>
          <p:nvPr>
            <p:ph type="body" idx="1"/>
          </p:nvPr>
        </p:nvSpPr>
        <p:spPr>
          <a:xfrm>
            <a:off x="1385850" y="2863850"/>
            <a:ext cx="6372300" cy="641100"/>
          </a:xfrm>
          <a:prstGeom prst="rect">
            <a:avLst/>
          </a:prstGeom>
          <a:noFill/>
          <a:ln>
            <a:noFill/>
          </a:ln>
        </p:spPr>
        <p:txBody>
          <a:bodyPr spcFirstLastPara="1" wrap="square" lIns="91425" tIns="91425" rIns="91425" bIns="91425" anchor="t" anchorCtr="0">
            <a:noAutofit/>
          </a:bodyPr>
          <a:lstStyle>
            <a:lvl1pPr marL="457200" lvl="0" indent="-311150" algn="ctr">
              <a:lnSpc>
                <a:spcPct val="115000"/>
              </a:lnSpc>
              <a:spcBef>
                <a:spcPts val="0"/>
              </a:spcBef>
              <a:spcAft>
                <a:spcPts val="0"/>
              </a:spcAft>
              <a:buSzPts val="1300"/>
              <a:buChar char="●"/>
              <a:defRPr/>
            </a:lvl1pPr>
            <a:lvl2pPr marL="914400" lvl="1" indent="-298450" algn="ctr">
              <a:lnSpc>
                <a:spcPct val="115000"/>
              </a:lnSpc>
              <a:spcBef>
                <a:spcPts val="1600"/>
              </a:spcBef>
              <a:spcAft>
                <a:spcPts val="0"/>
              </a:spcAft>
              <a:buSzPts val="1100"/>
              <a:buChar char="○"/>
              <a:defRPr/>
            </a:lvl2pPr>
            <a:lvl3pPr marL="1371600" lvl="2" indent="-298450" algn="ctr">
              <a:lnSpc>
                <a:spcPct val="115000"/>
              </a:lnSpc>
              <a:spcBef>
                <a:spcPts val="1600"/>
              </a:spcBef>
              <a:spcAft>
                <a:spcPts val="0"/>
              </a:spcAft>
              <a:buSzPts val="1100"/>
              <a:buChar char="■"/>
              <a:defRPr/>
            </a:lvl3pPr>
            <a:lvl4pPr marL="1828800" lvl="3" indent="-298450" algn="ctr">
              <a:lnSpc>
                <a:spcPct val="115000"/>
              </a:lnSpc>
              <a:spcBef>
                <a:spcPts val="1600"/>
              </a:spcBef>
              <a:spcAft>
                <a:spcPts val="0"/>
              </a:spcAft>
              <a:buSzPts val="1100"/>
              <a:buChar char="●"/>
              <a:defRPr/>
            </a:lvl4pPr>
            <a:lvl5pPr marL="2286000" lvl="4" indent="-298450" algn="ctr">
              <a:lnSpc>
                <a:spcPct val="115000"/>
              </a:lnSpc>
              <a:spcBef>
                <a:spcPts val="1600"/>
              </a:spcBef>
              <a:spcAft>
                <a:spcPts val="0"/>
              </a:spcAft>
              <a:buSzPts val="1100"/>
              <a:buChar char="○"/>
              <a:defRPr/>
            </a:lvl5pPr>
            <a:lvl6pPr marL="2743200" lvl="5" indent="-298450" algn="ctr">
              <a:lnSpc>
                <a:spcPct val="115000"/>
              </a:lnSpc>
              <a:spcBef>
                <a:spcPts val="1600"/>
              </a:spcBef>
              <a:spcAft>
                <a:spcPts val="0"/>
              </a:spcAft>
              <a:buSzPts val="1100"/>
              <a:buChar char="■"/>
              <a:defRPr/>
            </a:lvl6pPr>
            <a:lvl7pPr marL="3200400" lvl="6" indent="-298450" algn="ctr">
              <a:lnSpc>
                <a:spcPct val="115000"/>
              </a:lnSpc>
              <a:spcBef>
                <a:spcPts val="1600"/>
              </a:spcBef>
              <a:spcAft>
                <a:spcPts val="0"/>
              </a:spcAft>
              <a:buSzPts val="1100"/>
              <a:buChar char="●"/>
              <a:defRPr/>
            </a:lvl7pPr>
            <a:lvl8pPr marL="3657600" lvl="7" indent="-298450" algn="ctr">
              <a:lnSpc>
                <a:spcPct val="115000"/>
              </a:lnSpc>
              <a:spcBef>
                <a:spcPts val="1600"/>
              </a:spcBef>
              <a:spcAft>
                <a:spcPts val="0"/>
              </a:spcAft>
              <a:buSzPts val="1100"/>
              <a:buChar char="○"/>
              <a:defRPr/>
            </a:lvl8pPr>
            <a:lvl9pPr marL="4114800" lvl="8" indent="-298450" algn="ctr">
              <a:lnSpc>
                <a:spcPct val="115000"/>
              </a:lnSpc>
              <a:spcBef>
                <a:spcPts val="1600"/>
              </a:spcBef>
              <a:spcAft>
                <a:spcPts val="1600"/>
              </a:spcAft>
              <a:buSzPts val="1100"/>
              <a:buChar char="■"/>
              <a:defRPr/>
            </a:lvl9pPr>
          </a:lstStyle>
          <a:p>
            <a:endParaRPr/>
          </a:p>
        </p:txBody>
      </p:sp>
      <p:sp>
        <p:nvSpPr>
          <p:cNvPr id="49" name="Google Shape;49;p3"/>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50"/>
        <p:cNvGrpSpPr/>
        <p:nvPr/>
      </p:nvGrpSpPr>
      <p:grpSpPr>
        <a:xfrm>
          <a:off x="0" y="0"/>
          <a:ext cx="0" cy="0"/>
          <a:chOff x="0" y="0"/>
          <a:chExt cx="0" cy="0"/>
        </a:xfrm>
      </p:grpSpPr>
      <p:sp>
        <p:nvSpPr>
          <p:cNvPr id="51" name="Google Shape;51;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4"/>
          <p:cNvSpPr txBox="1">
            <a:spLocks noGrp="1"/>
          </p:cNvSpPr>
          <p:nvPr>
            <p:ph type="title"/>
          </p:nvPr>
        </p:nvSpPr>
        <p:spPr>
          <a:xfrm>
            <a:off x="819150" y="845600"/>
            <a:ext cx="7505700" cy="954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55" name="Google Shape;55;p4"/>
          <p:cNvSpPr txBox="1">
            <a:spLocks noGrp="1"/>
          </p:cNvSpPr>
          <p:nvPr>
            <p:ph type="body" idx="1"/>
          </p:nvPr>
        </p:nvSpPr>
        <p:spPr>
          <a:xfrm>
            <a:off x="819150" y="1990725"/>
            <a:ext cx="7505700" cy="24480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6" name="Google Shape;56;p4"/>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57"/>
        <p:cNvGrpSpPr/>
        <p:nvPr/>
      </p:nvGrpSpPr>
      <p:grpSpPr>
        <a:xfrm>
          <a:off x="0" y="0"/>
          <a:ext cx="0" cy="0"/>
          <a:chOff x="0" y="0"/>
          <a:chExt cx="0" cy="0"/>
        </a:xfrm>
      </p:grpSpPr>
      <p:sp>
        <p:nvSpPr>
          <p:cNvPr id="58" name="Google Shape;58;p5"/>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9" name="Google Shape;59;p5"/>
          <p:cNvGrpSpPr/>
          <p:nvPr/>
        </p:nvGrpSpPr>
        <p:grpSpPr>
          <a:xfrm>
            <a:off x="5594191" y="3961115"/>
            <a:ext cx="2910144" cy="1182340"/>
            <a:chOff x="6917201" y="0"/>
            <a:chExt cx="2227776" cy="863400"/>
          </a:xfrm>
        </p:grpSpPr>
        <p:sp>
          <p:nvSpPr>
            <p:cNvPr id="60" name="Google Shape;60;p5"/>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5"/>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5"/>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3" name="Google Shape;63;p5"/>
          <p:cNvGrpSpPr/>
          <p:nvPr/>
        </p:nvGrpSpPr>
        <p:grpSpPr>
          <a:xfrm>
            <a:off x="199149" y="2"/>
            <a:ext cx="2795413" cy="1083308"/>
            <a:chOff x="6917201" y="0"/>
            <a:chExt cx="2227776" cy="863400"/>
          </a:xfrm>
        </p:grpSpPr>
        <p:sp>
          <p:nvSpPr>
            <p:cNvPr id="64" name="Google Shape;64;p5"/>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5"/>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5"/>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7" name="Google Shape;67;p5"/>
          <p:cNvSpPr txBox="1">
            <a:spLocks noGrp="1"/>
          </p:cNvSpPr>
          <p:nvPr>
            <p:ph type="title"/>
          </p:nvPr>
        </p:nvSpPr>
        <p:spPr>
          <a:xfrm>
            <a:off x="1888684" y="1746100"/>
            <a:ext cx="5377500" cy="16461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a:endParaRPr/>
          </a:p>
        </p:txBody>
      </p:sp>
      <p:sp>
        <p:nvSpPr>
          <p:cNvPr id="68" name="Google Shape;68;p5"/>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9"/>
        <p:cNvGrpSpPr/>
        <p:nvPr/>
      </p:nvGrpSpPr>
      <p:grpSpPr>
        <a:xfrm>
          <a:off x="0" y="0"/>
          <a:ext cx="0" cy="0"/>
          <a:chOff x="0" y="0"/>
          <a:chExt cx="0" cy="0"/>
        </a:xfrm>
      </p:grpSpPr>
      <p:sp>
        <p:nvSpPr>
          <p:cNvPr id="70" name="Google Shape;70;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6"/>
          <p:cNvSpPr txBox="1">
            <a:spLocks noGrp="1"/>
          </p:cNvSpPr>
          <p:nvPr>
            <p:ph type="title"/>
          </p:nvPr>
        </p:nvSpPr>
        <p:spPr>
          <a:xfrm>
            <a:off x="819150" y="845600"/>
            <a:ext cx="7505700" cy="954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74" name="Google Shape;74;p6"/>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5"/>
        <p:cNvGrpSpPr/>
        <p:nvPr/>
      </p:nvGrpSpPr>
      <p:grpSpPr>
        <a:xfrm>
          <a:off x="0" y="0"/>
          <a:ext cx="0" cy="0"/>
          <a:chOff x="0" y="0"/>
          <a:chExt cx="0" cy="0"/>
        </a:xfrm>
      </p:grpSpPr>
      <p:sp>
        <p:nvSpPr>
          <p:cNvPr id="76" name="Google Shape;76;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7"/>
          <p:cNvSpPr txBox="1">
            <a:spLocks noGrp="1"/>
          </p:cNvSpPr>
          <p:nvPr>
            <p:ph type="title"/>
          </p:nvPr>
        </p:nvSpPr>
        <p:spPr>
          <a:xfrm>
            <a:off x="819150" y="845600"/>
            <a:ext cx="3709200" cy="1383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80" name="Google Shape;80;p7"/>
          <p:cNvSpPr txBox="1">
            <a:spLocks noGrp="1"/>
          </p:cNvSpPr>
          <p:nvPr>
            <p:ph type="body" idx="1"/>
          </p:nvPr>
        </p:nvSpPr>
        <p:spPr>
          <a:xfrm>
            <a:off x="830700" y="2319050"/>
            <a:ext cx="3709200" cy="21198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81" name="Google Shape;81;p7"/>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82"/>
        <p:cNvGrpSpPr/>
        <p:nvPr/>
      </p:nvGrpSpPr>
      <p:grpSpPr>
        <a:xfrm>
          <a:off x="0" y="0"/>
          <a:ext cx="0" cy="0"/>
          <a:chOff x="0" y="0"/>
          <a:chExt cx="0" cy="0"/>
        </a:xfrm>
      </p:grpSpPr>
      <p:sp>
        <p:nvSpPr>
          <p:cNvPr id="83" name="Google Shape;83;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5" name="Google Shape;85;p8"/>
          <p:cNvGrpSpPr/>
          <p:nvPr/>
        </p:nvGrpSpPr>
        <p:grpSpPr>
          <a:xfrm>
            <a:off x="255991" y="-118"/>
            <a:ext cx="2251347" cy="1043408"/>
            <a:chOff x="3961956" y="4383950"/>
            <a:chExt cx="1160548" cy="548700"/>
          </a:xfrm>
        </p:grpSpPr>
        <p:sp>
          <p:nvSpPr>
            <p:cNvPr id="86" name="Google Shape;86;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9" name="Google Shape;89;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p8"/>
          <p:cNvGrpSpPr/>
          <p:nvPr/>
        </p:nvGrpSpPr>
        <p:grpSpPr>
          <a:xfrm>
            <a:off x="34934" y="4522125"/>
            <a:ext cx="1593305" cy="617072"/>
            <a:chOff x="6917201" y="0"/>
            <a:chExt cx="2227776" cy="863400"/>
          </a:xfrm>
        </p:grpSpPr>
        <p:sp>
          <p:nvSpPr>
            <p:cNvPr id="91" name="Google Shape;91;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4" name="Google Shape;94;p8"/>
          <p:cNvGrpSpPr/>
          <p:nvPr/>
        </p:nvGrpSpPr>
        <p:grpSpPr>
          <a:xfrm>
            <a:off x="5886353" y="1243"/>
            <a:ext cx="3257454" cy="1261514"/>
            <a:chOff x="6917201" y="0"/>
            <a:chExt cx="2227776" cy="863400"/>
          </a:xfrm>
        </p:grpSpPr>
        <p:sp>
          <p:nvSpPr>
            <p:cNvPr id="95" name="Google Shape;95;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8" name="Google Shape;98;p8"/>
          <p:cNvSpPr txBox="1">
            <a:spLocks noGrp="1"/>
          </p:cNvSpPr>
          <p:nvPr>
            <p:ph type="title"/>
          </p:nvPr>
        </p:nvSpPr>
        <p:spPr>
          <a:xfrm>
            <a:off x="1393929" y="1301146"/>
            <a:ext cx="6366900" cy="25392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a:endParaRPr/>
          </a:p>
        </p:txBody>
      </p:sp>
      <p:sp>
        <p:nvSpPr>
          <p:cNvPr id="99" name="Google Shape;99;p8"/>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100"/>
        <p:cNvGrpSpPr/>
        <p:nvPr/>
      </p:nvGrpSpPr>
      <p:grpSpPr>
        <a:xfrm>
          <a:off x="0" y="0"/>
          <a:ext cx="0" cy="0"/>
          <a:chOff x="0" y="0"/>
          <a:chExt cx="0" cy="0"/>
        </a:xfrm>
      </p:grpSpPr>
      <p:sp>
        <p:nvSpPr>
          <p:cNvPr id="101" name="Google Shape;101;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9"/>
          <p:cNvSpPr txBox="1">
            <a:spLocks noGrp="1"/>
          </p:cNvSpPr>
          <p:nvPr>
            <p:ph type="title"/>
          </p:nvPr>
        </p:nvSpPr>
        <p:spPr>
          <a:xfrm>
            <a:off x="819150" y="845600"/>
            <a:ext cx="6424200" cy="705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05" name="Google Shape;105;p9"/>
          <p:cNvSpPr txBox="1">
            <a:spLocks noGrp="1"/>
          </p:cNvSpPr>
          <p:nvPr>
            <p:ph type="subTitle" idx="1"/>
          </p:nvPr>
        </p:nvSpPr>
        <p:spPr>
          <a:xfrm>
            <a:off x="819150" y="1550700"/>
            <a:ext cx="58599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6" name="Google Shape;106;p9"/>
          <p:cNvSpPr txBox="1">
            <a:spLocks noGrp="1"/>
          </p:cNvSpPr>
          <p:nvPr>
            <p:ph type="body" idx="2"/>
          </p:nvPr>
        </p:nvSpPr>
        <p:spPr>
          <a:xfrm>
            <a:off x="819150" y="2467050"/>
            <a:ext cx="5859900" cy="2095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107" name="Google Shape;107;p9"/>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8"/>
        <p:cNvGrpSpPr/>
        <p:nvPr/>
      </p:nvGrpSpPr>
      <p:grpSpPr>
        <a:xfrm>
          <a:off x="0" y="0"/>
          <a:ext cx="0" cy="0"/>
          <a:chOff x="0" y="0"/>
          <a:chExt cx="0" cy="0"/>
        </a:xfrm>
      </p:grpSpPr>
      <p:sp>
        <p:nvSpPr>
          <p:cNvPr id="109" name="Google Shape;109;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10"/>
          <p:cNvSpPr txBox="1">
            <a:spLocks noGrp="1"/>
          </p:cNvSpPr>
          <p:nvPr>
            <p:ph type="body" idx="1"/>
          </p:nvPr>
        </p:nvSpPr>
        <p:spPr>
          <a:xfrm>
            <a:off x="328025" y="4163500"/>
            <a:ext cx="7415100" cy="605100"/>
          </a:xfrm>
          <a:prstGeom prst="rect">
            <a:avLst/>
          </a:prstGeom>
          <a:noFill/>
          <a:ln>
            <a:noFill/>
          </a:ln>
        </p:spPr>
        <p:txBody>
          <a:bodyPr spcFirstLastPara="1" wrap="square" lIns="91425" tIns="91425" rIns="91425" bIns="91425" anchor="b" anchorCtr="0">
            <a:noAutofit/>
          </a:bodyPr>
          <a:lstStyle>
            <a:lvl1pPr marL="457200" lvl="0" indent="-228600" algn="l">
              <a:lnSpc>
                <a:spcPct val="100000"/>
              </a:lnSpc>
              <a:spcBef>
                <a:spcPts val="0"/>
              </a:spcBef>
              <a:spcAft>
                <a:spcPts val="0"/>
              </a:spcAft>
              <a:buSzPts val="1300"/>
              <a:buNone/>
              <a:defRPr/>
            </a:lvl1pPr>
          </a:lstStyle>
          <a:p>
            <a:endParaRPr/>
          </a:p>
        </p:txBody>
      </p:sp>
      <p:sp>
        <p:nvSpPr>
          <p:cNvPr id="113" name="Google Shape;113;p10"/>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4"/>
        <p:cNvGrpSpPr/>
        <p:nvPr/>
      </p:nvGrpSpPr>
      <p:grpSpPr>
        <a:xfrm>
          <a:off x="0" y="0"/>
          <a:ext cx="0" cy="0"/>
          <a:chOff x="0" y="0"/>
          <a:chExt cx="0" cy="0"/>
        </a:xfrm>
      </p:grpSpPr>
      <p:sp>
        <p:nvSpPr>
          <p:cNvPr id="115" name="Google Shape;115;p1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2pPr>
            <a:lvl3pPr marR="0" lvl="2"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3pPr>
            <a:lvl4pPr marR="0" lvl="3"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4pPr>
            <a:lvl5pPr marR="0" lvl="4"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5pPr>
            <a:lvl6pPr marR="0" lvl="5"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6pPr>
            <a:lvl7pPr marR="0" lvl="6"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7pPr>
            <a:lvl8pPr marR="0" lvl="7"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8pPr>
            <a:lvl9pPr marR="0" lvl="8"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Autofit/>
          </a:bodyPr>
          <a:lstStyle>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160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160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160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160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160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160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160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1600"/>
              </a:spcBef>
              <a:spcAft>
                <a:spcPts val="160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www.madehow.com/Volume-3/Wallpaper.html" TargetMode="External"/><Relationship Id="rId7" Type="http://schemas.openxmlformats.org/officeDocument/2006/relationships/hyperlink" Target="http://www.dulux.ca/diy/products/interior-paint/dulux-x-pert"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hyperlink" Target="http://www.brewsterwallcovering.com/wallpaper-vs-paint" TargetMode="External"/><Relationship Id="rId5" Type="http://schemas.openxmlformats.org/officeDocument/2006/relationships/hyperlink" Target="http://www.designlife-cycle.com/vinyl-wallpaper/" TargetMode="External"/><Relationship Id="rId4" Type="http://schemas.openxmlformats.org/officeDocument/2006/relationships/hyperlink" Target="http://www.madehow.com/Volume-1/Paint.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2"/>
          <p:cNvSpPr txBox="1">
            <a:spLocks noGrp="1"/>
          </p:cNvSpPr>
          <p:nvPr>
            <p:ph type="ctrTitle"/>
          </p:nvPr>
        </p:nvSpPr>
        <p:spPr>
          <a:xfrm>
            <a:off x="1858703" y="1822833"/>
            <a:ext cx="5361300" cy="14481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
              <a:t>Life Cycle Analysis of Wallpaper &amp; Wall Paint</a:t>
            </a:r>
            <a:endParaRPr/>
          </a:p>
        </p:txBody>
      </p:sp>
      <p:sp>
        <p:nvSpPr>
          <p:cNvPr id="121" name="Google Shape;121;p12"/>
          <p:cNvSpPr txBox="1">
            <a:spLocks noGrp="1"/>
          </p:cNvSpPr>
          <p:nvPr>
            <p:ph type="subTitle" idx="1"/>
          </p:nvPr>
        </p:nvSpPr>
        <p:spPr>
          <a:xfrm>
            <a:off x="1858700" y="3413158"/>
            <a:ext cx="5361300" cy="52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600"/>
              <a:buNone/>
            </a:pPr>
            <a:r>
              <a:rPr lang="en"/>
              <a:t>Team Members: Alextia A., Nan Y., &amp; Bu 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3"/>
          <p:cNvSpPr txBox="1">
            <a:spLocks noGrp="1"/>
          </p:cNvSpPr>
          <p:nvPr>
            <p:ph type="title"/>
          </p:nvPr>
        </p:nvSpPr>
        <p:spPr>
          <a:xfrm>
            <a:off x="729350" y="249975"/>
            <a:ext cx="7505700" cy="954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Background</a:t>
            </a:r>
            <a:endParaRPr/>
          </a:p>
        </p:txBody>
      </p:sp>
      <p:sp>
        <p:nvSpPr>
          <p:cNvPr id="127" name="Google Shape;127;p13"/>
          <p:cNvSpPr txBox="1">
            <a:spLocks noGrp="1"/>
          </p:cNvSpPr>
          <p:nvPr>
            <p:ph type="body" idx="1"/>
          </p:nvPr>
        </p:nvSpPr>
        <p:spPr>
          <a:xfrm>
            <a:off x="729350" y="805850"/>
            <a:ext cx="7877400" cy="3300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300"/>
              <a:buNone/>
            </a:pPr>
            <a:r>
              <a:rPr lang="en" sz="1400">
                <a:solidFill>
                  <a:srgbClr val="000000"/>
                </a:solidFill>
                <a:highlight>
                  <a:srgbClr val="FFFFFF"/>
                </a:highlight>
                <a:latin typeface="Arial"/>
                <a:ea typeface="Arial"/>
                <a:cs typeface="Arial"/>
                <a:sym typeface="Arial"/>
              </a:rPr>
              <a:t>Personalizing one’s home is the most important “aspect of home decoration”(Freshhome.com). While the main medias used for covering a wall varies, wall paint and wallpaper are one of the most commonly used.</a:t>
            </a:r>
            <a:endParaRPr sz="1400">
              <a:solidFill>
                <a:srgbClr val="000000"/>
              </a:solidFill>
              <a:highlight>
                <a:srgbClr val="FFFFFF"/>
              </a:highlight>
              <a:latin typeface="Arial"/>
              <a:ea typeface="Arial"/>
              <a:cs typeface="Arial"/>
              <a:sym typeface="Arial"/>
            </a:endParaRPr>
          </a:p>
          <a:p>
            <a:pPr marL="0" lvl="0" indent="0" algn="l" rtl="0">
              <a:lnSpc>
                <a:spcPct val="115000"/>
              </a:lnSpc>
              <a:spcBef>
                <a:spcPts val="1600"/>
              </a:spcBef>
              <a:spcAft>
                <a:spcPts val="0"/>
              </a:spcAft>
              <a:buSzPts val="1300"/>
              <a:buNone/>
            </a:pPr>
            <a:r>
              <a:rPr lang="en" sz="1400" b="1" i="1">
                <a:solidFill>
                  <a:srgbClr val="000000"/>
                </a:solidFill>
                <a:highlight>
                  <a:srgbClr val="FFFFFF"/>
                </a:highlight>
                <a:latin typeface="Arial"/>
                <a:ea typeface="Arial"/>
                <a:cs typeface="Arial"/>
                <a:sym typeface="Arial"/>
              </a:rPr>
              <a:t>PAINT:</a:t>
            </a:r>
            <a:r>
              <a:rPr lang="en" sz="1400">
                <a:solidFill>
                  <a:srgbClr val="000000"/>
                </a:solidFill>
                <a:highlight>
                  <a:srgbClr val="FFFFFF"/>
                </a:highlight>
                <a:latin typeface="Arial"/>
                <a:ea typeface="Arial"/>
                <a:cs typeface="Arial"/>
                <a:sym typeface="Arial"/>
              </a:rPr>
              <a:t> Generally, Wall paint is the most used option because it is more simplistic in application (QCDesignSchool). However, the longevity of the paint after application is rather short. For example, painted walls can suffer some wear and become either damaged, or old, like dull-looking or suffer color change due to smoking in a household (Freshhome.com). Repainting the wall then becomes a hassle when adding the coating to the wall.</a:t>
            </a:r>
            <a:endParaRPr sz="1400">
              <a:solidFill>
                <a:srgbClr val="000000"/>
              </a:solidFill>
              <a:highlight>
                <a:srgbClr val="FFFFFF"/>
              </a:highlight>
              <a:latin typeface="Arial"/>
              <a:ea typeface="Arial"/>
              <a:cs typeface="Arial"/>
              <a:sym typeface="Arial"/>
            </a:endParaRPr>
          </a:p>
          <a:p>
            <a:pPr marL="0" lvl="0" indent="0" algn="l" rtl="0">
              <a:lnSpc>
                <a:spcPct val="115000"/>
              </a:lnSpc>
              <a:spcBef>
                <a:spcPts val="1600"/>
              </a:spcBef>
              <a:spcAft>
                <a:spcPts val="0"/>
              </a:spcAft>
              <a:buSzPts val="1300"/>
              <a:buNone/>
            </a:pPr>
            <a:r>
              <a:rPr lang="en" sz="1400" b="1" i="1">
                <a:solidFill>
                  <a:srgbClr val="000000"/>
                </a:solidFill>
                <a:highlight>
                  <a:srgbClr val="FFFFFF"/>
                </a:highlight>
                <a:latin typeface="Arial"/>
                <a:ea typeface="Arial"/>
                <a:cs typeface="Arial"/>
                <a:sym typeface="Arial"/>
              </a:rPr>
              <a:t>WALLPAPER</a:t>
            </a:r>
            <a:r>
              <a:rPr lang="en" sz="1400">
                <a:solidFill>
                  <a:srgbClr val="000000"/>
                </a:solidFill>
                <a:highlight>
                  <a:srgbClr val="FFFFFF"/>
                </a:highlight>
                <a:latin typeface="Arial"/>
                <a:ea typeface="Arial"/>
                <a:cs typeface="Arial"/>
                <a:sym typeface="Arial"/>
              </a:rPr>
              <a:t>: Although the popularity of wallpaper has declined over the years, it is slowly making a comeback. Recent wallpaper manufacturers are producing both stylish and highly durable wallpaper that can be easily cleaned without destroying the paper. The application of it is less messy than that of paint, and most wallpaper release less VOCs. Unfortunately, since wallpaper is applied with an adhesive, high moisture bathrooms and kitchens may cause wallpaper to peel away from the wall.</a:t>
            </a:r>
            <a:endParaRPr sz="1400">
              <a:solidFill>
                <a:srgbClr val="000000"/>
              </a:solidFill>
              <a:highlight>
                <a:srgbClr val="FFFFFF"/>
              </a:highlight>
              <a:latin typeface="Arial"/>
              <a:ea typeface="Arial"/>
              <a:cs typeface="Arial"/>
              <a:sym typeface="Arial"/>
            </a:endParaRPr>
          </a:p>
          <a:p>
            <a:pPr marL="0" lvl="0" indent="0" algn="l" rtl="0">
              <a:lnSpc>
                <a:spcPct val="115000"/>
              </a:lnSpc>
              <a:spcBef>
                <a:spcPts val="1600"/>
              </a:spcBef>
              <a:spcAft>
                <a:spcPts val="1600"/>
              </a:spcAft>
              <a:buSzPts val="1300"/>
              <a:buNone/>
            </a:pPr>
            <a:endParaRPr sz="1200">
              <a:solidFill>
                <a:srgbClr val="000000"/>
              </a:solidFill>
              <a:highlight>
                <a:srgbClr val="FFFFFF"/>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4"/>
          <p:cNvSpPr txBox="1">
            <a:spLocks noGrp="1"/>
          </p:cNvSpPr>
          <p:nvPr>
            <p:ph type="title"/>
          </p:nvPr>
        </p:nvSpPr>
        <p:spPr>
          <a:xfrm>
            <a:off x="819150" y="459525"/>
            <a:ext cx="7505700" cy="954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Objectives</a:t>
            </a:r>
            <a:endParaRPr/>
          </a:p>
        </p:txBody>
      </p:sp>
      <p:sp>
        <p:nvSpPr>
          <p:cNvPr id="133" name="Google Shape;133;p14"/>
          <p:cNvSpPr txBox="1">
            <a:spLocks noGrp="1"/>
          </p:cNvSpPr>
          <p:nvPr>
            <p:ph type="body" idx="1"/>
          </p:nvPr>
        </p:nvSpPr>
        <p:spPr>
          <a:xfrm>
            <a:off x="819150" y="1347750"/>
            <a:ext cx="7505700" cy="2448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300"/>
              <a:buNone/>
            </a:pPr>
            <a:r>
              <a:rPr lang="en" sz="1800">
                <a:solidFill>
                  <a:srgbClr val="000000"/>
                </a:solidFill>
                <a:latin typeface="Arial"/>
                <a:ea typeface="Arial"/>
                <a:cs typeface="Arial"/>
                <a:sym typeface="Arial"/>
              </a:rPr>
              <a:t>In this case study, we will be composing a LCA for Wall Paint and Wallpaper. We hope to discern how much energy and resources are needed to manufacture, use and dispose these products. At the end of this study, we would like to conclude which product and process would have the least impact on the environment. </a:t>
            </a:r>
            <a:endParaRPr sz="1800">
              <a:solidFill>
                <a:srgbClr val="000000"/>
              </a:solidFill>
              <a:latin typeface="Arial"/>
              <a:ea typeface="Arial"/>
              <a:cs typeface="Arial"/>
              <a:sym typeface="Arial"/>
            </a:endParaRPr>
          </a:p>
          <a:p>
            <a:pPr marL="0" lvl="0" indent="0" algn="l" rtl="0">
              <a:lnSpc>
                <a:spcPct val="115000"/>
              </a:lnSpc>
              <a:spcBef>
                <a:spcPts val="1600"/>
              </a:spcBef>
              <a:spcAft>
                <a:spcPts val="1600"/>
              </a:spcAft>
              <a:buSzPts val="13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5"/>
          <p:cNvSpPr txBox="1">
            <a:spLocks noGrp="1"/>
          </p:cNvSpPr>
          <p:nvPr>
            <p:ph type="title"/>
          </p:nvPr>
        </p:nvSpPr>
        <p:spPr>
          <a:xfrm>
            <a:off x="442400" y="424525"/>
            <a:ext cx="8368200" cy="832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400">
                <a:latin typeface="Arial"/>
                <a:ea typeface="Arial"/>
                <a:cs typeface="Arial"/>
                <a:sym typeface="Arial"/>
              </a:rPr>
              <a:t>Description of the Function </a:t>
            </a:r>
            <a:endParaRPr sz="2400">
              <a:latin typeface="Arial"/>
              <a:ea typeface="Arial"/>
              <a:cs typeface="Arial"/>
              <a:sym typeface="Arial"/>
            </a:endParaRPr>
          </a:p>
        </p:txBody>
      </p:sp>
      <p:graphicFrame>
        <p:nvGraphicFramePr>
          <p:cNvPr id="139" name="Google Shape;139;p15"/>
          <p:cNvGraphicFramePr/>
          <p:nvPr>
            <p:extLst>
              <p:ext uri="{D42A27DB-BD31-4B8C-83A1-F6EECF244321}">
                <p14:modId xmlns:p14="http://schemas.microsoft.com/office/powerpoint/2010/main" val="3425848867"/>
              </p:ext>
            </p:extLst>
          </p:nvPr>
        </p:nvGraphicFramePr>
        <p:xfrm>
          <a:off x="387888" y="1141575"/>
          <a:ext cx="8368200" cy="3177050"/>
        </p:xfrm>
        <a:graphic>
          <a:graphicData uri="http://schemas.openxmlformats.org/drawingml/2006/table">
            <a:tbl>
              <a:tblPr firstRow="1">
                <a:noFill/>
                <a:tableStyleId>{22183C9E-A954-4A8D-819A-762C222C750F}</a:tableStyleId>
              </a:tblPr>
              <a:tblGrid>
                <a:gridCol w="2789400">
                  <a:extLst>
                    <a:ext uri="{9D8B030D-6E8A-4147-A177-3AD203B41FA5}">
                      <a16:colId xmlns:a16="http://schemas.microsoft.com/office/drawing/2014/main" val="20000"/>
                    </a:ext>
                  </a:extLst>
                </a:gridCol>
                <a:gridCol w="2789400">
                  <a:extLst>
                    <a:ext uri="{9D8B030D-6E8A-4147-A177-3AD203B41FA5}">
                      <a16:colId xmlns:a16="http://schemas.microsoft.com/office/drawing/2014/main" val="20001"/>
                    </a:ext>
                  </a:extLst>
                </a:gridCol>
                <a:gridCol w="2789400">
                  <a:extLst>
                    <a:ext uri="{9D8B030D-6E8A-4147-A177-3AD203B41FA5}">
                      <a16:colId xmlns:a16="http://schemas.microsoft.com/office/drawing/2014/main" val="20002"/>
                    </a:ext>
                  </a:extLst>
                </a:gridCol>
              </a:tblGrid>
              <a:tr h="604700">
                <a:tc>
                  <a:txBody>
                    <a:bodyPr/>
                    <a:lstStyle/>
                    <a:p>
                      <a:pPr marL="0" marR="0" lvl="0" indent="0" algn="ctr" rtl="0">
                        <a:lnSpc>
                          <a:spcPct val="100000"/>
                        </a:lnSpc>
                        <a:spcBef>
                          <a:spcPts val="0"/>
                        </a:spcBef>
                        <a:spcAft>
                          <a:spcPts val="0"/>
                        </a:spcAft>
                        <a:buClr>
                          <a:srgbClr val="000000"/>
                        </a:buClr>
                        <a:buSzPts val="1400"/>
                        <a:buFont typeface="Arial"/>
                        <a:buNone/>
                      </a:pPr>
                      <a:r>
                        <a:rPr lang="en" sz="1400" b="1" i="1" u="sng" strike="noStrike" cap="none">
                          <a:latin typeface="Times New Roman"/>
                          <a:ea typeface="Times New Roman"/>
                          <a:cs typeface="Times New Roman"/>
                          <a:sym typeface="Times New Roman"/>
                        </a:rPr>
                        <a:t>Products</a:t>
                      </a:r>
                      <a:endParaRPr sz="1400" b="1" i="1" u="sng"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i="1" u="sng" strike="noStrike" cap="none">
                          <a:latin typeface="Times New Roman"/>
                          <a:ea typeface="Times New Roman"/>
                          <a:cs typeface="Times New Roman"/>
                          <a:sym typeface="Times New Roman"/>
                        </a:rPr>
                        <a:t>Main Function</a:t>
                      </a:r>
                      <a:endParaRPr sz="1400" b="1" i="1" u="sng"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i="1" u="sng" strike="noStrike" cap="none" dirty="0">
                          <a:latin typeface="Times New Roman"/>
                          <a:ea typeface="Times New Roman"/>
                          <a:cs typeface="Times New Roman"/>
                          <a:sym typeface="Times New Roman"/>
                        </a:rPr>
                        <a:t>Secondary Function/Performances</a:t>
                      </a:r>
                      <a:endParaRPr sz="1400" b="1" i="1" u="sng" strike="noStrike" cap="none" dirty="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12861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Scenario 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Wall Paint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Home Improvement-Decoration, Aesthetics &amp; Surface Protection</a:t>
                      </a:r>
                      <a:endParaRPr sz="1400" u="none" strike="noStrike" cap="none">
                        <a:latin typeface="Times New Roman"/>
                        <a:ea typeface="Times New Roman"/>
                        <a:cs typeface="Times New Roman"/>
                        <a:sym typeface="Times New Roman"/>
                      </a:endParaRPr>
                    </a:p>
                  </a:txBody>
                  <a:tcPr marL="91425" marR="91425" marT="91425" marB="91425">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Reusable, Therapeutic function in application</a:t>
                      </a:r>
                      <a:endParaRPr sz="14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12861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Scenario 2:</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Wallpaper</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91425" marR="91425" marT="91425" marB="91425">
                    <a:lnT w="9525" cap="flat" cmpd="sng">
                      <a:solidFill>
                        <a:srgbClr val="9E9E9E">
                          <a:alpha val="0"/>
                        </a:srgbClr>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dirty="0">
                          <a:latin typeface="Times New Roman"/>
                          <a:ea typeface="Times New Roman"/>
                          <a:cs typeface="Times New Roman"/>
                          <a:sym typeface="Times New Roman"/>
                        </a:rPr>
                        <a:t>Heat, if burned</a:t>
                      </a:r>
                      <a:endParaRPr sz="1400" u="none" strike="noStrike" cap="none" dirty="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bl>
          </a:graphicData>
        </a:graphic>
      </p:graphicFrame>
      <p:pic>
        <p:nvPicPr>
          <p:cNvPr id="140" name="Google Shape;140;p15">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1795755" y="1895875"/>
            <a:ext cx="986600" cy="986600"/>
          </a:xfrm>
          <a:prstGeom prst="rect">
            <a:avLst/>
          </a:prstGeom>
          <a:noFill/>
          <a:ln>
            <a:noFill/>
          </a:ln>
        </p:spPr>
      </p:pic>
      <p:pic>
        <p:nvPicPr>
          <p:cNvPr id="141" name="Google Shape;141;p15">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763162" y="3192950"/>
            <a:ext cx="1051775" cy="986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6"/>
          <p:cNvSpPr txBox="1">
            <a:spLocks noGrp="1"/>
          </p:cNvSpPr>
          <p:nvPr>
            <p:ph type="title"/>
          </p:nvPr>
        </p:nvSpPr>
        <p:spPr>
          <a:xfrm>
            <a:off x="500150" y="355975"/>
            <a:ext cx="8368200" cy="6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400">
                <a:latin typeface="Arial"/>
                <a:ea typeface="Arial"/>
                <a:cs typeface="Arial"/>
                <a:sym typeface="Arial"/>
              </a:rPr>
              <a:t>Functional Unit</a:t>
            </a:r>
            <a:endParaRPr sz="2400">
              <a:latin typeface="Arial"/>
              <a:ea typeface="Arial"/>
              <a:cs typeface="Arial"/>
              <a:sym typeface="Arial"/>
            </a:endParaRPr>
          </a:p>
        </p:txBody>
      </p:sp>
      <p:graphicFrame>
        <p:nvGraphicFramePr>
          <p:cNvPr id="147" name="Google Shape;147;p16"/>
          <p:cNvGraphicFramePr/>
          <p:nvPr>
            <p:extLst>
              <p:ext uri="{D42A27DB-BD31-4B8C-83A1-F6EECF244321}">
                <p14:modId xmlns:p14="http://schemas.microsoft.com/office/powerpoint/2010/main" val="2132240706"/>
              </p:ext>
            </p:extLst>
          </p:nvPr>
        </p:nvGraphicFramePr>
        <p:xfrm>
          <a:off x="500150" y="965100"/>
          <a:ext cx="8143700" cy="3718470"/>
        </p:xfrm>
        <a:graphic>
          <a:graphicData uri="http://schemas.openxmlformats.org/drawingml/2006/table">
            <a:tbl>
              <a:tblPr firstRow="1">
                <a:noFill/>
                <a:tableStyleId>{22183C9E-A954-4A8D-819A-762C222C750F}</a:tableStyleId>
              </a:tblPr>
              <a:tblGrid>
                <a:gridCol w="2035925">
                  <a:extLst>
                    <a:ext uri="{9D8B030D-6E8A-4147-A177-3AD203B41FA5}">
                      <a16:colId xmlns:a16="http://schemas.microsoft.com/office/drawing/2014/main" val="20000"/>
                    </a:ext>
                  </a:extLst>
                </a:gridCol>
                <a:gridCol w="2035925">
                  <a:extLst>
                    <a:ext uri="{9D8B030D-6E8A-4147-A177-3AD203B41FA5}">
                      <a16:colId xmlns:a16="http://schemas.microsoft.com/office/drawing/2014/main" val="20001"/>
                    </a:ext>
                  </a:extLst>
                </a:gridCol>
                <a:gridCol w="2035925">
                  <a:extLst>
                    <a:ext uri="{9D8B030D-6E8A-4147-A177-3AD203B41FA5}">
                      <a16:colId xmlns:a16="http://schemas.microsoft.com/office/drawing/2014/main" val="20002"/>
                    </a:ext>
                  </a:extLst>
                </a:gridCol>
                <a:gridCol w="2035925">
                  <a:extLst>
                    <a:ext uri="{9D8B030D-6E8A-4147-A177-3AD203B41FA5}">
                      <a16:colId xmlns:a16="http://schemas.microsoft.com/office/drawing/2014/main" val="20003"/>
                    </a:ext>
                  </a:extLst>
                </a:gridCol>
              </a:tblGrid>
              <a:tr h="529650">
                <a:tc>
                  <a:txBody>
                    <a:bodyPr/>
                    <a:lstStyle/>
                    <a:p>
                      <a:pPr marL="0" marR="0" lvl="0" indent="0" algn="ctr" rtl="0">
                        <a:lnSpc>
                          <a:spcPct val="100000"/>
                        </a:lnSpc>
                        <a:spcBef>
                          <a:spcPts val="0"/>
                        </a:spcBef>
                        <a:spcAft>
                          <a:spcPts val="0"/>
                        </a:spcAft>
                        <a:buClr>
                          <a:srgbClr val="000000"/>
                        </a:buClr>
                        <a:buSzPts val="1400"/>
                        <a:buFont typeface="Arial"/>
                        <a:buNone/>
                      </a:pPr>
                      <a:r>
                        <a:rPr lang="en" sz="1400" b="1" i="1" u="sng" strike="noStrike" cap="none" dirty="0">
                          <a:latin typeface="Times New Roman"/>
                          <a:ea typeface="Times New Roman"/>
                          <a:cs typeface="Times New Roman"/>
                          <a:sym typeface="Times New Roman"/>
                        </a:rPr>
                        <a:t>Product System</a:t>
                      </a:r>
                      <a:endParaRPr sz="1400" b="1" i="1" u="sng"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i="1" u="sng" strike="noStrike" cap="none" dirty="0">
                          <a:latin typeface="Times New Roman"/>
                          <a:ea typeface="Times New Roman"/>
                          <a:cs typeface="Times New Roman"/>
                          <a:sym typeface="Times New Roman"/>
                        </a:rPr>
                        <a:t>Functional Unit</a:t>
                      </a:r>
                      <a:endParaRPr sz="1400" b="1" i="1" u="sng"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i="1" u="sng" strike="noStrike" cap="none" dirty="0">
                          <a:latin typeface="Times New Roman"/>
                          <a:ea typeface="Times New Roman"/>
                          <a:cs typeface="Times New Roman"/>
                          <a:sym typeface="Times New Roman"/>
                        </a:rPr>
                        <a:t>Reference Flow</a:t>
                      </a:r>
                      <a:endParaRPr sz="1400" b="1" i="1" u="sng"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i="1" u="sng" strike="noStrike" cap="none" dirty="0" err="1">
                          <a:latin typeface="Times New Roman"/>
                          <a:ea typeface="Times New Roman"/>
                          <a:cs typeface="Times New Roman"/>
                          <a:sym typeface="Times New Roman"/>
                        </a:rPr>
                        <a:t>Environmentla</a:t>
                      </a:r>
                      <a:r>
                        <a:rPr lang="en" sz="1400" b="1" i="1" u="sng" strike="noStrike" cap="none" dirty="0">
                          <a:latin typeface="Times New Roman"/>
                          <a:ea typeface="Times New Roman"/>
                          <a:cs typeface="Times New Roman"/>
                          <a:sym typeface="Times New Roman"/>
                        </a:rPr>
                        <a:t> Key Parameters</a:t>
                      </a:r>
                      <a:endParaRPr sz="1400" b="1" i="1" u="sng" strike="noStrike" cap="none" dirty="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182027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Times New Roman"/>
                          <a:ea typeface="Times New Roman"/>
                          <a:cs typeface="Times New Roman"/>
                          <a:sym typeface="Times New Roman"/>
                        </a:rPr>
                        <a:t>Wall Paint</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Times New Roman"/>
                          <a:ea typeface="Times New Roman"/>
                          <a:cs typeface="Times New Roman"/>
                          <a:sym typeface="Times New Roman"/>
                        </a:rPr>
                        <a:t>100 m^2 of wall protected for 20 years</a:t>
                      </a:r>
                      <a:endParaRPr sz="1200" u="none" strike="noStrike" cap="none">
                        <a:latin typeface="Times New Roman"/>
                        <a:ea typeface="Times New Roman"/>
                        <a:cs typeface="Times New Roman"/>
                        <a:sym typeface="Times New Roman"/>
                      </a:endParaRPr>
                    </a:p>
                  </a:txBody>
                  <a:tcPr marL="91425" marR="91425" marT="91425" marB="91425">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Times New Roman"/>
                          <a:ea typeface="Times New Roman"/>
                          <a:cs typeface="Times New Roman"/>
                          <a:sym typeface="Times New Roman"/>
                        </a:rPr>
                        <a:t>30 Liters of Paint (41.1kg)</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Times New Roman"/>
                          <a:ea typeface="Times New Roman"/>
                          <a:cs typeface="Times New Roman"/>
                          <a:sym typeface="Times New Roman"/>
                        </a:rPr>
                        <a:t>1 roller</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Times New Roman"/>
                          <a:ea typeface="Times New Roman"/>
                          <a:cs typeface="Times New Roman"/>
                          <a:sym typeface="Times New Roman"/>
                        </a:rPr>
                        <a:t>6 Paint buckets (2.5 kg)</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Times New Roman"/>
                          <a:ea typeface="Times New Roman"/>
                          <a:cs typeface="Times New Roman"/>
                          <a:sym typeface="Times New Roman"/>
                        </a:rPr>
                        <a:t>1/600 Ladder</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457200" marR="0" lvl="0" indent="-304800" algn="l" rtl="0">
                        <a:lnSpc>
                          <a:spcPct val="100000"/>
                        </a:lnSpc>
                        <a:spcBef>
                          <a:spcPts val="0"/>
                        </a:spcBef>
                        <a:spcAft>
                          <a:spcPts val="0"/>
                        </a:spcAft>
                        <a:buClr>
                          <a:srgbClr val="000000"/>
                        </a:buClr>
                        <a:buSzPts val="1200"/>
                        <a:buFont typeface="Times New Roman"/>
                        <a:buChar char="-"/>
                      </a:pPr>
                      <a:r>
                        <a:rPr lang="en" sz="1200" u="none" strike="noStrike" cap="none">
                          <a:latin typeface="Times New Roman"/>
                          <a:ea typeface="Times New Roman"/>
                          <a:cs typeface="Times New Roman"/>
                          <a:sym typeface="Times New Roman"/>
                        </a:rPr>
                        <a:t>Amount of paint/paper applied per square meter</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 sz="1200" u="none" strike="noStrike" cap="none">
                          <a:latin typeface="Times New Roman"/>
                          <a:ea typeface="Times New Roman"/>
                          <a:cs typeface="Times New Roman"/>
                          <a:sym typeface="Times New Roman"/>
                        </a:rPr>
                        <a:t>Lifetime of Paint/Paper</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 sz="1200" u="none" strike="noStrike" cap="none">
                          <a:latin typeface="Times New Roman"/>
                          <a:ea typeface="Times New Roman"/>
                          <a:cs typeface="Times New Roman"/>
                          <a:sym typeface="Times New Roman"/>
                        </a:rPr>
                        <a:t>Category of Paint/Paper (Water based, Oil, Plant based, etc.)</a:t>
                      </a:r>
                      <a:endParaRPr sz="1200" u="none" strike="noStrike" cap="none">
                        <a:latin typeface="Times New Roman"/>
                        <a:ea typeface="Times New Roman"/>
                        <a:cs typeface="Times New Roman"/>
                        <a:sym typeface="Times New Roman"/>
                      </a:endParaRPr>
                    </a:p>
                  </a:txBody>
                  <a:tcPr marL="91425" marR="91425" marT="91425" marB="91425">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126715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Times New Roman"/>
                          <a:ea typeface="Times New Roman"/>
                          <a:cs typeface="Times New Roman"/>
                          <a:sym typeface="Times New Roman"/>
                        </a:rPr>
                        <a:t>Wallpaper</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txBody>
                  <a:tcPr marL="91425" marR="91425" marT="91425" marB="91425">
                    <a:lnT w="9525" cap="flat" cmpd="sng">
                      <a:solidFill>
                        <a:srgbClr val="9E9E9E">
                          <a:alpha val="0"/>
                        </a:srgbClr>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Times New Roman"/>
                          <a:ea typeface="Times New Roman"/>
                          <a:cs typeface="Times New Roman"/>
                          <a:sym typeface="Times New Roman"/>
                        </a:rPr>
                        <a:t>32.9 rolls of 1kg  wallpaper (32.9 kg)</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Times New Roman"/>
                          <a:ea typeface="Times New Roman"/>
                          <a:cs typeface="Times New Roman"/>
                          <a:sym typeface="Times New Roman"/>
                        </a:rPr>
                        <a:t>1 roller</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Times New Roman"/>
                          <a:ea typeface="Times New Roman"/>
                          <a:cs typeface="Times New Roman"/>
                          <a:sym typeface="Times New Roman"/>
                        </a:rPr>
                        <a:t>1 Concentrated Adhesive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Times New Roman"/>
                          <a:ea typeface="Times New Roman"/>
                          <a:cs typeface="Times New Roman"/>
                          <a:sym typeface="Times New Roman"/>
                        </a:rPr>
                        <a:t>1/600 ladder</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latin typeface="Times New Roman"/>
                        <a:ea typeface="Times New Roman"/>
                        <a:cs typeface="Times New Roman"/>
                        <a:sym typeface="Times New Roman"/>
                      </a:endParaRPr>
                    </a:p>
                  </a:txBody>
                  <a:tcPr marL="91425" marR="91425" marT="91425" marB="91425">
                    <a:lnT w="9525" cap="flat" cmpd="sng">
                      <a:solidFill>
                        <a:srgbClr val="9E9E9E">
                          <a:alpha val="0"/>
                        </a:srgbClr>
                      </a:solidFill>
                      <a:prstDash val="solid"/>
                      <a:round/>
                      <a:headEnd type="none" w="sm" len="sm"/>
                      <a:tailEnd type="none" w="sm" len="sm"/>
                    </a:lnT>
                  </a:tcPr>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7"/>
          <p:cNvSpPr txBox="1">
            <a:spLocks noGrp="1"/>
          </p:cNvSpPr>
          <p:nvPr>
            <p:ph type="title"/>
          </p:nvPr>
        </p:nvSpPr>
        <p:spPr>
          <a:xfrm>
            <a:off x="690875" y="371000"/>
            <a:ext cx="7505700" cy="66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400">
                <a:latin typeface="Arial"/>
                <a:ea typeface="Arial"/>
                <a:cs typeface="Arial"/>
                <a:sym typeface="Arial"/>
              </a:rPr>
              <a:t>Assumptions</a:t>
            </a:r>
            <a:endParaRPr sz="2400">
              <a:latin typeface="Arial"/>
              <a:ea typeface="Arial"/>
              <a:cs typeface="Arial"/>
              <a:sym typeface="Arial"/>
            </a:endParaRPr>
          </a:p>
        </p:txBody>
      </p:sp>
      <p:sp>
        <p:nvSpPr>
          <p:cNvPr id="153" name="Google Shape;153;p17"/>
          <p:cNvSpPr txBox="1">
            <a:spLocks noGrp="1"/>
          </p:cNvSpPr>
          <p:nvPr>
            <p:ph type="body" idx="1"/>
          </p:nvPr>
        </p:nvSpPr>
        <p:spPr>
          <a:xfrm>
            <a:off x="819150" y="1115625"/>
            <a:ext cx="7505700" cy="27840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The average lifetime of ladder is 5 years and the painting process will take 3 days for both wallpaper and wall paint.</a:t>
            </a:r>
            <a:endParaRPr sz="1800">
              <a:solidFill>
                <a:srgbClr val="000000"/>
              </a:solidFill>
              <a:latin typeface="Arial"/>
              <a:ea typeface="Arial"/>
              <a:cs typeface="Arial"/>
              <a:sym typeface="Arial"/>
            </a:endParaRPr>
          </a:p>
          <a:p>
            <a:pPr marL="457200" lvl="0" indent="-342900" algn="l" rtl="0">
              <a:lnSpc>
                <a:spcPct val="115000"/>
              </a:lnSpc>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The lifetime of wallpaper and wall paint are both 20 years.</a:t>
            </a:r>
            <a:endParaRPr sz="1800">
              <a:solidFill>
                <a:srgbClr val="000000"/>
              </a:solidFill>
              <a:latin typeface="Arial"/>
              <a:ea typeface="Arial"/>
              <a:cs typeface="Arial"/>
              <a:sym typeface="Arial"/>
            </a:endParaRPr>
          </a:p>
          <a:p>
            <a:pPr marL="457200" lvl="0" indent="-342900" algn="l" rtl="0">
              <a:lnSpc>
                <a:spcPct val="115000"/>
              </a:lnSpc>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The properties of solid ingredients in wall paint are chosen as the largest one in their feasible range.</a:t>
            </a:r>
            <a:endParaRPr sz="1800">
              <a:solidFill>
                <a:srgbClr val="000000"/>
              </a:solidFill>
              <a:latin typeface="Arial"/>
              <a:ea typeface="Arial"/>
              <a:cs typeface="Arial"/>
              <a:sym typeface="Arial"/>
            </a:endParaRPr>
          </a:p>
          <a:p>
            <a:pPr marL="457200" lvl="0" indent="-342900" algn="l" rtl="0">
              <a:lnSpc>
                <a:spcPct val="115000"/>
              </a:lnSpc>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The wall paint, steel bucket and packaging cardboard are produced in the same factory.</a:t>
            </a:r>
            <a:endParaRPr sz="1800">
              <a:solidFill>
                <a:srgbClr val="000000"/>
              </a:solidFill>
              <a:latin typeface="Arial"/>
              <a:ea typeface="Arial"/>
              <a:cs typeface="Arial"/>
              <a:sym typeface="Arial"/>
            </a:endParaRPr>
          </a:p>
          <a:p>
            <a:pPr marL="457200" lvl="0" indent="-342900" algn="l" rtl="0">
              <a:lnSpc>
                <a:spcPct val="115000"/>
              </a:lnSpc>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The standard roll size of wallpaper from </a:t>
            </a:r>
            <a:r>
              <a:rPr lang="en" sz="1800" i="1">
                <a:solidFill>
                  <a:srgbClr val="000000"/>
                </a:solidFill>
                <a:latin typeface="Arial"/>
                <a:ea typeface="Arial"/>
                <a:cs typeface="Arial"/>
                <a:sym typeface="Arial"/>
              </a:rPr>
              <a:t>Graham &amp; Brown</a:t>
            </a:r>
            <a:r>
              <a:rPr lang="en" sz="1800">
                <a:solidFill>
                  <a:srgbClr val="000000"/>
                </a:solidFill>
                <a:latin typeface="Arial"/>
                <a:ea typeface="Arial"/>
                <a:cs typeface="Arial"/>
                <a:sym typeface="Arial"/>
              </a:rPr>
              <a:t>’s collection was 32.80ft by 20.47 inches.</a:t>
            </a:r>
            <a:endParaRPr sz="180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8"/>
          <p:cNvSpPr txBox="1">
            <a:spLocks noGrp="1"/>
          </p:cNvSpPr>
          <p:nvPr>
            <p:ph type="title"/>
          </p:nvPr>
        </p:nvSpPr>
        <p:spPr>
          <a:xfrm>
            <a:off x="469200" y="295475"/>
            <a:ext cx="8205600" cy="6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400">
                <a:latin typeface="Arial"/>
                <a:ea typeface="Arial"/>
                <a:cs typeface="Arial"/>
                <a:sym typeface="Arial"/>
              </a:rPr>
              <a:t>Process Tree with Intermediary Flows (Wall Paint)</a:t>
            </a:r>
            <a:endParaRPr sz="2400">
              <a:latin typeface="Arial"/>
              <a:ea typeface="Arial"/>
              <a:cs typeface="Arial"/>
              <a:sym typeface="Arial"/>
            </a:endParaRPr>
          </a:p>
        </p:txBody>
      </p:sp>
      <p:pic>
        <p:nvPicPr>
          <p:cNvPr id="159" name="Google Shape;159;p18" descr="Intermediary Flows for Wall Paint"/>
          <p:cNvPicPr preferRelativeResize="0"/>
          <p:nvPr/>
        </p:nvPicPr>
        <p:blipFill rotWithShape="1">
          <a:blip r:embed="rId3">
            <a:alphaModFix/>
          </a:blip>
          <a:srcRect/>
          <a:stretch/>
        </p:blipFill>
        <p:spPr>
          <a:xfrm>
            <a:off x="264150" y="833125"/>
            <a:ext cx="8676649" cy="40843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9"/>
          <p:cNvSpPr txBox="1">
            <a:spLocks noGrp="1"/>
          </p:cNvSpPr>
          <p:nvPr>
            <p:ph type="title"/>
          </p:nvPr>
        </p:nvSpPr>
        <p:spPr>
          <a:xfrm>
            <a:off x="320800" y="230925"/>
            <a:ext cx="7505700" cy="61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400">
                <a:latin typeface="Arial"/>
                <a:ea typeface="Arial"/>
                <a:cs typeface="Arial"/>
                <a:sym typeface="Arial"/>
              </a:rPr>
              <a:t>Final Results: Excel Chart (Wall Paint) </a:t>
            </a:r>
            <a:endParaRPr sz="2400">
              <a:latin typeface="Arial"/>
              <a:ea typeface="Arial"/>
              <a:cs typeface="Arial"/>
              <a:sym typeface="Arial"/>
            </a:endParaRPr>
          </a:p>
        </p:txBody>
      </p:sp>
      <p:pic>
        <p:nvPicPr>
          <p:cNvPr id="165" name="Google Shape;165;p19" descr="Excel chart of results for wall paint"/>
          <p:cNvPicPr preferRelativeResize="0"/>
          <p:nvPr/>
        </p:nvPicPr>
        <p:blipFill rotWithShape="1">
          <a:blip r:embed="rId3">
            <a:alphaModFix/>
          </a:blip>
          <a:srcRect/>
          <a:stretch/>
        </p:blipFill>
        <p:spPr>
          <a:xfrm>
            <a:off x="320800" y="949025"/>
            <a:ext cx="8502401" cy="3754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0"/>
          <p:cNvSpPr txBox="1">
            <a:spLocks noGrp="1"/>
          </p:cNvSpPr>
          <p:nvPr>
            <p:ph type="title"/>
          </p:nvPr>
        </p:nvSpPr>
        <p:spPr>
          <a:xfrm>
            <a:off x="674200" y="218500"/>
            <a:ext cx="8368200" cy="6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400">
                <a:latin typeface="Arial"/>
                <a:ea typeface="Arial"/>
                <a:cs typeface="Arial"/>
                <a:sym typeface="Arial"/>
              </a:rPr>
              <a:t>Process Tree with Intermediary Flows (Wallpaper)</a:t>
            </a:r>
            <a:endParaRPr sz="2400">
              <a:latin typeface="Arial"/>
              <a:ea typeface="Arial"/>
              <a:cs typeface="Arial"/>
              <a:sym typeface="Arial"/>
            </a:endParaRPr>
          </a:p>
        </p:txBody>
      </p:sp>
      <p:pic>
        <p:nvPicPr>
          <p:cNvPr id="171" name="Google Shape;171;p20" descr="Process Tree with intermediary flows for wall paper "/>
          <p:cNvPicPr preferRelativeResize="0"/>
          <p:nvPr/>
        </p:nvPicPr>
        <p:blipFill rotWithShape="1">
          <a:blip r:embed="rId3">
            <a:alphaModFix/>
          </a:blip>
          <a:srcRect/>
          <a:stretch/>
        </p:blipFill>
        <p:spPr>
          <a:xfrm>
            <a:off x="333500" y="750425"/>
            <a:ext cx="8439952" cy="41060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1"/>
          <p:cNvSpPr txBox="1">
            <a:spLocks noGrp="1"/>
          </p:cNvSpPr>
          <p:nvPr>
            <p:ph type="title"/>
          </p:nvPr>
        </p:nvSpPr>
        <p:spPr>
          <a:xfrm>
            <a:off x="613925" y="178600"/>
            <a:ext cx="7505700" cy="61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400">
                <a:latin typeface="Arial"/>
                <a:ea typeface="Arial"/>
                <a:cs typeface="Arial"/>
                <a:sym typeface="Arial"/>
              </a:rPr>
              <a:t>Final Results: Excel Chart (Wallpaper)</a:t>
            </a:r>
            <a:endParaRPr sz="2400">
              <a:latin typeface="Arial"/>
              <a:ea typeface="Arial"/>
              <a:cs typeface="Arial"/>
              <a:sym typeface="Arial"/>
            </a:endParaRPr>
          </a:p>
        </p:txBody>
      </p:sp>
      <p:pic>
        <p:nvPicPr>
          <p:cNvPr id="177" name="Google Shape;177;p21" descr="Excel chart for wallpaper "/>
          <p:cNvPicPr preferRelativeResize="0"/>
          <p:nvPr/>
        </p:nvPicPr>
        <p:blipFill rotWithShape="1">
          <a:blip r:embed="rId3">
            <a:alphaModFix/>
          </a:blip>
          <a:srcRect l="1838" t="30339" r="45325" b="18400"/>
          <a:stretch/>
        </p:blipFill>
        <p:spPr>
          <a:xfrm>
            <a:off x="329450" y="795100"/>
            <a:ext cx="8489424" cy="4142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2"/>
          <p:cNvSpPr txBox="1">
            <a:spLocks noGrp="1"/>
          </p:cNvSpPr>
          <p:nvPr>
            <p:ph type="title"/>
          </p:nvPr>
        </p:nvSpPr>
        <p:spPr>
          <a:xfrm>
            <a:off x="1595250" y="268400"/>
            <a:ext cx="5953500" cy="898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400">
                <a:latin typeface="Arial"/>
                <a:ea typeface="Arial"/>
                <a:cs typeface="Arial"/>
                <a:sym typeface="Arial"/>
              </a:rPr>
              <a:t>Energy-Use Comparison</a:t>
            </a:r>
            <a:endParaRPr sz="2400">
              <a:latin typeface="Arial"/>
              <a:ea typeface="Arial"/>
              <a:cs typeface="Arial"/>
              <a:sym typeface="Arial"/>
            </a:endParaRPr>
          </a:p>
        </p:txBody>
      </p:sp>
      <p:pic>
        <p:nvPicPr>
          <p:cNvPr id="183" name="Google Shape;183;p22" descr="Bar graph showing Energy Use comparison of wall paint versus wall paper"/>
          <p:cNvPicPr preferRelativeResize="0"/>
          <p:nvPr/>
        </p:nvPicPr>
        <p:blipFill rotWithShape="1">
          <a:blip r:embed="rId3">
            <a:alphaModFix/>
          </a:blip>
          <a:srcRect/>
          <a:stretch/>
        </p:blipFill>
        <p:spPr>
          <a:xfrm>
            <a:off x="1595250" y="949150"/>
            <a:ext cx="5731625" cy="3808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3"/>
          <p:cNvSpPr txBox="1">
            <a:spLocks noGrp="1"/>
          </p:cNvSpPr>
          <p:nvPr>
            <p:ph type="title"/>
          </p:nvPr>
        </p:nvSpPr>
        <p:spPr>
          <a:xfrm>
            <a:off x="1576050" y="332525"/>
            <a:ext cx="5991900" cy="963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CO</a:t>
            </a:r>
            <a:r>
              <a:rPr lang="en" sz="2400" baseline="-25000">
                <a:latin typeface="Arial"/>
                <a:ea typeface="Arial"/>
                <a:cs typeface="Arial"/>
                <a:sym typeface="Arial"/>
              </a:rPr>
              <a:t>2</a:t>
            </a:r>
            <a:r>
              <a:rPr lang="en"/>
              <a:t> Emissions Comparison</a:t>
            </a:r>
            <a:endParaRPr/>
          </a:p>
        </p:txBody>
      </p:sp>
      <p:pic>
        <p:nvPicPr>
          <p:cNvPr id="189" name="Google Shape;189;p23" descr="Bar Graph of CO2 emissions comparison"/>
          <p:cNvPicPr preferRelativeResize="0"/>
          <p:nvPr/>
        </p:nvPicPr>
        <p:blipFill rotWithShape="1">
          <a:blip r:embed="rId3">
            <a:alphaModFix/>
          </a:blip>
          <a:srcRect/>
          <a:stretch/>
        </p:blipFill>
        <p:spPr>
          <a:xfrm>
            <a:off x="1576050" y="993325"/>
            <a:ext cx="5991901" cy="3780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4"/>
          <p:cNvSpPr txBox="1">
            <a:spLocks noGrp="1"/>
          </p:cNvSpPr>
          <p:nvPr>
            <p:ph type="title"/>
          </p:nvPr>
        </p:nvSpPr>
        <p:spPr>
          <a:xfrm>
            <a:off x="819150" y="417750"/>
            <a:ext cx="7800300" cy="954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400"/>
              </a:spcBef>
              <a:spcAft>
                <a:spcPts val="0"/>
              </a:spcAft>
              <a:buSzPts val="3000"/>
              <a:buNone/>
            </a:pPr>
            <a:r>
              <a:rPr lang="en" sz="2400">
                <a:latin typeface="Arial"/>
                <a:ea typeface="Arial"/>
                <a:cs typeface="Arial"/>
                <a:sym typeface="Arial"/>
              </a:rPr>
              <a:t>What type of products do you have in term of passive/active and fixed/mobile.  What are the priorities to improve it from an environmental perspective? </a:t>
            </a:r>
            <a:endParaRPr sz="2400">
              <a:latin typeface="Arial"/>
              <a:ea typeface="Arial"/>
              <a:cs typeface="Arial"/>
              <a:sym typeface="Arial"/>
            </a:endParaRPr>
          </a:p>
          <a:p>
            <a:pPr marL="0" lvl="0" indent="0" algn="l" rtl="0">
              <a:lnSpc>
                <a:spcPct val="100000"/>
              </a:lnSpc>
              <a:spcBef>
                <a:spcPts val="400"/>
              </a:spcBef>
              <a:spcAft>
                <a:spcPts val="0"/>
              </a:spcAft>
              <a:buSzPts val="3000"/>
              <a:buNone/>
            </a:pPr>
            <a:endParaRPr sz="2000" b="1">
              <a:latin typeface="Arial"/>
              <a:ea typeface="Arial"/>
              <a:cs typeface="Arial"/>
              <a:sym typeface="Arial"/>
            </a:endParaRPr>
          </a:p>
        </p:txBody>
      </p:sp>
      <p:sp>
        <p:nvSpPr>
          <p:cNvPr id="195" name="Google Shape;195;p24"/>
          <p:cNvSpPr txBox="1">
            <a:spLocks noGrp="1"/>
          </p:cNvSpPr>
          <p:nvPr>
            <p:ph type="body" idx="1"/>
          </p:nvPr>
        </p:nvSpPr>
        <p:spPr>
          <a:xfrm>
            <a:off x="819150" y="1998100"/>
            <a:ext cx="7505700" cy="2448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300"/>
              <a:buNone/>
            </a:pPr>
            <a:r>
              <a:rPr lang="en" sz="1400">
                <a:solidFill>
                  <a:srgbClr val="000000"/>
                </a:solidFill>
              </a:rPr>
              <a:t>Both wallpaper and wall paint produced (1) 100m^2 covered wall. This would make the product passive and fixed (Material intensive without much transportation).</a:t>
            </a:r>
            <a:endParaRPr sz="1400">
              <a:solidFill>
                <a:srgbClr val="000000"/>
              </a:solidFill>
            </a:endParaRPr>
          </a:p>
          <a:p>
            <a:pPr marL="0" lvl="0" indent="0" algn="l" rtl="0">
              <a:lnSpc>
                <a:spcPct val="115000"/>
              </a:lnSpc>
              <a:spcBef>
                <a:spcPts val="1600"/>
              </a:spcBef>
              <a:spcAft>
                <a:spcPts val="1600"/>
              </a:spcAft>
              <a:buSzPts val="1300"/>
              <a:buNone/>
            </a:pPr>
            <a:r>
              <a:rPr lang="en" sz="1400">
                <a:solidFill>
                  <a:srgbClr val="000000"/>
                </a:solidFill>
              </a:rPr>
              <a:t>The priorities to improve from an environmental perspective would be finding possible alternative material for wallpaper such as (recycled paper instead of cutting down new trees), biodegradable plastics for packaging and energy efficient machinery for the production process. To improve the wall paint, the possible use of natural or organic material instead of chemicals such as titanium dioxide should lower the energy consumption associated with the material’s extraction and refinery. </a:t>
            </a:r>
            <a:endParaRPr sz="140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5"/>
          <p:cNvSpPr txBox="1">
            <a:spLocks noGrp="1"/>
          </p:cNvSpPr>
          <p:nvPr>
            <p:ph type="title"/>
          </p:nvPr>
        </p:nvSpPr>
        <p:spPr>
          <a:xfrm>
            <a:off x="768900" y="306900"/>
            <a:ext cx="7606200" cy="66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Sensitivity of energy and CO2_Lifetime</a:t>
            </a:r>
            <a:endParaRPr/>
          </a:p>
        </p:txBody>
      </p:sp>
      <p:sp>
        <p:nvSpPr>
          <p:cNvPr id="201" name="Google Shape;201;p25"/>
          <p:cNvSpPr txBox="1"/>
          <p:nvPr/>
        </p:nvSpPr>
        <p:spPr>
          <a:xfrm>
            <a:off x="2065125" y="3847975"/>
            <a:ext cx="4592100" cy="66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With the longer lifetime of wall paint and wallpaper, the total energy use and CO2 emissions will decrease.</a:t>
            </a:r>
            <a:endParaRPr sz="1400" b="0" i="0" u="none" strike="noStrike" cap="none">
              <a:solidFill>
                <a:srgbClr val="000000"/>
              </a:solidFill>
              <a:latin typeface="Arial"/>
              <a:ea typeface="Arial"/>
              <a:cs typeface="Arial"/>
              <a:sym typeface="Arial"/>
            </a:endParaRPr>
          </a:p>
        </p:txBody>
      </p:sp>
      <p:pic>
        <p:nvPicPr>
          <p:cNvPr id="202" name="Google Shape;202;p25" descr="Line graph of sensitivity of total energy use with lifetime"/>
          <p:cNvPicPr preferRelativeResize="0"/>
          <p:nvPr/>
        </p:nvPicPr>
        <p:blipFill rotWithShape="1">
          <a:blip r:embed="rId3">
            <a:alphaModFix/>
          </a:blip>
          <a:srcRect/>
          <a:stretch/>
        </p:blipFill>
        <p:spPr>
          <a:xfrm>
            <a:off x="203700" y="1217125"/>
            <a:ext cx="4368300" cy="2388426"/>
          </a:xfrm>
          <a:prstGeom prst="rect">
            <a:avLst/>
          </a:prstGeom>
          <a:noFill/>
          <a:ln>
            <a:noFill/>
          </a:ln>
        </p:spPr>
      </p:pic>
      <p:pic>
        <p:nvPicPr>
          <p:cNvPr id="203" name="Google Shape;203;p25" descr="Line graph of sensitivity of total CO2 energy emissions with lifetime"/>
          <p:cNvPicPr preferRelativeResize="0"/>
          <p:nvPr/>
        </p:nvPicPr>
        <p:blipFill rotWithShape="1">
          <a:blip r:embed="rId4">
            <a:alphaModFix/>
          </a:blip>
          <a:srcRect/>
          <a:stretch/>
        </p:blipFill>
        <p:spPr>
          <a:xfrm>
            <a:off x="4572000" y="1217125"/>
            <a:ext cx="4338125" cy="236341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768900" y="306900"/>
            <a:ext cx="7606200" cy="66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Sensitivity of energy and CO2_Thickness</a:t>
            </a:r>
            <a:endParaRPr/>
          </a:p>
        </p:txBody>
      </p:sp>
      <p:sp>
        <p:nvSpPr>
          <p:cNvPr id="214" name="Google Shape;214;p26"/>
          <p:cNvSpPr txBox="1"/>
          <p:nvPr/>
        </p:nvSpPr>
        <p:spPr>
          <a:xfrm>
            <a:off x="2261375" y="1424950"/>
            <a:ext cx="6882600" cy="66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Scenario 2 (Wallpaper)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Scenario 2 (Wallpaper)  </a:t>
            </a:r>
            <a:endParaRPr sz="1400" b="0" i="0" u="none" strike="noStrike" cap="none">
              <a:solidFill>
                <a:srgbClr val="000000"/>
              </a:solidFill>
              <a:latin typeface="Arial"/>
              <a:ea typeface="Arial"/>
              <a:cs typeface="Arial"/>
              <a:sym typeface="Arial"/>
            </a:endParaRPr>
          </a:p>
        </p:txBody>
      </p:sp>
      <p:pic>
        <p:nvPicPr>
          <p:cNvPr id="210" name="Google Shape;210;p26" descr="Line graph of sensitivity of energy and CO2 Thickness"/>
          <p:cNvPicPr preferRelativeResize="0"/>
          <p:nvPr/>
        </p:nvPicPr>
        <p:blipFill rotWithShape="1">
          <a:blip r:embed="rId3">
            <a:alphaModFix/>
          </a:blip>
          <a:srcRect/>
          <a:stretch/>
        </p:blipFill>
        <p:spPr>
          <a:xfrm>
            <a:off x="216125" y="1129400"/>
            <a:ext cx="4267200" cy="2563869"/>
          </a:xfrm>
          <a:prstGeom prst="rect">
            <a:avLst/>
          </a:prstGeom>
          <a:noFill/>
          <a:ln>
            <a:noFill/>
          </a:ln>
        </p:spPr>
      </p:pic>
      <p:cxnSp>
        <p:nvCxnSpPr>
          <p:cNvPr id="212" name="Google Shape;212;p26">
            <a:extLst>
              <a:ext uri="{C183D7F6-B498-43B3-948B-1728B52AA6E4}">
                <adec:decorative xmlns:adec="http://schemas.microsoft.com/office/drawing/2017/decorative" val="1"/>
              </a:ext>
            </a:extLst>
          </p:cNvPr>
          <p:cNvCxnSpPr/>
          <p:nvPr/>
        </p:nvCxnSpPr>
        <p:spPr>
          <a:xfrm>
            <a:off x="886800" y="1758850"/>
            <a:ext cx="3251700" cy="0"/>
          </a:xfrm>
          <a:prstGeom prst="straightConnector1">
            <a:avLst/>
          </a:prstGeom>
          <a:noFill/>
          <a:ln w="9525" cap="flat" cmpd="sng">
            <a:solidFill>
              <a:schemeClr val="dk2"/>
            </a:solidFill>
            <a:prstDash val="solid"/>
            <a:round/>
            <a:headEnd type="none" w="sm" len="sm"/>
            <a:tailEnd type="none" w="sm" len="sm"/>
          </a:ln>
        </p:spPr>
      </p:cxnSp>
      <p:pic>
        <p:nvPicPr>
          <p:cNvPr id="211" name="Google Shape;211;p26" descr="Line graph of sensitivity of energy and CO2 Thickness"/>
          <p:cNvPicPr preferRelativeResize="0"/>
          <p:nvPr/>
        </p:nvPicPr>
        <p:blipFill rotWithShape="1">
          <a:blip r:embed="rId4">
            <a:alphaModFix/>
          </a:blip>
          <a:srcRect/>
          <a:stretch/>
        </p:blipFill>
        <p:spPr>
          <a:xfrm>
            <a:off x="4483325" y="1127100"/>
            <a:ext cx="4274867" cy="2568475"/>
          </a:xfrm>
          <a:prstGeom prst="rect">
            <a:avLst/>
          </a:prstGeom>
          <a:noFill/>
          <a:ln>
            <a:noFill/>
          </a:ln>
        </p:spPr>
      </p:pic>
      <p:cxnSp>
        <p:nvCxnSpPr>
          <p:cNvPr id="213" name="Google Shape;213;p26">
            <a:extLst>
              <a:ext uri="{C183D7F6-B498-43B3-948B-1728B52AA6E4}">
                <adec:decorative xmlns:adec="http://schemas.microsoft.com/office/drawing/2017/decorative" val="1"/>
              </a:ext>
            </a:extLst>
          </p:cNvPr>
          <p:cNvCxnSpPr/>
          <p:nvPr/>
        </p:nvCxnSpPr>
        <p:spPr>
          <a:xfrm>
            <a:off x="5098850" y="1921400"/>
            <a:ext cx="3414600" cy="0"/>
          </a:xfrm>
          <a:prstGeom prst="straightConnector1">
            <a:avLst/>
          </a:prstGeom>
          <a:noFill/>
          <a:ln w="9525" cap="flat" cmpd="sng">
            <a:solidFill>
              <a:schemeClr val="dk2"/>
            </a:solidFill>
            <a:prstDash val="solid"/>
            <a:round/>
            <a:headEnd type="none" w="sm" len="sm"/>
            <a:tailEnd type="none" w="sm" len="sm"/>
          </a:ln>
        </p:spPr>
      </p:cxnSp>
      <p:sp>
        <p:nvSpPr>
          <p:cNvPr id="209" name="Google Shape;209;p26"/>
          <p:cNvSpPr txBox="1"/>
          <p:nvPr/>
        </p:nvSpPr>
        <p:spPr>
          <a:xfrm>
            <a:off x="886800" y="3774075"/>
            <a:ext cx="7606200" cy="66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With the increase of the thickness (less sq. metres per litre can paint), the total energy use and CO2 emissions will increase. And the maximum thickness is 3.33 sq. metres per litre, the minimum thickness is 15 sq. metres per litre. If the thickness reached 3.95 or less, the wallpaper may have a better energy performance.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7"/>
          <p:cNvSpPr txBox="1">
            <a:spLocks noGrp="1"/>
          </p:cNvSpPr>
          <p:nvPr>
            <p:ph type="title"/>
          </p:nvPr>
        </p:nvSpPr>
        <p:spPr>
          <a:xfrm>
            <a:off x="678050" y="345350"/>
            <a:ext cx="7505700" cy="954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400">
                <a:latin typeface="Arial"/>
                <a:ea typeface="Arial"/>
                <a:cs typeface="Arial"/>
                <a:sym typeface="Arial"/>
              </a:rPr>
              <a:t>Conclusion</a:t>
            </a:r>
            <a:endParaRPr sz="2400">
              <a:latin typeface="Arial"/>
              <a:ea typeface="Arial"/>
              <a:cs typeface="Arial"/>
              <a:sym typeface="Arial"/>
            </a:endParaRPr>
          </a:p>
        </p:txBody>
      </p:sp>
      <p:sp>
        <p:nvSpPr>
          <p:cNvPr id="220" name="Google Shape;220;p27"/>
          <p:cNvSpPr txBox="1">
            <a:spLocks noGrp="1"/>
          </p:cNvSpPr>
          <p:nvPr>
            <p:ph type="body" idx="1"/>
          </p:nvPr>
        </p:nvSpPr>
        <p:spPr>
          <a:xfrm>
            <a:off x="500250" y="1173300"/>
            <a:ext cx="8187300" cy="2796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300"/>
              <a:buNone/>
            </a:pPr>
            <a:r>
              <a:rPr lang="en">
                <a:solidFill>
                  <a:srgbClr val="000000"/>
                </a:solidFill>
                <a:latin typeface="Arial"/>
                <a:ea typeface="Arial"/>
                <a:cs typeface="Arial"/>
                <a:sym typeface="Arial"/>
              </a:rPr>
              <a:t>● </a:t>
            </a:r>
            <a:r>
              <a:rPr lang="en" sz="2000">
                <a:solidFill>
                  <a:srgbClr val="000000"/>
                </a:solidFill>
                <a:latin typeface="Arial"/>
                <a:ea typeface="Arial"/>
                <a:cs typeface="Arial"/>
                <a:sym typeface="Arial"/>
              </a:rPr>
              <a:t>Wall Paint is around 50-60% better at energy and CO2 performance.</a:t>
            </a:r>
            <a:endParaRPr sz="2000">
              <a:solidFill>
                <a:srgbClr val="000000"/>
              </a:solidFill>
              <a:latin typeface="Arial"/>
              <a:ea typeface="Arial"/>
              <a:cs typeface="Arial"/>
              <a:sym typeface="Arial"/>
            </a:endParaRPr>
          </a:p>
          <a:p>
            <a:pPr marL="0" lvl="0" indent="0" algn="l" rtl="0">
              <a:lnSpc>
                <a:spcPct val="100000"/>
              </a:lnSpc>
              <a:spcBef>
                <a:spcPts val="0"/>
              </a:spcBef>
              <a:spcAft>
                <a:spcPts val="0"/>
              </a:spcAft>
              <a:buSzPts val="1300"/>
              <a:buNone/>
            </a:pPr>
            <a:endParaRPr sz="2000">
              <a:solidFill>
                <a:srgbClr val="000000"/>
              </a:solidFill>
              <a:latin typeface="Arial"/>
              <a:ea typeface="Arial"/>
              <a:cs typeface="Arial"/>
              <a:sym typeface="Arial"/>
            </a:endParaRPr>
          </a:p>
          <a:p>
            <a:pPr marL="0" lvl="0" indent="0" algn="l" rtl="0">
              <a:lnSpc>
                <a:spcPct val="100000"/>
              </a:lnSpc>
              <a:spcBef>
                <a:spcPts val="0"/>
              </a:spcBef>
              <a:spcAft>
                <a:spcPts val="0"/>
              </a:spcAft>
              <a:buSzPts val="1300"/>
              <a:buNone/>
            </a:pPr>
            <a:r>
              <a:rPr lang="en">
                <a:solidFill>
                  <a:srgbClr val="000000"/>
                </a:solidFill>
                <a:latin typeface="Arial"/>
                <a:ea typeface="Arial"/>
                <a:cs typeface="Arial"/>
                <a:sym typeface="Arial"/>
              </a:rPr>
              <a:t>● </a:t>
            </a:r>
            <a:r>
              <a:rPr lang="en" sz="2000">
                <a:solidFill>
                  <a:srgbClr val="000000"/>
                </a:solidFill>
                <a:latin typeface="Arial"/>
                <a:ea typeface="Arial"/>
                <a:cs typeface="Arial"/>
                <a:sym typeface="Arial"/>
              </a:rPr>
              <a:t>Wall Paint: </a:t>
            </a:r>
            <a:r>
              <a:rPr lang="en" sz="2000" b="1">
                <a:solidFill>
                  <a:srgbClr val="000000"/>
                </a:solidFill>
                <a:latin typeface="Arial"/>
                <a:ea typeface="Arial"/>
                <a:cs typeface="Arial"/>
                <a:sym typeface="Arial"/>
              </a:rPr>
              <a:t>Material </a:t>
            </a:r>
            <a:r>
              <a:rPr lang="en" sz="2000">
                <a:solidFill>
                  <a:srgbClr val="000000"/>
                </a:solidFill>
                <a:latin typeface="Arial"/>
                <a:ea typeface="Arial"/>
                <a:cs typeface="Arial"/>
                <a:sym typeface="Arial"/>
              </a:rPr>
              <a:t>(55%), </a:t>
            </a:r>
            <a:r>
              <a:rPr lang="en" sz="2000" b="1">
                <a:solidFill>
                  <a:srgbClr val="000000"/>
                </a:solidFill>
                <a:latin typeface="Arial"/>
                <a:ea typeface="Arial"/>
                <a:cs typeface="Arial"/>
                <a:sym typeface="Arial"/>
              </a:rPr>
              <a:t>Manufacturing process</a:t>
            </a:r>
            <a:r>
              <a:rPr lang="en" sz="2000">
                <a:solidFill>
                  <a:srgbClr val="000000"/>
                </a:solidFill>
                <a:latin typeface="Arial"/>
                <a:ea typeface="Arial"/>
                <a:cs typeface="Arial"/>
                <a:sym typeface="Arial"/>
              </a:rPr>
              <a:t> (40%).</a:t>
            </a:r>
            <a:endParaRPr sz="2000">
              <a:solidFill>
                <a:srgbClr val="000000"/>
              </a:solidFill>
              <a:latin typeface="Arial"/>
              <a:ea typeface="Arial"/>
              <a:cs typeface="Arial"/>
              <a:sym typeface="Arial"/>
            </a:endParaRPr>
          </a:p>
          <a:p>
            <a:pPr marL="0" lvl="0" indent="0" algn="l" rtl="0">
              <a:lnSpc>
                <a:spcPct val="100000"/>
              </a:lnSpc>
              <a:spcBef>
                <a:spcPts val="0"/>
              </a:spcBef>
              <a:spcAft>
                <a:spcPts val="0"/>
              </a:spcAft>
              <a:buSzPts val="1300"/>
              <a:buNone/>
            </a:pPr>
            <a:endParaRPr sz="2000">
              <a:solidFill>
                <a:srgbClr val="000000"/>
              </a:solidFill>
              <a:latin typeface="Arial"/>
              <a:ea typeface="Arial"/>
              <a:cs typeface="Arial"/>
              <a:sym typeface="Arial"/>
            </a:endParaRPr>
          </a:p>
          <a:p>
            <a:pPr marL="0" lvl="0" indent="0" algn="l" rtl="0">
              <a:lnSpc>
                <a:spcPct val="100000"/>
              </a:lnSpc>
              <a:spcBef>
                <a:spcPts val="0"/>
              </a:spcBef>
              <a:spcAft>
                <a:spcPts val="0"/>
              </a:spcAft>
              <a:buSzPts val="1300"/>
              <a:buNone/>
            </a:pPr>
            <a:r>
              <a:rPr lang="en">
                <a:solidFill>
                  <a:srgbClr val="000000"/>
                </a:solidFill>
                <a:latin typeface="Arial"/>
                <a:ea typeface="Arial"/>
                <a:cs typeface="Arial"/>
                <a:sym typeface="Arial"/>
              </a:rPr>
              <a:t>● </a:t>
            </a:r>
            <a:r>
              <a:rPr lang="en" sz="2000">
                <a:solidFill>
                  <a:srgbClr val="000000"/>
                </a:solidFill>
                <a:latin typeface="Arial"/>
                <a:ea typeface="Arial"/>
                <a:cs typeface="Arial"/>
                <a:sym typeface="Arial"/>
              </a:rPr>
              <a:t>Wallpaper: </a:t>
            </a:r>
            <a:r>
              <a:rPr lang="en" sz="2000" b="1">
                <a:solidFill>
                  <a:srgbClr val="000000"/>
                </a:solidFill>
                <a:latin typeface="Arial"/>
                <a:ea typeface="Arial"/>
                <a:cs typeface="Arial"/>
                <a:sym typeface="Arial"/>
              </a:rPr>
              <a:t>Material </a:t>
            </a:r>
            <a:r>
              <a:rPr lang="en" sz="2000">
                <a:solidFill>
                  <a:srgbClr val="000000"/>
                </a:solidFill>
                <a:latin typeface="Arial"/>
                <a:ea typeface="Arial"/>
                <a:cs typeface="Arial"/>
                <a:sym typeface="Arial"/>
              </a:rPr>
              <a:t>(18%), </a:t>
            </a:r>
            <a:r>
              <a:rPr lang="en" sz="2000" b="1">
                <a:solidFill>
                  <a:srgbClr val="000000"/>
                </a:solidFill>
                <a:latin typeface="Arial"/>
                <a:ea typeface="Arial"/>
                <a:cs typeface="Arial"/>
                <a:sym typeface="Arial"/>
              </a:rPr>
              <a:t>Manufacturing process</a:t>
            </a:r>
            <a:r>
              <a:rPr lang="en" sz="2000">
                <a:solidFill>
                  <a:srgbClr val="000000"/>
                </a:solidFill>
                <a:latin typeface="Arial"/>
                <a:ea typeface="Arial"/>
                <a:cs typeface="Arial"/>
                <a:sym typeface="Arial"/>
              </a:rPr>
              <a:t> (76%).</a:t>
            </a:r>
            <a:endParaRPr sz="2000">
              <a:solidFill>
                <a:srgbClr val="000000"/>
              </a:solidFill>
              <a:latin typeface="Arial"/>
              <a:ea typeface="Arial"/>
              <a:cs typeface="Arial"/>
              <a:sym typeface="Arial"/>
            </a:endParaRPr>
          </a:p>
          <a:p>
            <a:pPr marL="0" lvl="0" indent="0" algn="l" rtl="0">
              <a:lnSpc>
                <a:spcPct val="100000"/>
              </a:lnSpc>
              <a:spcBef>
                <a:spcPts val="0"/>
              </a:spcBef>
              <a:spcAft>
                <a:spcPts val="0"/>
              </a:spcAft>
              <a:buSzPts val="1300"/>
              <a:buNone/>
            </a:pPr>
            <a:endParaRPr sz="2000">
              <a:solidFill>
                <a:srgbClr val="000000"/>
              </a:solidFill>
              <a:latin typeface="Arial"/>
              <a:ea typeface="Arial"/>
              <a:cs typeface="Arial"/>
              <a:sym typeface="Arial"/>
            </a:endParaRPr>
          </a:p>
          <a:p>
            <a:pPr marL="0" lvl="0" indent="0" algn="l" rtl="0">
              <a:lnSpc>
                <a:spcPct val="100000"/>
              </a:lnSpc>
              <a:spcBef>
                <a:spcPts val="0"/>
              </a:spcBef>
              <a:spcAft>
                <a:spcPts val="0"/>
              </a:spcAft>
              <a:buSzPts val="1300"/>
              <a:buNone/>
            </a:pPr>
            <a:r>
              <a:rPr lang="en">
                <a:solidFill>
                  <a:srgbClr val="000000"/>
                </a:solidFill>
                <a:latin typeface="Arial"/>
                <a:ea typeface="Arial"/>
                <a:cs typeface="Arial"/>
                <a:sym typeface="Arial"/>
              </a:rPr>
              <a:t>● </a:t>
            </a:r>
            <a:r>
              <a:rPr lang="en" sz="1800">
                <a:solidFill>
                  <a:srgbClr val="000000"/>
                </a:solidFill>
                <a:latin typeface="Arial"/>
                <a:ea typeface="Arial"/>
                <a:cs typeface="Arial"/>
                <a:sym typeface="Arial"/>
              </a:rPr>
              <a:t>Lifetime and thickness would affect the total energy use and CO2 emissions.</a:t>
            </a:r>
            <a:endParaRPr sz="1800">
              <a:solidFill>
                <a:srgbClr val="000000"/>
              </a:solidFill>
              <a:latin typeface="Arial"/>
              <a:ea typeface="Arial"/>
              <a:cs typeface="Arial"/>
              <a:sym typeface="Arial"/>
            </a:endParaRPr>
          </a:p>
          <a:p>
            <a:pPr marL="0" lvl="0" indent="0" algn="l" rtl="0">
              <a:lnSpc>
                <a:spcPct val="100000"/>
              </a:lnSpc>
              <a:spcBef>
                <a:spcPts val="0"/>
              </a:spcBef>
              <a:spcAft>
                <a:spcPts val="0"/>
              </a:spcAft>
              <a:buSzPts val="1300"/>
              <a:buNone/>
            </a:pPr>
            <a:endParaRPr sz="1800">
              <a:solidFill>
                <a:srgbClr val="000000"/>
              </a:solidFill>
              <a:latin typeface="Arial"/>
              <a:ea typeface="Arial"/>
              <a:cs typeface="Arial"/>
              <a:sym typeface="Arial"/>
            </a:endParaRPr>
          </a:p>
          <a:p>
            <a:pPr marL="0" lvl="0" indent="0" algn="l" rtl="0">
              <a:lnSpc>
                <a:spcPct val="100000"/>
              </a:lnSpc>
              <a:spcBef>
                <a:spcPts val="0"/>
              </a:spcBef>
              <a:spcAft>
                <a:spcPts val="0"/>
              </a:spcAft>
              <a:buSzPts val="1300"/>
              <a:buNone/>
            </a:pPr>
            <a:r>
              <a:rPr lang="en" sz="1900" b="1">
                <a:solidFill>
                  <a:srgbClr val="000000"/>
                </a:solidFill>
                <a:latin typeface="Arial"/>
                <a:ea typeface="Arial"/>
                <a:cs typeface="Arial"/>
                <a:sym typeface="Arial"/>
              </a:rPr>
              <a:t>Next Steps: </a:t>
            </a:r>
            <a:endParaRPr sz="1900" b="1">
              <a:solidFill>
                <a:srgbClr val="000000"/>
              </a:solidFill>
              <a:latin typeface="Arial"/>
              <a:ea typeface="Arial"/>
              <a:cs typeface="Arial"/>
              <a:sym typeface="Arial"/>
            </a:endParaRPr>
          </a:p>
          <a:p>
            <a:pPr marL="457200" lvl="0" indent="-342900" algn="l" rtl="0">
              <a:lnSpc>
                <a:spcPct val="100000"/>
              </a:lnSpc>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Provide additional details on the dominant processes or stages that are the processing and the materials</a:t>
            </a:r>
            <a:endParaRPr sz="1800">
              <a:solidFill>
                <a:srgbClr val="000000"/>
              </a:solidFill>
              <a:latin typeface="Arial"/>
              <a:ea typeface="Arial"/>
              <a:cs typeface="Arial"/>
              <a:sym typeface="Arial"/>
            </a:endParaRPr>
          </a:p>
          <a:p>
            <a:pPr marL="457200" lvl="0" indent="-342900" algn="l" rtl="0">
              <a:lnSpc>
                <a:spcPct val="100000"/>
              </a:lnSpc>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Look for further data on the range of realistic lifetime of these materials </a:t>
            </a:r>
            <a:endParaRPr sz="1800">
              <a:solidFill>
                <a:srgbClr val="000000"/>
              </a:solidFill>
              <a:latin typeface="Arial"/>
              <a:ea typeface="Arial"/>
              <a:cs typeface="Arial"/>
              <a:sym typeface="Arial"/>
            </a:endParaRPr>
          </a:p>
          <a:p>
            <a:pPr marL="0" lvl="0" indent="0" algn="l" rtl="0">
              <a:lnSpc>
                <a:spcPct val="115000"/>
              </a:lnSpc>
              <a:spcBef>
                <a:spcPts val="0"/>
              </a:spcBef>
              <a:spcAft>
                <a:spcPts val="1600"/>
              </a:spcAft>
              <a:buSzPts val="1300"/>
              <a:buNone/>
            </a:pP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8"/>
          <p:cNvSpPr txBox="1">
            <a:spLocks noGrp="1"/>
          </p:cNvSpPr>
          <p:nvPr>
            <p:ph type="title"/>
          </p:nvPr>
        </p:nvSpPr>
        <p:spPr>
          <a:xfrm>
            <a:off x="767825" y="281225"/>
            <a:ext cx="7505700" cy="954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References</a:t>
            </a:r>
            <a:endParaRPr/>
          </a:p>
        </p:txBody>
      </p:sp>
      <p:sp>
        <p:nvSpPr>
          <p:cNvPr id="226" name="Google Shape;226;p28"/>
          <p:cNvSpPr txBox="1">
            <a:spLocks noGrp="1"/>
          </p:cNvSpPr>
          <p:nvPr>
            <p:ph type="body" idx="1"/>
          </p:nvPr>
        </p:nvSpPr>
        <p:spPr>
          <a:xfrm>
            <a:off x="511500" y="823475"/>
            <a:ext cx="8121000" cy="4101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000"/>
              </a:spcBef>
              <a:spcAft>
                <a:spcPts val="0"/>
              </a:spcAft>
              <a:buSzPts val="1300"/>
              <a:buNone/>
            </a:pPr>
            <a:r>
              <a:rPr lang="en" sz="1000">
                <a:solidFill>
                  <a:srgbClr val="000000"/>
                </a:solidFill>
                <a:highlight>
                  <a:srgbClr val="FFFFFF"/>
                </a:highlight>
                <a:latin typeface="Arial"/>
                <a:ea typeface="Arial"/>
                <a:cs typeface="Arial"/>
                <a:sym typeface="Arial"/>
              </a:rPr>
              <a:t>“Wallpaper.” </a:t>
            </a:r>
            <a:r>
              <a:rPr lang="en" sz="1000" i="1">
                <a:solidFill>
                  <a:srgbClr val="000000"/>
                </a:solidFill>
                <a:highlight>
                  <a:srgbClr val="FFFFFF"/>
                </a:highlight>
                <a:latin typeface="Arial"/>
                <a:ea typeface="Arial"/>
                <a:cs typeface="Arial"/>
                <a:sym typeface="Arial"/>
              </a:rPr>
              <a:t>How Products Are Made</a:t>
            </a:r>
            <a:r>
              <a:rPr lang="en" sz="1000">
                <a:solidFill>
                  <a:srgbClr val="000000"/>
                </a:solidFill>
                <a:highlight>
                  <a:srgbClr val="FFFFFF"/>
                </a:highlight>
                <a:latin typeface="Arial"/>
                <a:ea typeface="Arial"/>
                <a:cs typeface="Arial"/>
                <a:sym typeface="Arial"/>
              </a:rPr>
              <a:t>, © 2018 Advameg, Inc., </a:t>
            </a:r>
            <a:r>
              <a:rPr lang="en" sz="1000" u="sng">
                <a:solidFill>
                  <a:srgbClr val="000000"/>
                </a:solidFill>
                <a:highlight>
                  <a:srgbClr val="FFFFFF"/>
                </a:highlight>
                <a:latin typeface="Arial"/>
                <a:ea typeface="Arial"/>
                <a:cs typeface="Arial"/>
                <a:sym typeface="Arial"/>
                <a:hlinkClick r:id="rId3">
                  <a:extLst>
                    <a:ext uri="{A12FA001-AC4F-418D-AE19-62706E023703}">
                      <ahyp:hlinkClr xmlns:ahyp="http://schemas.microsoft.com/office/drawing/2018/hyperlinkcolor" val="tx"/>
                    </a:ext>
                  </a:extLst>
                </a:hlinkClick>
              </a:rPr>
              <a:t>www.madehow.com/Volume-3/Wallpaper.html</a:t>
            </a:r>
            <a:endParaRPr sz="1000">
              <a:solidFill>
                <a:srgbClr val="000000"/>
              </a:solidFill>
              <a:highlight>
                <a:srgbClr val="FFFFFF"/>
              </a:highlight>
              <a:latin typeface="Arial"/>
              <a:ea typeface="Arial"/>
              <a:cs typeface="Arial"/>
              <a:sym typeface="Arial"/>
            </a:endParaRPr>
          </a:p>
          <a:p>
            <a:pPr marL="0" lvl="0" indent="0" algn="l" rtl="0">
              <a:lnSpc>
                <a:spcPct val="115000"/>
              </a:lnSpc>
              <a:spcBef>
                <a:spcPts val="1000"/>
              </a:spcBef>
              <a:spcAft>
                <a:spcPts val="0"/>
              </a:spcAft>
              <a:buSzPts val="1300"/>
              <a:buNone/>
            </a:pPr>
            <a:r>
              <a:rPr lang="en" sz="1000">
                <a:solidFill>
                  <a:srgbClr val="000000"/>
                </a:solidFill>
                <a:highlight>
                  <a:srgbClr val="FFFFFF"/>
                </a:highlight>
                <a:latin typeface="Arial"/>
                <a:ea typeface="Arial"/>
                <a:cs typeface="Arial"/>
                <a:sym typeface="Arial"/>
              </a:rPr>
              <a:t>“Paint.” </a:t>
            </a:r>
            <a:r>
              <a:rPr lang="en" sz="1000" i="1">
                <a:solidFill>
                  <a:srgbClr val="000000"/>
                </a:solidFill>
                <a:highlight>
                  <a:srgbClr val="FFFFFF"/>
                </a:highlight>
                <a:latin typeface="Arial"/>
                <a:ea typeface="Arial"/>
                <a:cs typeface="Arial"/>
                <a:sym typeface="Arial"/>
              </a:rPr>
              <a:t>How Products Are Made</a:t>
            </a:r>
            <a:r>
              <a:rPr lang="en" sz="1000">
                <a:solidFill>
                  <a:srgbClr val="000000"/>
                </a:solidFill>
                <a:highlight>
                  <a:srgbClr val="FFFFFF"/>
                </a:highlight>
                <a:latin typeface="Arial"/>
                <a:ea typeface="Arial"/>
                <a:cs typeface="Arial"/>
                <a:sym typeface="Arial"/>
              </a:rPr>
              <a:t>, © 2018 Advameg, Inc., </a:t>
            </a:r>
            <a:r>
              <a:rPr lang="en" sz="1000" b="1" u="sng">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http://www.madehow.com/Volume-1/Paint.html</a:t>
            </a:r>
            <a:endParaRPr sz="1000" b="1">
              <a:solidFill>
                <a:srgbClr val="000000"/>
              </a:solidFill>
              <a:latin typeface="Arial"/>
              <a:ea typeface="Arial"/>
              <a:cs typeface="Arial"/>
              <a:sym typeface="Arial"/>
            </a:endParaRPr>
          </a:p>
          <a:p>
            <a:pPr marL="0" lvl="0" indent="0" algn="l" rtl="0">
              <a:lnSpc>
                <a:spcPct val="115000"/>
              </a:lnSpc>
              <a:spcBef>
                <a:spcPts val="1000"/>
              </a:spcBef>
              <a:spcAft>
                <a:spcPts val="0"/>
              </a:spcAft>
              <a:buSzPts val="1300"/>
              <a:buNone/>
            </a:pPr>
            <a:r>
              <a:rPr lang="en" sz="1000">
                <a:solidFill>
                  <a:srgbClr val="000000"/>
                </a:solidFill>
                <a:highlight>
                  <a:srgbClr val="FFFFFF"/>
                </a:highlight>
                <a:latin typeface="Arial"/>
                <a:ea typeface="Arial"/>
                <a:cs typeface="Arial"/>
                <a:sym typeface="Arial"/>
              </a:rPr>
              <a:t>India, Ultrawalls. “Wallpaper Manufacturing Industry: Introduction, History, and Process.” </a:t>
            </a:r>
            <a:r>
              <a:rPr lang="en" sz="1000" i="1">
                <a:solidFill>
                  <a:srgbClr val="000000"/>
                </a:solidFill>
                <a:highlight>
                  <a:srgbClr val="FFFFFF"/>
                </a:highlight>
                <a:latin typeface="Arial"/>
                <a:ea typeface="Arial"/>
                <a:cs typeface="Arial"/>
                <a:sym typeface="Arial"/>
              </a:rPr>
              <a:t>Medium</a:t>
            </a:r>
            <a:r>
              <a:rPr lang="en" sz="1000">
                <a:solidFill>
                  <a:srgbClr val="000000"/>
                </a:solidFill>
                <a:highlight>
                  <a:srgbClr val="FFFFFF"/>
                </a:highlight>
                <a:latin typeface="Arial"/>
                <a:ea typeface="Arial"/>
                <a:cs typeface="Arial"/>
                <a:sym typeface="Arial"/>
              </a:rPr>
              <a:t>, Medium, 6 Apr. </a:t>
            </a:r>
            <a:endParaRPr sz="1000">
              <a:solidFill>
                <a:srgbClr val="000000"/>
              </a:solidFill>
              <a:highlight>
                <a:srgbClr val="FFFFFF"/>
              </a:highlight>
              <a:latin typeface="Arial"/>
              <a:ea typeface="Arial"/>
              <a:cs typeface="Arial"/>
              <a:sym typeface="Arial"/>
            </a:endParaRPr>
          </a:p>
          <a:p>
            <a:pPr marL="0" lvl="0" indent="457200" algn="l" rtl="0">
              <a:lnSpc>
                <a:spcPct val="115000"/>
              </a:lnSpc>
              <a:spcBef>
                <a:spcPts val="0"/>
              </a:spcBef>
              <a:spcAft>
                <a:spcPts val="0"/>
              </a:spcAft>
              <a:buSzPts val="1300"/>
              <a:buNone/>
            </a:pPr>
            <a:r>
              <a:rPr lang="en" sz="1000">
                <a:solidFill>
                  <a:srgbClr val="000000"/>
                </a:solidFill>
                <a:highlight>
                  <a:srgbClr val="FFFFFF"/>
                </a:highlight>
                <a:latin typeface="Arial"/>
                <a:ea typeface="Arial"/>
                <a:cs typeface="Arial"/>
                <a:sym typeface="Arial"/>
              </a:rPr>
              <a:t>2018,medium.com/@ultrawallsindia/wallpaper-manufacturing-industry-introduction-history-and-process-50f564594a8d.</a:t>
            </a:r>
            <a:endParaRPr sz="1000">
              <a:solidFill>
                <a:srgbClr val="000000"/>
              </a:solidFill>
              <a:highlight>
                <a:srgbClr val="FFFFFF"/>
              </a:highlight>
              <a:latin typeface="Arial"/>
              <a:ea typeface="Arial"/>
              <a:cs typeface="Arial"/>
              <a:sym typeface="Arial"/>
            </a:endParaRPr>
          </a:p>
          <a:p>
            <a:pPr marL="0" lvl="0" indent="457200" algn="l" rtl="0">
              <a:lnSpc>
                <a:spcPct val="115000"/>
              </a:lnSpc>
              <a:spcBef>
                <a:spcPts val="0"/>
              </a:spcBef>
              <a:spcAft>
                <a:spcPts val="0"/>
              </a:spcAft>
              <a:buSzPts val="1300"/>
              <a:buNone/>
            </a:pPr>
            <a:endParaRPr sz="1000">
              <a:solidFill>
                <a:srgbClr val="000000"/>
              </a:solidFill>
              <a:highlight>
                <a:srgbClr val="FFFFFF"/>
              </a:highlight>
              <a:latin typeface="Arial"/>
              <a:ea typeface="Arial"/>
              <a:cs typeface="Arial"/>
              <a:sym typeface="Arial"/>
            </a:endParaRPr>
          </a:p>
          <a:p>
            <a:pPr marL="0" lvl="0" indent="0" algn="l" rtl="0">
              <a:lnSpc>
                <a:spcPct val="115000"/>
              </a:lnSpc>
              <a:spcBef>
                <a:spcPts val="0"/>
              </a:spcBef>
              <a:spcAft>
                <a:spcPts val="0"/>
              </a:spcAft>
              <a:buSzPts val="1300"/>
              <a:buNone/>
            </a:pPr>
            <a:r>
              <a:rPr lang="en" sz="1000">
                <a:solidFill>
                  <a:srgbClr val="000000"/>
                </a:solidFill>
                <a:highlight>
                  <a:srgbClr val="FFFFFF"/>
                </a:highlight>
                <a:latin typeface="Arial"/>
                <a:ea typeface="Arial"/>
                <a:cs typeface="Arial"/>
                <a:sym typeface="Arial"/>
              </a:rPr>
              <a:t>“Wallpaper.” </a:t>
            </a:r>
            <a:r>
              <a:rPr lang="en" sz="1000" i="1">
                <a:solidFill>
                  <a:srgbClr val="000000"/>
                </a:solidFill>
                <a:highlight>
                  <a:srgbClr val="FFFFFF"/>
                </a:highlight>
                <a:latin typeface="Arial"/>
                <a:ea typeface="Arial"/>
                <a:cs typeface="Arial"/>
                <a:sym typeface="Arial"/>
              </a:rPr>
              <a:t>Design Life-Cycle</a:t>
            </a:r>
            <a:r>
              <a:rPr lang="en" sz="1000">
                <a:solidFill>
                  <a:srgbClr val="000000"/>
                </a:solidFill>
                <a:highlight>
                  <a:srgbClr val="FFFFFF"/>
                </a:highlight>
                <a:latin typeface="Arial"/>
                <a:ea typeface="Arial"/>
                <a:cs typeface="Arial"/>
                <a:sym typeface="Arial"/>
              </a:rPr>
              <a:t>, </a:t>
            </a:r>
            <a:r>
              <a:rPr lang="en" sz="1000" u="sng">
                <a:solidFill>
                  <a:srgbClr val="000000"/>
                </a:solidFill>
                <a:highlight>
                  <a:srgbClr val="FFFFFF"/>
                </a:highlight>
                <a:latin typeface="Arial"/>
                <a:ea typeface="Arial"/>
                <a:cs typeface="Arial"/>
                <a:sym typeface="Arial"/>
                <a:hlinkClick r:id="rId5">
                  <a:extLst>
                    <a:ext uri="{A12FA001-AC4F-418D-AE19-62706E023703}">
                      <ahyp:hlinkClr xmlns:ahyp="http://schemas.microsoft.com/office/drawing/2018/hyperlinkcolor" val="tx"/>
                    </a:ext>
                  </a:extLst>
                </a:hlinkClick>
              </a:rPr>
              <a:t>www.designlife-cycle.com/vinyl-wallpaper/</a:t>
            </a:r>
            <a:r>
              <a:rPr lang="en" sz="1000">
                <a:solidFill>
                  <a:srgbClr val="000000"/>
                </a:solidFill>
                <a:highlight>
                  <a:srgbClr val="FFFFFF"/>
                </a:highlight>
                <a:latin typeface="Arial"/>
                <a:ea typeface="Arial"/>
                <a:cs typeface="Arial"/>
                <a:sym typeface="Arial"/>
              </a:rPr>
              <a:t>.</a:t>
            </a:r>
            <a:endParaRPr sz="1000">
              <a:solidFill>
                <a:srgbClr val="000000"/>
              </a:solidFill>
              <a:highlight>
                <a:srgbClr val="FFFFFF"/>
              </a:highlight>
              <a:latin typeface="Arial"/>
              <a:ea typeface="Arial"/>
              <a:cs typeface="Arial"/>
              <a:sym typeface="Arial"/>
            </a:endParaRPr>
          </a:p>
          <a:p>
            <a:pPr marL="0" lvl="0" indent="0" algn="l" rtl="0">
              <a:lnSpc>
                <a:spcPct val="115000"/>
              </a:lnSpc>
              <a:spcBef>
                <a:spcPts val="0"/>
              </a:spcBef>
              <a:spcAft>
                <a:spcPts val="0"/>
              </a:spcAft>
              <a:buSzPts val="1300"/>
              <a:buNone/>
            </a:pPr>
            <a:endParaRPr sz="1000">
              <a:solidFill>
                <a:srgbClr val="000000"/>
              </a:solidFill>
              <a:highlight>
                <a:srgbClr val="FFFFFF"/>
              </a:highlight>
              <a:latin typeface="Arial"/>
              <a:ea typeface="Arial"/>
              <a:cs typeface="Arial"/>
              <a:sym typeface="Arial"/>
            </a:endParaRPr>
          </a:p>
          <a:p>
            <a:pPr marL="0" lvl="0" indent="0" algn="l" rtl="0">
              <a:lnSpc>
                <a:spcPct val="115000"/>
              </a:lnSpc>
              <a:spcBef>
                <a:spcPts val="0"/>
              </a:spcBef>
              <a:spcAft>
                <a:spcPts val="0"/>
              </a:spcAft>
              <a:buSzPts val="1300"/>
              <a:buNone/>
            </a:pPr>
            <a:r>
              <a:rPr lang="en" sz="1000">
                <a:solidFill>
                  <a:srgbClr val="000000"/>
                </a:solidFill>
                <a:highlight>
                  <a:srgbClr val="FFFFFF"/>
                </a:highlight>
                <a:latin typeface="Arial"/>
                <a:ea typeface="Arial"/>
                <a:cs typeface="Arial"/>
                <a:sym typeface="Arial"/>
              </a:rPr>
              <a:t>“Wallpaper vs. Paint.” </a:t>
            </a:r>
            <a:r>
              <a:rPr lang="en" sz="1000" i="1">
                <a:solidFill>
                  <a:srgbClr val="000000"/>
                </a:solidFill>
                <a:highlight>
                  <a:srgbClr val="FFFFFF"/>
                </a:highlight>
                <a:latin typeface="Arial"/>
                <a:ea typeface="Arial"/>
                <a:cs typeface="Arial"/>
                <a:sym typeface="Arial"/>
              </a:rPr>
              <a:t>Brewster</a:t>
            </a:r>
            <a:r>
              <a:rPr lang="en" sz="1000">
                <a:solidFill>
                  <a:srgbClr val="000000"/>
                </a:solidFill>
                <a:highlight>
                  <a:srgbClr val="FFFFFF"/>
                </a:highlight>
                <a:latin typeface="Arial"/>
                <a:ea typeface="Arial"/>
                <a:cs typeface="Arial"/>
                <a:sym typeface="Arial"/>
              </a:rPr>
              <a:t>, Brewster Home Fashions, </a:t>
            </a:r>
            <a:r>
              <a:rPr lang="en" sz="1000" u="sng">
                <a:solidFill>
                  <a:srgbClr val="000000"/>
                </a:solidFill>
                <a:highlight>
                  <a:srgbClr val="FFFFFF"/>
                </a:highlight>
                <a:latin typeface="Arial"/>
                <a:ea typeface="Arial"/>
                <a:cs typeface="Arial"/>
                <a:sym typeface="Arial"/>
                <a:hlinkClick r:id="rId6">
                  <a:extLst>
                    <a:ext uri="{A12FA001-AC4F-418D-AE19-62706E023703}">
                      <ahyp:hlinkClr xmlns:ahyp="http://schemas.microsoft.com/office/drawing/2018/hyperlinkcolor" val="tx"/>
                    </a:ext>
                  </a:extLst>
                </a:hlinkClick>
              </a:rPr>
              <a:t>www.brewsterwallcovering.com/wallpaper-vs-paint</a:t>
            </a:r>
            <a:r>
              <a:rPr lang="en" sz="1000">
                <a:solidFill>
                  <a:srgbClr val="000000"/>
                </a:solidFill>
                <a:highlight>
                  <a:srgbClr val="FFFFFF"/>
                </a:highlight>
                <a:latin typeface="Arial"/>
                <a:ea typeface="Arial"/>
                <a:cs typeface="Arial"/>
                <a:sym typeface="Arial"/>
              </a:rPr>
              <a:t>.</a:t>
            </a:r>
            <a:endParaRPr sz="1000">
              <a:solidFill>
                <a:srgbClr val="000000"/>
              </a:solidFill>
              <a:highlight>
                <a:srgbClr val="FFFFFF"/>
              </a:highlight>
              <a:latin typeface="Arial"/>
              <a:ea typeface="Arial"/>
              <a:cs typeface="Arial"/>
              <a:sym typeface="Arial"/>
            </a:endParaRPr>
          </a:p>
          <a:p>
            <a:pPr marL="0" lvl="0" indent="0" algn="l" rtl="0">
              <a:lnSpc>
                <a:spcPct val="115000"/>
              </a:lnSpc>
              <a:spcBef>
                <a:spcPts val="0"/>
              </a:spcBef>
              <a:spcAft>
                <a:spcPts val="0"/>
              </a:spcAft>
              <a:buSzPts val="1300"/>
              <a:buNone/>
            </a:pPr>
            <a:endParaRPr sz="1000">
              <a:solidFill>
                <a:srgbClr val="000000"/>
              </a:solidFill>
              <a:highlight>
                <a:srgbClr val="FFFFFF"/>
              </a:highlight>
              <a:latin typeface="Arial"/>
              <a:ea typeface="Arial"/>
              <a:cs typeface="Arial"/>
              <a:sym typeface="Arial"/>
            </a:endParaRPr>
          </a:p>
          <a:p>
            <a:pPr marL="0" lvl="0" indent="0" algn="l" rtl="0">
              <a:lnSpc>
                <a:spcPct val="115000"/>
              </a:lnSpc>
              <a:spcBef>
                <a:spcPts val="0"/>
              </a:spcBef>
              <a:spcAft>
                <a:spcPts val="0"/>
              </a:spcAft>
              <a:buSzPts val="1300"/>
              <a:buNone/>
            </a:pPr>
            <a:r>
              <a:rPr lang="en" sz="1000">
                <a:solidFill>
                  <a:srgbClr val="000000"/>
                </a:solidFill>
                <a:highlight>
                  <a:srgbClr val="FFFFFF"/>
                </a:highlight>
                <a:latin typeface="Arial"/>
                <a:ea typeface="Arial"/>
                <a:cs typeface="Arial"/>
                <a:sym typeface="Arial"/>
              </a:rPr>
              <a:t>“Dulux X-Pert.” </a:t>
            </a:r>
            <a:r>
              <a:rPr lang="en" sz="1000" i="1">
                <a:solidFill>
                  <a:srgbClr val="000000"/>
                </a:solidFill>
                <a:highlight>
                  <a:srgbClr val="FFFFFF"/>
                </a:highlight>
                <a:latin typeface="Arial"/>
                <a:ea typeface="Arial"/>
                <a:cs typeface="Arial"/>
                <a:sym typeface="Arial"/>
              </a:rPr>
              <a:t>Dulux</a:t>
            </a:r>
            <a:r>
              <a:rPr lang="en" sz="1000">
                <a:solidFill>
                  <a:srgbClr val="000000"/>
                </a:solidFill>
                <a:highlight>
                  <a:srgbClr val="FFFFFF"/>
                </a:highlight>
                <a:latin typeface="Arial"/>
                <a:ea typeface="Arial"/>
                <a:cs typeface="Arial"/>
                <a:sym typeface="Arial"/>
              </a:rPr>
              <a:t>, </a:t>
            </a:r>
            <a:r>
              <a:rPr lang="en" sz="1000" u="sng">
                <a:solidFill>
                  <a:srgbClr val="000000"/>
                </a:solidFill>
                <a:highlight>
                  <a:srgbClr val="FFFFFF"/>
                </a:highlight>
                <a:latin typeface="Arial"/>
                <a:ea typeface="Arial"/>
                <a:cs typeface="Arial"/>
                <a:sym typeface="Arial"/>
                <a:hlinkClick r:id="rId7">
                  <a:extLst>
                    <a:ext uri="{A12FA001-AC4F-418D-AE19-62706E023703}">
                      <ahyp:hlinkClr xmlns:ahyp="http://schemas.microsoft.com/office/drawing/2018/hyperlinkcolor" val="tx"/>
                    </a:ext>
                  </a:extLst>
                </a:hlinkClick>
              </a:rPr>
              <a:t>www.dulux.ca/diy/products/interior-paint/dulux-x-pert</a:t>
            </a:r>
            <a:r>
              <a:rPr lang="en" sz="1000">
                <a:solidFill>
                  <a:srgbClr val="000000"/>
                </a:solidFill>
                <a:highlight>
                  <a:srgbClr val="FFFFFF"/>
                </a:highlight>
                <a:latin typeface="Arial"/>
                <a:ea typeface="Arial"/>
                <a:cs typeface="Arial"/>
                <a:sym typeface="Arial"/>
              </a:rPr>
              <a:t>.</a:t>
            </a:r>
            <a:endParaRPr sz="1000">
              <a:solidFill>
                <a:srgbClr val="000000"/>
              </a:solidFill>
              <a:highlight>
                <a:srgbClr val="FFFFFF"/>
              </a:highlight>
              <a:latin typeface="Arial"/>
              <a:ea typeface="Arial"/>
              <a:cs typeface="Arial"/>
              <a:sym typeface="Arial"/>
            </a:endParaRPr>
          </a:p>
          <a:p>
            <a:pPr marL="0" lvl="0" indent="0" algn="l" rtl="0">
              <a:lnSpc>
                <a:spcPct val="115000"/>
              </a:lnSpc>
              <a:spcBef>
                <a:spcPts val="0"/>
              </a:spcBef>
              <a:spcAft>
                <a:spcPts val="0"/>
              </a:spcAft>
              <a:buSzPts val="1300"/>
              <a:buNone/>
            </a:pPr>
            <a:endParaRPr sz="1000">
              <a:solidFill>
                <a:srgbClr val="000000"/>
              </a:solidFill>
              <a:highlight>
                <a:srgbClr val="FFFFFF"/>
              </a:highlight>
              <a:latin typeface="Arial"/>
              <a:ea typeface="Arial"/>
              <a:cs typeface="Arial"/>
              <a:sym typeface="Arial"/>
            </a:endParaRPr>
          </a:p>
          <a:p>
            <a:pPr marL="0" lvl="0" indent="0" algn="l" rtl="0">
              <a:lnSpc>
                <a:spcPct val="115000"/>
              </a:lnSpc>
              <a:spcBef>
                <a:spcPts val="0"/>
              </a:spcBef>
              <a:spcAft>
                <a:spcPts val="0"/>
              </a:spcAft>
              <a:buSzPts val="1300"/>
              <a:buNone/>
            </a:pPr>
            <a:r>
              <a:rPr lang="en" sz="1000">
                <a:solidFill>
                  <a:srgbClr val="000000"/>
                </a:solidFill>
                <a:highlight>
                  <a:srgbClr val="FFFFFF"/>
                </a:highlight>
                <a:latin typeface="Arial"/>
                <a:ea typeface="Arial"/>
                <a:cs typeface="Arial"/>
                <a:sym typeface="Arial"/>
              </a:rPr>
              <a:t>“Paint vs. Wallpaper: An Interior Decorator's Guide.” </a:t>
            </a:r>
            <a:r>
              <a:rPr lang="en" sz="1000" i="1">
                <a:solidFill>
                  <a:srgbClr val="000000"/>
                </a:solidFill>
                <a:highlight>
                  <a:srgbClr val="FFFFFF"/>
                </a:highlight>
                <a:latin typeface="Arial"/>
                <a:ea typeface="Arial"/>
                <a:cs typeface="Arial"/>
                <a:sym typeface="Arial"/>
              </a:rPr>
              <a:t>QC Design School</a:t>
            </a:r>
            <a:r>
              <a:rPr lang="en" sz="1000">
                <a:solidFill>
                  <a:srgbClr val="000000"/>
                </a:solidFill>
                <a:highlight>
                  <a:srgbClr val="FFFFFF"/>
                </a:highlight>
                <a:latin typeface="Arial"/>
                <a:ea typeface="Arial"/>
                <a:cs typeface="Arial"/>
                <a:sym typeface="Arial"/>
              </a:rPr>
              <a:t>, 24 Sept. 2018, </a:t>
            </a:r>
            <a:endParaRPr sz="1000">
              <a:solidFill>
                <a:srgbClr val="000000"/>
              </a:solidFill>
              <a:highlight>
                <a:srgbClr val="FFFFFF"/>
              </a:highlight>
              <a:latin typeface="Arial"/>
              <a:ea typeface="Arial"/>
              <a:cs typeface="Arial"/>
              <a:sym typeface="Arial"/>
            </a:endParaRPr>
          </a:p>
          <a:p>
            <a:pPr marL="0" lvl="0" indent="457200" algn="l" rtl="0">
              <a:lnSpc>
                <a:spcPct val="115000"/>
              </a:lnSpc>
              <a:spcBef>
                <a:spcPts val="0"/>
              </a:spcBef>
              <a:spcAft>
                <a:spcPts val="0"/>
              </a:spcAft>
              <a:buSzPts val="1300"/>
              <a:buNone/>
            </a:pPr>
            <a:r>
              <a:rPr lang="en" sz="1000" u="sng">
                <a:solidFill>
                  <a:srgbClr val="000000"/>
                </a:solidFill>
                <a:highlight>
                  <a:srgbClr val="FFFFFF"/>
                </a:highlight>
                <a:latin typeface="Arial"/>
                <a:ea typeface="Arial"/>
                <a:cs typeface="Arial"/>
                <a:sym typeface="Arial"/>
              </a:rPr>
              <a:t>www.qcdesignschool.com/2017/06/paint-vs-wallpaper-interior-decorators-guide/.</a:t>
            </a:r>
            <a:endParaRPr sz="1000" u="sng">
              <a:solidFill>
                <a:srgbClr val="000000"/>
              </a:solidFill>
              <a:highlight>
                <a:srgbClr val="FFFFFF"/>
              </a:highlight>
              <a:latin typeface="Arial"/>
              <a:ea typeface="Arial"/>
              <a:cs typeface="Arial"/>
              <a:sym typeface="Arial"/>
            </a:endParaRPr>
          </a:p>
          <a:p>
            <a:pPr marL="0" lvl="0" indent="0" algn="l" rtl="0">
              <a:lnSpc>
                <a:spcPct val="115000"/>
              </a:lnSpc>
              <a:spcBef>
                <a:spcPts val="0"/>
              </a:spcBef>
              <a:spcAft>
                <a:spcPts val="0"/>
              </a:spcAft>
              <a:buSzPts val="1300"/>
              <a:buNone/>
            </a:pPr>
            <a:endParaRPr sz="1000">
              <a:solidFill>
                <a:srgbClr val="000000"/>
              </a:solidFill>
              <a:highlight>
                <a:srgbClr val="FFFFFF"/>
              </a:highlight>
              <a:latin typeface="Arial"/>
              <a:ea typeface="Arial"/>
              <a:cs typeface="Arial"/>
              <a:sym typeface="Arial"/>
            </a:endParaRPr>
          </a:p>
          <a:p>
            <a:pPr marL="0" lvl="0" indent="0" algn="l" rtl="0">
              <a:lnSpc>
                <a:spcPct val="115000"/>
              </a:lnSpc>
              <a:spcBef>
                <a:spcPts val="0"/>
              </a:spcBef>
              <a:spcAft>
                <a:spcPts val="0"/>
              </a:spcAft>
              <a:buSzPts val="1300"/>
              <a:buNone/>
            </a:pPr>
            <a:r>
              <a:rPr lang="en" sz="1000">
                <a:solidFill>
                  <a:srgbClr val="000000"/>
                </a:solidFill>
                <a:highlight>
                  <a:srgbClr val="FFFFFF"/>
                </a:highlight>
                <a:latin typeface="Arial"/>
                <a:ea typeface="Arial"/>
                <a:cs typeface="Arial"/>
                <a:sym typeface="Arial"/>
              </a:rPr>
              <a:t>“The Pros of Cons of Painting vs. Wallpapering.” </a:t>
            </a:r>
            <a:r>
              <a:rPr lang="en" sz="1000" i="1">
                <a:solidFill>
                  <a:srgbClr val="000000"/>
                </a:solidFill>
                <a:highlight>
                  <a:srgbClr val="FFFFFF"/>
                </a:highlight>
                <a:latin typeface="Arial"/>
                <a:ea typeface="Arial"/>
                <a:cs typeface="Arial"/>
                <a:sym typeface="Arial"/>
              </a:rPr>
              <a:t>Freshome.com</a:t>
            </a:r>
            <a:r>
              <a:rPr lang="en" sz="1000">
                <a:solidFill>
                  <a:srgbClr val="000000"/>
                </a:solidFill>
                <a:highlight>
                  <a:srgbClr val="FFFFFF"/>
                </a:highlight>
                <a:latin typeface="Arial"/>
                <a:ea typeface="Arial"/>
                <a:cs typeface="Arial"/>
                <a:sym typeface="Arial"/>
              </a:rPr>
              <a:t>, 29 Dec. 2010, </a:t>
            </a:r>
            <a:endParaRPr sz="1000">
              <a:solidFill>
                <a:srgbClr val="000000"/>
              </a:solidFill>
              <a:highlight>
                <a:srgbClr val="FFFFFF"/>
              </a:highlight>
              <a:latin typeface="Arial"/>
              <a:ea typeface="Arial"/>
              <a:cs typeface="Arial"/>
              <a:sym typeface="Arial"/>
            </a:endParaRPr>
          </a:p>
          <a:p>
            <a:pPr marL="0" lvl="0" indent="457200" algn="l" rtl="0">
              <a:lnSpc>
                <a:spcPct val="115000"/>
              </a:lnSpc>
              <a:spcBef>
                <a:spcPts val="0"/>
              </a:spcBef>
              <a:spcAft>
                <a:spcPts val="0"/>
              </a:spcAft>
              <a:buSzPts val="1300"/>
              <a:buNone/>
            </a:pPr>
            <a:r>
              <a:rPr lang="en" sz="1000" u="sng">
                <a:solidFill>
                  <a:srgbClr val="000000"/>
                </a:solidFill>
                <a:highlight>
                  <a:srgbClr val="FFFFFF"/>
                </a:highlight>
                <a:latin typeface="Arial"/>
                <a:ea typeface="Arial"/>
                <a:cs typeface="Arial"/>
                <a:sym typeface="Arial"/>
              </a:rPr>
              <a:t>freshome.com/2010/12/29/the-pros-of-cons-of-painting-vs-wallpapering/.</a:t>
            </a:r>
            <a:endParaRPr sz="1000" u="sng">
              <a:solidFill>
                <a:srgbClr val="000000"/>
              </a:solidFill>
              <a:highlight>
                <a:srgbClr val="FFFFFF"/>
              </a:highlight>
              <a:latin typeface="Arial"/>
              <a:ea typeface="Arial"/>
              <a:cs typeface="Arial"/>
              <a:sym typeface="Arial"/>
            </a:endParaRPr>
          </a:p>
          <a:p>
            <a:pPr marL="0" lvl="0" indent="457200" algn="l" rtl="0">
              <a:lnSpc>
                <a:spcPct val="115000"/>
              </a:lnSpc>
              <a:spcBef>
                <a:spcPts val="0"/>
              </a:spcBef>
              <a:spcAft>
                <a:spcPts val="0"/>
              </a:spcAft>
              <a:buSzPts val="1300"/>
              <a:buNone/>
            </a:pPr>
            <a:endParaRPr sz="1000">
              <a:solidFill>
                <a:srgbClr val="000000"/>
              </a:solidFill>
              <a:highlight>
                <a:srgbClr val="FFFFFF"/>
              </a:highlight>
              <a:latin typeface="Arial"/>
              <a:ea typeface="Arial"/>
              <a:cs typeface="Arial"/>
              <a:sym typeface="Arial"/>
            </a:endParaRPr>
          </a:p>
          <a:p>
            <a:pPr marL="0" lvl="0" indent="0" algn="l" rtl="0">
              <a:lnSpc>
                <a:spcPct val="115000"/>
              </a:lnSpc>
              <a:spcBef>
                <a:spcPts val="0"/>
              </a:spcBef>
              <a:spcAft>
                <a:spcPts val="0"/>
              </a:spcAft>
              <a:buSzPts val="1300"/>
              <a:buNone/>
            </a:pPr>
            <a:r>
              <a:rPr lang="en" sz="1000">
                <a:solidFill>
                  <a:srgbClr val="000000"/>
                </a:solidFill>
                <a:highlight>
                  <a:srgbClr val="FFFFFF"/>
                </a:highlight>
                <a:latin typeface="Arial"/>
                <a:ea typeface="Arial"/>
                <a:cs typeface="Arial"/>
                <a:sym typeface="Arial"/>
              </a:rPr>
              <a:t>“Wallpaper, Wall Art.” </a:t>
            </a:r>
            <a:r>
              <a:rPr lang="en" sz="1000" i="1">
                <a:solidFill>
                  <a:srgbClr val="000000"/>
                </a:solidFill>
                <a:highlight>
                  <a:srgbClr val="FFFFFF"/>
                </a:highlight>
                <a:latin typeface="Arial"/>
                <a:ea typeface="Arial"/>
                <a:cs typeface="Arial"/>
                <a:sym typeface="Arial"/>
              </a:rPr>
              <a:t>Wallpaper Designs | Wall Coverings | Graham &amp; Brown</a:t>
            </a:r>
            <a:r>
              <a:rPr lang="en" sz="1000">
                <a:solidFill>
                  <a:srgbClr val="000000"/>
                </a:solidFill>
                <a:highlight>
                  <a:srgbClr val="FFFFFF"/>
                </a:highlight>
                <a:latin typeface="Arial"/>
                <a:ea typeface="Arial"/>
                <a:cs typeface="Arial"/>
                <a:sym typeface="Arial"/>
              </a:rPr>
              <a:t>, </a:t>
            </a:r>
            <a:r>
              <a:rPr lang="en" sz="1000" u="sng">
                <a:solidFill>
                  <a:srgbClr val="000000"/>
                </a:solidFill>
                <a:highlight>
                  <a:srgbClr val="FFFFFF"/>
                </a:highlight>
                <a:latin typeface="Arial"/>
                <a:ea typeface="Arial"/>
                <a:cs typeface="Arial"/>
                <a:sym typeface="Arial"/>
              </a:rPr>
              <a:t>www.grahambrown.com/us/.</a:t>
            </a:r>
            <a:endParaRPr sz="1000" u="sng">
              <a:solidFill>
                <a:srgbClr val="000000"/>
              </a:solidFill>
              <a:highlight>
                <a:srgbClr val="FFFFFF"/>
              </a:highlight>
              <a:latin typeface="Arial"/>
              <a:ea typeface="Arial"/>
              <a:cs typeface="Arial"/>
              <a:sym typeface="Arial"/>
            </a:endParaRPr>
          </a:p>
          <a:p>
            <a:pPr marL="0" lvl="0" indent="0" algn="l" rtl="0">
              <a:lnSpc>
                <a:spcPct val="115000"/>
              </a:lnSpc>
              <a:spcBef>
                <a:spcPts val="0"/>
              </a:spcBef>
              <a:spcAft>
                <a:spcPts val="0"/>
              </a:spcAft>
              <a:buSzPts val="1300"/>
              <a:buNone/>
            </a:pPr>
            <a:endParaRPr sz="1000">
              <a:solidFill>
                <a:srgbClr val="333333"/>
              </a:solidFill>
              <a:highlight>
                <a:srgbClr val="FFFFFF"/>
              </a:highlight>
              <a:latin typeface="Roboto"/>
              <a:ea typeface="Roboto"/>
              <a:cs typeface="Roboto"/>
              <a:sym typeface="Roboto"/>
            </a:endParaRPr>
          </a:p>
          <a:p>
            <a:pPr marL="0" lvl="0" indent="0" algn="l" rtl="0">
              <a:lnSpc>
                <a:spcPct val="115000"/>
              </a:lnSpc>
              <a:spcBef>
                <a:spcPts val="0"/>
              </a:spcBef>
              <a:spcAft>
                <a:spcPts val="1600"/>
              </a:spcAft>
              <a:buSzPts val="1300"/>
              <a:buNone/>
            </a:pPr>
            <a:endParaRPr sz="1000">
              <a:solidFill>
                <a:srgbClr val="333333"/>
              </a:solidFill>
              <a:highlight>
                <a:srgbClr val="FFFFFF"/>
              </a:highlight>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1099</Words>
  <Application>Microsoft Macintosh PowerPoint</Application>
  <PresentationFormat>On-screen Show (16:9)</PresentationFormat>
  <Paragraphs>93</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Times New Roman</vt:lpstr>
      <vt:lpstr>Nunito</vt:lpstr>
      <vt:lpstr>Roboto</vt:lpstr>
      <vt:lpstr>Calibri</vt:lpstr>
      <vt:lpstr>Arial</vt:lpstr>
      <vt:lpstr>Shift</vt:lpstr>
      <vt:lpstr>Life Cycle Analysis of Wallpaper &amp; Wall Paint</vt:lpstr>
      <vt:lpstr>Background</vt:lpstr>
      <vt:lpstr>Objectives</vt:lpstr>
      <vt:lpstr>Description of the Function </vt:lpstr>
      <vt:lpstr>Functional Unit</vt:lpstr>
      <vt:lpstr>Assumptions</vt:lpstr>
      <vt:lpstr>Process Tree with Intermediary Flows (Wall Paint)</vt:lpstr>
      <vt:lpstr>Final Results: Excel Chart (Wall Paint) </vt:lpstr>
      <vt:lpstr>Process Tree with Intermediary Flows (Wallpaper)</vt:lpstr>
      <vt:lpstr>Final Results: Excel Chart (Wallpaper)</vt:lpstr>
      <vt:lpstr>Energy-Use Comparison</vt:lpstr>
      <vt:lpstr>CO2 Emissions Comparison</vt:lpstr>
      <vt:lpstr>What type of products do you have in term of passive/active and fixed/mobile.  What are the priorities to improve it from an environmental perspective?  </vt:lpstr>
      <vt:lpstr>Sensitivity of energy and CO2_Lifetime</vt:lpstr>
      <vt:lpstr>Sensitivity of energy and CO2_Thickness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 Cycle Analysis of Wallpaper &amp; Wall Paint</dc:title>
  <cp:lastModifiedBy>Le, Ruth</cp:lastModifiedBy>
  <cp:revision>1</cp:revision>
  <dcterms:modified xsi:type="dcterms:W3CDTF">2022-10-10T18:21:40Z</dcterms:modified>
</cp:coreProperties>
</file>