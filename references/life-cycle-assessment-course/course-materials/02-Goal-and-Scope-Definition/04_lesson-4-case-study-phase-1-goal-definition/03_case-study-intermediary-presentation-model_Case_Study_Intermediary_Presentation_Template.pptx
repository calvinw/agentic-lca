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 id="2147483654" r:id="rId2"/>
    <p:sldMasterId id="2147483655" r:id="rId3"/>
    <p:sldMasterId id="2147483656" r:id="rId4"/>
    <p:sldMasterId id="2147483657" r:id="rId5"/>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6257588"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216">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452"/>
    <p:restoredTop sz="86451"/>
  </p:normalViewPr>
  <p:slideViewPr>
    <p:cSldViewPr snapToGrid="0">
      <p:cViewPr varScale="1">
        <p:scale>
          <a:sx n="75" d="100"/>
          <a:sy n="75" d="100"/>
        </p:scale>
        <p:origin x="384" y="184"/>
      </p:cViewPr>
      <p:guideLst>
        <p:guide orient="horz" pos="3216"/>
        <p:guide pos="5120"/>
      </p:guideLst>
    </p:cSldViewPr>
  </p:slideViewPr>
  <p:outlineViewPr>
    <p:cViewPr>
      <p:scale>
        <a:sx n="33" d="100"/>
        <a:sy n="33" d="100"/>
      </p:scale>
      <p:origin x="0" y="0"/>
    </p:cViewPr>
    <p:sldLst>
      <p:sld r:id="rId1" collapse="1"/>
    </p:sldLst>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 name="Google Shape;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u="sng"/>
              <a:t>Faculty Note:</a:t>
            </a:r>
            <a:endParaRPr/>
          </a:p>
          <a:p>
            <a:pPr marL="0" lvl="0" indent="0" algn="l" rtl="0">
              <a:spcBef>
                <a:spcPts val="0"/>
              </a:spcBef>
              <a:spcAft>
                <a:spcPts val="0"/>
              </a:spcAft>
              <a:buNone/>
            </a:pPr>
            <a:endParaRPr b="0" u="none"/>
          </a:p>
          <a:p>
            <a:pPr marL="0" lvl="0" indent="0" algn="l" rtl="0">
              <a:spcBef>
                <a:spcPts val="0"/>
              </a:spcBef>
              <a:spcAft>
                <a:spcPts val="0"/>
              </a:spcAft>
              <a:buNone/>
            </a:pPr>
            <a:r>
              <a:rPr lang="en-US" b="0" u="none"/>
              <a:t>Enter lecture title, and subtitle if present, in the text box above. Enter name and credentials on the second line as shown. The slide background graphic for this introduction slide can be replaced with an alternate image more suited to the topic or department (this step will be handled by our graphics team in the production phase).</a:t>
            </a:r>
            <a:endParaRPr/>
          </a:p>
        </p:txBody>
      </p:sp>
      <p:sp>
        <p:nvSpPr>
          <p:cNvPr id="50" name="Google Shape;5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 name="Google Shape;5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 name="Google Shape;7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p>
        </p:txBody>
      </p:sp>
      <p:sp>
        <p:nvSpPr>
          <p:cNvPr id="80" name="Google Shape;8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p>
        </p:txBody>
      </p:sp>
      <p:sp>
        <p:nvSpPr>
          <p:cNvPr id="101" name="Google Shape;10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adsasd</a:t>
            </a:r>
            <a:endParaRPr dirty="0"/>
          </a:p>
        </p:txBody>
      </p:sp>
      <p:sp>
        <p:nvSpPr>
          <p:cNvPr id="181" name="Google Shape;18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based on hand calculations then use again after Open LCA </a:t>
            </a:r>
            <a:endParaRPr/>
          </a:p>
        </p:txBody>
      </p:sp>
      <p:sp>
        <p:nvSpPr>
          <p:cNvPr id="238" name="Google Shape;23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slide (shown in video)">
  <p:cSld name="Content slide (shown in video)">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274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body" idx="1"/>
          </p:nvPr>
        </p:nvSpPr>
        <p:spPr>
          <a:xfrm>
            <a:off x="879475" y="1405719"/>
            <a:ext cx="14630400" cy="6373505"/>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rgbClr val="00274C"/>
              </a:buClr>
              <a:buSzPts val="1800"/>
              <a:buNone/>
              <a:defRPr/>
            </a:lvl1pPr>
            <a:lvl2pPr marL="914400" lvl="1" indent="-228600" algn="l">
              <a:spcBef>
                <a:spcPts val="360"/>
              </a:spcBef>
              <a:spcAft>
                <a:spcPts val="0"/>
              </a:spcAft>
              <a:buClr>
                <a:schemeClr val="dk1"/>
              </a:buClr>
              <a:buSzPts val="1800"/>
              <a:buNone/>
              <a:defRPr/>
            </a:lvl2pPr>
            <a:lvl3pPr marL="1371600" lvl="2" indent="-228600" algn="l">
              <a:spcBef>
                <a:spcPts val="360"/>
              </a:spcBef>
              <a:spcAft>
                <a:spcPts val="0"/>
              </a:spcAft>
              <a:buClr>
                <a:schemeClr val="dk1"/>
              </a:buClr>
              <a:buSzPts val="1800"/>
              <a:buNone/>
              <a:defRPr/>
            </a:lvl3pPr>
            <a:lvl4pPr marL="1828800" lvl="3" indent="-228600" algn="l">
              <a:spcBef>
                <a:spcPts val="360"/>
              </a:spcBef>
              <a:spcAft>
                <a:spcPts val="0"/>
              </a:spcAft>
              <a:buClr>
                <a:schemeClr val="dk1"/>
              </a:buClr>
              <a:buSzPts val="1800"/>
              <a:buNone/>
              <a:defRPr/>
            </a:lvl4pPr>
            <a:lvl5pPr marL="2286000" lvl="4" indent="-228600" algn="l">
              <a:spcBef>
                <a:spcPts val="360"/>
              </a:spcBef>
              <a:spcAft>
                <a:spcPts val="0"/>
              </a:spcAft>
              <a:buClr>
                <a:schemeClr val="dk1"/>
              </a:buClr>
              <a:buSzPts val="180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slide (shown in video)">
  <p:cSld name="Content slide (shown in video)">
    <p:spTree>
      <p:nvGrpSpPr>
        <p:cNvPr id="1" name="Shape 33"/>
        <p:cNvGrpSpPr/>
        <p:nvPr/>
      </p:nvGrpSpPr>
      <p:grpSpPr>
        <a:xfrm>
          <a:off x="0" y="0"/>
          <a:ext cx="0" cy="0"/>
          <a:chOff x="0" y="0"/>
          <a:chExt cx="0" cy="0"/>
        </a:xfrm>
      </p:grpSpPr>
      <p:sp>
        <p:nvSpPr>
          <p:cNvPr id="34" name="Google Shape;34;p6"/>
          <p:cNvSpPr txBox="1">
            <a:spLocks noGrp="1"/>
          </p:cNvSpPr>
          <p:nvPr>
            <p:ph type="body" idx="1"/>
          </p:nvPr>
        </p:nvSpPr>
        <p:spPr>
          <a:xfrm>
            <a:off x="878783" y="386862"/>
            <a:ext cx="14631900" cy="7389300"/>
          </a:xfrm>
          <a:prstGeom prst="rect">
            <a:avLst/>
          </a:prstGeom>
          <a:noFill/>
          <a:ln>
            <a:noFill/>
          </a:ln>
        </p:spPr>
        <p:txBody>
          <a:bodyPr spcFirstLastPara="1" wrap="square" lIns="91425" tIns="45700" rIns="91425" bIns="45700" anchor="t" anchorCtr="0">
            <a:normAutofit/>
          </a:bodyPr>
          <a:lstStyle>
            <a:lvl1pPr marL="457200" lvl="0" indent="-228600" algn="l" rtl="0">
              <a:spcBef>
                <a:spcPts val="360"/>
              </a:spcBef>
              <a:spcAft>
                <a:spcPts val="0"/>
              </a:spcAft>
              <a:buClr>
                <a:srgbClr val="00274C"/>
              </a:buClr>
              <a:buSzPts val="1800"/>
              <a:buNone/>
              <a:defRPr/>
            </a:lvl1pPr>
            <a:lvl2pPr marL="914400" lvl="1" indent="-228600" algn="l" rtl="0">
              <a:spcBef>
                <a:spcPts val="360"/>
              </a:spcBef>
              <a:spcAft>
                <a:spcPts val="0"/>
              </a:spcAft>
              <a:buClr>
                <a:schemeClr val="dk1"/>
              </a:buClr>
              <a:buSzPts val="1800"/>
              <a:buNone/>
              <a:defRPr/>
            </a:lvl2pPr>
            <a:lvl3pPr marL="1371600" lvl="2" indent="-228600" algn="l" rtl="0">
              <a:spcBef>
                <a:spcPts val="360"/>
              </a:spcBef>
              <a:spcAft>
                <a:spcPts val="0"/>
              </a:spcAft>
              <a:buClr>
                <a:schemeClr val="dk1"/>
              </a:buClr>
              <a:buSzPts val="1800"/>
              <a:buNone/>
              <a:defRPr/>
            </a:lvl3pPr>
            <a:lvl4pPr marL="1828800" lvl="3" indent="-228600" algn="l" rtl="0">
              <a:spcBef>
                <a:spcPts val="360"/>
              </a:spcBef>
              <a:spcAft>
                <a:spcPts val="0"/>
              </a:spcAft>
              <a:buClr>
                <a:schemeClr val="dk1"/>
              </a:buClr>
              <a:buSzPts val="1800"/>
              <a:buNone/>
              <a:defRPr/>
            </a:lvl4pPr>
            <a:lvl5pPr marL="2286000" lvl="4" indent="-228600" algn="l" rtl="0">
              <a:spcBef>
                <a:spcPts val="360"/>
              </a:spcBef>
              <a:spcAft>
                <a:spcPts val="0"/>
              </a:spcAft>
              <a:buClr>
                <a:schemeClr val="dk1"/>
              </a:buClr>
              <a:buSzPts val="1800"/>
              <a:buNone/>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slide (shown in video)">
  <p:cSld name="Content slide (shown in video)">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878783" y="272169"/>
            <a:ext cx="9489900" cy="8703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00274C"/>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879475" y="1405719"/>
            <a:ext cx="14630400" cy="6373500"/>
          </a:xfrm>
          <a:prstGeom prst="rect">
            <a:avLst/>
          </a:prstGeom>
          <a:noFill/>
          <a:ln>
            <a:noFill/>
          </a:ln>
        </p:spPr>
        <p:txBody>
          <a:bodyPr spcFirstLastPara="1" wrap="square" lIns="91425" tIns="45700" rIns="91425" bIns="45700" anchor="t" anchorCtr="0">
            <a:normAutofit/>
          </a:bodyPr>
          <a:lstStyle>
            <a:lvl1pPr marL="457200" lvl="0" indent="-228600" algn="l" rtl="0">
              <a:spcBef>
                <a:spcPts val="360"/>
              </a:spcBef>
              <a:spcAft>
                <a:spcPts val="0"/>
              </a:spcAft>
              <a:buClr>
                <a:srgbClr val="00274C"/>
              </a:buClr>
              <a:buSzPts val="1800"/>
              <a:buNone/>
              <a:defRPr/>
            </a:lvl1pPr>
            <a:lvl2pPr marL="914400" lvl="1" indent="-228600" algn="l" rtl="0">
              <a:spcBef>
                <a:spcPts val="360"/>
              </a:spcBef>
              <a:spcAft>
                <a:spcPts val="0"/>
              </a:spcAft>
              <a:buClr>
                <a:schemeClr val="dk1"/>
              </a:buClr>
              <a:buSzPts val="1800"/>
              <a:buNone/>
              <a:defRPr/>
            </a:lvl2pPr>
            <a:lvl3pPr marL="1371600" lvl="2" indent="-228600" algn="l" rtl="0">
              <a:spcBef>
                <a:spcPts val="360"/>
              </a:spcBef>
              <a:spcAft>
                <a:spcPts val="0"/>
              </a:spcAft>
              <a:buClr>
                <a:schemeClr val="dk1"/>
              </a:buClr>
              <a:buSzPts val="1800"/>
              <a:buNone/>
              <a:defRPr/>
            </a:lvl3pPr>
            <a:lvl4pPr marL="1828800" lvl="3" indent="-228600" algn="l" rtl="0">
              <a:spcBef>
                <a:spcPts val="360"/>
              </a:spcBef>
              <a:spcAft>
                <a:spcPts val="0"/>
              </a:spcAft>
              <a:buClr>
                <a:schemeClr val="dk1"/>
              </a:buClr>
              <a:buSzPts val="1800"/>
              <a:buNone/>
              <a:defRPr/>
            </a:lvl4pPr>
            <a:lvl5pPr marL="2286000" lvl="4" indent="-228600" algn="l" rtl="0">
              <a:spcBef>
                <a:spcPts val="360"/>
              </a:spcBef>
              <a:spcAft>
                <a:spcPts val="0"/>
              </a:spcAft>
              <a:buClr>
                <a:schemeClr val="dk1"/>
              </a:buClr>
              <a:buSzPts val="1800"/>
              <a:buNone/>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resenter notes (not to be shown in video)">
  <p:cSld name="Presenter notes (not to be shown in video)">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1581665" y="1301578"/>
            <a:ext cx="13007400" cy="58077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2800"/>
              <a:buNone/>
              <a:defRPr/>
            </a:lvl1pPr>
            <a:lvl2pPr marL="914400" lvl="1" indent="-228600" algn="l" rtl="0">
              <a:lnSpc>
                <a:spcPct val="90000"/>
              </a:lnSpc>
              <a:spcBef>
                <a:spcPts val="500"/>
              </a:spcBef>
              <a:spcAft>
                <a:spcPts val="0"/>
              </a:spcAft>
              <a:buClr>
                <a:schemeClr val="dk1"/>
              </a:buClr>
              <a:buSzPts val="1800"/>
              <a:buNone/>
              <a:defRPr/>
            </a:lvl2pPr>
            <a:lvl3pPr marL="1371600" lvl="2" indent="-228600" algn="l" rtl="0">
              <a:lnSpc>
                <a:spcPct val="90000"/>
              </a:lnSpc>
              <a:spcBef>
                <a:spcPts val="500"/>
              </a:spcBef>
              <a:spcAft>
                <a:spcPts val="0"/>
              </a:spcAft>
              <a:buClr>
                <a:schemeClr val="dk1"/>
              </a:buClr>
              <a:buSzPts val="18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7F7F7F"/>
            </a:gs>
            <a:gs pos="2000">
              <a:srgbClr val="7F7F7F"/>
            </a:gs>
            <a:gs pos="27000">
              <a:srgbClr val="ECECEC"/>
            </a:gs>
            <a:gs pos="80000">
              <a:schemeClr val="lt1"/>
            </a:gs>
            <a:gs pos="100000">
              <a:schemeClr val="lt1"/>
            </a:gs>
          </a:gsLst>
          <a:lin ang="16200000" scaled="0"/>
        </a:gra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3">
            <a:alphaModFix/>
          </a:blip>
          <a:srcRect/>
          <a:stretch/>
        </p:blipFill>
        <p:spPr>
          <a:xfrm>
            <a:off x="-13957" y="0"/>
            <a:ext cx="16271545" cy="7776028"/>
          </a:xfrm>
          <a:prstGeom prst="rect">
            <a:avLst/>
          </a:prstGeom>
          <a:noFill/>
          <a:ln>
            <a:noFill/>
          </a:ln>
        </p:spPr>
      </p:pic>
      <p:sp>
        <p:nvSpPr>
          <p:cNvPr id="11" name="Google Shape;11;p1"/>
          <p:cNvSpPr/>
          <p:nvPr/>
        </p:nvSpPr>
        <p:spPr>
          <a:xfrm>
            <a:off x="0" y="7674428"/>
            <a:ext cx="16257588" cy="1469571"/>
          </a:xfrm>
          <a:prstGeom prst="rect">
            <a:avLst/>
          </a:prstGeom>
          <a:solidFill>
            <a:srgbClr val="00274C"/>
          </a:solidFill>
          <a:ln w="9525" cap="flat" cmpd="sng">
            <a:solidFill>
              <a:srgbClr val="FFC9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lt1"/>
              </a:solidFill>
              <a:latin typeface="Arial"/>
              <a:ea typeface="Arial"/>
              <a:cs typeface="Arial"/>
              <a:sym typeface="Arial"/>
            </a:endParaRPr>
          </a:p>
        </p:txBody>
      </p:sp>
      <p:pic>
        <p:nvPicPr>
          <p:cNvPr id="12" name="Google Shape;12;p1" descr="M_SchoolPublicHealth_logo_white.png"/>
          <p:cNvPicPr preferRelativeResize="0"/>
          <p:nvPr/>
        </p:nvPicPr>
        <p:blipFill rotWithShape="1">
          <a:blip r:embed="rId4">
            <a:alphaModFix/>
          </a:blip>
          <a:srcRect/>
          <a:stretch/>
        </p:blipFill>
        <p:spPr>
          <a:xfrm>
            <a:off x="10759986" y="8007770"/>
            <a:ext cx="5372640" cy="767520"/>
          </a:xfrm>
          <a:prstGeom prst="rect">
            <a:avLst/>
          </a:prstGeom>
          <a:noFill/>
          <a:ln>
            <a:noFill/>
          </a:ln>
        </p:spPr>
      </p:pic>
      <p:sp>
        <p:nvSpPr>
          <p:cNvPr id="13" name="Google Shape;13;p1"/>
          <p:cNvSpPr/>
          <p:nvPr/>
        </p:nvSpPr>
        <p:spPr>
          <a:xfrm>
            <a:off x="0" y="7623628"/>
            <a:ext cx="16257588" cy="152400"/>
          </a:xfrm>
          <a:prstGeom prst="rect">
            <a:avLst/>
          </a:prstGeom>
          <a:solidFill>
            <a:srgbClr val="FFCB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lt1"/>
              </a:solidFill>
              <a:latin typeface="Arial"/>
              <a:ea typeface="Arial"/>
              <a:cs typeface="Arial"/>
              <a:sym typeface="Arial"/>
            </a:endParaRPr>
          </a:p>
        </p:txBody>
      </p:sp>
      <p:sp>
        <p:nvSpPr>
          <p:cNvPr id="14" name="Google Shape;14;p1"/>
          <p:cNvSpPr/>
          <p:nvPr/>
        </p:nvSpPr>
        <p:spPr>
          <a:xfrm>
            <a:off x="0" y="4767944"/>
            <a:ext cx="16257588" cy="2846366"/>
          </a:xfrm>
          <a:prstGeom prst="rect">
            <a:avLst/>
          </a:prstGeom>
          <a:gradFill>
            <a:gsLst>
              <a:gs pos="0">
                <a:srgbClr val="F2F2F2"/>
              </a:gs>
              <a:gs pos="66000">
                <a:srgbClr val="EEEEEE"/>
              </a:gs>
              <a:gs pos="100000">
                <a:srgbClr val="3A5891">
                  <a:alpha val="54901"/>
                </a:srgbClr>
              </a:gs>
            </a:gsLst>
            <a:lin ang="120000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lt1"/>
              </a:solidFill>
              <a:latin typeface="Arial"/>
              <a:ea typeface="Arial"/>
              <a:cs typeface="Arial"/>
              <a:sym typeface="Arial"/>
            </a:endParaRPr>
          </a:p>
        </p:txBody>
      </p:sp>
      <p:pic>
        <p:nvPicPr>
          <p:cNvPr id="15" name="Google Shape;15;p1"/>
          <p:cNvPicPr preferRelativeResize="0"/>
          <p:nvPr/>
        </p:nvPicPr>
        <p:blipFill rotWithShape="1">
          <a:blip r:embed="rId5">
            <a:alphaModFix amt="20000"/>
          </a:blip>
          <a:srcRect/>
          <a:stretch/>
        </p:blipFill>
        <p:spPr>
          <a:xfrm>
            <a:off x="-13957" y="4757918"/>
            <a:ext cx="12192001" cy="2891110"/>
          </a:xfrm>
          <a:prstGeom prst="rect">
            <a:avLst/>
          </a:prstGeom>
          <a:noFill/>
          <a:ln>
            <a:noFill/>
          </a:ln>
        </p:spPr>
      </p:pic>
      <p:cxnSp>
        <p:nvCxnSpPr>
          <p:cNvPr id="16" name="Google Shape;16;p1"/>
          <p:cNvCxnSpPr/>
          <p:nvPr/>
        </p:nvCxnSpPr>
        <p:spPr>
          <a:xfrm>
            <a:off x="0" y="6607960"/>
            <a:ext cx="10140043" cy="0"/>
          </a:xfrm>
          <a:prstGeom prst="straightConnector1">
            <a:avLst/>
          </a:prstGeom>
          <a:noFill/>
          <a:ln w="38100" cap="flat" cmpd="sng">
            <a:solidFill>
              <a:srgbClr val="00274C"/>
            </a:solidFill>
            <a:prstDash val="solid"/>
            <a:round/>
            <a:headEnd type="none" w="sm" len="sm"/>
            <a:tailEnd type="none" w="sm" len="sm"/>
          </a:ln>
        </p:spPr>
      </p:cxnSp>
      <p:sp>
        <p:nvSpPr>
          <p:cNvPr id="17" name="Google Shape;17;p1"/>
          <p:cNvSpPr/>
          <p:nvPr/>
        </p:nvSpPr>
        <p:spPr>
          <a:xfrm>
            <a:off x="0" y="4550950"/>
            <a:ext cx="16257588" cy="224918"/>
          </a:xfrm>
          <a:prstGeom prst="rect">
            <a:avLst/>
          </a:prstGeom>
          <a:gradFill>
            <a:gsLst>
              <a:gs pos="0">
                <a:srgbClr val="587ABC"/>
              </a:gs>
              <a:gs pos="63000">
                <a:schemeClr val="lt1"/>
              </a:gs>
              <a:gs pos="100000">
                <a:schemeClr val="lt1"/>
              </a:gs>
            </a:gsLst>
            <a:lin ang="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
        <p:cNvGrpSpPr/>
        <p:nvPr/>
      </p:nvGrpSpPr>
      <p:grpSpPr>
        <a:xfrm>
          <a:off x="0" y="0"/>
          <a:ext cx="0" cy="0"/>
          <a:chOff x="0" y="0"/>
          <a:chExt cx="0" cy="0"/>
        </a:xfrm>
      </p:grpSpPr>
      <p:sp>
        <p:nvSpPr>
          <p:cNvPr id="20" name="Google Shape;20;p3"/>
          <p:cNvSpPr txBox="1">
            <a:spLocks noGrp="1"/>
          </p:cNvSpPr>
          <p:nvPr>
            <p:ph type="body" idx="1"/>
          </p:nvPr>
        </p:nvSpPr>
        <p:spPr>
          <a:xfrm>
            <a:off x="878783" y="1405719"/>
            <a:ext cx="14631828" cy="637030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640"/>
              </a:spcBef>
              <a:spcAft>
                <a:spcPts val="0"/>
              </a:spcAft>
              <a:buClr>
                <a:srgbClr val="00274C"/>
              </a:buClr>
              <a:buSzPts val="3200"/>
              <a:buFont typeface="Arial"/>
              <a:buNone/>
              <a:defRPr sz="3200" b="0" i="0" u="none" strike="noStrike" cap="none">
                <a:solidFill>
                  <a:srgbClr val="00274C"/>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1" name="Google Shape;21;p3"/>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00274C"/>
              </a:buClr>
              <a:buSzPts val="4400"/>
              <a:buFont typeface="Arial"/>
              <a:buNone/>
              <a:defRPr sz="4400" b="0" i="0" u="none" strike="noStrike" cap="none">
                <a:solidFill>
                  <a:srgbClr val="00274C"/>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 name="Google Shape;22;p3"/>
          <p:cNvSpPr/>
          <p:nvPr/>
        </p:nvSpPr>
        <p:spPr>
          <a:xfrm>
            <a:off x="0" y="0"/>
            <a:ext cx="16257588" cy="224918"/>
          </a:xfrm>
          <a:prstGeom prst="rect">
            <a:avLst/>
          </a:prstGeom>
          <a:gradFill>
            <a:gsLst>
              <a:gs pos="0">
                <a:srgbClr val="587ABC"/>
              </a:gs>
              <a:gs pos="63000">
                <a:srgbClr val="00274C"/>
              </a:gs>
              <a:gs pos="100000">
                <a:srgbClr val="00274C"/>
              </a:gs>
            </a:gsLst>
            <a:lin ang="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cxnSp>
        <p:nvCxnSpPr>
          <p:cNvPr id="23" name="Google Shape;23;p3"/>
          <p:cNvCxnSpPr/>
          <p:nvPr/>
        </p:nvCxnSpPr>
        <p:spPr>
          <a:xfrm>
            <a:off x="1023582" y="1210794"/>
            <a:ext cx="14343797" cy="0"/>
          </a:xfrm>
          <a:prstGeom prst="straightConnector1">
            <a:avLst/>
          </a:prstGeom>
          <a:noFill/>
          <a:ln w="38100" cap="flat" cmpd="sng">
            <a:solidFill>
              <a:schemeClr val="accent1"/>
            </a:solidFill>
            <a:prstDash val="solid"/>
            <a:round/>
            <a:headEnd type="none" w="sm" len="sm"/>
            <a:tailEnd type="none" w="sm" len="sm"/>
          </a:ln>
        </p:spPr>
      </p:cxnSp>
      <p:sp>
        <p:nvSpPr>
          <p:cNvPr id="24" name="Google Shape;24;p3"/>
          <p:cNvSpPr/>
          <p:nvPr/>
        </p:nvSpPr>
        <p:spPr>
          <a:xfrm>
            <a:off x="0" y="7776027"/>
            <a:ext cx="16257588" cy="1367973"/>
          </a:xfrm>
          <a:prstGeom prst="rect">
            <a:avLst/>
          </a:prstGeom>
          <a:gradFill>
            <a:gsLst>
              <a:gs pos="0">
                <a:srgbClr val="E4E1DF"/>
              </a:gs>
              <a:gs pos="8000">
                <a:srgbClr val="E4E1DF"/>
              </a:gs>
              <a:gs pos="100000">
                <a:schemeClr val="lt1"/>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cxnSp>
        <p:nvCxnSpPr>
          <p:cNvPr id="25" name="Google Shape;25;p3"/>
          <p:cNvCxnSpPr/>
          <p:nvPr/>
        </p:nvCxnSpPr>
        <p:spPr>
          <a:xfrm>
            <a:off x="0" y="7758806"/>
            <a:ext cx="16257588" cy="0"/>
          </a:xfrm>
          <a:prstGeom prst="straightConnector1">
            <a:avLst/>
          </a:prstGeom>
          <a:noFill/>
          <a:ln w="9525" cap="flat" cmpd="sng">
            <a:solidFill>
              <a:srgbClr val="E4E1DF">
                <a:alpha val="29803"/>
              </a:srgbClr>
            </a:solidFill>
            <a:prstDash val="solid"/>
            <a:round/>
            <a:headEnd type="none" w="sm" len="sm"/>
            <a:tailEnd type="none" w="sm" len="sm"/>
          </a:ln>
          <a:effectLst>
            <a:outerShdw blurRad="40000" dist="20000" dir="5400000" rotWithShape="0">
              <a:srgbClr val="000000">
                <a:alpha val="37647"/>
              </a:srgbClr>
            </a:outerShdw>
          </a:effectLst>
        </p:spPr>
      </p:cxn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
        <p:cNvGrpSpPr/>
        <p:nvPr/>
      </p:nvGrpSpPr>
      <p:grpSpPr>
        <a:xfrm>
          <a:off x="0" y="0"/>
          <a:ext cx="0" cy="0"/>
          <a:chOff x="0" y="0"/>
          <a:chExt cx="0" cy="0"/>
        </a:xfrm>
      </p:grpSpPr>
      <p:sp>
        <p:nvSpPr>
          <p:cNvPr id="30" name="Google Shape;30;p5"/>
          <p:cNvSpPr/>
          <p:nvPr/>
        </p:nvSpPr>
        <p:spPr>
          <a:xfrm>
            <a:off x="0" y="7776027"/>
            <a:ext cx="16257600" cy="1368000"/>
          </a:xfrm>
          <a:prstGeom prst="rect">
            <a:avLst/>
          </a:prstGeom>
          <a:gradFill>
            <a:gsLst>
              <a:gs pos="0">
                <a:srgbClr val="E4E1DF"/>
              </a:gs>
              <a:gs pos="8000">
                <a:srgbClr val="E4E1DF"/>
              </a:gs>
              <a:gs pos="100000">
                <a:schemeClr val="lt1"/>
              </a:gs>
            </a:gsLst>
            <a:lin ang="16200038"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cxnSp>
        <p:nvCxnSpPr>
          <p:cNvPr id="31" name="Google Shape;31;p5"/>
          <p:cNvCxnSpPr/>
          <p:nvPr/>
        </p:nvCxnSpPr>
        <p:spPr>
          <a:xfrm>
            <a:off x="0" y="7758806"/>
            <a:ext cx="16257600" cy="0"/>
          </a:xfrm>
          <a:prstGeom prst="straightConnector1">
            <a:avLst/>
          </a:prstGeom>
          <a:noFill/>
          <a:ln w="9525" cap="flat" cmpd="sng">
            <a:solidFill>
              <a:srgbClr val="E4E1DF">
                <a:alpha val="29800"/>
              </a:srgbClr>
            </a:solidFill>
            <a:prstDash val="solid"/>
            <a:round/>
            <a:headEnd type="none" w="sm" len="sm"/>
            <a:tailEnd type="none" w="sm" len="sm"/>
          </a:ln>
          <a:effectLst>
            <a:outerShdw blurRad="40000" dist="20000" dir="5400000" rotWithShape="0">
              <a:srgbClr val="000000">
                <a:alpha val="37650"/>
              </a:srgbClr>
            </a:outerShdw>
          </a:effectLst>
        </p:spPr>
      </p:cxnSp>
      <p:sp>
        <p:nvSpPr>
          <p:cNvPr id="32" name="Google Shape;32;p5"/>
          <p:cNvSpPr txBox="1">
            <a:spLocks noGrp="1"/>
          </p:cNvSpPr>
          <p:nvPr>
            <p:ph type="body" idx="1"/>
          </p:nvPr>
        </p:nvSpPr>
        <p:spPr>
          <a:xfrm>
            <a:off x="878783" y="386862"/>
            <a:ext cx="14631900" cy="73893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640"/>
              </a:spcBef>
              <a:spcAft>
                <a:spcPts val="0"/>
              </a:spcAft>
              <a:buClr>
                <a:srgbClr val="00274C"/>
              </a:buClr>
              <a:buSzPts val="3200"/>
              <a:buFont typeface="Arial"/>
              <a:buNone/>
              <a:defRPr sz="3200" b="0" i="0" u="none" strike="noStrike" cap="none">
                <a:solidFill>
                  <a:srgbClr val="00274C"/>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
        <p:cNvGrpSpPr/>
        <p:nvPr/>
      </p:nvGrpSpPr>
      <p:grpSpPr>
        <a:xfrm>
          <a:off x="0" y="0"/>
          <a:ext cx="0" cy="0"/>
          <a:chOff x="0" y="0"/>
          <a:chExt cx="0" cy="0"/>
        </a:xfrm>
      </p:grpSpPr>
      <p:sp>
        <p:nvSpPr>
          <p:cNvPr id="36" name="Google Shape;36;p7"/>
          <p:cNvSpPr txBox="1">
            <a:spLocks noGrp="1"/>
          </p:cNvSpPr>
          <p:nvPr>
            <p:ph type="body" idx="1"/>
          </p:nvPr>
        </p:nvSpPr>
        <p:spPr>
          <a:xfrm>
            <a:off x="878783" y="1405719"/>
            <a:ext cx="9489900" cy="63702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640"/>
              </a:spcBef>
              <a:spcAft>
                <a:spcPts val="0"/>
              </a:spcAft>
              <a:buClr>
                <a:srgbClr val="00274C"/>
              </a:buClr>
              <a:buSzPts val="3200"/>
              <a:buFont typeface="Arial"/>
              <a:buNone/>
              <a:defRPr sz="3200" b="0" i="0" u="none" strike="noStrike" cap="none">
                <a:solidFill>
                  <a:srgbClr val="00274C"/>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7" name="Google Shape;37;p7"/>
          <p:cNvSpPr txBox="1">
            <a:spLocks noGrp="1"/>
          </p:cNvSpPr>
          <p:nvPr>
            <p:ph type="title"/>
          </p:nvPr>
        </p:nvSpPr>
        <p:spPr>
          <a:xfrm>
            <a:off x="878783" y="272169"/>
            <a:ext cx="9489900" cy="8703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00274C"/>
              </a:buClr>
              <a:buSzPts val="4400"/>
              <a:buFont typeface="Arial"/>
              <a:buNone/>
              <a:defRPr sz="4400" b="0" i="0" u="none" strike="noStrike" cap="none">
                <a:solidFill>
                  <a:srgbClr val="00274C"/>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8" name="Google Shape;38;p7"/>
          <p:cNvSpPr/>
          <p:nvPr/>
        </p:nvSpPr>
        <p:spPr>
          <a:xfrm>
            <a:off x="0" y="7776027"/>
            <a:ext cx="16257600" cy="1368000"/>
          </a:xfrm>
          <a:prstGeom prst="rect">
            <a:avLst/>
          </a:prstGeom>
          <a:gradFill>
            <a:gsLst>
              <a:gs pos="0">
                <a:srgbClr val="E4E1DF"/>
              </a:gs>
              <a:gs pos="8000">
                <a:srgbClr val="E4E1DF"/>
              </a:gs>
              <a:gs pos="100000">
                <a:schemeClr val="lt1"/>
              </a:gs>
            </a:gsLst>
            <a:lin ang="16200038"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cxnSp>
        <p:nvCxnSpPr>
          <p:cNvPr id="39" name="Google Shape;39;p7"/>
          <p:cNvCxnSpPr/>
          <p:nvPr/>
        </p:nvCxnSpPr>
        <p:spPr>
          <a:xfrm>
            <a:off x="0" y="7758806"/>
            <a:ext cx="16257600" cy="0"/>
          </a:xfrm>
          <a:prstGeom prst="straightConnector1">
            <a:avLst/>
          </a:prstGeom>
          <a:noFill/>
          <a:ln w="9525" cap="flat" cmpd="sng">
            <a:solidFill>
              <a:srgbClr val="E4E1DF">
                <a:alpha val="29800"/>
              </a:srgbClr>
            </a:solidFill>
            <a:prstDash val="solid"/>
            <a:round/>
            <a:headEnd type="none" w="sm" len="sm"/>
            <a:tailEnd type="none" w="sm" len="sm"/>
          </a:ln>
          <a:effectLst>
            <a:outerShdw blurRad="40000" dist="20000" dir="5400000" rotWithShape="0">
              <a:srgbClr val="000000">
                <a:alpha val="37650"/>
              </a:srgbClr>
            </a:outerShdw>
          </a:effectLst>
        </p:spPr>
      </p:cxn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DDEAF6"/>
        </a:solidFill>
        <a:effectLst/>
      </p:bgPr>
    </p:bg>
    <p:spTree>
      <p:nvGrpSpPr>
        <p:cNvPr id="1" name="Shape 43"/>
        <p:cNvGrpSpPr/>
        <p:nvPr/>
      </p:nvGrpSpPr>
      <p:grpSpPr>
        <a:xfrm>
          <a:off x="0" y="0"/>
          <a:ext cx="0" cy="0"/>
          <a:chOff x="0" y="0"/>
          <a:chExt cx="0" cy="0"/>
        </a:xfrm>
      </p:grpSpPr>
      <p:sp>
        <p:nvSpPr>
          <p:cNvPr id="44" name="Google Shape;44;p9"/>
          <p:cNvSpPr txBox="1">
            <a:spLocks noGrp="1"/>
          </p:cNvSpPr>
          <p:nvPr>
            <p:ph type="body" idx="1"/>
          </p:nvPr>
        </p:nvSpPr>
        <p:spPr>
          <a:xfrm>
            <a:off x="2084172" y="1066154"/>
            <a:ext cx="12002400" cy="58023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Courier New"/>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Noto Sans Symbols"/>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1"/>
          <p:cNvSpPr txBox="1">
            <a:spLocks noGrp="1"/>
          </p:cNvSpPr>
          <p:nvPr>
            <p:ph type="title" idx="4294967295"/>
          </p:nvPr>
        </p:nvSpPr>
        <p:spPr>
          <a:xfrm>
            <a:off x="440871" y="4899648"/>
            <a:ext cx="14799129" cy="974210"/>
          </a:xfrm>
          <a:prstGeom prst="rect">
            <a:avLst/>
          </a:prstGeom>
          <a:noFill/>
          <a:ln>
            <a:noFill/>
            <a:prstDash/>
          </a:ln>
          <a:effectLst/>
        </p:spPr>
        <p:txBody>
          <a:bodyPr rot="0" spcFirstLastPara="1" vertOverflow="overflow" horzOverflow="overflow" vert="horz" wrap="square" lIns="91425" tIns="45700" rIns="91425" bIns="4570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
                <a:schemeClr val="dk1"/>
              </a:buClr>
              <a:buSzPts val="5400"/>
              <a:buFont typeface="Arial"/>
              <a:buNone/>
              <a:tabLst/>
              <a:defRPr/>
            </a:pPr>
            <a:r>
              <a:rPr kumimoji="0" lang="en-US" sz="5400" b="1" i="0" u="none" strike="noStrike" kern="0" cap="none" spc="0" normalizeH="0" baseline="0" noProof="0" dirty="0">
                <a:ln>
                  <a:noFill/>
                </a:ln>
                <a:solidFill>
                  <a:schemeClr val="dk1"/>
                </a:solidFill>
                <a:effectLst/>
                <a:uLnTx/>
                <a:uFillTx/>
                <a:latin typeface="Arial"/>
                <a:ea typeface="Arial"/>
                <a:cs typeface="Arial"/>
                <a:sym typeface="Arial"/>
              </a:rPr>
              <a:t>Case study – intermediary presentation</a:t>
            </a:r>
            <a:endParaRPr kumimoji="0" lang="en-US" sz="3600" b="1" i="0" u="none" strike="noStrike" kern="0" cap="none" spc="0" normalizeH="0" baseline="0" noProof="0" dirty="0">
              <a:ln>
                <a:noFill/>
              </a:ln>
              <a:solidFill>
                <a:schemeClr val="accent5"/>
              </a:solidFill>
              <a:effectLst/>
              <a:uLnTx/>
              <a:uFillTx/>
              <a:latin typeface="Arial"/>
              <a:ea typeface="Arial"/>
              <a:cs typeface="Arial"/>
              <a:sym typeface="Arial"/>
            </a:endParaRPr>
          </a:p>
        </p:txBody>
      </p:sp>
      <p:sp>
        <p:nvSpPr>
          <p:cNvPr id="53" name="Google Shape;53;p11"/>
          <p:cNvSpPr txBox="1"/>
          <p:nvPr/>
        </p:nvSpPr>
        <p:spPr>
          <a:xfrm>
            <a:off x="440871" y="6790584"/>
            <a:ext cx="3021981" cy="4770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500" b="1" i="0" u="none" strike="noStrike" cap="none">
                <a:solidFill>
                  <a:schemeClr val="dk1"/>
                </a:solidFill>
                <a:latin typeface="Arial"/>
                <a:ea typeface="Arial"/>
                <a:cs typeface="Arial"/>
                <a:sym typeface="Arial"/>
              </a:rPr>
              <a:t>Olivier Jolliet, PhD</a:t>
            </a:r>
            <a:endParaRPr sz="250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0" name="Google Shape;60;p12"/>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000"/>
              <a:buFont typeface="Arial"/>
              <a:buNone/>
            </a:pPr>
            <a:r>
              <a:rPr lang="en-US" sz="4000" dirty="0">
                <a:solidFill>
                  <a:schemeClr val="dk2"/>
                </a:solidFill>
              </a:rPr>
              <a:t>Case study: screening analysis and intermediary presentation</a:t>
            </a:r>
            <a:endParaRPr sz="4000" dirty="0">
              <a:solidFill>
                <a:schemeClr val="dk2"/>
              </a:solidFill>
            </a:endParaRPr>
          </a:p>
        </p:txBody>
      </p:sp>
      <p:sp>
        <p:nvSpPr>
          <p:cNvPr id="62" name="Google Shape;62;p12"/>
          <p:cNvSpPr/>
          <p:nvPr/>
        </p:nvSpPr>
        <p:spPr>
          <a:xfrm>
            <a:off x="878782" y="1344069"/>
            <a:ext cx="14631827" cy="138499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chemeClr val="dk2"/>
                </a:solidFill>
                <a:latin typeface="Arial"/>
                <a:ea typeface="Arial"/>
                <a:cs typeface="Arial"/>
                <a:sym typeface="Arial"/>
              </a:rPr>
              <a:t>General case study aim: </a:t>
            </a:r>
            <a:r>
              <a:rPr lang="en-US" sz="2800">
                <a:solidFill>
                  <a:schemeClr val="dk2"/>
                </a:solidFill>
                <a:latin typeface="Arial"/>
                <a:ea typeface="Arial"/>
                <a:cs typeface="Arial"/>
                <a:sym typeface="Arial"/>
              </a:rPr>
              <a:t>Compare the environmental impacts of two or more product </a:t>
            </a:r>
            <a:br>
              <a:rPr lang="en-US" sz="2800">
                <a:solidFill>
                  <a:schemeClr val="dk2"/>
                </a:solidFill>
                <a:latin typeface="Arial"/>
                <a:ea typeface="Arial"/>
                <a:cs typeface="Arial"/>
                <a:sym typeface="Arial"/>
              </a:rPr>
            </a:br>
            <a:r>
              <a:rPr lang="en-US" sz="2800">
                <a:solidFill>
                  <a:schemeClr val="dk2"/>
                </a:solidFill>
                <a:latin typeface="Arial"/>
                <a:ea typeface="Arial"/>
                <a:cs typeface="Arial"/>
                <a:sym typeface="Arial"/>
              </a:rPr>
              <a:t>or service alternatives. Identify most influential parameters and possible improvements. Case study topic are selected upon proposal of participants.</a:t>
            </a:r>
            <a:endParaRPr/>
          </a:p>
        </p:txBody>
      </p:sp>
      <p:sp>
        <p:nvSpPr>
          <p:cNvPr id="59" name="Google Shape;59;p12">
            <a:extLst>
              <a:ext uri="{C183D7F6-B498-43B3-948B-1728B52AA6E4}">
                <adec:decorative xmlns:adec="http://schemas.microsoft.com/office/drawing/2017/decorative" val="1"/>
              </a:ext>
            </a:extLst>
          </p:cNvPr>
          <p:cNvSpPr/>
          <p:nvPr/>
        </p:nvSpPr>
        <p:spPr>
          <a:xfrm>
            <a:off x="928210" y="2843355"/>
            <a:ext cx="14582399" cy="65952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sp>
        <p:nvSpPr>
          <p:cNvPr id="61" name="Google Shape;61;p12" descr="Phase 1: goal definition and hand calculation of energy and CO2&#13;&#10;"/>
          <p:cNvSpPr txBox="1"/>
          <p:nvPr/>
        </p:nvSpPr>
        <p:spPr>
          <a:xfrm>
            <a:off x="1051780" y="2901980"/>
            <a:ext cx="14314214" cy="4773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2800"/>
              <a:buFont typeface="Arial"/>
              <a:buNone/>
            </a:pPr>
            <a:r>
              <a:rPr lang="en-US" sz="2800" b="1" dirty="0">
                <a:solidFill>
                  <a:schemeClr val="lt1"/>
                </a:solidFill>
                <a:latin typeface="Arial"/>
                <a:ea typeface="Arial"/>
                <a:cs typeface="Arial"/>
                <a:sym typeface="Arial"/>
              </a:rPr>
              <a:t>Phase 1: goal definition and hand calculation of energy and CO</a:t>
            </a:r>
            <a:r>
              <a:rPr lang="en-US" sz="2800" b="1" baseline="-25000" dirty="0">
                <a:solidFill>
                  <a:schemeClr val="lt1"/>
                </a:solidFill>
                <a:latin typeface="Arial"/>
                <a:ea typeface="Arial"/>
                <a:cs typeface="Arial"/>
                <a:sym typeface="Arial"/>
              </a:rPr>
              <a:t>2</a:t>
            </a:r>
            <a:endParaRPr dirty="0"/>
          </a:p>
        </p:txBody>
      </p:sp>
      <p:sp>
        <p:nvSpPr>
          <p:cNvPr id="63" name="Google Shape;63;p12"/>
          <p:cNvSpPr/>
          <p:nvPr/>
        </p:nvSpPr>
        <p:spPr>
          <a:xfrm>
            <a:off x="8965095" y="3607670"/>
            <a:ext cx="6545513" cy="40164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chemeClr val="accent4"/>
                </a:solidFill>
                <a:latin typeface="Arial"/>
                <a:ea typeface="Arial"/>
                <a:cs typeface="Arial"/>
                <a:sym typeface="Arial"/>
              </a:rPr>
              <a:t>Steps and deliverables phase 1 </a:t>
            </a:r>
            <a:endParaRPr/>
          </a:p>
          <a:p>
            <a:pPr marL="0" marR="0" lvl="0" indent="0" algn="l" rtl="0">
              <a:spcBef>
                <a:spcPts val="600"/>
              </a:spcBef>
              <a:spcAft>
                <a:spcPts val="0"/>
              </a:spcAft>
              <a:buNone/>
            </a:pPr>
            <a:r>
              <a:rPr lang="en-US" sz="2400" b="1">
                <a:solidFill>
                  <a:schemeClr val="accent4"/>
                </a:solidFill>
                <a:latin typeface="Arial"/>
                <a:ea typeface="Arial"/>
                <a:cs typeface="Arial"/>
                <a:sym typeface="Arial"/>
              </a:rPr>
              <a:t>GA1a: </a:t>
            </a:r>
            <a:r>
              <a:rPr lang="en-US" sz="2400">
                <a:solidFill>
                  <a:schemeClr val="dk2"/>
                </a:solidFill>
                <a:latin typeface="Arial"/>
                <a:ea typeface="Arial"/>
                <a:cs typeface="Arial"/>
                <a:sym typeface="Arial"/>
              </a:rPr>
              <a:t>Fill in and submit the Function, </a:t>
            </a:r>
            <a:br>
              <a:rPr lang="en-US" sz="2400">
                <a:solidFill>
                  <a:schemeClr val="dk2"/>
                </a:solidFill>
                <a:latin typeface="Arial"/>
                <a:ea typeface="Arial"/>
                <a:cs typeface="Arial"/>
                <a:sym typeface="Arial"/>
              </a:rPr>
            </a:br>
            <a:r>
              <a:rPr lang="en-US" sz="2400">
                <a:solidFill>
                  <a:schemeClr val="dk2"/>
                </a:solidFill>
                <a:latin typeface="Arial"/>
                <a:ea typeface="Arial"/>
                <a:cs typeface="Arial"/>
                <a:sym typeface="Arial"/>
              </a:rPr>
              <a:t>functional unit and process tree template</a:t>
            </a:r>
            <a:br>
              <a:rPr lang="en-US" sz="2400">
                <a:solidFill>
                  <a:schemeClr val="dk2"/>
                </a:solidFill>
                <a:latin typeface="Arial"/>
                <a:ea typeface="Arial"/>
                <a:cs typeface="Arial"/>
                <a:sym typeface="Arial"/>
              </a:rPr>
            </a:br>
            <a:r>
              <a:rPr lang="en-US" sz="2400">
                <a:solidFill>
                  <a:schemeClr val="dk2"/>
                </a:solidFill>
                <a:latin typeface="Arial"/>
                <a:ea typeface="Arial"/>
                <a:cs typeface="Arial"/>
                <a:sym typeface="Arial"/>
              </a:rPr>
              <a:t>(until slide 9 below)</a:t>
            </a:r>
            <a:endParaRPr sz="2400">
              <a:solidFill>
                <a:schemeClr val="dk2"/>
              </a:solidFill>
              <a:latin typeface="Arial"/>
              <a:ea typeface="Arial"/>
              <a:cs typeface="Arial"/>
              <a:sym typeface="Arial"/>
            </a:endParaRPr>
          </a:p>
          <a:p>
            <a:pPr marL="0" marR="0" lvl="0" indent="0" algn="l" rtl="0">
              <a:spcBef>
                <a:spcPts val="600"/>
              </a:spcBef>
              <a:spcAft>
                <a:spcPts val="0"/>
              </a:spcAft>
              <a:buNone/>
            </a:pPr>
            <a:r>
              <a:rPr lang="en-US" sz="2400" b="1">
                <a:solidFill>
                  <a:schemeClr val="accent4"/>
                </a:solidFill>
                <a:latin typeface="Arial"/>
                <a:ea typeface="Arial"/>
                <a:cs typeface="Arial"/>
                <a:sym typeface="Arial"/>
              </a:rPr>
              <a:t>GA1b: </a:t>
            </a:r>
            <a:r>
              <a:rPr lang="en-US" sz="2400">
                <a:solidFill>
                  <a:schemeClr val="dk2"/>
                </a:solidFill>
                <a:latin typeface="Arial"/>
                <a:ea typeface="Arial"/>
                <a:cs typeface="Arial"/>
                <a:sym typeface="Arial"/>
              </a:rPr>
              <a:t>Perform the energy and CO2 balance, and a sensitivity study using the template and prepare draft of presentation slides posted before presentation (until slide 15 below)</a:t>
            </a:r>
            <a:endParaRPr sz="2400">
              <a:solidFill>
                <a:schemeClr val="dk2"/>
              </a:solidFill>
              <a:latin typeface="Arial"/>
              <a:ea typeface="Arial"/>
              <a:cs typeface="Arial"/>
              <a:sym typeface="Arial"/>
            </a:endParaRPr>
          </a:p>
          <a:p>
            <a:pPr marL="0" marR="0" lvl="0" indent="0" algn="l" rtl="0">
              <a:spcBef>
                <a:spcPts val="600"/>
              </a:spcBef>
              <a:spcAft>
                <a:spcPts val="0"/>
              </a:spcAft>
              <a:buNone/>
            </a:pPr>
            <a:r>
              <a:rPr lang="en-US" sz="2400" b="1">
                <a:solidFill>
                  <a:schemeClr val="accent4"/>
                </a:solidFill>
                <a:latin typeface="Arial"/>
                <a:ea typeface="Arial"/>
                <a:cs typeface="Arial"/>
                <a:sym typeface="Arial"/>
              </a:rPr>
              <a:t>GA1c: </a:t>
            </a:r>
            <a:r>
              <a:rPr lang="en-US" sz="2400">
                <a:solidFill>
                  <a:schemeClr val="dk2"/>
                </a:solidFill>
                <a:latin typeface="Arial"/>
                <a:ea typeface="Arial"/>
                <a:cs typeface="Arial"/>
                <a:sym typeface="Arial"/>
              </a:rPr>
              <a:t>Upload updated filled slides/templates, accounting for received comments</a:t>
            </a:r>
            <a:endParaRPr/>
          </a:p>
        </p:txBody>
      </p:sp>
      <p:sp>
        <p:nvSpPr>
          <p:cNvPr id="64" name="Google Shape;64;p12"/>
          <p:cNvSpPr/>
          <p:nvPr/>
        </p:nvSpPr>
        <p:spPr>
          <a:xfrm>
            <a:off x="928209" y="3607670"/>
            <a:ext cx="7864307" cy="409342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chemeClr val="accent4"/>
                </a:solidFill>
                <a:latin typeface="Arial"/>
                <a:ea typeface="Arial"/>
                <a:cs typeface="Arial"/>
                <a:sym typeface="Arial"/>
              </a:rPr>
              <a:t>Objective phase 1</a:t>
            </a:r>
            <a:endParaRPr sz="2400" b="1">
              <a:solidFill>
                <a:srgbClr val="FF0000"/>
              </a:solidFill>
              <a:latin typeface="Arial"/>
              <a:ea typeface="Arial"/>
              <a:cs typeface="Arial"/>
              <a:sym typeface="Arial"/>
            </a:endParaRPr>
          </a:p>
          <a:p>
            <a:pPr marL="457200" marR="0" lvl="0" indent="-457200" algn="l" rtl="0">
              <a:spcBef>
                <a:spcPts val="600"/>
              </a:spcBef>
              <a:spcAft>
                <a:spcPts val="0"/>
              </a:spcAft>
              <a:buClr>
                <a:schemeClr val="dk2"/>
              </a:buClr>
              <a:buSzPts val="2400"/>
              <a:buFont typeface="Noto Sans Symbols"/>
              <a:buChar char="▪"/>
            </a:pPr>
            <a:r>
              <a:rPr lang="en-US" sz="2400" b="1">
                <a:solidFill>
                  <a:schemeClr val="dk2"/>
                </a:solidFill>
                <a:latin typeface="Arial"/>
                <a:ea typeface="Arial"/>
                <a:cs typeface="Arial"/>
                <a:sym typeface="Arial"/>
              </a:rPr>
              <a:t>Define goal and scope </a:t>
            </a:r>
            <a:r>
              <a:rPr lang="en-US" sz="2400">
                <a:solidFill>
                  <a:schemeClr val="dk2"/>
                </a:solidFill>
                <a:latin typeface="Arial"/>
                <a:ea typeface="Arial"/>
                <a:cs typeface="Arial"/>
                <a:sym typeface="Arial"/>
              </a:rPr>
              <a:t>(function, functional unit, reference flow, process tree and system boundaries) </a:t>
            </a:r>
            <a:r>
              <a:rPr lang="en-US" sz="2400">
                <a:solidFill>
                  <a:schemeClr val="accent4"/>
                </a:solidFill>
                <a:latin typeface="Arial"/>
                <a:ea typeface="Arial"/>
                <a:cs typeface="Arial"/>
                <a:sym typeface="Arial"/>
              </a:rPr>
              <a:t>what are the main processes contributing to the energy consumed and CO</a:t>
            </a:r>
            <a:r>
              <a:rPr lang="en-US" sz="2400" baseline="-25000">
                <a:solidFill>
                  <a:schemeClr val="accent4"/>
                </a:solidFill>
                <a:latin typeface="Arial"/>
                <a:ea typeface="Arial"/>
                <a:cs typeface="Arial"/>
                <a:sym typeface="Arial"/>
              </a:rPr>
              <a:t>2</a:t>
            </a:r>
            <a:r>
              <a:rPr lang="en-US" sz="2400">
                <a:solidFill>
                  <a:schemeClr val="accent4"/>
                </a:solidFill>
                <a:latin typeface="Arial"/>
                <a:ea typeface="Arial"/>
                <a:cs typeface="Arial"/>
                <a:sym typeface="Arial"/>
              </a:rPr>
              <a:t> emitted.</a:t>
            </a:r>
            <a:endParaRPr/>
          </a:p>
          <a:p>
            <a:pPr marL="457200" marR="0" lvl="0" indent="-457200" algn="l" rtl="0">
              <a:spcBef>
                <a:spcPts val="600"/>
              </a:spcBef>
              <a:spcAft>
                <a:spcPts val="0"/>
              </a:spcAft>
              <a:buClr>
                <a:schemeClr val="dk2"/>
              </a:buClr>
              <a:buSzPts val="2400"/>
              <a:buFont typeface="Noto Sans Symbols"/>
              <a:buChar char="▪"/>
            </a:pPr>
            <a:r>
              <a:rPr lang="en-US" sz="2400">
                <a:solidFill>
                  <a:schemeClr val="dk2"/>
                </a:solidFill>
                <a:latin typeface="Arial"/>
                <a:ea typeface="Arial"/>
                <a:cs typeface="Arial"/>
                <a:sym typeface="Arial"/>
              </a:rPr>
              <a:t>Identify one important use/transport parameter </a:t>
            </a:r>
            <a:br>
              <a:rPr lang="en-US" sz="2400">
                <a:solidFill>
                  <a:schemeClr val="dk2"/>
                </a:solidFill>
                <a:latin typeface="Arial"/>
                <a:ea typeface="Arial"/>
                <a:cs typeface="Arial"/>
                <a:sym typeface="Arial"/>
              </a:rPr>
            </a:br>
            <a:r>
              <a:rPr lang="en-US" sz="2400">
                <a:solidFill>
                  <a:schemeClr val="dk2"/>
                </a:solidFill>
                <a:latin typeface="Arial"/>
                <a:ea typeface="Arial"/>
                <a:cs typeface="Arial"/>
                <a:sym typeface="Arial"/>
              </a:rPr>
              <a:t>for sensitivity study + one parameter to obtain </a:t>
            </a:r>
            <a:br>
              <a:rPr lang="en-US" sz="2400">
                <a:solidFill>
                  <a:schemeClr val="dk2"/>
                </a:solidFill>
                <a:latin typeface="Arial"/>
                <a:ea typeface="Arial"/>
                <a:cs typeface="Arial"/>
                <a:sym typeface="Arial"/>
              </a:rPr>
            </a:br>
            <a:r>
              <a:rPr lang="en-US" sz="2400">
                <a:solidFill>
                  <a:schemeClr val="dk2"/>
                </a:solidFill>
                <a:latin typeface="Arial"/>
                <a:ea typeface="Arial"/>
                <a:cs typeface="Arial"/>
                <a:sym typeface="Arial"/>
              </a:rPr>
              <a:t>first hand data</a:t>
            </a:r>
            <a:endParaRPr/>
          </a:p>
          <a:p>
            <a:pPr marL="457200" marR="0" lvl="0" indent="-457200" algn="l" rtl="0">
              <a:spcBef>
                <a:spcPts val="600"/>
              </a:spcBef>
              <a:spcAft>
                <a:spcPts val="0"/>
              </a:spcAft>
              <a:buClr>
                <a:schemeClr val="dk2"/>
              </a:buClr>
              <a:buSzPts val="2400"/>
              <a:buFont typeface="Noto Sans Symbols"/>
              <a:buChar char="▪"/>
            </a:pPr>
            <a:r>
              <a:rPr lang="en-US" sz="2400">
                <a:solidFill>
                  <a:schemeClr val="dk2"/>
                </a:solidFill>
                <a:latin typeface="Arial"/>
                <a:ea typeface="Arial"/>
                <a:cs typeface="Arial"/>
                <a:sym typeface="Arial"/>
              </a:rPr>
              <a:t>Identify the main processes contributing to the energy consumed and CO2 emitted</a:t>
            </a:r>
            <a:endParaRPr sz="2400">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3"/>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400"/>
              <a:buFont typeface="Arial"/>
              <a:buNone/>
            </a:pPr>
            <a:r>
              <a:rPr lang="en-US" dirty="0">
                <a:solidFill>
                  <a:schemeClr val="dk2"/>
                </a:solidFill>
              </a:rPr>
              <a:t>Needs and objectives</a:t>
            </a:r>
            <a:endParaRPr dirty="0"/>
          </a:p>
        </p:txBody>
      </p:sp>
      <p:sp>
        <p:nvSpPr>
          <p:cNvPr id="73" name="Google Shape;73;p13"/>
          <p:cNvSpPr txBox="1"/>
          <p:nvPr/>
        </p:nvSpPr>
        <p:spPr>
          <a:xfrm>
            <a:off x="878783" y="1459341"/>
            <a:ext cx="14863738" cy="224382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274C"/>
              </a:buClr>
              <a:buSzPts val="2800"/>
              <a:buFont typeface="Arial"/>
              <a:buNone/>
            </a:pPr>
            <a:r>
              <a:rPr lang="en-US" sz="2800" b="1">
                <a:solidFill>
                  <a:srgbClr val="00274C"/>
                </a:solidFill>
                <a:latin typeface="Arial"/>
                <a:ea typeface="Arial"/>
                <a:cs typeface="Arial"/>
                <a:sym typeface="Arial"/>
              </a:rPr>
              <a:t>Context and needs:</a:t>
            </a:r>
            <a:endParaRPr/>
          </a:p>
        </p:txBody>
      </p:sp>
      <p:sp>
        <p:nvSpPr>
          <p:cNvPr id="72" name="Google Shape;72;p13"/>
          <p:cNvSpPr txBox="1"/>
          <p:nvPr/>
        </p:nvSpPr>
        <p:spPr>
          <a:xfrm>
            <a:off x="878783" y="3871671"/>
            <a:ext cx="14863738" cy="224382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274C"/>
              </a:buClr>
              <a:buSzPts val="2800"/>
              <a:buFont typeface="Arial"/>
              <a:buNone/>
            </a:pPr>
            <a:r>
              <a:rPr lang="en-US" sz="2800" b="1" dirty="0">
                <a:solidFill>
                  <a:srgbClr val="00274C"/>
                </a:solidFill>
                <a:latin typeface="Arial"/>
                <a:ea typeface="Arial"/>
                <a:cs typeface="Arial"/>
                <a:sym typeface="Arial"/>
              </a:rPr>
              <a:t>Objective: </a:t>
            </a:r>
            <a:r>
              <a:rPr lang="en-US" sz="2800" dirty="0">
                <a:solidFill>
                  <a:srgbClr val="00274C"/>
                </a:solidFill>
                <a:latin typeface="Arial"/>
                <a:ea typeface="Arial"/>
                <a:cs typeface="Arial"/>
                <a:sym typeface="Arial"/>
              </a:rPr>
              <a:t>Compare the environmental impacts of xxx</a:t>
            </a:r>
            <a:endParaRPr dirty="0"/>
          </a:p>
          <a:p>
            <a:pPr marL="0" marR="0" lvl="0" indent="0" algn="l" rtl="0">
              <a:spcBef>
                <a:spcPts val="2000"/>
              </a:spcBef>
              <a:spcAft>
                <a:spcPts val="0"/>
              </a:spcAft>
              <a:buClr>
                <a:srgbClr val="00274C"/>
              </a:buClr>
              <a:buSzPts val="2800"/>
              <a:buFont typeface="Arial"/>
              <a:buNone/>
            </a:pPr>
            <a:r>
              <a:rPr lang="en-US" sz="2800" dirty="0">
                <a:solidFill>
                  <a:srgbClr val="00274C"/>
                </a:solidFill>
                <a:latin typeface="Arial"/>
                <a:ea typeface="Arial"/>
                <a:cs typeface="Arial"/>
                <a:sym typeface="Arial"/>
              </a:rPr>
              <a:t>A. xxx</a:t>
            </a:r>
            <a:br>
              <a:rPr lang="en-US" sz="2800" dirty="0">
                <a:solidFill>
                  <a:srgbClr val="00274C"/>
                </a:solidFill>
                <a:latin typeface="Arial"/>
                <a:ea typeface="Arial"/>
                <a:cs typeface="Arial"/>
                <a:sym typeface="Arial"/>
              </a:rPr>
            </a:br>
            <a:r>
              <a:rPr lang="en-US" sz="2800" dirty="0">
                <a:solidFill>
                  <a:srgbClr val="00274C"/>
                </a:solidFill>
                <a:latin typeface="Arial"/>
                <a:ea typeface="Arial"/>
                <a:cs typeface="Arial"/>
                <a:sym typeface="Arial"/>
              </a:rPr>
              <a:t>B. xxx</a:t>
            </a:r>
            <a:endParaRPr dirty="0"/>
          </a:p>
        </p:txBody>
      </p:sp>
      <p:sp>
        <p:nvSpPr>
          <p:cNvPr id="74" name="Google Shape;74;p13"/>
          <p:cNvSpPr/>
          <p:nvPr/>
        </p:nvSpPr>
        <p:spPr>
          <a:xfrm>
            <a:off x="1043542" y="6183489"/>
            <a:ext cx="13661000" cy="138499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chemeClr val="accent4"/>
                </a:solidFill>
                <a:latin typeface="Arial"/>
                <a:ea typeface="Arial"/>
                <a:cs typeface="Arial"/>
                <a:sym typeface="Arial"/>
              </a:rPr>
              <a:t>Introduction: </a:t>
            </a:r>
            <a:r>
              <a:rPr lang="en-US" sz="2800" dirty="0">
                <a:solidFill>
                  <a:schemeClr val="accent4"/>
                </a:solidFill>
                <a:sym typeface="Arial"/>
              </a:rPr>
              <a:t>case study description and objective, rationale, </a:t>
            </a:r>
            <a:endParaRPr dirty="0">
              <a:solidFill>
                <a:schemeClr val="accent4"/>
              </a:solidFill>
            </a:endParaRPr>
          </a:p>
          <a:p>
            <a:pPr marL="457200" marR="0" lvl="0" indent="-457200" algn="l" rtl="0">
              <a:spcBef>
                <a:spcPts val="0"/>
              </a:spcBef>
              <a:spcAft>
                <a:spcPts val="0"/>
              </a:spcAft>
              <a:buClr>
                <a:schemeClr val="accent1"/>
              </a:buClr>
              <a:buSzPts val="2800"/>
              <a:buFont typeface="NTR"/>
              <a:buChar char="→"/>
            </a:pPr>
            <a:r>
              <a:rPr lang="en-US" sz="2800" dirty="0">
                <a:solidFill>
                  <a:schemeClr val="accent4"/>
                </a:solidFill>
                <a:sym typeface="Arial"/>
              </a:rPr>
              <a:t>Give just enough information on introduction so that the listener understands </a:t>
            </a:r>
            <a:br>
              <a:rPr lang="en-US" sz="2800" dirty="0">
                <a:solidFill>
                  <a:schemeClr val="accent4"/>
                </a:solidFill>
                <a:sym typeface="Arial"/>
              </a:rPr>
            </a:br>
            <a:r>
              <a:rPr lang="en-US" sz="2800" dirty="0">
                <a:solidFill>
                  <a:schemeClr val="accent4"/>
                </a:solidFill>
                <a:sym typeface="Arial"/>
              </a:rPr>
              <a:t>the needs and your goal definition</a:t>
            </a:r>
            <a:endParaRPr dirty="0">
              <a:solidFill>
                <a:schemeClr val="accent4"/>
              </a:solidFill>
            </a:endParaRPr>
          </a:p>
        </p:txBody>
      </p:sp>
      <p:sp>
        <p:nvSpPr>
          <p:cNvPr id="75" name="Google Shape;75;p13">
            <a:extLst>
              <a:ext uri="{C183D7F6-B498-43B3-948B-1728B52AA6E4}">
                <adec:decorative xmlns:adec="http://schemas.microsoft.com/office/drawing/2017/decorative" val="1"/>
              </a:ext>
            </a:extLst>
          </p:cNvPr>
          <p:cNvSpPr/>
          <p:nvPr/>
        </p:nvSpPr>
        <p:spPr>
          <a:xfrm>
            <a:off x="878783" y="6115497"/>
            <a:ext cx="14072893" cy="1520979"/>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4"/>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274C"/>
              </a:buClr>
              <a:buSzPts val="4400"/>
              <a:buFont typeface="Arial"/>
              <a:buNone/>
            </a:pPr>
            <a:r>
              <a:rPr lang="en-US" dirty="0"/>
              <a:t>Function</a:t>
            </a:r>
            <a:endParaRPr dirty="0">
              <a:solidFill>
                <a:schemeClr val="dk2"/>
              </a:solidFill>
            </a:endParaRPr>
          </a:p>
        </p:txBody>
      </p:sp>
      <p:cxnSp>
        <p:nvCxnSpPr>
          <p:cNvPr id="86" name="Google Shape;86;p14">
            <a:extLst>
              <a:ext uri="{C183D7F6-B498-43B3-948B-1728B52AA6E4}">
                <adec:decorative xmlns:adec="http://schemas.microsoft.com/office/drawing/2017/decorative" val="1"/>
              </a:ext>
            </a:extLst>
          </p:cNvPr>
          <p:cNvCxnSpPr/>
          <p:nvPr/>
        </p:nvCxnSpPr>
        <p:spPr>
          <a:xfrm>
            <a:off x="2922772" y="3647973"/>
            <a:ext cx="10412044" cy="0"/>
          </a:xfrm>
          <a:prstGeom prst="straightConnector1">
            <a:avLst/>
          </a:prstGeom>
          <a:noFill/>
          <a:ln w="38100" cap="flat" cmpd="sng">
            <a:solidFill>
              <a:srgbClr val="CFCAC6"/>
            </a:solidFill>
            <a:prstDash val="solid"/>
            <a:round/>
            <a:headEnd type="none" w="sm" len="sm"/>
            <a:tailEnd type="none" w="sm" len="sm"/>
          </a:ln>
        </p:spPr>
      </p:cxnSp>
      <p:sp>
        <p:nvSpPr>
          <p:cNvPr id="88" name="Google Shape;88;p14"/>
          <p:cNvSpPr/>
          <p:nvPr/>
        </p:nvSpPr>
        <p:spPr>
          <a:xfrm>
            <a:off x="3086712" y="3692075"/>
            <a:ext cx="1659784" cy="664588"/>
          </a:xfrm>
          <a:prstGeom prst="rect">
            <a:avLst/>
          </a:prstGeom>
          <a:noFill/>
          <a:ln>
            <a:noFill/>
          </a:ln>
        </p:spPr>
        <p:txBody>
          <a:bodyPr spcFirstLastPara="1" wrap="square" lIns="91425" tIns="45700" rIns="91425" bIns="45700" anchor="ctr" anchorCtr="0">
            <a:noAutofit/>
          </a:bodyPr>
          <a:lstStyle/>
          <a:p>
            <a:pPr marL="45720" marR="0" lvl="0" indent="0" algn="l" rtl="0">
              <a:spcBef>
                <a:spcPts val="0"/>
              </a:spcBef>
              <a:spcAft>
                <a:spcPts val="0"/>
              </a:spcAft>
              <a:buNone/>
            </a:pPr>
            <a:r>
              <a:rPr lang="en-US" sz="1600" b="1">
                <a:solidFill>
                  <a:schemeClr val="dk2"/>
                </a:solidFill>
                <a:latin typeface="Arial"/>
                <a:ea typeface="Arial"/>
                <a:cs typeface="Arial"/>
                <a:sym typeface="Arial"/>
              </a:rPr>
              <a:t>Product A</a:t>
            </a:r>
            <a:endParaRPr/>
          </a:p>
        </p:txBody>
      </p:sp>
      <p:sp>
        <p:nvSpPr>
          <p:cNvPr id="89" name="Google Shape;89;p14"/>
          <p:cNvSpPr/>
          <p:nvPr/>
        </p:nvSpPr>
        <p:spPr>
          <a:xfrm>
            <a:off x="3086712" y="4426701"/>
            <a:ext cx="1659784" cy="664588"/>
          </a:xfrm>
          <a:prstGeom prst="rect">
            <a:avLst/>
          </a:prstGeom>
          <a:noFill/>
          <a:ln>
            <a:noFill/>
          </a:ln>
        </p:spPr>
        <p:txBody>
          <a:bodyPr spcFirstLastPara="1" wrap="square" lIns="91425" tIns="45700" rIns="91425" bIns="45700" anchor="ctr" anchorCtr="0">
            <a:noAutofit/>
          </a:bodyPr>
          <a:lstStyle/>
          <a:p>
            <a:pPr marL="45720" marR="0" lvl="0" indent="0" algn="l" rtl="0">
              <a:spcBef>
                <a:spcPts val="0"/>
              </a:spcBef>
              <a:spcAft>
                <a:spcPts val="0"/>
              </a:spcAft>
              <a:buNone/>
            </a:pPr>
            <a:r>
              <a:rPr lang="en-US" sz="1600" b="1">
                <a:solidFill>
                  <a:schemeClr val="dk2"/>
                </a:solidFill>
                <a:latin typeface="Arial"/>
                <a:ea typeface="Arial"/>
                <a:cs typeface="Arial"/>
                <a:sym typeface="Arial"/>
              </a:rPr>
              <a:t>Product B</a:t>
            </a:r>
            <a:endParaRPr/>
          </a:p>
        </p:txBody>
      </p:sp>
      <p:sp>
        <p:nvSpPr>
          <p:cNvPr id="92" name="Google Shape;92;p14" descr="Table of functions to fill out "/>
          <p:cNvSpPr/>
          <p:nvPr/>
        </p:nvSpPr>
        <p:spPr>
          <a:xfrm>
            <a:off x="2922772" y="2890445"/>
            <a:ext cx="10412044" cy="2248488"/>
          </a:xfrm>
          <a:prstGeom prst="rect">
            <a:avLst/>
          </a:prstGeom>
          <a:noFill/>
          <a:ln w="25400" cap="flat" cmpd="sng">
            <a:solidFill>
              <a:srgbClr val="CFCAC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grpSp>
        <p:nvGrpSpPr>
          <p:cNvPr id="3" name="Group 2">
            <a:extLst>
              <a:ext uri="{FF2B5EF4-FFF2-40B4-BE49-F238E27FC236}">
                <a16:creationId xmlns:a16="http://schemas.microsoft.com/office/drawing/2014/main" id="{27B540E6-15EC-0412-453D-44D0A01559E8}"/>
              </a:ext>
              <a:ext uri="{C183D7F6-B498-43B3-948B-1728B52AA6E4}">
                <adec:decorative xmlns:adec="http://schemas.microsoft.com/office/drawing/2017/decorative" val="1"/>
              </a:ext>
            </a:extLst>
          </p:cNvPr>
          <p:cNvGrpSpPr/>
          <p:nvPr/>
        </p:nvGrpSpPr>
        <p:grpSpPr>
          <a:xfrm>
            <a:off x="2922772" y="2890445"/>
            <a:ext cx="10396545" cy="2260863"/>
            <a:chOff x="2922772" y="2890445"/>
            <a:chExt cx="10396545" cy="2260863"/>
          </a:xfrm>
        </p:grpSpPr>
        <p:cxnSp>
          <p:nvCxnSpPr>
            <p:cNvPr id="90" name="Google Shape;90;p14"/>
            <p:cNvCxnSpPr/>
            <p:nvPr/>
          </p:nvCxnSpPr>
          <p:spPr>
            <a:xfrm>
              <a:off x="4901480" y="2890445"/>
              <a:ext cx="0" cy="2260863"/>
            </a:xfrm>
            <a:prstGeom prst="straightConnector1">
              <a:avLst/>
            </a:prstGeom>
            <a:noFill/>
            <a:ln w="25400" cap="flat" cmpd="sng">
              <a:solidFill>
                <a:srgbClr val="CFCAC6"/>
              </a:solidFill>
              <a:prstDash val="solid"/>
              <a:round/>
              <a:headEnd type="none" w="sm" len="sm"/>
              <a:tailEnd type="none" w="sm" len="sm"/>
            </a:ln>
          </p:spPr>
        </p:cxnSp>
        <p:cxnSp>
          <p:nvCxnSpPr>
            <p:cNvPr id="91" name="Google Shape;91;p14"/>
            <p:cNvCxnSpPr/>
            <p:nvPr/>
          </p:nvCxnSpPr>
          <p:spPr>
            <a:xfrm>
              <a:off x="8915541" y="2890445"/>
              <a:ext cx="0" cy="2260863"/>
            </a:xfrm>
            <a:prstGeom prst="straightConnector1">
              <a:avLst/>
            </a:prstGeom>
            <a:noFill/>
            <a:ln w="25400" cap="flat" cmpd="sng">
              <a:solidFill>
                <a:srgbClr val="CFCAC6"/>
              </a:solidFill>
              <a:prstDash val="solid"/>
              <a:round/>
              <a:headEnd type="none" w="sm" len="sm"/>
              <a:tailEnd type="none" w="sm" len="sm"/>
            </a:ln>
          </p:spPr>
        </p:cxnSp>
        <p:grpSp>
          <p:nvGrpSpPr>
            <p:cNvPr id="2" name="Group 1">
              <a:extLst>
                <a:ext uri="{FF2B5EF4-FFF2-40B4-BE49-F238E27FC236}">
                  <a16:creationId xmlns:a16="http://schemas.microsoft.com/office/drawing/2014/main" id="{E2F3633D-F45D-AD0E-6091-5E5E894FEC2D}"/>
                </a:ext>
              </a:extLst>
            </p:cNvPr>
            <p:cNvGrpSpPr/>
            <p:nvPr/>
          </p:nvGrpSpPr>
          <p:grpSpPr>
            <a:xfrm>
              <a:off x="2922772" y="2944153"/>
              <a:ext cx="10396545" cy="2194780"/>
              <a:chOff x="2922772" y="2944153"/>
              <a:chExt cx="10396545" cy="2194780"/>
            </a:xfrm>
          </p:grpSpPr>
          <p:sp>
            <p:nvSpPr>
              <p:cNvPr id="83" name="Google Shape;83;p14"/>
              <p:cNvSpPr/>
              <p:nvPr/>
            </p:nvSpPr>
            <p:spPr>
              <a:xfrm>
                <a:off x="2922772" y="3660719"/>
                <a:ext cx="1978708" cy="1478214"/>
              </a:xfrm>
              <a:prstGeom prst="rect">
                <a:avLst/>
              </a:prstGeom>
              <a:solidFill>
                <a:schemeClr val="accent6">
                  <a:alpha val="28627"/>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sp>
            <p:nvSpPr>
              <p:cNvPr id="84" name="Google Shape;84;p14"/>
              <p:cNvSpPr/>
              <p:nvPr/>
            </p:nvSpPr>
            <p:spPr>
              <a:xfrm>
                <a:off x="3120639" y="3045429"/>
                <a:ext cx="1672351" cy="338052"/>
              </a:xfrm>
              <a:prstGeom prst="rect">
                <a:avLst/>
              </a:prstGeom>
              <a:noFill/>
              <a:ln>
                <a:noFill/>
              </a:ln>
            </p:spPr>
            <p:txBody>
              <a:bodyPr spcFirstLastPara="1" wrap="square" lIns="91425" tIns="45700" rIns="91425" bIns="45700" anchor="t" anchorCtr="0">
                <a:noAutofit/>
              </a:bodyPr>
              <a:lstStyle/>
              <a:p>
                <a:pPr marL="45720" marR="0" lvl="0" indent="0" algn="l" rtl="0">
                  <a:spcBef>
                    <a:spcPts val="0"/>
                  </a:spcBef>
                  <a:spcAft>
                    <a:spcPts val="0"/>
                  </a:spcAft>
                  <a:buNone/>
                </a:pPr>
                <a:r>
                  <a:rPr lang="en-US" sz="1600" b="1">
                    <a:solidFill>
                      <a:schemeClr val="dk2"/>
                    </a:solidFill>
                    <a:latin typeface="Arial"/>
                    <a:ea typeface="Arial"/>
                    <a:cs typeface="Arial"/>
                    <a:sym typeface="Arial"/>
                  </a:rPr>
                  <a:t>PRODUCTS</a:t>
                </a:r>
                <a:endParaRPr/>
              </a:p>
            </p:txBody>
          </p:sp>
          <p:sp>
            <p:nvSpPr>
              <p:cNvPr id="85" name="Google Shape;85;p14"/>
              <p:cNvSpPr/>
              <p:nvPr/>
            </p:nvSpPr>
            <p:spPr>
              <a:xfrm>
                <a:off x="5868850" y="3060927"/>
                <a:ext cx="2022678" cy="351286"/>
              </a:xfrm>
              <a:prstGeom prst="rect">
                <a:avLst/>
              </a:prstGeom>
              <a:noFill/>
              <a:ln>
                <a:noFill/>
              </a:ln>
            </p:spPr>
            <p:txBody>
              <a:bodyPr spcFirstLastPara="1" wrap="square" lIns="91425" tIns="45700" rIns="91425" bIns="45700" anchor="t" anchorCtr="0">
                <a:noAutofit/>
              </a:bodyPr>
              <a:lstStyle/>
              <a:p>
                <a:pPr marL="45720" marR="0" lvl="0" indent="0" algn="l" rtl="0">
                  <a:spcBef>
                    <a:spcPts val="0"/>
                  </a:spcBef>
                  <a:spcAft>
                    <a:spcPts val="0"/>
                  </a:spcAft>
                  <a:buNone/>
                </a:pPr>
                <a:r>
                  <a:rPr lang="en-US" sz="1600" b="1">
                    <a:solidFill>
                      <a:schemeClr val="dk2"/>
                    </a:solidFill>
                    <a:latin typeface="Arial"/>
                    <a:ea typeface="Arial"/>
                    <a:cs typeface="Arial"/>
                    <a:sym typeface="Arial"/>
                  </a:rPr>
                  <a:t>MAIN FUNCTION</a:t>
                </a:r>
                <a:endParaRPr/>
              </a:p>
            </p:txBody>
          </p:sp>
          <p:sp>
            <p:nvSpPr>
              <p:cNvPr id="87" name="Google Shape;87;p14"/>
              <p:cNvSpPr/>
              <p:nvPr/>
            </p:nvSpPr>
            <p:spPr>
              <a:xfrm>
                <a:off x="8900042" y="2944153"/>
                <a:ext cx="4419275" cy="664588"/>
              </a:xfrm>
              <a:prstGeom prst="rect">
                <a:avLst/>
              </a:prstGeom>
              <a:noFill/>
              <a:ln>
                <a:noFill/>
              </a:ln>
            </p:spPr>
            <p:txBody>
              <a:bodyPr spcFirstLastPara="1" wrap="square" lIns="91425" tIns="45700" rIns="91425" bIns="45700" anchor="t" anchorCtr="0">
                <a:noAutofit/>
              </a:bodyPr>
              <a:lstStyle/>
              <a:p>
                <a:pPr marL="45720" marR="0" lvl="0" indent="0" algn="ctr" rtl="0">
                  <a:spcBef>
                    <a:spcPts val="0"/>
                  </a:spcBef>
                  <a:spcAft>
                    <a:spcPts val="0"/>
                  </a:spcAft>
                  <a:buNone/>
                </a:pPr>
                <a:r>
                  <a:rPr lang="en-US" sz="1600" b="1">
                    <a:solidFill>
                      <a:schemeClr val="dk2"/>
                    </a:solidFill>
                    <a:latin typeface="Arial"/>
                    <a:ea typeface="Arial"/>
                    <a:cs typeface="Arial"/>
                    <a:sym typeface="Arial"/>
                  </a:rPr>
                  <a:t>SECONDARY FUNCTION &amp; </a:t>
                </a:r>
                <a:br>
                  <a:rPr lang="en-US" sz="1600" b="1">
                    <a:solidFill>
                      <a:schemeClr val="dk2"/>
                    </a:solidFill>
                    <a:latin typeface="Arial"/>
                    <a:ea typeface="Arial"/>
                    <a:cs typeface="Arial"/>
                    <a:sym typeface="Arial"/>
                  </a:rPr>
                </a:br>
                <a:r>
                  <a:rPr lang="en-US" sz="1600" b="1">
                    <a:solidFill>
                      <a:schemeClr val="dk2"/>
                    </a:solidFill>
                    <a:latin typeface="Arial"/>
                    <a:ea typeface="Arial"/>
                    <a:cs typeface="Arial"/>
                    <a:sym typeface="Arial"/>
                  </a:rPr>
                  <a:t>OTHER PERFORMANCES</a:t>
                </a:r>
                <a:endParaRPr/>
              </a:p>
            </p:txBody>
          </p:sp>
          <p:sp>
            <p:nvSpPr>
              <p:cNvPr id="93" name="Google Shape;93;p14"/>
              <p:cNvSpPr/>
              <p:nvPr/>
            </p:nvSpPr>
            <p:spPr>
              <a:xfrm>
                <a:off x="5085992" y="3682395"/>
                <a:ext cx="1659784" cy="664588"/>
              </a:xfrm>
              <a:prstGeom prst="rect">
                <a:avLst/>
              </a:prstGeom>
              <a:noFill/>
              <a:ln>
                <a:noFill/>
              </a:ln>
            </p:spPr>
            <p:txBody>
              <a:bodyPr spcFirstLastPara="1" wrap="square" lIns="91425" tIns="45700" rIns="91425" bIns="45700" anchor="ctr" anchorCtr="0">
                <a:noAutofit/>
              </a:bodyPr>
              <a:lstStyle/>
              <a:p>
                <a:pPr marL="45720" marR="0" lvl="0" indent="0" algn="l" rtl="0">
                  <a:spcBef>
                    <a:spcPts val="0"/>
                  </a:spcBef>
                  <a:spcAft>
                    <a:spcPts val="0"/>
                  </a:spcAft>
                  <a:buNone/>
                </a:pPr>
                <a:r>
                  <a:rPr lang="en-US" sz="1600" b="1">
                    <a:solidFill>
                      <a:schemeClr val="dk2"/>
                    </a:solidFill>
                    <a:latin typeface="Arial"/>
                    <a:ea typeface="Arial"/>
                    <a:cs typeface="Arial"/>
                    <a:sym typeface="Arial"/>
                  </a:rPr>
                  <a:t>xxx</a:t>
                </a:r>
                <a:endParaRPr/>
              </a:p>
            </p:txBody>
          </p:sp>
          <p:sp>
            <p:nvSpPr>
              <p:cNvPr id="94" name="Google Shape;94;p14"/>
              <p:cNvSpPr/>
              <p:nvPr/>
            </p:nvSpPr>
            <p:spPr>
              <a:xfrm>
                <a:off x="9269171" y="3685744"/>
                <a:ext cx="1659784" cy="664588"/>
              </a:xfrm>
              <a:prstGeom prst="rect">
                <a:avLst/>
              </a:prstGeom>
              <a:noFill/>
              <a:ln>
                <a:noFill/>
              </a:ln>
            </p:spPr>
            <p:txBody>
              <a:bodyPr spcFirstLastPara="1" wrap="square" lIns="91425" tIns="45700" rIns="91425" bIns="45700" anchor="ctr" anchorCtr="0">
                <a:noAutofit/>
              </a:bodyPr>
              <a:lstStyle/>
              <a:p>
                <a:pPr marL="45720" marR="0" lvl="0" indent="0" algn="l" rtl="0">
                  <a:spcBef>
                    <a:spcPts val="0"/>
                  </a:spcBef>
                  <a:spcAft>
                    <a:spcPts val="0"/>
                  </a:spcAft>
                  <a:buNone/>
                </a:pPr>
                <a:r>
                  <a:rPr lang="en-US" sz="1600" b="1">
                    <a:solidFill>
                      <a:schemeClr val="dk2"/>
                    </a:solidFill>
                    <a:latin typeface="Arial"/>
                    <a:ea typeface="Arial"/>
                    <a:cs typeface="Arial"/>
                    <a:sym typeface="Arial"/>
                  </a:rPr>
                  <a:t>xxx</a:t>
                </a:r>
                <a:endParaRPr/>
              </a:p>
            </p:txBody>
          </p:sp>
        </p:grpSp>
      </p:grpSp>
      <p:sp>
        <p:nvSpPr>
          <p:cNvPr id="95" name="Google Shape;95;p14"/>
          <p:cNvSpPr/>
          <p:nvPr/>
        </p:nvSpPr>
        <p:spPr>
          <a:xfrm>
            <a:off x="1043542" y="7013323"/>
            <a:ext cx="13661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accent4"/>
                </a:solidFill>
                <a:sym typeface="Arial"/>
              </a:rPr>
              <a:t>Define the main and possible scenario specific secondary functions.</a:t>
            </a:r>
            <a:endParaRPr dirty="0">
              <a:solidFill>
                <a:schemeClr val="accent4"/>
              </a:solidFill>
            </a:endParaRPr>
          </a:p>
        </p:txBody>
      </p:sp>
      <p:sp>
        <p:nvSpPr>
          <p:cNvPr id="96" name="Google Shape;96;p14">
            <a:extLst>
              <a:ext uri="{C183D7F6-B498-43B3-948B-1728B52AA6E4}">
                <adec:decorative xmlns:adec="http://schemas.microsoft.com/office/drawing/2017/decorative" val="1"/>
              </a:ext>
            </a:extLst>
          </p:cNvPr>
          <p:cNvSpPr/>
          <p:nvPr/>
        </p:nvSpPr>
        <p:spPr>
          <a:xfrm>
            <a:off x="855081" y="6899199"/>
            <a:ext cx="14072893" cy="737277"/>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878782" y="272169"/>
            <a:ext cx="14844921"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274C"/>
              </a:buClr>
              <a:buSzPts val="4400"/>
              <a:buFont typeface="Arial"/>
              <a:buNone/>
            </a:pPr>
            <a:r>
              <a:rPr lang="en-US" dirty="0"/>
              <a:t>Reference flows and key environmental parameters</a:t>
            </a:r>
            <a:endParaRPr dirty="0">
              <a:solidFill>
                <a:schemeClr val="dk2"/>
              </a:solidFill>
            </a:endParaRPr>
          </a:p>
        </p:txBody>
      </p:sp>
      <p:grpSp>
        <p:nvGrpSpPr>
          <p:cNvPr id="3" name="Group 2" descr="Directions for reference flows and key environmental parameters">
            <a:extLst>
              <a:ext uri="{FF2B5EF4-FFF2-40B4-BE49-F238E27FC236}">
                <a16:creationId xmlns:a16="http://schemas.microsoft.com/office/drawing/2014/main" id="{00701816-DF7D-1A0F-971A-949D0F21A578}"/>
              </a:ext>
            </a:extLst>
          </p:cNvPr>
          <p:cNvGrpSpPr/>
          <p:nvPr/>
        </p:nvGrpSpPr>
        <p:grpSpPr>
          <a:xfrm>
            <a:off x="878783" y="5856515"/>
            <a:ext cx="14072893" cy="1779961"/>
            <a:chOff x="878783" y="5856515"/>
            <a:chExt cx="14072893" cy="1779961"/>
          </a:xfrm>
        </p:grpSpPr>
        <p:sp>
          <p:nvSpPr>
            <p:cNvPr id="105" name="Google Shape;105;p15"/>
            <p:cNvSpPr/>
            <p:nvPr/>
          </p:nvSpPr>
          <p:spPr>
            <a:xfrm>
              <a:off x="1043542" y="5905943"/>
              <a:ext cx="13661000" cy="1697901"/>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accent1"/>
                </a:buClr>
                <a:buSzPts val="2400"/>
                <a:buFont typeface="NTR"/>
                <a:buChar char="→"/>
              </a:pPr>
              <a:r>
                <a:rPr lang="en-US" sz="2400" dirty="0">
                  <a:solidFill>
                    <a:schemeClr val="accent4"/>
                  </a:solidFill>
                  <a:sym typeface="Arial"/>
                </a:rPr>
                <a:t>Write down the selected (number of) functional unit</a:t>
              </a:r>
              <a:endParaRPr dirty="0">
                <a:solidFill>
                  <a:schemeClr val="accent4"/>
                </a:solidFill>
              </a:endParaRPr>
            </a:p>
            <a:p>
              <a:pPr marL="342900" marR="0" lvl="0" indent="-342900" algn="l" rtl="0">
                <a:spcBef>
                  <a:spcPts val="1000"/>
                </a:spcBef>
                <a:spcAft>
                  <a:spcPts val="0"/>
                </a:spcAft>
                <a:buClr>
                  <a:schemeClr val="accent1"/>
                </a:buClr>
                <a:buSzPts val="2400"/>
                <a:buFont typeface="NTR"/>
                <a:buChar char="→"/>
              </a:pPr>
              <a:r>
                <a:rPr lang="en-US" sz="2400" dirty="0">
                  <a:solidFill>
                    <a:schemeClr val="accent4"/>
                  </a:solidFill>
                  <a:sym typeface="Arial"/>
                </a:rPr>
                <a:t>For each scenario, list the reference flows corresponding to the selected functional unit. </a:t>
              </a:r>
              <a:br>
                <a:rPr lang="en-US" sz="2400" dirty="0">
                  <a:solidFill>
                    <a:schemeClr val="accent4"/>
                  </a:solidFill>
                  <a:sym typeface="Arial"/>
                </a:rPr>
              </a:br>
              <a:r>
                <a:rPr lang="en-US" sz="2400" dirty="0">
                  <a:solidFill>
                    <a:schemeClr val="accent4"/>
                  </a:solidFill>
                  <a:sym typeface="Arial"/>
                </a:rPr>
                <a:t>Do provide for each reference flow the QUANTITY used per functional unit. Then add key parameters that affect the reference flows</a:t>
              </a:r>
              <a:endParaRPr dirty="0">
                <a:solidFill>
                  <a:schemeClr val="accent4"/>
                </a:solidFill>
              </a:endParaRPr>
            </a:p>
          </p:txBody>
        </p:sp>
        <p:sp>
          <p:nvSpPr>
            <p:cNvPr id="106" name="Google Shape;106;p15"/>
            <p:cNvSpPr/>
            <p:nvPr/>
          </p:nvSpPr>
          <p:spPr>
            <a:xfrm>
              <a:off x="878783" y="5856515"/>
              <a:ext cx="14072893" cy="1779961"/>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grpSp>
      <p:grpSp>
        <p:nvGrpSpPr>
          <p:cNvPr id="2" name="Group 1">
            <a:extLst>
              <a:ext uri="{FF2B5EF4-FFF2-40B4-BE49-F238E27FC236}">
                <a16:creationId xmlns:a16="http://schemas.microsoft.com/office/drawing/2014/main" id="{749BD95F-D1DF-145A-4566-40238A0455BA}"/>
              </a:ext>
              <a:ext uri="{C183D7F6-B498-43B3-948B-1728B52AA6E4}">
                <adec:decorative xmlns:adec="http://schemas.microsoft.com/office/drawing/2017/decorative" val="1"/>
              </a:ext>
            </a:extLst>
          </p:cNvPr>
          <p:cNvGrpSpPr/>
          <p:nvPr/>
        </p:nvGrpSpPr>
        <p:grpSpPr>
          <a:xfrm>
            <a:off x="2683304" y="1561081"/>
            <a:ext cx="10412044" cy="3860010"/>
            <a:chOff x="2683304" y="1561081"/>
            <a:chExt cx="10412044" cy="3860010"/>
          </a:xfrm>
        </p:grpSpPr>
        <p:sp>
          <p:nvSpPr>
            <p:cNvPr id="107" name="Google Shape;107;p15"/>
            <p:cNvSpPr/>
            <p:nvPr/>
          </p:nvSpPr>
          <p:spPr>
            <a:xfrm>
              <a:off x="2683304" y="2363625"/>
              <a:ext cx="1978708" cy="3057466"/>
            </a:xfrm>
            <a:prstGeom prst="rect">
              <a:avLst/>
            </a:prstGeom>
            <a:solidFill>
              <a:schemeClr val="accent6">
                <a:alpha val="28627"/>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sp>
          <p:nvSpPr>
            <p:cNvPr id="108" name="Google Shape;108;p15"/>
            <p:cNvSpPr/>
            <p:nvPr/>
          </p:nvSpPr>
          <p:spPr>
            <a:xfrm>
              <a:off x="2683304" y="1672241"/>
              <a:ext cx="1978707" cy="615495"/>
            </a:xfrm>
            <a:prstGeom prst="rect">
              <a:avLst/>
            </a:prstGeom>
            <a:noFill/>
            <a:ln>
              <a:noFill/>
            </a:ln>
          </p:spPr>
          <p:txBody>
            <a:bodyPr spcFirstLastPara="1" wrap="square" lIns="91425" tIns="45700" rIns="91425" bIns="45700" anchor="t" anchorCtr="0">
              <a:noAutofit/>
            </a:bodyPr>
            <a:lstStyle/>
            <a:p>
              <a:pPr marL="45720" marR="0" lvl="0" indent="0" algn="ctr" rtl="0">
                <a:spcBef>
                  <a:spcPts val="0"/>
                </a:spcBef>
                <a:spcAft>
                  <a:spcPts val="0"/>
                </a:spcAft>
                <a:buNone/>
              </a:pPr>
              <a:r>
                <a:rPr lang="en-US" sz="1600" b="1">
                  <a:solidFill>
                    <a:schemeClr val="dk2"/>
                  </a:solidFill>
                  <a:latin typeface="Arial"/>
                  <a:ea typeface="Arial"/>
                  <a:cs typeface="Arial"/>
                  <a:sym typeface="Arial"/>
                </a:rPr>
                <a:t>PRODUCTS </a:t>
              </a:r>
              <a:br>
                <a:rPr lang="en-US" sz="1600" b="1">
                  <a:solidFill>
                    <a:schemeClr val="dk2"/>
                  </a:solidFill>
                  <a:latin typeface="Arial"/>
                  <a:ea typeface="Arial"/>
                  <a:cs typeface="Arial"/>
                  <a:sym typeface="Arial"/>
                </a:rPr>
              </a:br>
              <a:r>
                <a:rPr lang="en-US" sz="1600" b="1">
                  <a:solidFill>
                    <a:schemeClr val="dk2"/>
                  </a:solidFill>
                  <a:latin typeface="Arial"/>
                  <a:ea typeface="Arial"/>
                  <a:cs typeface="Arial"/>
                  <a:sym typeface="Arial"/>
                </a:rPr>
                <a:t>OR SYSTEM</a:t>
              </a:r>
              <a:endParaRPr/>
            </a:p>
          </p:txBody>
        </p:sp>
        <p:sp>
          <p:nvSpPr>
            <p:cNvPr id="109" name="Google Shape;109;p15"/>
            <p:cNvSpPr/>
            <p:nvPr/>
          </p:nvSpPr>
          <p:spPr>
            <a:xfrm>
              <a:off x="6718931" y="1561081"/>
              <a:ext cx="1985887" cy="735296"/>
            </a:xfrm>
            <a:prstGeom prst="rect">
              <a:avLst/>
            </a:prstGeom>
            <a:noFill/>
            <a:ln>
              <a:noFill/>
            </a:ln>
          </p:spPr>
          <p:txBody>
            <a:bodyPr spcFirstLastPara="1" wrap="square" lIns="91425" tIns="45700" rIns="91425" bIns="45700" anchor="t" anchorCtr="0">
              <a:noAutofit/>
            </a:bodyPr>
            <a:lstStyle/>
            <a:p>
              <a:pPr marL="45720" marR="0" lvl="0" indent="0" algn="ctr" rtl="0">
                <a:spcBef>
                  <a:spcPts val="0"/>
                </a:spcBef>
                <a:spcAft>
                  <a:spcPts val="0"/>
                </a:spcAft>
                <a:buNone/>
              </a:pPr>
              <a:r>
                <a:rPr lang="en-US" sz="1600" b="1">
                  <a:solidFill>
                    <a:schemeClr val="dk2"/>
                  </a:solidFill>
                  <a:latin typeface="Arial"/>
                  <a:ea typeface="Arial"/>
                  <a:cs typeface="Arial"/>
                  <a:sym typeface="Arial"/>
                </a:rPr>
                <a:t>REFERENCE FLOWS</a:t>
              </a:r>
              <a:br>
                <a:rPr lang="en-US" sz="1600" b="1">
                  <a:solidFill>
                    <a:schemeClr val="dk2"/>
                  </a:solidFill>
                  <a:latin typeface="Arial"/>
                  <a:ea typeface="Arial"/>
                  <a:cs typeface="Arial"/>
                  <a:sym typeface="Arial"/>
                </a:rPr>
              </a:br>
              <a:r>
                <a:rPr lang="en-US" sz="1400">
                  <a:solidFill>
                    <a:schemeClr val="dk2"/>
                  </a:solidFill>
                  <a:latin typeface="Arial"/>
                  <a:ea typeface="Arial"/>
                  <a:cs typeface="Arial"/>
                  <a:sym typeface="Arial"/>
                </a:rPr>
                <a:t>(what is purchased)</a:t>
              </a:r>
              <a:endParaRPr/>
            </a:p>
          </p:txBody>
        </p:sp>
        <p:cxnSp>
          <p:nvCxnSpPr>
            <p:cNvPr id="110" name="Google Shape;110;p15"/>
            <p:cNvCxnSpPr/>
            <p:nvPr/>
          </p:nvCxnSpPr>
          <p:spPr>
            <a:xfrm>
              <a:off x="2683304" y="2350879"/>
              <a:ext cx="10412044" cy="0"/>
            </a:xfrm>
            <a:prstGeom prst="straightConnector1">
              <a:avLst/>
            </a:prstGeom>
            <a:noFill/>
            <a:ln w="38100" cap="flat" cmpd="sng">
              <a:solidFill>
                <a:srgbClr val="CFCAC6"/>
              </a:solidFill>
              <a:prstDash val="solid"/>
              <a:round/>
              <a:headEnd type="none" w="sm" len="sm"/>
              <a:tailEnd type="none" w="sm" len="sm"/>
            </a:ln>
          </p:spPr>
        </p:cxnSp>
        <p:sp>
          <p:nvSpPr>
            <p:cNvPr id="111" name="Google Shape;111;p15"/>
            <p:cNvSpPr/>
            <p:nvPr/>
          </p:nvSpPr>
          <p:spPr>
            <a:xfrm>
              <a:off x="9167140" y="1662557"/>
              <a:ext cx="3912709" cy="664588"/>
            </a:xfrm>
            <a:prstGeom prst="rect">
              <a:avLst/>
            </a:prstGeom>
            <a:noFill/>
            <a:ln>
              <a:noFill/>
            </a:ln>
          </p:spPr>
          <p:txBody>
            <a:bodyPr spcFirstLastPara="1" wrap="square" lIns="91425" tIns="45700" rIns="91425" bIns="45700" anchor="t" anchorCtr="0">
              <a:noAutofit/>
            </a:bodyPr>
            <a:lstStyle/>
            <a:p>
              <a:pPr marL="45720" marR="0" lvl="0" indent="0" algn="ctr" rtl="0">
                <a:spcBef>
                  <a:spcPts val="0"/>
                </a:spcBef>
                <a:spcAft>
                  <a:spcPts val="0"/>
                </a:spcAft>
                <a:buNone/>
              </a:pPr>
              <a:r>
                <a:rPr lang="en-US" sz="1600" b="1">
                  <a:solidFill>
                    <a:schemeClr val="dk2"/>
                  </a:solidFill>
                  <a:latin typeface="Arial"/>
                  <a:ea typeface="Arial"/>
                  <a:cs typeface="Arial"/>
                  <a:sym typeface="Arial"/>
                </a:rPr>
                <a:t>KEY ENVIRONMENTAL PARAMETERS</a:t>
              </a:r>
              <a:br>
                <a:rPr lang="en-US" sz="1800" b="1">
                  <a:solidFill>
                    <a:schemeClr val="dk2"/>
                  </a:solidFill>
                  <a:latin typeface="Arial"/>
                  <a:ea typeface="Arial"/>
                  <a:cs typeface="Arial"/>
                  <a:sym typeface="Arial"/>
                </a:rPr>
              </a:br>
              <a:r>
                <a:rPr lang="en-US" sz="1400">
                  <a:solidFill>
                    <a:schemeClr val="dk2"/>
                  </a:solidFill>
                  <a:latin typeface="Arial"/>
                  <a:ea typeface="Arial"/>
                  <a:cs typeface="Arial"/>
                  <a:sym typeface="Arial"/>
                </a:rPr>
                <a:t>(linking reference flows to functional unit)</a:t>
              </a:r>
              <a:endParaRPr/>
            </a:p>
          </p:txBody>
        </p:sp>
        <p:cxnSp>
          <p:nvCxnSpPr>
            <p:cNvPr id="112" name="Google Shape;112;p15"/>
            <p:cNvCxnSpPr/>
            <p:nvPr/>
          </p:nvCxnSpPr>
          <p:spPr>
            <a:xfrm>
              <a:off x="2718778" y="3853107"/>
              <a:ext cx="1943233" cy="0"/>
            </a:xfrm>
            <a:prstGeom prst="straightConnector1">
              <a:avLst/>
            </a:prstGeom>
            <a:noFill/>
            <a:ln w="25400" cap="flat" cmpd="sng">
              <a:solidFill>
                <a:srgbClr val="CFCAC6"/>
              </a:solidFill>
              <a:prstDash val="solid"/>
              <a:round/>
              <a:headEnd type="none" w="sm" len="sm"/>
              <a:tailEnd type="none" w="sm" len="sm"/>
            </a:ln>
          </p:spPr>
        </p:cxnSp>
        <p:cxnSp>
          <p:nvCxnSpPr>
            <p:cNvPr id="113" name="Google Shape;113;p15"/>
            <p:cNvCxnSpPr/>
            <p:nvPr/>
          </p:nvCxnSpPr>
          <p:spPr>
            <a:xfrm flipH="1">
              <a:off x="4662011" y="1593351"/>
              <a:ext cx="1" cy="3827740"/>
            </a:xfrm>
            <a:prstGeom prst="straightConnector1">
              <a:avLst/>
            </a:prstGeom>
            <a:noFill/>
            <a:ln w="25400" cap="flat" cmpd="sng">
              <a:solidFill>
                <a:srgbClr val="CFCAC6"/>
              </a:solidFill>
              <a:prstDash val="solid"/>
              <a:round/>
              <a:headEnd type="none" w="sm" len="sm"/>
              <a:tailEnd type="none" w="sm" len="sm"/>
            </a:ln>
          </p:spPr>
        </p:cxnSp>
        <p:cxnSp>
          <p:nvCxnSpPr>
            <p:cNvPr id="114" name="Google Shape;114;p15"/>
            <p:cNvCxnSpPr/>
            <p:nvPr/>
          </p:nvCxnSpPr>
          <p:spPr>
            <a:xfrm>
              <a:off x="9165706" y="1579048"/>
              <a:ext cx="0" cy="3809774"/>
            </a:xfrm>
            <a:prstGeom prst="straightConnector1">
              <a:avLst/>
            </a:prstGeom>
            <a:noFill/>
            <a:ln w="25400" cap="flat" cmpd="sng">
              <a:solidFill>
                <a:srgbClr val="CFCAC6"/>
              </a:solidFill>
              <a:prstDash val="solid"/>
              <a:round/>
              <a:headEnd type="none" w="sm" len="sm"/>
              <a:tailEnd type="none" w="sm" len="sm"/>
            </a:ln>
          </p:spPr>
        </p:cxnSp>
        <p:sp>
          <p:nvSpPr>
            <p:cNvPr id="115" name="Google Shape;115;p15"/>
            <p:cNvSpPr/>
            <p:nvPr/>
          </p:nvSpPr>
          <p:spPr>
            <a:xfrm>
              <a:off x="2683304" y="1593350"/>
              <a:ext cx="10412044" cy="3795472"/>
            </a:xfrm>
            <a:prstGeom prst="rect">
              <a:avLst/>
            </a:prstGeom>
            <a:noFill/>
            <a:ln w="25400" cap="flat" cmpd="sng">
              <a:solidFill>
                <a:srgbClr val="CFCAC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sp>
          <p:nvSpPr>
            <p:cNvPr id="116" name="Google Shape;116;p15"/>
            <p:cNvSpPr/>
            <p:nvPr/>
          </p:nvSpPr>
          <p:spPr>
            <a:xfrm>
              <a:off x="4557663" y="1579048"/>
              <a:ext cx="1787302" cy="735296"/>
            </a:xfrm>
            <a:prstGeom prst="rect">
              <a:avLst/>
            </a:prstGeom>
            <a:noFill/>
            <a:ln>
              <a:noFill/>
            </a:ln>
          </p:spPr>
          <p:txBody>
            <a:bodyPr spcFirstLastPara="1" wrap="square" lIns="91425" tIns="45700" rIns="91425" bIns="45700" anchor="t" anchorCtr="0">
              <a:noAutofit/>
            </a:bodyPr>
            <a:lstStyle/>
            <a:p>
              <a:pPr marL="45720" marR="0" lvl="0" indent="0" algn="ctr" rtl="0">
                <a:spcBef>
                  <a:spcPts val="0"/>
                </a:spcBef>
                <a:spcAft>
                  <a:spcPts val="0"/>
                </a:spcAft>
                <a:buNone/>
              </a:pPr>
              <a:r>
                <a:rPr lang="en-US" sz="1600" b="1">
                  <a:solidFill>
                    <a:schemeClr val="dk2"/>
                  </a:solidFill>
                  <a:latin typeface="Arial"/>
                  <a:ea typeface="Arial"/>
                  <a:cs typeface="Arial"/>
                  <a:sym typeface="Arial"/>
                </a:rPr>
                <a:t>FUNCTIONAL </a:t>
              </a:r>
              <a:br>
                <a:rPr lang="en-US" sz="1600" b="1">
                  <a:solidFill>
                    <a:schemeClr val="dk2"/>
                  </a:solidFill>
                  <a:latin typeface="Arial"/>
                  <a:ea typeface="Arial"/>
                  <a:cs typeface="Arial"/>
                  <a:sym typeface="Arial"/>
                </a:rPr>
              </a:br>
              <a:r>
                <a:rPr lang="en-US" sz="1600" b="1">
                  <a:solidFill>
                    <a:schemeClr val="dk2"/>
                  </a:solidFill>
                  <a:latin typeface="Arial"/>
                  <a:ea typeface="Arial"/>
                  <a:cs typeface="Arial"/>
                  <a:sym typeface="Arial"/>
                </a:rPr>
                <a:t>UNIT</a:t>
              </a:r>
              <a:br>
                <a:rPr lang="en-US" sz="1600" b="1">
                  <a:solidFill>
                    <a:schemeClr val="dk2"/>
                  </a:solidFill>
                  <a:latin typeface="Arial"/>
                  <a:ea typeface="Arial"/>
                  <a:cs typeface="Arial"/>
                  <a:sym typeface="Arial"/>
                </a:rPr>
              </a:br>
              <a:r>
                <a:rPr lang="en-US" sz="1400">
                  <a:solidFill>
                    <a:schemeClr val="dk2"/>
                  </a:solidFill>
                  <a:latin typeface="Arial"/>
                  <a:ea typeface="Arial"/>
                  <a:cs typeface="Arial"/>
                  <a:sym typeface="Arial"/>
                </a:rPr>
                <a:t>(service offered)</a:t>
              </a:r>
              <a:endParaRPr/>
            </a:p>
          </p:txBody>
        </p:sp>
        <p:cxnSp>
          <p:nvCxnSpPr>
            <p:cNvPr id="117" name="Google Shape;117;p15"/>
            <p:cNvCxnSpPr/>
            <p:nvPr/>
          </p:nvCxnSpPr>
          <p:spPr>
            <a:xfrm rot="10800000" flipH="1">
              <a:off x="6306066" y="3853107"/>
              <a:ext cx="2864476" cy="13975"/>
            </a:xfrm>
            <a:prstGeom prst="straightConnector1">
              <a:avLst/>
            </a:prstGeom>
            <a:noFill/>
            <a:ln w="25400" cap="flat" cmpd="sng">
              <a:solidFill>
                <a:srgbClr val="CFCAC6"/>
              </a:solidFill>
              <a:prstDash val="solid"/>
              <a:round/>
              <a:headEnd type="none" w="sm" len="sm"/>
              <a:tailEnd type="none" w="sm" len="sm"/>
            </a:ln>
          </p:spPr>
        </p:cxnSp>
        <p:cxnSp>
          <p:nvCxnSpPr>
            <p:cNvPr id="118" name="Google Shape;118;p15"/>
            <p:cNvCxnSpPr/>
            <p:nvPr/>
          </p:nvCxnSpPr>
          <p:spPr>
            <a:xfrm>
              <a:off x="6263479" y="1579048"/>
              <a:ext cx="0" cy="3809774"/>
            </a:xfrm>
            <a:prstGeom prst="straightConnector1">
              <a:avLst/>
            </a:prstGeom>
            <a:noFill/>
            <a:ln w="25400" cap="flat" cmpd="sng">
              <a:solidFill>
                <a:srgbClr val="CFCAC6"/>
              </a:solidFill>
              <a:prstDash val="solid"/>
              <a:round/>
              <a:headEnd type="none" w="sm" len="sm"/>
              <a:tailEnd type="none" w="sm" len="sm"/>
            </a:ln>
          </p:spPr>
        </p:cxnSp>
        <p:sp>
          <p:nvSpPr>
            <p:cNvPr id="119" name="Google Shape;119;p15"/>
            <p:cNvSpPr/>
            <p:nvPr/>
          </p:nvSpPr>
          <p:spPr>
            <a:xfrm>
              <a:off x="2803806" y="2452480"/>
              <a:ext cx="1356849" cy="272715"/>
            </a:xfrm>
            <a:prstGeom prst="rect">
              <a:avLst/>
            </a:prstGeom>
            <a:noFill/>
            <a:ln>
              <a:noFill/>
            </a:ln>
          </p:spPr>
          <p:txBody>
            <a:bodyPr spcFirstLastPara="1" wrap="square" lIns="91425" tIns="45700" rIns="91425" bIns="45700" anchor="t" anchorCtr="0">
              <a:noAutofit/>
            </a:bodyPr>
            <a:lstStyle/>
            <a:p>
              <a:pPr marL="45720" marR="0" lvl="0" indent="0" algn="l" rtl="0">
                <a:spcBef>
                  <a:spcPts val="0"/>
                </a:spcBef>
                <a:spcAft>
                  <a:spcPts val="0"/>
                </a:spcAft>
                <a:buNone/>
              </a:pPr>
              <a:r>
                <a:rPr lang="en-US" sz="1600" b="1">
                  <a:solidFill>
                    <a:schemeClr val="dk2"/>
                  </a:solidFill>
                  <a:latin typeface="Arial"/>
                  <a:ea typeface="Arial"/>
                  <a:cs typeface="Arial"/>
                  <a:sym typeface="Arial"/>
                </a:rPr>
                <a:t>Product A</a:t>
              </a:r>
              <a:endParaRPr/>
            </a:p>
          </p:txBody>
        </p:sp>
        <p:sp>
          <p:nvSpPr>
            <p:cNvPr id="120" name="Google Shape;120;p15"/>
            <p:cNvSpPr/>
            <p:nvPr/>
          </p:nvSpPr>
          <p:spPr>
            <a:xfrm>
              <a:off x="2803806" y="3935349"/>
              <a:ext cx="1356849" cy="554234"/>
            </a:xfrm>
            <a:prstGeom prst="rect">
              <a:avLst/>
            </a:prstGeom>
            <a:noFill/>
            <a:ln>
              <a:noFill/>
            </a:ln>
          </p:spPr>
          <p:txBody>
            <a:bodyPr spcFirstLastPara="1" wrap="square" lIns="91425" tIns="45700" rIns="91425" bIns="45700" anchor="t" anchorCtr="0">
              <a:noAutofit/>
            </a:bodyPr>
            <a:lstStyle/>
            <a:p>
              <a:pPr marL="45720" marR="0" lvl="0" indent="0" algn="l" rtl="0">
                <a:spcBef>
                  <a:spcPts val="0"/>
                </a:spcBef>
                <a:spcAft>
                  <a:spcPts val="0"/>
                </a:spcAft>
                <a:buNone/>
              </a:pPr>
              <a:r>
                <a:rPr lang="en-US" sz="1600" b="1">
                  <a:solidFill>
                    <a:schemeClr val="dk2"/>
                  </a:solidFill>
                  <a:latin typeface="Arial"/>
                  <a:ea typeface="Arial"/>
                  <a:cs typeface="Arial"/>
                  <a:sym typeface="Arial"/>
                </a:rPr>
                <a:t>Product B</a:t>
              </a:r>
              <a:endParaRPr/>
            </a:p>
          </p:txBody>
        </p:sp>
        <p:sp>
          <p:nvSpPr>
            <p:cNvPr id="121" name="Google Shape;121;p15"/>
            <p:cNvSpPr/>
            <p:nvPr/>
          </p:nvSpPr>
          <p:spPr>
            <a:xfrm>
              <a:off x="4878585" y="3573170"/>
              <a:ext cx="1356849" cy="272715"/>
            </a:xfrm>
            <a:prstGeom prst="rect">
              <a:avLst/>
            </a:prstGeom>
            <a:noFill/>
            <a:ln>
              <a:noFill/>
            </a:ln>
          </p:spPr>
          <p:txBody>
            <a:bodyPr spcFirstLastPara="1" wrap="square" lIns="91425" tIns="45700" rIns="91425" bIns="45700" anchor="t" anchorCtr="0">
              <a:noAutofit/>
            </a:bodyPr>
            <a:lstStyle/>
            <a:p>
              <a:pPr marL="45720" marR="0" lvl="0" indent="0" algn="l" rtl="0">
                <a:spcBef>
                  <a:spcPts val="0"/>
                </a:spcBef>
                <a:spcAft>
                  <a:spcPts val="0"/>
                </a:spcAft>
                <a:buNone/>
              </a:pPr>
              <a:r>
                <a:rPr lang="en-US" sz="1600" b="1">
                  <a:solidFill>
                    <a:schemeClr val="dk2"/>
                  </a:solidFill>
                  <a:latin typeface="Arial"/>
                  <a:ea typeface="Arial"/>
                  <a:cs typeface="Arial"/>
                  <a:sym typeface="Arial"/>
                </a:rPr>
                <a:t>XXX FU</a:t>
              </a:r>
              <a:endParaRPr/>
            </a:p>
          </p:txBody>
        </p:sp>
        <p:sp>
          <p:nvSpPr>
            <p:cNvPr id="122" name="Google Shape;122;p15"/>
            <p:cNvSpPr/>
            <p:nvPr/>
          </p:nvSpPr>
          <p:spPr>
            <a:xfrm>
              <a:off x="6446501" y="2474042"/>
              <a:ext cx="2836891" cy="1305902"/>
            </a:xfrm>
            <a:prstGeom prst="rect">
              <a:avLst/>
            </a:prstGeom>
            <a:noFill/>
            <a:ln>
              <a:noFill/>
            </a:ln>
          </p:spPr>
          <p:txBody>
            <a:bodyPr spcFirstLastPara="1" wrap="square" lIns="91425" tIns="45700" rIns="91425" bIns="45700" anchor="t" anchorCtr="0">
              <a:noAutofit/>
            </a:bodyPr>
            <a:lstStyle/>
            <a:p>
              <a:pPr marL="45720" marR="0" lvl="0" indent="0" algn="l" rtl="0">
                <a:spcBef>
                  <a:spcPts val="0"/>
                </a:spcBef>
                <a:spcAft>
                  <a:spcPts val="0"/>
                </a:spcAft>
                <a:buNone/>
              </a:pPr>
              <a:r>
                <a:rPr lang="en-US" sz="1600" b="1">
                  <a:solidFill>
                    <a:schemeClr val="dk2"/>
                  </a:solidFill>
                  <a:latin typeface="Arial"/>
                  <a:ea typeface="Arial"/>
                  <a:cs typeface="Arial"/>
                  <a:sym typeface="Arial"/>
                </a:rPr>
                <a:t>XXX aaa</a:t>
              </a:r>
              <a:endParaRPr sz="1600" b="1">
                <a:solidFill>
                  <a:schemeClr val="dk2"/>
                </a:solidFill>
                <a:latin typeface="Arial"/>
                <a:ea typeface="Arial"/>
                <a:cs typeface="Arial"/>
                <a:sym typeface="Arial"/>
              </a:endParaRPr>
            </a:p>
            <a:p>
              <a:pPr marL="45720" marR="0" lvl="0" indent="0" algn="l" rtl="0">
                <a:spcBef>
                  <a:spcPts val="0"/>
                </a:spcBef>
                <a:spcAft>
                  <a:spcPts val="0"/>
                </a:spcAft>
                <a:buNone/>
              </a:pPr>
              <a:endParaRPr sz="1600" b="1">
                <a:solidFill>
                  <a:schemeClr val="dk2"/>
                </a:solidFill>
                <a:latin typeface="Arial"/>
                <a:ea typeface="Arial"/>
                <a:cs typeface="Arial"/>
                <a:sym typeface="Arial"/>
              </a:endParaRPr>
            </a:p>
            <a:p>
              <a:pPr marL="45720" marR="0" lvl="0" indent="0" algn="l" rtl="0">
                <a:spcBef>
                  <a:spcPts val="0"/>
                </a:spcBef>
                <a:spcAft>
                  <a:spcPts val="0"/>
                </a:spcAft>
                <a:buNone/>
              </a:pPr>
              <a:r>
                <a:rPr lang="en-US" sz="1600" b="1">
                  <a:solidFill>
                    <a:schemeClr val="dk2"/>
                  </a:solidFill>
                  <a:latin typeface="Arial"/>
                  <a:ea typeface="Arial"/>
                  <a:cs typeface="Arial"/>
                  <a:sym typeface="Arial"/>
                </a:rPr>
                <a:t>XXX bbb</a:t>
              </a:r>
              <a:endParaRPr sz="1600" b="1">
                <a:solidFill>
                  <a:schemeClr val="dk2"/>
                </a:solidFill>
                <a:latin typeface="Arial"/>
                <a:ea typeface="Arial"/>
                <a:cs typeface="Arial"/>
                <a:sym typeface="Arial"/>
              </a:endParaRPr>
            </a:p>
            <a:p>
              <a:pPr marL="45720" marR="0" lvl="0" indent="0" algn="l" rtl="0">
                <a:spcBef>
                  <a:spcPts val="0"/>
                </a:spcBef>
                <a:spcAft>
                  <a:spcPts val="0"/>
                </a:spcAft>
                <a:buNone/>
              </a:pPr>
              <a:endParaRPr sz="1600" b="1">
                <a:solidFill>
                  <a:schemeClr val="dk2"/>
                </a:solidFill>
                <a:latin typeface="Arial"/>
                <a:ea typeface="Arial"/>
                <a:cs typeface="Arial"/>
                <a:sym typeface="Arial"/>
              </a:endParaRPr>
            </a:p>
            <a:p>
              <a:pPr marL="45720" marR="0" lvl="0" indent="0" algn="l" rtl="0">
                <a:spcBef>
                  <a:spcPts val="0"/>
                </a:spcBef>
                <a:spcAft>
                  <a:spcPts val="0"/>
                </a:spcAft>
                <a:buNone/>
              </a:pPr>
              <a:r>
                <a:rPr lang="en-US" sz="1600" b="1">
                  <a:solidFill>
                    <a:schemeClr val="dk2"/>
                  </a:solidFill>
                  <a:latin typeface="Arial"/>
                  <a:ea typeface="Arial"/>
                  <a:cs typeface="Arial"/>
                  <a:sym typeface="Arial"/>
                </a:rPr>
                <a:t>XXX cccc</a:t>
              </a:r>
              <a:endParaRPr sz="1600" b="1">
                <a:solidFill>
                  <a:schemeClr val="dk2"/>
                </a:solidFill>
                <a:latin typeface="Arial"/>
                <a:ea typeface="Arial"/>
                <a:cs typeface="Arial"/>
                <a:sym typeface="Arial"/>
              </a:endParaRPr>
            </a:p>
            <a:p>
              <a:pPr marL="45720" marR="0" lvl="0" indent="0" algn="l" rtl="0">
                <a:spcBef>
                  <a:spcPts val="0"/>
                </a:spcBef>
                <a:spcAft>
                  <a:spcPts val="0"/>
                </a:spcAft>
                <a:buNone/>
              </a:pPr>
              <a:endParaRPr sz="1600" b="1">
                <a:solidFill>
                  <a:schemeClr val="dk2"/>
                </a:solidFill>
                <a:latin typeface="Arial"/>
                <a:ea typeface="Arial"/>
                <a:cs typeface="Arial"/>
                <a:sym typeface="Arial"/>
              </a:endParaRPr>
            </a:p>
          </p:txBody>
        </p:sp>
        <p:sp>
          <p:nvSpPr>
            <p:cNvPr id="123" name="Google Shape;123;p15"/>
            <p:cNvSpPr/>
            <p:nvPr/>
          </p:nvSpPr>
          <p:spPr>
            <a:xfrm>
              <a:off x="9327025" y="3113558"/>
              <a:ext cx="3640184" cy="1521091"/>
            </a:xfrm>
            <a:prstGeom prst="rect">
              <a:avLst/>
            </a:prstGeom>
            <a:noFill/>
            <a:ln>
              <a:noFill/>
            </a:ln>
          </p:spPr>
          <p:txBody>
            <a:bodyPr spcFirstLastPara="1" wrap="square" lIns="91425" tIns="45700" rIns="91425" bIns="45700" anchor="t" anchorCtr="0">
              <a:noAutofit/>
            </a:bodyPr>
            <a:lstStyle/>
            <a:p>
              <a:pPr marL="45720" marR="0" lvl="0" indent="0" algn="l" rtl="0">
                <a:spcBef>
                  <a:spcPts val="0"/>
                </a:spcBef>
                <a:spcAft>
                  <a:spcPts val="0"/>
                </a:spcAft>
                <a:buNone/>
              </a:pPr>
              <a:r>
                <a:rPr lang="en-US" sz="1600" b="1">
                  <a:solidFill>
                    <a:schemeClr val="dk2"/>
                  </a:solidFill>
                  <a:latin typeface="Arial"/>
                  <a:ea typeface="Arial"/>
                  <a:cs typeface="Arial"/>
                  <a:sym typeface="Arial"/>
                </a:rPr>
                <a:t>YYY 1</a:t>
              </a:r>
              <a:endParaRPr/>
            </a:p>
            <a:p>
              <a:pPr marL="45720" marR="0" lvl="0" indent="0" algn="l" rtl="0">
                <a:spcBef>
                  <a:spcPts val="0"/>
                </a:spcBef>
                <a:spcAft>
                  <a:spcPts val="0"/>
                </a:spcAft>
                <a:buNone/>
              </a:pPr>
              <a:endParaRPr sz="1600" b="1">
                <a:solidFill>
                  <a:schemeClr val="dk2"/>
                </a:solidFill>
                <a:latin typeface="Arial"/>
                <a:ea typeface="Arial"/>
                <a:cs typeface="Arial"/>
                <a:sym typeface="Arial"/>
              </a:endParaRPr>
            </a:p>
            <a:p>
              <a:pPr marL="45720" marR="0" lvl="0" indent="0" algn="l" rtl="0">
                <a:spcBef>
                  <a:spcPts val="0"/>
                </a:spcBef>
                <a:spcAft>
                  <a:spcPts val="0"/>
                </a:spcAft>
                <a:buNone/>
              </a:pPr>
              <a:r>
                <a:rPr lang="en-US" sz="1600" b="1">
                  <a:solidFill>
                    <a:schemeClr val="dk2"/>
                  </a:solidFill>
                  <a:latin typeface="Arial"/>
                  <a:ea typeface="Arial"/>
                  <a:cs typeface="Arial"/>
                  <a:sym typeface="Arial"/>
                </a:rPr>
                <a:t>YYY 2</a:t>
              </a:r>
              <a:endParaRPr/>
            </a:p>
            <a:p>
              <a:pPr marL="45720" marR="0" lvl="0" indent="0" algn="l" rtl="0">
                <a:spcBef>
                  <a:spcPts val="0"/>
                </a:spcBef>
                <a:spcAft>
                  <a:spcPts val="0"/>
                </a:spcAft>
                <a:buNone/>
              </a:pPr>
              <a:endParaRPr sz="1600" b="1">
                <a:solidFill>
                  <a:schemeClr val="dk2"/>
                </a:solidFill>
                <a:latin typeface="Arial"/>
                <a:ea typeface="Arial"/>
                <a:cs typeface="Arial"/>
                <a:sym typeface="Arial"/>
              </a:endParaRPr>
            </a:p>
            <a:p>
              <a:pPr marL="45720" marR="0" lvl="0" indent="0" algn="l" rtl="0">
                <a:spcBef>
                  <a:spcPts val="0"/>
                </a:spcBef>
                <a:spcAft>
                  <a:spcPts val="0"/>
                </a:spcAft>
                <a:buNone/>
              </a:pPr>
              <a:r>
                <a:rPr lang="en-US" sz="1600" b="1">
                  <a:solidFill>
                    <a:schemeClr val="dk2"/>
                  </a:solidFill>
                  <a:latin typeface="Arial"/>
                  <a:ea typeface="Arial"/>
                  <a:cs typeface="Arial"/>
                  <a:sym typeface="Arial"/>
                </a:rPr>
                <a:t>YYY  3</a:t>
              </a:r>
              <a:endParaRPr/>
            </a:p>
            <a:p>
              <a:pPr marL="45720" marR="0" lvl="0" indent="0" algn="l" rtl="0">
                <a:spcBef>
                  <a:spcPts val="0"/>
                </a:spcBef>
                <a:spcAft>
                  <a:spcPts val="0"/>
                </a:spcAft>
                <a:buNone/>
              </a:pPr>
              <a:endParaRPr sz="1600" b="1">
                <a:solidFill>
                  <a:schemeClr val="dk2"/>
                </a:solidFill>
                <a:latin typeface="Arial"/>
                <a:ea typeface="Arial"/>
                <a:cs typeface="Arial"/>
                <a:sym typeface="Arial"/>
              </a:endParaRPr>
            </a:p>
          </p:txBody>
        </p:sp>
        <p:sp>
          <p:nvSpPr>
            <p:cNvPr id="124" name="Google Shape;124;p15"/>
            <p:cNvSpPr/>
            <p:nvPr/>
          </p:nvSpPr>
          <p:spPr>
            <a:xfrm>
              <a:off x="6490134" y="3984776"/>
              <a:ext cx="2836891" cy="1292141"/>
            </a:xfrm>
            <a:prstGeom prst="rect">
              <a:avLst/>
            </a:prstGeom>
            <a:noFill/>
            <a:ln>
              <a:noFill/>
            </a:ln>
          </p:spPr>
          <p:txBody>
            <a:bodyPr spcFirstLastPara="1" wrap="square" lIns="91425" tIns="45700" rIns="91425" bIns="45700" anchor="t" anchorCtr="0">
              <a:noAutofit/>
            </a:bodyPr>
            <a:lstStyle/>
            <a:p>
              <a:pPr marL="45720" marR="0" lvl="0" indent="0" algn="l" rtl="0">
                <a:spcBef>
                  <a:spcPts val="0"/>
                </a:spcBef>
                <a:spcAft>
                  <a:spcPts val="0"/>
                </a:spcAft>
                <a:buNone/>
              </a:pPr>
              <a:r>
                <a:rPr lang="en-US" sz="1600" b="1">
                  <a:solidFill>
                    <a:schemeClr val="dk2"/>
                  </a:solidFill>
                  <a:latin typeface="Arial"/>
                  <a:ea typeface="Arial"/>
                  <a:cs typeface="Arial"/>
                  <a:sym typeface="Arial"/>
                </a:rPr>
                <a:t>XXX aaa</a:t>
              </a:r>
              <a:endParaRPr sz="1600" b="1">
                <a:solidFill>
                  <a:schemeClr val="dk2"/>
                </a:solidFill>
                <a:latin typeface="Arial"/>
                <a:ea typeface="Arial"/>
                <a:cs typeface="Arial"/>
                <a:sym typeface="Arial"/>
              </a:endParaRPr>
            </a:p>
            <a:p>
              <a:pPr marL="45720" marR="0" lvl="0" indent="0" algn="l" rtl="0">
                <a:spcBef>
                  <a:spcPts val="0"/>
                </a:spcBef>
                <a:spcAft>
                  <a:spcPts val="0"/>
                </a:spcAft>
                <a:buNone/>
              </a:pPr>
              <a:endParaRPr sz="1600" b="1">
                <a:solidFill>
                  <a:schemeClr val="dk2"/>
                </a:solidFill>
                <a:latin typeface="Arial"/>
                <a:ea typeface="Arial"/>
                <a:cs typeface="Arial"/>
                <a:sym typeface="Arial"/>
              </a:endParaRPr>
            </a:p>
            <a:p>
              <a:pPr marL="45720" marR="0" lvl="0" indent="0" algn="l" rtl="0">
                <a:spcBef>
                  <a:spcPts val="0"/>
                </a:spcBef>
                <a:spcAft>
                  <a:spcPts val="0"/>
                </a:spcAft>
                <a:buNone/>
              </a:pPr>
              <a:r>
                <a:rPr lang="en-US" sz="1600" b="1">
                  <a:solidFill>
                    <a:schemeClr val="dk2"/>
                  </a:solidFill>
                  <a:latin typeface="Arial"/>
                  <a:ea typeface="Arial"/>
                  <a:cs typeface="Arial"/>
                  <a:sym typeface="Arial"/>
                </a:rPr>
                <a:t>XXX bbb</a:t>
              </a:r>
              <a:endParaRPr sz="1600" b="1">
                <a:solidFill>
                  <a:schemeClr val="dk2"/>
                </a:solidFill>
                <a:latin typeface="Arial"/>
                <a:ea typeface="Arial"/>
                <a:cs typeface="Arial"/>
                <a:sym typeface="Arial"/>
              </a:endParaRPr>
            </a:p>
            <a:p>
              <a:pPr marL="45720" marR="0" lvl="0" indent="0" algn="l" rtl="0">
                <a:spcBef>
                  <a:spcPts val="0"/>
                </a:spcBef>
                <a:spcAft>
                  <a:spcPts val="0"/>
                </a:spcAft>
                <a:buNone/>
              </a:pPr>
              <a:endParaRPr sz="1600" b="1">
                <a:solidFill>
                  <a:schemeClr val="dk2"/>
                </a:solidFill>
                <a:latin typeface="Arial"/>
                <a:ea typeface="Arial"/>
                <a:cs typeface="Arial"/>
                <a:sym typeface="Arial"/>
              </a:endParaRPr>
            </a:p>
            <a:p>
              <a:pPr marL="45720" marR="0" lvl="0" indent="0" algn="l" rtl="0">
                <a:spcBef>
                  <a:spcPts val="0"/>
                </a:spcBef>
                <a:spcAft>
                  <a:spcPts val="0"/>
                </a:spcAft>
                <a:buNone/>
              </a:pPr>
              <a:r>
                <a:rPr lang="en-US" sz="1600" b="1">
                  <a:solidFill>
                    <a:schemeClr val="dk2"/>
                  </a:solidFill>
                  <a:latin typeface="Arial"/>
                  <a:ea typeface="Arial"/>
                  <a:cs typeface="Arial"/>
                  <a:sym typeface="Arial"/>
                </a:rPr>
                <a:t>XXX cccc</a:t>
              </a:r>
              <a:endParaRPr sz="1600" b="1">
                <a:solidFill>
                  <a:schemeClr val="dk2"/>
                </a:solidFill>
                <a:latin typeface="Arial"/>
                <a:ea typeface="Arial"/>
                <a:cs typeface="Arial"/>
                <a:sym typeface="Arial"/>
              </a:endParaRPr>
            </a:p>
            <a:p>
              <a:pPr marL="45720" marR="0" lvl="0" indent="0" algn="l" rtl="0">
                <a:spcBef>
                  <a:spcPts val="0"/>
                </a:spcBef>
                <a:spcAft>
                  <a:spcPts val="0"/>
                </a:spcAft>
                <a:buNone/>
              </a:pPr>
              <a:endParaRPr sz="1600" b="1">
                <a:solidFill>
                  <a:schemeClr val="dk2"/>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274C"/>
              </a:buClr>
              <a:buSzPts val="4400"/>
              <a:buFont typeface="Arial"/>
              <a:buNone/>
            </a:pPr>
            <a:r>
              <a:rPr lang="en-US" dirty="0"/>
              <a:t>Main hypotheses and data used</a:t>
            </a:r>
            <a:endParaRPr dirty="0">
              <a:solidFill>
                <a:schemeClr val="dk2"/>
              </a:solidFill>
            </a:endParaRPr>
          </a:p>
        </p:txBody>
      </p:sp>
      <p:sp>
        <p:nvSpPr>
          <p:cNvPr id="131" name="Google Shape;131;p16">
            <a:extLst>
              <a:ext uri="{C183D7F6-B498-43B3-948B-1728B52AA6E4}">
                <adec:decorative xmlns:adec="http://schemas.microsoft.com/office/drawing/2017/decorative" val="1"/>
              </a:ext>
            </a:extLst>
          </p:cNvPr>
          <p:cNvSpPr/>
          <p:nvPr/>
        </p:nvSpPr>
        <p:spPr>
          <a:xfrm>
            <a:off x="878783" y="6571930"/>
            <a:ext cx="14072893" cy="106454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sp>
        <p:nvSpPr>
          <p:cNvPr id="132" name="Google Shape;132;p16"/>
          <p:cNvSpPr/>
          <p:nvPr/>
        </p:nvSpPr>
        <p:spPr>
          <a:xfrm>
            <a:off x="1043542" y="6621358"/>
            <a:ext cx="13661000" cy="9541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accent4"/>
                </a:solidFill>
                <a:sym typeface="Arial"/>
              </a:rPr>
              <a:t>Summarize your main hypotheses (transport distances, number of use, etc. and </a:t>
            </a:r>
            <a:br>
              <a:rPr lang="en-US" sz="2800" dirty="0">
                <a:solidFill>
                  <a:schemeClr val="accent4"/>
                </a:solidFill>
                <a:sym typeface="Arial"/>
              </a:rPr>
            </a:br>
            <a:r>
              <a:rPr lang="en-US" sz="2800" dirty="0">
                <a:solidFill>
                  <a:schemeClr val="accent4"/>
                </a:solidFill>
                <a:sym typeface="Arial"/>
              </a:rPr>
              <a:t>data in one slide)</a:t>
            </a:r>
            <a:endParaRPr dirty="0">
              <a:solidFill>
                <a:schemeClr val="accent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400"/>
              <a:buFont typeface="Arial"/>
              <a:buNone/>
            </a:pPr>
            <a:r>
              <a:rPr lang="en-US" dirty="0">
                <a:solidFill>
                  <a:schemeClr val="dk2"/>
                </a:solidFill>
              </a:rPr>
              <a:t>Process tree design</a:t>
            </a:r>
            <a:endParaRPr dirty="0">
              <a:solidFill>
                <a:schemeClr val="dk2"/>
              </a:solidFill>
              <a:latin typeface="Arial"/>
              <a:ea typeface="Arial"/>
              <a:cs typeface="Arial"/>
              <a:sym typeface="Arial"/>
            </a:endParaRPr>
          </a:p>
        </p:txBody>
      </p:sp>
      <p:grpSp>
        <p:nvGrpSpPr>
          <p:cNvPr id="3" name="Group 2">
            <a:extLst>
              <a:ext uri="{FF2B5EF4-FFF2-40B4-BE49-F238E27FC236}">
                <a16:creationId xmlns:a16="http://schemas.microsoft.com/office/drawing/2014/main" id="{95D6449D-D736-EF5A-D2A5-27E2DB76142C}"/>
              </a:ext>
            </a:extLst>
          </p:cNvPr>
          <p:cNvGrpSpPr/>
          <p:nvPr/>
        </p:nvGrpSpPr>
        <p:grpSpPr>
          <a:xfrm>
            <a:off x="10920983" y="2320466"/>
            <a:ext cx="4165313" cy="4058831"/>
            <a:chOff x="10920983" y="2320466"/>
            <a:chExt cx="4165313" cy="4058831"/>
          </a:xfrm>
        </p:grpSpPr>
        <p:grpSp>
          <p:nvGrpSpPr>
            <p:cNvPr id="2" name="Group 1" descr="Diagram of process tree designs">
              <a:extLst>
                <a:ext uri="{FF2B5EF4-FFF2-40B4-BE49-F238E27FC236}">
                  <a16:creationId xmlns:a16="http://schemas.microsoft.com/office/drawing/2014/main" id="{D637B276-73C7-EB8E-AF98-0ACEFE039CB7}"/>
                </a:ext>
              </a:extLst>
            </p:cNvPr>
            <p:cNvGrpSpPr/>
            <p:nvPr/>
          </p:nvGrpSpPr>
          <p:grpSpPr>
            <a:xfrm>
              <a:off x="10920983" y="2320466"/>
              <a:ext cx="3776527" cy="4058831"/>
              <a:chOff x="10920983" y="2320466"/>
              <a:chExt cx="3776527" cy="4058831"/>
            </a:xfrm>
          </p:grpSpPr>
          <p:sp>
            <p:nvSpPr>
              <p:cNvPr id="141" name="Google Shape;141;p17"/>
              <p:cNvSpPr/>
              <p:nvPr/>
            </p:nvSpPr>
            <p:spPr>
              <a:xfrm>
                <a:off x="12702467" y="5151571"/>
                <a:ext cx="777574" cy="609647"/>
              </a:xfrm>
              <a:prstGeom prst="rect">
                <a:avLst/>
              </a:prstGeom>
              <a:solidFill>
                <a:srgbClr val="BFBFB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Arial"/>
                  <a:buNone/>
                </a:pPr>
                <a:endParaRPr sz="3200" b="0" i="0" u="none" strike="noStrike" cap="none">
                  <a:solidFill>
                    <a:srgbClr val="000000"/>
                  </a:solidFill>
                  <a:latin typeface="Arial"/>
                  <a:ea typeface="Arial"/>
                  <a:cs typeface="Arial"/>
                  <a:sym typeface="Arial"/>
                </a:endParaRPr>
              </a:p>
            </p:txBody>
          </p:sp>
          <p:cxnSp>
            <p:nvCxnSpPr>
              <p:cNvPr id="142" name="Google Shape;142;p17"/>
              <p:cNvCxnSpPr/>
              <p:nvPr/>
            </p:nvCxnSpPr>
            <p:spPr>
              <a:xfrm>
                <a:off x="11919417" y="4196736"/>
                <a:ext cx="1171800" cy="902400"/>
              </a:xfrm>
              <a:prstGeom prst="bentConnector3">
                <a:avLst>
                  <a:gd name="adj1" fmla="val 0"/>
                </a:avLst>
              </a:prstGeom>
              <a:noFill/>
              <a:ln w="25400" cap="flat" cmpd="sng">
                <a:solidFill>
                  <a:srgbClr val="FFC000"/>
                </a:solidFill>
                <a:prstDash val="solid"/>
                <a:round/>
                <a:headEnd type="none" w="med" len="med"/>
                <a:tailEnd type="stealth" w="med" len="med"/>
              </a:ln>
            </p:spPr>
          </p:cxnSp>
          <p:cxnSp>
            <p:nvCxnSpPr>
              <p:cNvPr id="143" name="Google Shape;143;p17"/>
              <p:cNvCxnSpPr/>
              <p:nvPr/>
            </p:nvCxnSpPr>
            <p:spPr>
              <a:xfrm flipH="1">
                <a:off x="13091314" y="4309366"/>
                <a:ext cx="1000200" cy="677100"/>
              </a:xfrm>
              <a:prstGeom prst="bentConnector3">
                <a:avLst>
                  <a:gd name="adj1" fmla="val 0"/>
                </a:avLst>
              </a:prstGeom>
              <a:noFill/>
              <a:ln w="25400" cap="flat" cmpd="sng">
                <a:solidFill>
                  <a:srgbClr val="FFC000"/>
                </a:solidFill>
                <a:prstDash val="solid"/>
                <a:round/>
                <a:headEnd type="none" w="med" len="med"/>
                <a:tailEnd type="none" w="sm" len="sm"/>
              </a:ln>
            </p:spPr>
          </p:cxnSp>
          <p:cxnSp>
            <p:nvCxnSpPr>
              <p:cNvPr id="144" name="Google Shape;144;p17"/>
              <p:cNvCxnSpPr/>
              <p:nvPr/>
            </p:nvCxnSpPr>
            <p:spPr>
              <a:xfrm rot="-5400000" flipH="1">
                <a:off x="11208371" y="3582916"/>
                <a:ext cx="733500" cy="530700"/>
              </a:xfrm>
              <a:prstGeom prst="bentConnector3">
                <a:avLst>
                  <a:gd name="adj1" fmla="val 50003"/>
                </a:avLst>
              </a:prstGeom>
              <a:noFill/>
              <a:ln w="25400" cap="flat" cmpd="sng">
                <a:solidFill>
                  <a:srgbClr val="FFC000"/>
                </a:solidFill>
                <a:prstDash val="solid"/>
                <a:round/>
                <a:headEnd type="none" w="med" len="med"/>
                <a:tailEnd type="none" w="sm" len="sm"/>
              </a:ln>
            </p:spPr>
          </p:cxnSp>
          <p:cxnSp>
            <p:nvCxnSpPr>
              <p:cNvPr id="145" name="Google Shape;145;p17"/>
              <p:cNvCxnSpPr>
                <a:stCxn id="146" idx="2"/>
              </p:cNvCxnSpPr>
              <p:nvPr/>
            </p:nvCxnSpPr>
            <p:spPr>
              <a:xfrm rot="5400000">
                <a:off x="11779602" y="2990865"/>
                <a:ext cx="729900" cy="608400"/>
              </a:xfrm>
              <a:prstGeom prst="bentConnector3">
                <a:avLst>
                  <a:gd name="adj1" fmla="val 50000"/>
                </a:avLst>
              </a:prstGeom>
              <a:noFill/>
              <a:ln w="25400" cap="flat" cmpd="sng">
                <a:solidFill>
                  <a:srgbClr val="FFC000"/>
                </a:solidFill>
                <a:prstDash val="solid"/>
                <a:round/>
                <a:headEnd type="none" w="med" len="med"/>
                <a:tailEnd type="stealth" w="med" len="med"/>
              </a:ln>
            </p:spPr>
          </p:cxnSp>
          <p:cxnSp>
            <p:nvCxnSpPr>
              <p:cNvPr id="147" name="Google Shape;147;p17"/>
              <p:cNvCxnSpPr/>
              <p:nvPr/>
            </p:nvCxnSpPr>
            <p:spPr>
              <a:xfrm rot="-5400000" flipH="1">
                <a:off x="13469758" y="3039713"/>
                <a:ext cx="733800" cy="532500"/>
              </a:xfrm>
              <a:prstGeom prst="bentConnector3">
                <a:avLst>
                  <a:gd name="adj1" fmla="val 49990"/>
                </a:avLst>
              </a:prstGeom>
              <a:noFill/>
              <a:ln w="25400" cap="flat" cmpd="sng">
                <a:solidFill>
                  <a:srgbClr val="FFC000"/>
                </a:solidFill>
                <a:prstDash val="solid"/>
                <a:round/>
                <a:headEnd type="none" w="med" len="med"/>
                <a:tailEnd type="none" w="sm" len="sm"/>
              </a:ln>
            </p:spPr>
          </p:cxnSp>
          <p:cxnSp>
            <p:nvCxnSpPr>
              <p:cNvPr id="148" name="Google Shape;148;p17"/>
              <p:cNvCxnSpPr/>
              <p:nvPr/>
            </p:nvCxnSpPr>
            <p:spPr>
              <a:xfrm rot="5400000">
                <a:off x="14044860" y="3026916"/>
                <a:ext cx="718500" cy="586800"/>
              </a:xfrm>
              <a:prstGeom prst="bentConnector3">
                <a:avLst>
                  <a:gd name="adj1" fmla="val 49992"/>
                </a:avLst>
              </a:prstGeom>
              <a:noFill/>
              <a:ln w="25400" cap="flat" cmpd="sng">
                <a:solidFill>
                  <a:srgbClr val="FFC000"/>
                </a:solidFill>
                <a:prstDash val="solid"/>
                <a:round/>
                <a:headEnd type="none" w="med" len="med"/>
                <a:tailEnd type="stealth" w="med" len="med"/>
              </a:ln>
            </p:spPr>
          </p:cxnSp>
          <p:sp>
            <p:nvSpPr>
              <p:cNvPr id="149" name="Google Shape;149;p17"/>
              <p:cNvSpPr/>
              <p:nvPr/>
            </p:nvSpPr>
            <p:spPr>
              <a:xfrm>
                <a:off x="11599991" y="5769650"/>
                <a:ext cx="777574" cy="605998"/>
              </a:xfrm>
              <a:prstGeom prst="rect">
                <a:avLst/>
              </a:prstGeom>
              <a:solidFill>
                <a:srgbClr val="BFBFB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Arial"/>
                  <a:buNone/>
                </a:pPr>
                <a:endParaRPr sz="3200" b="0" i="0" u="none" strike="noStrike" cap="none">
                  <a:solidFill>
                    <a:srgbClr val="000000"/>
                  </a:solidFill>
                  <a:latin typeface="Arial"/>
                  <a:ea typeface="Arial"/>
                  <a:cs typeface="Arial"/>
                  <a:sym typeface="Arial"/>
                </a:endParaRPr>
              </a:p>
            </p:txBody>
          </p:sp>
          <p:sp>
            <p:nvSpPr>
              <p:cNvPr id="150" name="Google Shape;150;p17"/>
              <p:cNvSpPr/>
              <p:nvPr/>
            </p:nvSpPr>
            <p:spPr>
              <a:xfrm>
                <a:off x="13808591" y="5769650"/>
                <a:ext cx="777576" cy="609647"/>
              </a:xfrm>
              <a:prstGeom prst="rect">
                <a:avLst/>
              </a:prstGeom>
              <a:solidFill>
                <a:srgbClr val="BFBFB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Arial"/>
                  <a:buNone/>
                </a:pPr>
                <a:endParaRPr sz="3200" b="0" i="0" u="none" strike="noStrike" cap="none">
                  <a:solidFill>
                    <a:srgbClr val="000000"/>
                  </a:solidFill>
                  <a:latin typeface="Arial"/>
                  <a:ea typeface="Arial"/>
                  <a:cs typeface="Arial"/>
                  <a:sym typeface="Arial"/>
                </a:endParaRPr>
              </a:p>
            </p:txBody>
          </p:sp>
          <p:cxnSp>
            <p:nvCxnSpPr>
              <p:cNvPr id="151" name="Google Shape;151;p17"/>
              <p:cNvCxnSpPr>
                <a:endCxn id="149" idx="3"/>
              </p:cNvCxnSpPr>
              <p:nvPr/>
            </p:nvCxnSpPr>
            <p:spPr>
              <a:xfrm flipH="1">
                <a:off x="12377565" y="5837449"/>
                <a:ext cx="713700" cy="235200"/>
              </a:xfrm>
              <a:prstGeom prst="bentConnector2">
                <a:avLst/>
              </a:prstGeom>
              <a:noFill/>
              <a:ln w="25400" cap="flat" cmpd="sng">
                <a:solidFill>
                  <a:srgbClr val="FFC000"/>
                </a:solidFill>
                <a:prstDash val="solid"/>
                <a:round/>
                <a:headEnd type="none" w="med" len="med"/>
                <a:tailEnd type="stealth" w="med" len="med"/>
              </a:ln>
            </p:spPr>
          </p:cxnSp>
          <p:cxnSp>
            <p:nvCxnSpPr>
              <p:cNvPr id="152" name="Google Shape;152;p17"/>
              <p:cNvCxnSpPr>
                <a:endCxn id="150" idx="1"/>
              </p:cNvCxnSpPr>
              <p:nvPr/>
            </p:nvCxnSpPr>
            <p:spPr>
              <a:xfrm>
                <a:off x="13091291" y="5837474"/>
                <a:ext cx="717300" cy="237000"/>
              </a:xfrm>
              <a:prstGeom prst="bentConnector2">
                <a:avLst/>
              </a:prstGeom>
              <a:noFill/>
              <a:ln w="25400" cap="flat" cmpd="sng">
                <a:solidFill>
                  <a:srgbClr val="FFC000"/>
                </a:solidFill>
                <a:prstDash val="solid"/>
                <a:round/>
                <a:headEnd type="none" w="med" len="med"/>
                <a:tailEnd type="stealth" w="med" len="med"/>
              </a:ln>
            </p:spPr>
          </p:cxnSp>
          <p:sp>
            <p:nvSpPr>
              <p:cNvPr id="153" name="Google Shape;153;p17"/>
              <p:cNvSpPr/>
              <p:nvPr/>
            </p:nvSpPr>
            <p:spPr>
              <a:xfrm>
                <a:off x="11530628" y="3681308"/>
                <a:ext cx="777576" cy="605998"/>
              </a:xfrm>
              <a:prstGeom prst="rect">
                <a:avLst/>
              </a:prstGeom>
              <a:solidFill>
                <a:srgbClr val="BFBFB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Arial"/>
                    <a:ea typeface="Arial"/>
                    <a:cs typeface="Arial"/>
                    <a:sym typeface="Arial"/>
                  </a:rPr>
                  <a:t> </a:t>
                </a:r>
                <a:endParaRPr/>
              </a:p>
            </p:txBody>
          </p:sp>
          <p:sp>
            <p:nvSpPr>
              <p:cNvPr id="154" name="Google Shape;154;p17"/>
              <p:cNvSpPr/>
              <p:nvPr/>
            </p:nvSpPr>
            <p:spPr>
              <a:xfrm>
                <a:off x="13702726" y="3725117"/>
                <a:ext cx="777574" cy="609649"/>
              </a:xfrm>
              <a:prstGeom prst="rect">
                <a:avLst/>
              </a:prstGeom>
              <a:solidFill>
                <a:srgbClr val="BFBFB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Arial"/>
                  <a:buNone/>
                </a:pPr>
                <a:endParaRPr sz="3200" b="0" i="0" u="none" strike="noStrike" cap="none">
                  <a:solidFill>
                    <a:srgbClr val="000000"/>
                  </a:solidFill>
                  <a:latin typeface="Arial"/>
                  <a:ea typeface="Arial"/>
                  <a:cs typeface="Arial"/>
                  <a:sym typeface="Arial"/>
                </a:endParaRPr>
              </a:p>
            </p:txBody>
          </p:sp>
          <p:sp>
            <p:nvSpPr>
              <p:cNvPr id="155" name="Google Shape;155;p17"/>
              <p:cNvSpPr/>
              <p:nvPr/>
            </p:nvSpPr>
            <p:spPr>
              <a:xfrm>
                <a:off x="10920983" y="2320466"/>
                <a:ext cx="777574" cy="605998"/>
              </a:xfrm>
              <a:prstGeom prst="rect">
                <a:avLst/>
              </a:prstGeom>
              <a:solidFill>
                <a:srgbClr val="BFBFB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Arial"/>
                  <a:buNone/>
                </a:pPr>
                <a:endParaRPr sz="3200" b="0" i="0" u="none" strike="noStrike" cap="none">
                  <a:solidFill>
                    <a:srgbClr val="000000"/>
                  </a:solidFill>
                  <a:latin typeface="Arial"/>
                  <a:ea typeface="Arial"/>
                  <a:cs typeface="Arial"/>
                  <a:sym typeface="Arial"/>
                </a:endParaRPr>
              </a:p>
            </p:txBody>
          </p:sp>
          <p:sp>
            <p:nvSpPr>
              <p:cNvPr id="146" name="Google Shape;146;p17"/>
              <p:cNvSpPr/>
              <p:nvPr/>
            </p:nvSpPr>
            <p:spPr>
              <a:xfrm>
                <a:off x="12059965" y="2320466"/>
                <a:ext cx="777574" cy="609649"/>
              </a:xfrm>
              <a:prstGeom prst="rect">
                <a:avLst/>
              </a:prstGeom>
              <a:solidFill>
                <a:srgbClr val="BFBFB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Arial"/>
                  <a:buNone/>
                </a:pPr>
                <a:endParaRPr sz="3200" b="0" i="0" u="none" strike="noStrike" cap="none">
                  <a:solidFill>
                    <a:srgbClr val="000000"/>
                  </a:solidFill>
                  <a:latin typeface="Arial"/>
                  <a:ea typeface="Arial"/>
                  <a:cs typeface="Arial"/>
                  <a:sym typeface="Arial"/>
                </a:endParaRPr>
              </a:p>
            </p:txBody>
          </p:sp>
          <p:sp>
            <p:nvSpPr>
              <p:cNvPr id="156" name="Google Shape;156;p17"/>
              <p:cNvSpPr/>
              <p:nvPr/>
            </p:nvSpPr>
            <p:spPr>
              <a:xfrm>
                <a:off x="13169743" y="2320466"/>
                <a:ext cx="777574" cy="605998"/>
              </a:xfrm>
              <a:prstGeom prst="rect">
                <a:avLst/>
              </a:prstGeom>
              <a:solidFill>
                <a:srgbClr val="BFBFB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Arial"/>
                  <a:buNone/>
                </a:pPr>
                <a:endParaRPr sz="3200" b="0" i="0" u="none" strike="noStrike" cap="none">
                  <a:solidFill>
                    <a:srgbClr val="000000"/>
                  </a:solidFill>
                  <a:latin typeface="Arial"/>
                  <a:ea typeface="Arial"/>
                  <a:cs typeface="Arial"/>
                  <a:sym typeface="Arial"/>
                </a:endParaRPr>
              </a:p>
            </p:txBody>
          </p:sp>
        </p:grpSp>
        <p:sp>
          <p:nvSpPr>
            <p:cNvPr id="157" name="Google Shape;157;p17"/>
            <p:cNvSpPr/>
            <p:nvPr/>
          </p:nvSpPr>
          <p:spPr>
            <a:xfrm>
              <a:off x="14308722" y="2320466"/>
              <a:ext cx="777574" cy="609649"/>
            </a:xfrm>
            <a:prstGeom prst="rect">
              <a:avLst/>
            </a:prstGeom>
            <a:solidFill>
              <a:srgbClr val="BFBFB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Arial"/>
                <a:buNone/>
              </a:pPr>
              <a:endParaRPr sz="3200" b="0" i="0" u="none" strike="noStrike" cap="none">
                <a:solidFill>
                  <a:srgbClr val="000000"/>
                </a:solidFill>
                <a:latin typeface="Arial"/>
                <a:ea typeface="Arial"/>
                <a:cs typeface="Arial"/>
                <a:sym typeface="Arial"/>
              </a:endParaRPr>
            </a:p>
          </p:txBody>
        </p:sp>
      </p:grpSp>
      <p:sp>
        <p:nvSpPr>
          <p:cNvPr id="158" name="Google Shape;158;p17"/>
          <p:cNvSpPr/>
          <p:nvPr/>
        </p:nvSpPr>
        <p:spPr>
          <a:xfrm>
            <a:off x="984738" y="2132914"/>
            <a:ext cx="707629" cy="707629"/>
          </a:xfrm>
          <a:prstGeom prst="ellipse">
            <a:avLst/>
          </a:prstGeom>
          <a:solidFill>
            <a:schemeClr val="bg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3600"/>
              <a:buFont typeface="Arial"/>
              <a:buNone/>
            </a:pPr>
            <a:r>
              <a:rPr lang="en-US" sz="3600" b="1" i="0" u="none" strike="noStrike" cap="none">
                <a:solidFill>
                  <a:srgbClr val="FFFFFF"/>
                </a:solidFill>
                <a:latin typeface="Arial"/>
                <a:ea typeface="Arial"/>
                <a:cs typeface="Arial"/>
                <a:sym typeface="Arial"/>
              </a:rPr>
              <a:t>1</a:t>
            </a:r>
            <a:endParaRPr/>
          </a:p>
        </p:txBody>
      </p:sp>
      <p:sp>
        <p:nvSpPr>
          <p:cNvPr id="159" name="Google Shape;159;p17"/>
          <p:cNvSpPr/>
          <p:nvPr/>
        </p:nvSpPr>
        <p:spPr>
          <a:xfrm>
            <a:off x="984738" y="3589896"/>
            <a:ext cx="707629" cy="707629"/>
          </a:xfrm>
          <a:prstGeom prst="ellipse">
            <a:avLst/>
          </a:prstGeom>
          <a:solidFill>
            <a:schemeClr val="bg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3600"/>
              <a:buFont typeface="Arial"/>
              <a:buNone/>
            </a:pPr>
            <a:r>
              <a:rPr lang="en-US" sz="3600" b="1" i="0" u="none" strike="noStrike" cap="none" dirty="0">
                <a:solidFill>
                  <a:srgbClr val="FFFFFF"/>
                </a:solidFill>
                <a:latin typeface="Arial"/>
                <a:ea typeface="Arial"/>
                <a:cs typeface="Arial"/>
                <a:sym typeface="Arial"/>
              </a:rPr>
              <a:t>2</a:t>
            </a:r>
            <a:endParaRPr dirty="0"/>
          </a:p>
        </p:txBody>
      </p:sp>
      <p:sp>
        <p:nvSpPr>
          <p:cNvPr id="160" name="Google Shape;160;p17"/>
          <p:cNvSpPr/>
          <p:nvPr/>
        </p:nvSpPr>
        <p:spPr>
          <a:xfrm>
            <a:off x="984738" y="4889818"/>
            <a:ext cx="707629" cy="707629"/>
          </a:xfrm>
          <a:prstGeom prst="ellipse">
            <a:avLst/>
          </a:prstGeom>
          <a:solidFill>
            <a:schemeClr val="bg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3600"/>
              <a:buFont typeface="Arial"/>
              <a:buNone/>
            </a:pPr>
            <a:r>
              <a:rPr lang="en-US" sz="3600" b="1" i="0" u="none" strike="noStrike" cap="none" dirty="0">
                <a:solidFill>
                  <a:srgbClr val="FFFFFF"/>
                </a:solidFill>
                <a:latin typeface="Arial"/>
                <a:ea typeface="Arial"/>
                <a:cs typeface="Arial"/>
                <a:sym typeface="Arial"/>
              </a:rPr>
              <a:t>3</a:t>
            </a:r>
            <a:endParaRPr dirty="0"/>
          </a:p>
        </p:txBody>
      </p:sp>
      <p:sp>
        <p:nvSpPr>
          <p:cNvPr id="161" name="Google Shape;161;p17"/>
          <p:cNvSpPr/>
          <p:nvPr/>
        </p:nvSpPr>
        <p:spPr>
          <a:xfrm>
            <a:off x="984738" y="5743399"/>
            <a:ext cx="707629" cy="707629"/>
          </a:xfrm>
          <a:prstGeom prst="ellipse">
            <a:avLst/>
          </a:prstGeom>
          <a:solidFill>
            <a:schemeClr val="bg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3600"/>
              <a:buFont typeface="Arial"/>
              <a:buNone/>
            </a:pPr>
            <a:r>
              <a:rPr lang="en-US" sz="3600" b="1" i="0" u="none" strike="noStrike" cap="none">
                <a:solidFill>
                  <a:srgbClr val="FFFFFF"/>
                </a:solidFill>
                <a:latin typeface="Arial"/>
                <a:ea typeface="Arial"/>
                <a:cs typeface="Arial"/>
                <a:sym typeface="Arial"/>
              </a:rPr>
              <a:t>4</a:t>
            </a:r>
            <a:endParaRPr/>
          </a:p>
        </p:txBody>
      </p:sp>
      <p:sp>
        <p:nvSpPr>
          <p:cNvPr id="140" name="Google Shape;140;p17"/>
          <p:cNvSpPr/>
          <p:nvPr/>
        </p:nvSpPr>
        <p:spPr>
          <a:xfrm>
            <a:off x="2024571" y="2041830"/>
            <a:ext cx="9004340" cy="458587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2A9"/>
              </a:buClr>
              <a:buSzPts val="2800"/>
              <a:buFont typeface="Arial"/>
              <a:buNone/>
            </a:pPr>
            <a:r>
              <a:rPr lang="en-US" sz="2800" b="1" i="1" u="none" strike="noStrike" cap="none" dirty="0">
                <a:solidFill>
                  <a:schemeClr val="accent4"/>
                </a:solidFill>
                <a:latin typeface="Arial"/>
                <a:ea typeface="Arial"/>
                <a:cs typeface="Arial"/>
                <a:sym typeface="Arial"/>
              </a:rPr>
              <a:t>Start from reference flows </a:t>
            </a:r>
            <a:r>
              <a:rPr lang="en-US" sz="2800" b="0" i="0" u="none" strike="noStrike" cap="none" dirty="0">
                <a:solidFill>
                  <a:srgbClr val="00274C"/>
                </a:solidFill>
                <a:latin typeface="Arial"/>
                <a:ea typeface="Arial"/>
                <a:cs typeface="Arial"/>
                <a:sym typeface="Arial"/>
              </a:rPr>
              <a:t>needed to be purchased </a:t>
            </a:r>
            <a:br>
              <a:rPr lang="en-US" sz="2800" b="0" i="0" u="none" strike="noStrike" cap="none" dirty="0">
                <a:solidFill>
                  <a:srgbClr val="00274C"/>
                </a:solidFill>
                <a:latin typeface="Arial"/>
                <a:ea typeface="Arial"/>
                <a:cs typeface="Arial"/>
                <a:sym typeface="Arial"/>
              </a:rPr>
            </a:br>
            <a:r>
              <a:rPr lang="en-US" sz="2800" b="0" i="0" u="none" strike="noStrike" cap="none" dirty="0">
                <a:solidFill>
                  <a:srgbClr val="00274C"/>
                </a:solidFill>
                <a:latin typeface="Arial"/>
                <a:ea typeface="Arial"/>
                <a:cs typeface="Arial"/>
                <a:sym typeface="Arial"/>
              </a:rPr>
              <a:t>per functional unit. </a:t>
            </a:r>
            <a:br>
              <a:rPr lang="en-US" sz="2800" b="0" i="0" u="none" strike="noStrike" cap="none" dirty="0">
                <a:solidFill>
                  <a:srgbClr val="00274C"/>
                </a:solidFill>
                <a:latin typeface="Arial"/>
                <a:ea typeface="Arial"/>
                <a:cs typeface="Arial"/>
                <a:sym typeface="Arial"/>
              </a:rPr>
            </a:br>
            <a:r>
              <a:rPr lang="en-US" sz="2800" b="1" i="0" u="none" strike="noStrike" cap="none" dirty="0">
                <a:solidFill>
                  <a:srgbClr val="00274C"/>
                </a:solidFill>
                <a:latin typeface="Arial"/>
                <a:ea typeface="Arial"/>
                <a:cs typeface="Arial"/>
                <a:sym typeface="Arial"/>
              </a:rPr>
              <a:t>Draw one box per reference flow</a:t>
            </a:r>
            <a:r>
              <a:rPr lang="en-US" sz="2800" b="0" i="0" u="none" strike="noStrike" cap="none" dirty="0">
                <a:solidFill>
                  <a:srgbClr val="00274C"/>
                </a:solidFill>
                <a:latin typeface="Arial"/>
                <a:ea typeface="Arial"/>
                <a:cs typeface="Arial"/>
                <a:sym typeface="Arial"/>
              </a:rPr>
              <a:t>.</a:t>
            </a:r>
            <a:endParaRPr dirty="0"/>
          </a:p>
          <a:p>
            <a:pPr marL="0" marR="0" lvl="0" indent="0" algn="l" rtl="0">
              <a:lnSpc>
                <a:spcPct val="100000"/>
              </a:lnSpc>
              <a:spcBef>
                <a:spcPts val="1600"/>
              </a:spcBef>
              <a:spcAft>
                <a:spcPts val="0"/>
              </a:spcAft>
              <a:buClr>
                <a:srgbClr val="00B2A9"/>
              </a:buClr>
              <a:buSzPts val="2800"/>
              <a:buFont typeface="Arial"/>
              <a:buNone/>
            </a:pPr>
            <a:r>
              <a:rPr lang="en-US" sz="2800" b="1" i="1" dirty="0">
                <a:solidFill>
                  <a:schemeClr val="accent4"/>
                </a:solidFill>
              </a:rPr>
              <a:t>Follow the upstream and downstream </a:t>
            </a:r>
            <a:r>
              <a:rPr lang="en-US" sz="2800" b="0" i="0" u="none" strike="noStrike" cap="none" dirty="0">
                <a:solidFill>
                  <a:srgbClr val="00274C"/>
                </a:solidFill>
                <a:latin typeface="Arial"/>
                <a:ea typeface="Arial"/>
                <a:cs typeface="Arial"/>
                <a:sym typeface="Arial"/>
              </a:rPr>
              <a:t>intermediary flows until you reach processes further (likely to be) covered by an LCA database.</a:t>
            </a:r>
            <a:endParaRPr dirty="0"/>
          </a:p>
          <a:p>
            <a:pPr marL="0" marR="0" lvl="0" indent="0" algn="l" rtl="0">
              <a:lnSpc>
                <a:spcPct val="100000"/>
              </a:lnSpc>
              <a:spcBef>
                <a:spcPts val="1600"/>
              </a:spcBef>
              <a:spcAft>
                <a:spcPts val="0"/>
              </a:spcAft>
              <a:buClr>
                <a:srgbClr val="00B2A9"/>
              </a:buClr>
              <a:buSzPts val="2800"/>
              <a:buFont typeface="Arial"/>
              <a:buNone/>
            </a:pPr>
            <a:r>
              <a:rPr lang="en-US" sz="2800" b="1" i="1" dirty="0">
                <a:solidFill>
                  <a:schemeClr val="accent4"/>
                </a:solidFill>
              </a:rPr>
              <a:t>Design the process tree.</a:t>
            </a:r>
            <a:endParaRPr sz="2800" b="1" i="1" dirty="0">
              <a:solidFill>
                <a:schemeClr val="accent4"/>
              </a:solidFill>
            </a:endParaRPr>
          </a:p>
          <a:p>
            <a:pPr marL="0" marR="0" lvl="0" indent="0" algn="l" rtl="0">
              <a:lnSpc>
                <a:spcPct val="100000"/>
              </a:lnSpc>
              <a:spcBef>
                <a:spcPts val="1600"/>
              </a:spcBef>
              <a:spcAft>
                <a:spcPts val="0"/>
              </a:spcAft>
              <a:buClr>
                <a:srgbClr val="00274C"/>
              </a:buClr>
              <a:buSzPts val="2800"/>
              <a:buFont typeface="Arial"/>
              <a:buNone/>
            </a:pPr>
            <a:r>
              <a:rPr lang="en-US" sz="2800" b="0" i="0" u="none" strike="noStrike" cap="none" dirty="0">
                <a:solidFill>
                  <a:srgbClr val="00274C"/>
                </a:solidFill>
                <a:latin typeface="Arial"/>
                <a:ea typeface="Arial"/>
                <a:cs typeface="Arial"/>
                <a:sym typeface="Arial"/>
              </a:rPr>
              <a:t>For each unit process, document in each box,</a:t>
            </a:r>
            <a:br>
              <a:rPr lang="en-US" sz="2800" b="0" i="0" u="none" strike="noStrike" cap="none" dirty="0">
                <a:solidFill>
                  <a:srgbClr val="00274C"/>
                </a:solidFill>
                <a:latin typeface="Arial"/>
                <a:ea typeface="Arial"/>
                <a:cs typeface="Arial"/>
                <a:sym typeface="Arial"/>
              </a:rPr>
            </a:br>
            <a:r>
              <a:rPr lang="en-US" sz="2800" b="0" i="0" u="none" strike="noStrike" cap="none" dirty="0">
                <a:solidFill>
                  <a:srgbClr val="00274C"/>
                </a:solidFill>
                <a:latin typeface="Arial"/>
                <a:ea typeface="Arial"/>
                <a:cs typeface="Arial"/>
                <a:sym typeface="Arial"/>
              </a:rPr>
              <a:t>the amount needed per FU.</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8"/>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274C"/>
              </a:buClr>
              <a:buSzPts val="4400"/>
              <a:buFont typeface="Arial"/>
              <a:buNone/>
            </a:pPr>
            <a:r>
              <a:rPr lang="en-US" dirty="0"/>
              <a:t>Process Tree: A </a:t>
            </a:r>
            <a:endParaRPr dirty="0">
              <a:solidFill>
                <a:schemeClr val="dk2"/>
              </a:solidFill>
            </a:endParaRPr>
          </a:p>
        </p:txBody>
      </p:sp>
      <p:grpSp>
        <p:nvGrpSpPr>
          <p:cNvPr id="2" name="Group 1">
            <a:extLst>
              <a:ext uri="{FF2B5EF4-FFF2-40B4-BE49-F238E27FC236}">
                <a16:creationId xmlns:a16="http://schemas.microsoft.com/office/drawing/2014/main" id="{9FE2CA41-C5BA-065E-C7D2-AF3C683C1CA3}"/>
              </a:ext>
            </a:extLst>
          </p:cNvPr>
          <p:cNvGrpSpPr/>
          <p:nvPr/>
        </p:nvGrpSpPr>
        <p:grpSpPr>
          <a:xfrm>
            <a:off x="1043542" y="1545559"/>
            <a:ext cx="3139929" cy="2357597"/>
            <a:chOff x="1043542" y="1545559"/>
            <a:chExt cx="3139929" cy="2357597"/>
          </a:xfrm>
        </p:grpSpPr>
        <p:sp>
          <p:nvSpPr>
            <p:cNvPr id="167" name="Google Shape;167;p18"/>
            <p:cNvSpPr txBox="1"/>
            <p:nvPr/>
          </p:nvSpPr>
          <p:spPr>
            <a:xfrm>
              <a:off x="1043542" y="1879059"/>
              <a:ext cx="1920875" cy="400110"/>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xxx</a:t>
              </a:r>
              <a:endParaRPr/>
            </a:p>
          </p:txBody>
        </p:sp>
        <p:sp>
          <p:nvSpPr>
            <p:cNvPr id="168" name="Google Shape;168;p18"/>
            <p:cNvSpPr txBox="1"/>
            <p:nvPr/>
          </p:nvSpPr>
          <p:spPr>
            <a:xfrm>
              <a:off x="1043542" y="2917204"/>
              <a:ext cx="1920875" cy="400110"/>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xxx</a:t>
              </a:r>
              <a:endParaRPr/>
            </a:p>
          </p:txBody>
        </p:sp>
        <p:cxnSp>
          <p:nvCxnSpPr>
            <p:cNvPr id="169" name="Google Shape;169;p18">
              <a:extLst>
                <a:ext uri="{C183D7F6-B498-43B3-948B-1728B52AA6E4}">
                  <adec:decorative xmlns:adec="http://schemas.microsoft.com/office/drawing/2017/decorative" val="1"/>
                </a:ext>
              </a:extLst>
            </p:cNvPr>
            <p:cNvCxnSpPr/>
            <p:nvPr/>
          </p:nvCxnSpPr>
          <p:spPr>
            <a:xfrm rot="-5400000">
              <a:off x="3089671" y="2809356"/>
              <a:ext cx="1571700" cy="615900"/>
            </a:xfrm>
            <a:prstGeom prst="bentConnector3">
              <a:avLst>
                <a:gd name="adj1" fmla="val 0"/>
              </a:avLst>
            </a:prstGeom>
            <a:noFill/>
            <a:ln w="28575" cap="flat" cmpd="sng">
              <a:solidFill>
                <a:schemeClr val="accent1"/>
              </a:solidFill>
              <a:prstDash val="solid"/>
              <a:round/>
              <a:headEnd type="none" w="med" len="med"/>
              <a:tailEnd type="stealth" w="med" len="med"/>
            </a:ln>
          </p:spPr>
        </p:cxnSp>
        <p:cxnSp>
          <p:nvCxnSpPr>
            <p:cNvPr id="170" name="Google Shape;170;p18">
              <a:extLst>
                <a:ext uri="{C183D7F6-B498-43B3-948B-1728B52AA6E4}">
                  <adec:decorative xmlns:adec="http://schemas.microsoft.com/office/drawing/2017/decorative" val="1"/>
                </a:ext>
              </a:extLst>
            </p:cNvPr>
            <p:cNvCxnSpPr/>
            <p:nvPr/>
          </p:nvCxnSpPr>
          <p:spPr>
            <a:xfrm rot="-5400000">
              <a:off x="2753549" y="2023459"/>
              <a:ext cx="1571700" cy="615900"/>
            </a:xfrm>
            <a:prstGeom prst="bentConnector3">
              <a:avLst>
                <a:gd name="adj1" fmla="val 0"/>
              </a:avLst>
            </a:prstGeom>
            <a:noFill/>
            <a:ln w="28575" cap="flat" cmpd="sng">
              <a:solidFill>
                <a:schemeClr val="accent1"/>
              </a:solidFill>
              <a:prstDash val="solid"/>
              <a:round/>
              <a:headEnd type="none" w="med" len="med"/>
              <a:tailEnd type="stealth" w="med" len="med"/>
            </a:ln>
          </p:spPr>
        </p:cxnSp>
      </p:grpSp>
      <p:grpSp>
        <p:nvGrpSpPr>
          <p:cNvPr id="3" name="Group 2">
            <a:extLst>
              <a:ext uri="{FF2B5EF4-FFF2-40B4-BE49-F238E27FC236}">
                <a16:creationId xmlns:a16="http://schemas.microsoft.com/office/drawing/2014/main" id="{BD89598F-9B10-6353-13E9-306D28810734}"/>
              </a:ext>
            </a:extLst>
          </p:cNvPr>
          <p:cNvGrpSpPr/>
          <p:nvPr/>
        </p:nvGrpSpPr>
        <p:grpSpPr>
          <a:xfrm>
            <a:off x="7405463" y="2860919"/>
            <a:ext cx="4945761" cy="2231230"/>
            <a:chOff x="7405463" y="2860919"/>
            <a:chExt cx="4945761" cy="2231230"/>
          </a:xfrm>
        </p:grpSpPr>
        <p:sp>
          <p:nvSpPr>
            <p:cNvPr id="171" name="Google Shape;171;p18"/>
            <p:cNvSpPr txBox="1"/>
            <p:nvPr/>
          </p:nvSpPr>
          <p:spPr>
            <a:xfrm>
              <a:off x="9942288" y="2860919"/>
              <a:ext cx="2408936" cy="400110"/>
            </a:xfrm>
            <a:prstGeom prst="rect">
              <a:avLst/>
            </a:prstGeom>
            <a:solidFill>
              <a:schemeClr val="accent6">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B2A9"/>
                </a:buClr>
                <a:buSzPts val="2000"/>
                <a:buFont typeface="Arial"/>
                <a:buNone/>
              </a:pPr>
              <a:r>
                <a:rPr lang="en-US" sz="2000" b="0" i="0" u="none" strike="noStrike" cap="none">
                  <a:solidFill>
                    <a:srgbClr val="00B2A9"/>
                  </a:solidFill>
                  <a:latin typeface="Arial"/>
                  <a:ea typeface="Arial"/>
                  <a:cs typeface="Arial"/>
                  <a:sym typeface="Arial"/>
                </a:rPr>
                <a:t>XXX FU</a:t>
              </a:r>
              <a:endParaRPr/>
            </a:p>
          </p:txBody>
        </p:sp>
        <p:sp>
          <p:nvSpPr>
            <p:cNvPr id="172" name="Google Shape;172;p18"/>
            <p:cNvSpPr txBox="1"/>
            <p:nvPr/>
          </p:nvSpPr>
          <p:spPr>
            <a:xfrm>
              <a:off x="7405463" y="4692039"/>
              <a:ext cx="1920875" cy="400110"/>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xxx</a:t>
              </a:r>
              <a:endParaRPr/>
            </a:p>
          </p:txBody>
        </p:sp>
        <p:sp>
          <p:nvSpPr>
            <p:cNvPr id="173" name="Google Shape;173;p18"/>
            <p:cNvSpPr txBox="1"/>
            <p:nvPr/>
          </p:nvSpPr>
          <p:spPr>
            <a:xfrm>
              <a:off x="7405463" y="3014907"/>
              <a:ext cx="1920875" cy="400110"/>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xxx</a:t>
              </a:r>
              <a:endParaRPr/>
            </a:p>
          </p:txBody>
        </p:sp>
        <p:cxnSp>
          <p:nvCxnSpPr>
            <p:cNvPr id="174" name="Google Shape;174;p18">
              <a:extLst>
                <a:ext uri="{C183D7F6-B498-43B3-948B-1728B52AA6E4}">
                  <adec:decorative xmlns:adec="http://schemas.microsoft.com/office/drawing/2017/decorative" val="1"/>
                </a:ext>
              </a:extLst>
            </p:cNvPr>
            <p:cNvCxnSpPr>
              <a:stCxn id="172" idx="3"/>
              <a:endCxn id="171" idx="1"/>
            </p:cNvCxnSpPr>
            <p:nvPr/>
          </p:nvCxnSpPr>
          <p:spPr>
            <a:xfrm rot="10800000" flipH="1">
              <a:off x="9326338" y="3060894"/>
              <a:ext cx="615900" cy="1831200"/>
            </a:xfrm>
            <a:prstGeom prst="bentConnector3">
              <a:avLst>
                <a:gd name="adj1" fmla="val 50004"/>
              </a:avLst>
            </a:prstGeom>
            <a:noFill/>
            <a:ln w="28575" cap="flat" cmpd="sng">
              <a:solidFill>
                <a:schemeClr val="accent1"/>
              </a:solidFill>
              <a:prstDash val="solid"/>
              <a:round/>
              <a:headEnd type="none" w="med" len="med"/>
              <a:tailEnd type="stealth" w="med" len="med"/>
            </a:ln>
          </p:spPr>
        </p:cxnSp>
        <p:cxnSp>
          <p:nvCxnSpPr>
            <p:cNvPr id="175" name="Google Shape;175;p18"/>
            <p:cNvCxnSpPr>
              <a:stCxn id="173" idx="3"/>
              <a:endCxn id="171" idx="1"/>
            </p:cNvCxnSpPr>
            <p:nvPr/>
          </p:nvCxnSpPr>
          <p:spPr>
            <a:xfrm rot="10800000" flipH="1">
              <a:off x="9326338" y="3061062"/>
              <a:ext cx="615900" cy="153900"/>
            </a:xfrm>
            <a:prstGeom prst="bentConnector3">
              <a:avLst>
                <a:gd name="adj1" fmla="val 50004"/>
              </a:avLst>
            </a:prstGeom>
            <a:noFill/>
            <a:ln w="28575" cap="flat" cmpd="sng">
              <a:solidFill>
                <a:schemeClr val="accent1"/>
              </a:solidFill>
              <a:prstDash val="solid"/>
              <a:round/>
              <a:headEnd type="none" w="med" len="med"/>
              <a:tailEnd type="stealth" w="med" len="med"/>
            </a:ln>
          </p:spPr>
        </p:cxnSp>
      </p:grpSp>
      <p:sp>
        <p:nvSpPr>
          <p:cNvPr id="176" name="Google Shape;176;p18"/>
          <p:cNvSpPr/>
          <p:nvPr/>
        </p:nvSpPr>
        <p:spPr>
          <a:xfrm>
            <a:off x="878783" y="6549447"/>
            <a:ext cx="14072893" cy="106454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200"/>
              <a:buFont typeface="Arial"/>
              <a:buNone/>
            </a:pPr>
            <a:endParaRPr sz="3200" b="0" i="0" u="none" strike="noStrike" cap="none">
              <a:solidFill>
                <a:srgbClr val="FFFFFF"/>
              </a:solidFill>
              <a:latin typeface="Arial"/>
              <a:ea typeface="Arial"/>
              <a:cs typeface="Arial"/>
              <a:sym typeface="Arial"/>
            </a:endParaRPr>
          </a:p>
        </p:txBody>
      </p:sp>
      <p:sp>
        <p:nvSpPr>
          <p:cNvPr id="177" name="Google Shape;177;p18"/>
          <p:cNvSpPr/>
          <p:nvPr/>
        </p:nvSpPr>
        <p:spPr>
          <a:xfrm>
            <a:off x="990555" y="6577200"/>
            <a:ext cx="13661000" cy="95410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2A9"/>
              </a:buClr>
              <a:buSzPts val="2800"/>
              <a:buFont typeface="Arial"/>
              <a:buNone/>
            </a:pPr>
            <a:r>
              <a:rPr lang="en-US" sz="2800" b="0" i="0" u="none" strike="noStrike" cap="none" dirty="0">
                <a:solidFill>
                  <a:schemeClr val="accent4"/>
                </a:solidFill>
                <a:latin typeface="Arial"/>
                <a:ea typeface="Arial"/>
                <a:cs typeface="Arial"/>
                <a:sym typeface="Arial"/>
              </a:rPr>
              <a:t>Develop your process tree until you reach processes available in databases: </a:t>
            </a:r>
            <a:br>
              <a:rPr lang="en-US" sz="2800" b="0" i="0" u="none" strike="noStrike" cap="none" dirty="0">
                <a:solidFill>
                  <a:schemeClr val="accent4"/>
                </a:solidFill>
                <a:latin typeface="Arial"/>
                <a:ea typeface="Arial"/>
                <a:cs typeface="Arial"/>
                <a:sym typeface="Arial"/>
              </a:rPr>
            </a:br>
            <a:r>
              <a:rPr lang="en-US" sz="2800" b="0" i="0" u="none" strike="noStrike" cap="none" dirty="0">
                <a:solidFill>
                  <a:schemeClr val="accent4"/>
                </a:solidFill>
                <a:latin typeface="Arial"/>
                <a:ea typeface="Arial"/>
                <a:cs typeface="Arial"/>
                <a:sym typeface="Arial"/>
              </a:rPr>
              <a:t>see example light bulb on next slide</a:t>
            </a:r>
            <a:endParaRPr sz="2800" b="0" i="0" u="none" strike="noStrike" cap="none" dirty="0">
              <a:solidFill>
                <a:schemeClr val="accent4"/>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9"/>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274C"/>
              </a:buClr>
              <a:buSzPts val="4400"/>
              <a:buFont typeface="Arial"/>
              <a:buNone/>
            </a:pPr>
            <a:r>
              <a:rPr lang="en-US" dirty="0"/>
              <a:t>Process Tree: B (example from course)</a:t>
            </a:r>
            <a:endParaRPr dirty="0"/>
          </a:p>
        </p:txBody>
      </p:sp>
      <p:sp>
        <p:nvSpPr>
          <p:cNvPr id="184" name="Google Shape;184;p19"/>
          <p:cNvSpPr txBox="1"/>
          <p:nvPr/>
        </p:nvSpPr>
        <p:spPr>
          <a:xfrm>
            <a:off x="12441270" y="4820045"/>
            <a:ext cx="2327275" cy="707886"/>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Paper packaging</a:t>
            </a:r>
            <a:endParaRPr/>
          </a:p>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50g to recycling</a:t>
            </a:r>
            <a:endParaRPr/>
          </a:p>
        </p:txBody>
      </p:sp>
      <p:sp>
        <p:nvSpPr>
          <p:cNvPr id="189" name="Google Shape;189;p19"/>
          <p:cNvSpPr txBox="1"/>
          <p:nvPr/>
        </p:nvSpPr>
        <p:spPr>
          <a:xfrm>
            <a:off x="7037648" y="4854200"/>
            <a:ext cx="2082800" cy="708025"/>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Electricity</a:t>
            </a:r>
            <a:endParaRPr/>
          </a:p>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300 kWh</a:t>
            </a:r>
            <a:endParaRPr/>
          </a:p>
        </p:txBody>
      </p:sp>
      <p:sp>
        <p:nvSpPr>
          <p:cNvPr id="197" name="Google Shape;197;p19"/>
          <p:cNvSpPr txBox="1"/>
          <p:nvPr/>
        </p:nvSpPr>
        <p:spPr>
          <a:xfrm>
            <a:off x="4644618" y="4574047"/>
            <a:ext cx="1711325" cy="1016000"/>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Paper packaging</a:t>
            </a:r>
            <a:endParaRPr/>
          </a:p>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50g</a:t>
            </a:r>
            <a:endParaRPr/>
          </a:p>
        </p:txBody>
      </p:sp>
      <p:sp>
        <p:nvSpPr>
          <p:cNvPr id="204" name="Google Shape;204;p19"/>
          <p:cNvSpPr txBox="1"/>
          <p:nvPr/>
        </p:nvSpPr>
        <p:spPr>
          <a:xfrm>
            <a:off x="1515053" y="5339641"/>
            <a:ext cx="1910200" cy="707886"/>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Energy</a:t>
            </a:r>
            <a:endParaRPr/>
          </a:p>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1.9 MJprimary</a:t>
            </a:r>
            <a:endParaRPr sz="2000" b="0" i="0" u="none" strike="noStrike" cap="none">
              <a:solidFill>
                <a:srgbClr val="00274C"/>
              </a:solidFill>
              <a:latin typeface="Arial"/>
              <a:ea typeface="Arial"/>
              <a:cs typeface="Arial"/>
              <a:sym typeface="Arial"/>
            </a:endParaRPr>
          </a:p>
        </p:txBody>
      </p:sp>
      <p:grpSp>
        <p:nvGrpSpPr>
          <p:cNvPr id="3" name="Group 2">
            <a:extLst>
              <a:ext uri="{FF2B5EF4-FFF2-40B4-BE49-F238E27FC236}">
                <a16:creationId xmlns:a16="http://schemas.microsoft.com/office/drawing/2014/main" id="{3C312ED4-175B-65E6-D2C7-F3D50EC47209}"/>
              </a:ext>
              <a:ext uri="{C183D7F6-B498-43B3-948B-1728B52AA6E4}">
                <adec:decorative xmlns:adec="http://schemas.microsoft.com/office/drawing/2017/decorative" val="0"/>
              </a:ext>
            </a:extLst>
          </p:cNvPr>
          <p:cNvGrpSpPr/>
          <p:nvPr/>
        </p:nvGrpSpPr>
        <p:grpSpPr>
          <a:xfrm>
            <a:off x="1515053" y="1783975"/>
            <a:ext cx="13282066" cy="3909609"/>
            <a:chOff x="1515053" y="1783975"/>
            <a:chExt cx="13282066" cy="3909609"/>
          </a:xfrm>
        </p:grpSpPr>
        <p:cxnSp>
          <p:nvCxnSpPr>
            <p:cNvPr id="205" name="Google Shape;205;p19"/>
            <p:cNvCxnSpPr>
              <a:stCxn id="204" idx="3"/>
            </p:cNvCxnSpPr>
            <p:nvPr/>
          </p:nvCxnSpPr>
          <p:spPr>
            <a:xfrm rot="10800000" flipH="1">
              <a:off x="3425253" y="3777784"/>
              <a:ext cx="454200" cy="1915800"/>
            </a:xfrm>
            <a:prstGeom prst="bentConnector2">
              <a:avLst/>
            </a:prstGeom>
            <a:noFill/>
            <a:ln w="28575" cap="flat" cmpd="sng">
              <a:solidFill>
                <a:schemeClr val="accent1"/>
              </a:solidFill>
              <a:prstDash val="solid"/>
              <a:round/>
              <a:headEnd type="none" w="med" len="med"/>
              <a:tailEnd type="none" w="sm" len="sm"/>
            </a:ln>
          </p:spPr>
        </p:cxnSp>
        <p:grpSp>
          <p:nvGrpSpPr>
            <p:cNvPr id="2" name="Group 1">
              <a:extLst>
                <a:ext uri="{FF2B5EF4-FFF2-40B4-BE49-F238E27FC236}">
                  <a16:creationId xmlns:a16="http://schemas.microsoft.com/office/drawing/2014/main" id="{CA4ABEC9-0126-5F9B-6105-B74AFC5A3AFB}"/>
                </a:ext>
              </a:extLst>
            </p:cNvPr>
            <p:cNvGrpSpPr/>
            <p:nvPr/>
          </p:nvGrpSpPr>
          <p:grpSpPr>
            <a:xfrm>
              <a:off x="1515053" y="1783975"/>
              <a:ext cx="13282066" cy="3555666"/>
              <a:chOff x="1515053" y="1783975"/>
              <a:chExt cx="13282066" cy="3555666"/>
            </a:xfrm>
          </p:grpSpPr>
          <p:sp>
            <p:nvSpPr>
              <p:cNvPr id="185" name="Google Shape;185;p19"/>
              <p:cNvSpPr txBox="1"/>
              <p:nvPr/>
            </p:nvSpPr>
            <p:spPr>
              <a:xfrm>
                <a:off x="12469845" y="2816020"/>
                <a:ext cx="2298700" cy="708025"/>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Aluminum to landfill 75g</a:t>
                </a:r>
                <a:endParaRPr/>
              </a:p>
            </p:txBody>
          </p:sp>
          <p:sp>
            <p:nvSpPr>
              <p:cNvPr id="186" name="Google Shape;186;p19"/>
              <p:cNvSpPr txBox="1"/>
              <p:nvPr/>
            </p:nvSpPr>
            <p:spPr>
              <a:xfrm>
                <a:off x="12441270" y="1806570"/>
                <a:ext cx="2327275" cy="708025"/>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Glass to landfill</a:t>
                </a:r>
                <a:endParaRPr/>
              </a:p>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100g</a:t>
                </a:r>
                <a:endParaRPr/>
              </a:p>
            </p:txBody>
          </p:sp>
          <p:sp>
            <p:nvSpPr>
              <p:cNvPr id="187" name="Google Shape;187;p19"/>
              <p:cNvSpPr txBox="1"/>
              <p:nvPr/>
            </p:nvSpPr>
            <p:spPr>
              <a:xfrm>
                <a:off x="12469844" y="3813170"/>
                <a:ext cx="2327275" cy="707886"/>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Tungsten to landfill</a:t>
                </a:r>
                <a:endParaRPr/>
              </a:p>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3.5g</a:t>
                </a:r>
                <a:endParaRPr/>
              </a:p>
            </p:txBody>
          </p:sp>
          <p:sp>
            <p:nvSpPr>
              <p:cNvPr id="188" name="Google Shape;188;p19"/>
              <p:cNvSpPr txBox="1"/>
              <p:nvPr/>
            </p:nvSpPr>
            <p:spPr>
              <a:xfrm>
                <a:off x="9736398" y="3128587"/>
                <a:ext cx="1920873" cy="1015663"/>
              </a:xfrm>
              <a:prstGeom prst="rect">
                <a:avLst/>
              </a:prstGeom>
              <a:solidFill>
                <a:schemeClr val="accent6">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B2A9"/>
                  </a:buClr>
                  <a:buSzPts val="2000"/>
                  <a:buFont typeface="Arial"/>
                  <a:buNone/>
                </a:pPr>
                <a:r>
                  <a:rPr lang="en-US" sz="2000" b="0" i="0" u="none" strike="noStrike" cap="none">
                    <a:solidFill>
                      <a:srgbClr val="00B2A9"/>
                    </a:solidFill>
                    <a:latin typeface="Arial"/>
                    <a:ea typeface="Arial"/>
                    <a:cs typeface="Arial"/>
                    <a:sym typeface="Arial"/>
                  </a:rPr>
                  <a:t>Illumination</a:t>
                </a:r>
                <a:endParaRPr/>
              </a:p>
              <a:p>
                <a:pPr marL="0" marR="0" lvl="0" indent="0" algn="ctr" rtl="0">
                  <a:lnSpc>
                    <a:spcPct val="100000"/>
                  </a:lnSpc>
                  <a:spcBef>
                    <a:spcPts val="0"/>
                  </a:spcBef>
                  <a:spcAft>
                    <a:spcPts val="0"/>
                  </a:spcAft>
                  <a:buClr>
                    <a:srgbClr val="00B2A9"/>
                  </a:buClr>
                  <a:buSzPts val="2000"/>
                  <a:buFont typeface="Arial"/>
                  <a:buNone/>
                </a:pPr>
                <a:r>
                  <a:rPr lang="en-US" sz="2000" b="0" i="0" u="none" strike="noStrike" cap="none">
                    <a:solidFill>
                      <a:srgbClr val="00B2A9"/>
                    </a:solidFill>
                    <a:latin typeface="Arial"/>
                    <a:ea typeface="Arial"/>
                    <a:cs typeface="Arial"/>
                    <a:sym typeface="Arial"/>
                  </a:rPr>
                  <a:t>800 lumen </a:t>
                </a:r>
                <a:endParaRPr/>
              </a:p>
              <a:p>
                <a:pPr marL="0" marR="0" lvl="0" indent="0" algn="ctr" rtl="0">
                  <a:lnSpc>
                    <a:spcPct val="100000"/>
                  </a:lnSpc>
                  <a:spcBef>
                    <a:spcPts val="0"/>
                  </a:spcBef>
                  <a:spcAft>
                    <a:spcPts val="0"/>
                  </a:spcAft>
                  <a:buClr>
                    <a:srgbClr val="00B2A9"/>
                  </a:buClr>
                  <a:buSzPts val="2000"/>
                  <a:buFont typeface="Arial"/>
                  <a:buNone/>
                </a:pPr>
                <a:r>
                  <a:rPr lang="en-US" sz="2000" b="0" i="0" u="none" strike="noStrike" cap="none">
                    <a:solidFill>
                      <a:srgbClr val="00B2A9"/>
                    </a:solidFill>
                    <a:latin typeface="Arial"/>
                    <a:ea typeface="Arial"/>
                    <a:cs typeface="Arial"/>
                    <a:sym typeface="Arial"/>
                  </a:rPr>
                  <a:t>During 5000 h </a:t>
                </a:r>
                <a:endParaRPr/>
              </a:p>
            </p:txBody>
          </p:sp>
          <p:sp>
            <p:nvSpPr>
              <p:cNvPr id="190" name="Google Shape;190;p19"/>
              <p:cNvSpPr txBox="1"/>
              <p:nvPr/>
            </p:nvSpPr>
            <p:spPr>
              <a:xfrm>
                <a:off x="4337312" y="3269875"/>
                <a:ext cx="2082800" cy="707886"/>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5 Incandescent bulbs</a:t>
                </a:r>
                <a:endParaRPr/>
              </a:p>
            </p:txBody>
          </p:sp>
          <p:cxnSp>
            <p:nvCxnSpPr>
              <p:cNvPr id="191" name="Google Shape;191;p19"/>
              <p:cNvCxnSpPr>
                <a:stCxn id="189" idx="3"/>
                <a:endCxn id="188" idx="1"/>
              </p:cNvCxnSpPr>
              <p:nvPr/>
            </p:nvCxnSpPr>
            <p:spPr>
              <a:xfrm rot="10800000" flipH="1">
                <a:off x="9120448" y="3636513"/>
                <a:ext cx="615900" cy="1571700"/>
              </a:xfrm>
              <a:prstGeom prst="bentConnector3">
                <a:avLst>
                  <a:gd name="adj1" fmla="val 50004"/>
                </a:avLst>
              </a:prstGeom>
              <a:noFill/>
              <a:ln w="28575" cap="flat" cmpd="sng">
                <a:solidFill>
                  <a:schemeClr val="accent1"/>
                </a:solidFill>
                <a:prstDash val="solid"/>
                <a:round/>
                <a:headEnd type="none" w="med" len="med"/>
                <a:tailEnd type="stealth" w="med" len="med"/>
              </a:ln>
            </p:spPr>
          </p:cxnSp>
          <p:sp>
            <p:nvSpPr>
              <p:cNvPr id="192" name="Google Shape;192;p19"/>
              <p:cNvSpPr txBox="1"/>
              <p:nvPr/>
            </p:nvSpPr>
            <p:spPr>
              <a:xfrm>
                <a:off x="7037648" y="1783975"/>
                <a:ext cx="2082800" cy="1015663"/>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Transportation</a:t>
                </a:r>
                <a:endParaRPr/>
              </a:p>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Truck 3200 km            </a:t>
                </a:r>
                <a:endParaRPr/>
              </a:p>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731 kg∙km</a:t>
                </a:r>
                <a:endParaRPr sz="2000" b="0" i="0" u="none" strike="noStrike" cap="none">
                  <a:solidFill>
                    <a:srgbClr val="00274C"/>
                  </a:solidFill>
                  <a:latin typeface="Arial"/>
                  <a:ea typeface="Arial"/>
                  <a:cs typeface="Arial"/>
                  <a:sym typeface="Arial"/>
                </a:endParaRPr>
              </a:p>
            </p:txBody>
          </p:sp>
          <p:sp>
            <p:nvSpPr>
              <p:cNvPr id="193" name="Google Shape;193;p19"/>
              <p:cNvSpPr txBox="1"/>
              <p:nvPr/>
            </p:nvSpPr>
            <p:spPr>
              <a:xfrm>
                <a:off x="7037648" y="3184150"/>
                <a:ext cx="2082800" cy="1323439"/>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Transportation</a:t>
                </a:r>
                <a:endParaRPr/>
              </a:p>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Oceanic freight 10,000 km</a:t>
                </a:r>
                <a:endParaRPr/>
              </a:p>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2,285 kg∙km</a:t>
                </a:r>
                <a:endParaRPr sz="2000" b="0" i="0" u="none" strike="noStrike" cap="none">
                  <a:solidFill>
                    <a:srgbClr val="00274C"/>
                  </a:solidFill>
                  <a:latin typeface="Arial"/>
                  <a:ea typeface="Arial"/>
                  <a:cs typeface="Arial"/>
                  <a:sym typeface="Arial"/>
                </a:endParaRPr>
              </a:p>
            </p:txBody>
          </p:sp>
          <p:cxnSp>
            <p:nvCxnSpPr>
              <p:cNvPr id="194" name="Google Shape;194;p19"/>
              <p:cNvCxnSpPr/>
              <p:nvPr/>
            </p:nvCxnSpPr>
            <p:spPr>
              <a:xfrm>
                <a:off x="6420111" y="3623818"/>
                <a:ext cx="617537" cy="0"/>
              </a:xfrm>
              <a:prstGeom prst="straightConnector1">
                <a:avLst/>
              </a:prstGeom>
              <a:noFill/>
              <a:ln w="28575" cap="flat" cmpd="sng">
                <a:solidFill>
                  <a:schemeClr val="accent1"/>
                </a:solidFill>
                <a:prstDash val="solid"/>
                <a:round/>
                <a:headEnd type="none" w="med" len="med"/>
                <a:tailEnd type="stealth" w="med" len="med"/>
              </a:ln>
            </p:spPr>
          </p:cxnSp>
          <p:cxnSp>
            <p:nvCxnSpPr>
              <p:cNvPr id="195" name="Google Shape;195;p19"/>
              <p:cNvCxnSpPr>
                <a:stCxn id="193" idx="0"/>
                <a:endCxn id="192" idx="2"/>
              </p:cNvCxnSpPr>
              <p:nvPr/>
            </p:nvCxnSpPr>
            <p:spPr>
              <a:xfrm rot="10800000">
                <a:off x="8079048" y="2799550"/>
                <a:ext cx="0" cy="384600"/>
              </a:xfrm>
              <a:prstGeom prst="straightConnector1">
                <a:avLst/>
              </a:prstGeom>
              <a:noFill/>
              <a:ln w="28575" cap="flat" cmpd="sng">
                <a:solidFill>
                  <a:schemeClr val="accent1"/>
                </a:solidFill>
                <a:prstDash val="solid"/>
                <a:round/>
                <a:headEnd type="none" w="med" len="med"/>
                <a:tailEnd type="stealth" w="med" len="med"/>
              </a:ln>
            </p:spPr>
          </p:cxnSp>
          <p:cxnSp>
            <p:nvCxnSpPr>
              <p:cNvPr id="196" name="Google Shape;196;p19"/>
              <p:cNvCxnSpPr>
                <a:stCxn id="192" idx="3"/>
                <a:endCxn id="188" idx="0"/>
              </p:cNvCxnSpPr>
              <p:nvPr/>
            </p:nvCxnSpPr>
            <p:spPr>
              <a:xfrm>
                <a:off x="9120448" y="2291807"/>
                <a:ext cx="1576500" cy="836700"/>
              </a:xfrm>
              <a:prstGeom prst="bentConnector2">
                <a:avLst/>
              </a:prstGeom>
              <a:noFill/>
              <a:ln w="28575" cap="flat" cmpd="sng">
                <a:solidFill>
                  <a:schemeClr val="accent1"/>
                </a:solidFill>
                <a:prstDash val="solid"/>
                <a:round/>
                <a:headEnd type="none" w="med" len="med"/>
                <a:tailEnd type="stealth" w="med" len="med"/>
              </a:ln>
            </p:spPr>
          </p:cxnSp>
          <p:sp>
            <p:nvSpPr>
              <p:cNvPr id="198" name="Google Shape;198;p19"/>
              <p:cNvSpPr txBox="1"/>
              <p:nvPr/>
            </p:nvSpPr>
            <p:spPr>
              <a:xfrm>
                <a:off x="1515054" y="3378994"/>
                <a:ext cx="1940362" cy="708025"/>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Aluminum</a:t>
                </a:r>
                <a:endParaRPr/>
              </a:p>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75g</a:t>
                </a:r>
                <a:endParaRPr/>
              </a:p>
            </p:txBody>
          </p:sp>
          <p:sp>
            <p:nvSpPr>
              <p:cNvPr id="199" name="Google Shape;199;p19"/>
              <p:cNvSpPr txBox="1"/>
              <p:nvPr/>
            </p:nvSpPr>
            <p:spPr>
              <a:xfrm>
                <a:off x="1515053" y="2465430"/>
                <a:ext cx="1910200" cy="708025"/>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Glass</a:t>
                </a:r>
                <a:endParaRPr/>
              </a:p>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100g</a:t>
                </a:r>
                <a:endParaRPr/>
              </a:p>
            </p:txBody>
          </p:sp>
          <p:sp>
            <p:nvSpPr>
              <p:cNvPr id="200" name="Google Shape;200;p19"/>
              <p:cNvSpPr txBox="1"/>
              <p:nvPr/>
            </p:nvSpPr>
            <p:spPr>
              <a:xfrm>
                <a:off x="1515053" y="4447548"/>
                <a:ext cx="1910200" cy="708025"/>
              </a:xfrm>
              <a:prstGeom prst="rect">
                <a:avLst/>
              </a:prstGeom>
              <a:solidFill>
                <a:schemeClr val="accent4">
                  <a:alpha val="2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Tungsten</a:t>
                </a:r>
                <a:endParaRPr/>
              </a:p>
              <a:p>
                <a:pPr marL="0" marR="0" lvl="0" indent="0" algn="ctr" rtl="0">
                  <a:lnSpc>
                    <a:spcPct val="100000"/>
                  </a:lnSpc>
                  <a:spcBef>
                    <a:spcPts val="0"/>
                  </a:spcBef>
                  <a:spcAft>
                    <a:spcPts val="0"/>
                  </a:spcAft>
                  <a:buClr>
                    <a:srgbClr val="00274C"/>
                  </a:buClr>
                  <a:buSzPts val="2000"/>
                  <a:buFont typeface="Arial"/>
                  <a:buNone/>
                </a:pPr>
                <a:r>
                  <a:rPr lang="en-US" sz="2000" b="0" i="0" u="none" strike="noStrike" cap="none">
                    <a:solidFill>
                      <a:srgbClr val="00274C"/>
                    </a:solidFill>
                    <a:latin typeface="Arial"/>
                    <a:ea typeface="Arial"/>
                    <a:cs typeface="Arial"/>
                    <a:sym typeface="Arial"/>
                  </a:rPr>
                  <a:t>3.5g</a:t>
                </a:r>
                <a:endParaRPr/>
              </a:p>
            </p:txBody>
          </p:sp>
          <p:cxnSp>
            <p:nvCxnSpPr>
              <p:cNvPr id="201" name="Google Shape;201;p19"/>
              <p:cNvCxnSpPr>
                <a:stCxn id="197" idx="0"/>
              </p:cNvCxnSpPr>
              <p:nvPr/>
            </p:nvCxnSpPr>
            <p:spPr>
              <a:xfrm rot="10800000">
                <a:off x="5500281" y="3977647"/>
                <a:ext cx="0" cy="596400"/>
              </a:xfrm>
              <a:prstGeom prst="straightConnector1">
                <a:avLst/>
              </a:prstGeom>
              <a:noFill/>
              <a:ln w="28575" cap="flat" cmpd="sng">
                <a:solidFill>
                  <a:schemeClr val="accent1"/>
                </a:solidFill>
                <a:prstDash val="solid"/>
                <a:round/>
                <a:headEnd type="none" w="med" len="med"/>
                <a:tailEnd type="stealth" w="med" len="med"/>
              </a:ln>
            </p:spPr>
          </p:cxnSp>
          <p:cxnSp>
            <p:nvCxnSpPr>
              <p:cNvPr id="202" name="Google Shape;202;p19"/>
              <p:cNvCxnSpPr/>
              <p:nvPr/>
            </p:nvCxnSpPr>
            <p:spPr>
              <a:xfrm rot="-5400000" flipH="1">
                <a:off x="3308703" y="2748426"/>
                <a:ext cx="1131600" cy="898500"/>
              </a:xfrm>
              <a:prstGeom prst="bentConnector3">
                <a:avLst>
                  <a:gd name="adj1" fmla="val 0"/>
                </a:avLst>
              </a:prstGeom>
              <a:noFill/>
              <a:ln w="28575" cap="flat" cmpd="sng">
                <a:solidFill>
                  <a:schemeClr val="accent1"/>
                </a:solidFill>
                <a:prstDash val="solid"/>
                <a:round/>
                <a:headEnd type="none" w="med" len="med"/>
                <a:tailEnd type="stealth" w="med" len="med"/>
              </a:ln>
            </p:spPr>
          </p:cxnSp>
          <p:cxnSp>
            <p:nvCxnSpPr>
              <p:cNvPr id="203" name="Google Shape;203;p19"/>
              <p:cNvCxnSpPr>
                <a:stCxn id="188" idx="3"/>
              </p:cNvCxnSpPr>
              <p:nvPr/>
            </p:nvCxnSpPr>
            <p:spPr>
              <a:xfrm>
                <a:off x="11657271" y="3636418"/>
                <a:ext cx="382800" cy="6600"/>
              </a:xfrm>
              <a:prstGeom prst="straightConnector1">
                <a:avLst/>
              </a:prstGeom>
              <a:noFill/>
              <a:ln w="28575" cap="flat" cmpd="sng">
                <a:solidFill>
                  <a:schemeClr val="accent1"/>
                </a:solidFill>
                <a:prstDash val="solid"/>
                <a:round/>
                <a:headEnd type="none" w="med" len="med"/>
                <a:tailEnd type="none" w="sm" len="sm"/>
              </a:ln>
            </p:spPr>
          </p:cxnSp>
          <p:cxnSp>
            <p:nvCxnSpPr>
              <p:cNvPr id="206" name="Google Shape;206;p19"/>
              <p:cNvCxnSpPr/>
              <p:nvPr/>
            </p:nvCxnSpPr>
            <p:spPr>
              <a:xfrm rot="10800000" flipH="1">
                <a:off x="3425253" y="4795294"/>
                <a:ext cx="449429" cy="8106"/>
              </a:xfrm>
              <a:prstGeom prst="straightConnector1">
                <a:avLst/>
              </a:prstGeom>
              <a:noFill/>
              <a:ln w="28575" cap="flat" cmpd="sng">
                <a:solidFill>
                  <a:schemeClr val="accent1"/>
                </a:solidFill>
                <a:prstDash val="solid"/>
                <a:round/>
                <a:headEnd type="none" w="med" len="med"/>
                <a:tailEnd type="none" w="sm" len="sm"/>
              </a:ln>
            </p:spPr>
          </p:cxnSp>
          <p:cxnSp>
            <p:nvCxnSpPr>
              <p:cNvPr id="207" name="Google Shape;207;p19"/>
              <p:cNvCxnSpPr/>
              <p:nvPr/>
            </p:nvCxnSpPr>
            <p:spPr>
              <a:xfrm>
                <a:off x="3458757" y="3759041"/>
                <a:ext cx="415925" cy="6350"/>
              </a:xfrm>
              <a:prstGeom prst="straightConnector1">
                <a:avLst/>
              </a:prstGeom>
              <a:noFill/>
              <a:ln w="28575" cap="flat" cmpd="sng">
                <a:solidFill>
                  <a:schemeClr val="accent1"/>
                </a:solidFill>
                <a:prstDash val="solid"/>
                <a:round/>
                <a:headEnd type="none" w="med" len="med"/>
                <a:tailEnd type="none" w="sm" len="sm"/>
              </a:ln>
            </p:spPr>
          </p:cxnSp>
          <p:cxnSp>
            <p:nvCxnSpPr>
              <p:cNvPr id="208" name="Google Shape;208;p19"/>
              <p:cNvCxnSpPr/>
              <p:nvPr/>
            </p:nvCxnSpPr>
            <p:spPr>
              <a:xfrm>
                <a:off x="12040110" y="2291807"/>
                <a:ext cx="0" cy="3047834"/>
              </a:xfrm>
              <a:prstGeom prst="straightConnector1">
                <a:avLst/>
              </a:prstGeom>
              <a:noFill/>
              <a:ln w="28575" cap="flat" cmpd="sng">
                <a:solidFill>
                  <a:schemeClr val="accent1"/>
                </a:solidFill>
                <a:prstDash val="solid"/>
                <a:round/>
                <a:headEnd type="none" w="sm" len="sm"/>
                <a:tailEnd type="none" w="sm" len="sm"/>
              </a:ln>
            </p:spPr>
          </p:cxnSp>
          <p:cxnSp>
            <p:nvCxnSpPr>
              <p:cNvPr id="209" name="Google Shape;209;p19"/>
              <p:cNvCxnSpPr/>
              <p:nvPr/>
            </p:nvCxnSpPr>
            <p:spPr>
              <a:xfrm>
                <a:off x="12034958" y="2301304"/>
                <a:ext cx="382839" cy="6518"/>
              </a:xfrm>
              <a:prstGeom prst="straightConnector1">
                <a:avLst/>
              </a:prstGeom>
              <a:noFill/>
              <a:ln w="28575" cap="flat" cmpd="sng">
                <a:solidFill>
                  <a:schemeClr val="accent1"/>
                </a:solidFill>
                <a:prstDash val="solid"/>
                <a:round/>
                <a:headEnd type="none" w="med" len="med"/>
                <a:tailEnd type="stealth" w="med" len="med"/>
              </a:ln>
            </p:spPr>
          </p:cxnSp>
          <p:cxnSp>
            <p:nvCxnSpPr>
              <p:cNvPr id="210" name="Google Shape;210;p19"/>
              <p:cNvCxnSpPr/>
              <p:nvPr/>
            </p:nvCxnSpPr>
            <p:spPr>
              <a:xfrm>
                <a:off x="12031687" y="3199097"/>
                <a:ext cx="382839" cy="6518"/>
              </a:xfrm>
              <a:prstGeom prst="straightConnector1">
                <a:avLst/>
              </a:prstGeom>
              <a:noFill/>
              <a:ln w="28575" cap="flat" cmpd="sng">
                <a:solidFill>
                  <a:schemeClr val="accent1"/>
                </a:solidFill>
                <a:prstDash val="solid"/>
                <a:round/>
                <a:headEnd type="none" w="med" len="med"/>
                <a:tailEnd type="stealth" w="med" len="med"/>
              </a:ln>
            </p:spPr>
          </p:cxnSp>
          <p:cxnSp>
            <p:nvCxnSpPr>
              <p:cNvPr id="211" name="Google Shape;211;p19"/>
              <p:cNvCxnSpPr/>
              <p:nvPr/>
            </p:nvCxnSpPr>
            <p:spPr>
              <a:xfrm>
                <a:off x="12051565" y="4173132"/>
                <a:ext cx="382839" cy="6518"/>
              </a:xfrm>
              <a:prstGeom prst="straightConnector1">
                <a:avLst/>
              </a:prstGeom>
              <a:noFill/>
              <a:ln w="28575" cap="flat" cmpd="sng">
                <a:solidFill>
                  <a:schemeClr val="accent1"/>
                </a:solidFill>
                <a:prstDash val="solid"/>
                <a:round/>
                <a:headEnd type="none" w="med" len="med"/>
                <a:tailEnd type="stealth" w="med" len="med"/>
              </a:ln>
            </p:spPr>
          </p:cxnSp>
          <p:cxnSp>
            <p:nvCxnSpPr>
              <p:cNvPr id="212" name="Google Shape;212;p19"/>
              <p:cNvCxnSpPr/>
              <p:nvPr/>
            </p:nvCxnSpPr>
            <p:spPr>
              <a:xfrm>
                <a:off x="12034959" y="5321548"/>
                <a:ext cx="382839" cy="6518"/>
              </a:xfrm>
              <a:prstGeom prst="straightConnector1">
                <a:avLst/>
              </a:prstGeom>
              <a:noFill/>
              <a:ln w="28575" cap="flat" cmpd="sng">
                <a:solidFill>
                  <a:schemeClr val="accent1"/>
                </a:solidFill>
                <a:prstDash val="solid"/>
                <a:round/>
                <a:headEnd type="none" w="med" len="med"/>
                <a:tailEnd type="stealth" w="med" len="med"/>
              </a:ln>
            </p:spPr>
          </p:cxnSp>
        </p:grpSp>
      </p:grpSp>
      <p:sp>
        <p:nvSpPr>
          <p:cNvPr id="213" name="Google Shape;213;p19">
            <a:extLst>
              <a:ext uri="{C183D7F6-B498-43B3-948B-1728B52AA6E4}">
                <adec:decorative xmlns:adec="http://schemas.microsoft.com/office/drawing/2017/decorative" val="1"/>
              </a:ext>
            </a:extLst>
          </p:cNvPr>
          <p:cNvSpPr/>
          <p:nvPr/>
        </p:nvSpPr>
        <p:spPr>
          <a:xfrm>
            <a:off x="878783" y="6064682"/>
            <a:ext cx="14072893" cy="1571794"/>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200"/>
              <a:buFont typeface="Arial"/>
              <a:buNone/>
            </a:pPr>
            <a:endParaRPr sz="3200" b="0" i="0" u="none" strike="noStrike" cap="none">
              <a:solidFill>
                <a:srgbClr val="FFFFFF"/>
              </a:solidFill>
              <a:latin typeface="Arial"/>
              <a:ea typeface="Arial"/>
              <a:cs typeface="Arial"/>
              <a:sym typeface="Arial"/>
            </a:endParaRPr>
          </a:p>
        </p:txBody>
      </p:sp>
      <p:sp>
        <p:nvSpPr>
          <p:cNvPr id="214" name="Google Shape;214;p19"/>
          <p:cNvSpPr/>
          <p:nvPr/>
        </p:nvSpPr>
        <p:spPr>
          <a:xfrm>
            <a:off x="1043542" y="6173788"/>
            <a:ext cx="13661000" cy="1384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2A9"/>
              </a:buClr>
              <a:buSzPts val="2800"/>
              <a:buFont typeface="Arial"/>
              <a:buNone/>
            </a:pPr>
            <a:r>
              <a:rPr lang="en-US" sz="2800" b="0" i="0" u="none" strike="noStrike" cap="none">
                <a:solidFill>
                  <a:srgbClr val="00B2A9"/>
                </a:solidFill>
                <a:latin typeface="Arial"/>
                <a:ea typeface="Arial"/>
                <a:cs typeface="Arial"/>
                <a:sym typeface="Arial"/>
              </a:rPr>
              <a:t>Develop your process tree until you reach processes available in databases</a:t>
            </a:r>
            <a:endParaRPr/>
          </a:p>
          <a:p>
            <a:pPr marL="0" marR="0" lvl="0" indent="0" algn="l" rtl="0">
              <a:lnSpc>
                <a:spcPct val="100000"/>
              </a:lnSpc>
              <a:spcBef>
                <a:spcPts val="0"/>
              </a:spcBef>
              <a:spcAft>
                <a:spcPts val="0"/>
              </a:spcAft>
              <a:buClr>
                <a:srgbClr val="D86018"/>
              </a:buClr>
              <a:buSzPts val="2800"/>
              <a:buFont typeface="Arial"/>
              <a:buNone/>
            </a:pPr>
            <a:r>
              <a:rPr lang="en-US" sz="2800" b="0" i="1" u="none" strike="noStrike" cap="none">
                <a:solidFill>
                  <a:srgbClr val="D86018"/>
                </a:solidFill>
                <a:latin typeface="Arial"/>
                <a:ea typeface="Arial"/>
                <a:cs typeface="Arial"/>
                <a:sym typeface="Arial"/>
              </a:rPr>
              <a:t>Submit your slides as GA1a (for the intermediary presentation itself you might have the process tree and the energy balance grouped together for each scenario)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0"/>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274C"/>
              </a:buClr>
              <a:buSzPts val="4400"/>
              <a:buFont typeface="Arial"/>
              <a:buNone/>
            </a:pPr>
            <a:r>
              <a:rPr lang="en-US" dirty="0"/>
              <a:t>Energy and CO</a:t>
            </a:r>
            <a:r>
              <a:rPr lang="en-US" baseline="-25000" dirty="0"/>
              <a:t>2</a:t>
            </a:r>
            <a:r>
              <a:rPr lang="en-US" dirty="0"/>
              <a:t> balance: A</a:t>
            </a:r>
            <a:endParaRPr dirty="0"/>
          </a:p>
        </p:txBody>
      </p:sp>
      <p:grpSp>
        <p:nvGrpSpPr>
          <p:cNvPr id="2" name="Group 1">
            <a:extLst>
              <a:ext uri="{FF2B5EF4-FFF2-40B4-BE49-F238E27FC236}">
                <a16:creationId xmlns:a16="http://schemas.microsoft.com/office/drawing/2014/main" id="{E30ED243-E2A6-2A4A-FBB3-3E830B512C60}"/>
              </a:ext>
              <a:ext uri="{C183D7F6-B498-43B3-948B-1728B52AA6E4}">
                <adec:decorative xmlns:adec="http://schemas.microsoft.com/office/drawing/2017/decorative" val="1"/>
              </a:ext>
            </a:extLst>
          </p:cNvPr>
          <p:cNvGrpSpPr/>
          <p:nvPr/>
        </p:nvGrpSpPr>
        <p:grpSpPr>
          <a:xfrm>
            <a:off x="878783" y="1517396"/>
            <a:ext cx="14524736" cy="973949"/>
            <a:chOff x="878783" y="1517396"/>
            <a:chExt cx="14524736" cy="973949"/>
          </a:xfrm>
        </p:grpSpPr>
        <p:sp>
          <p:nvSpPr>
            <p:cNvPr id="220" name="Google Shape;220;p20"/>
            <p:cNvSpPr txBox="1"/>
            <p:nvPr/>
          </p:nvSpPr>
          <p:spPr>
            <a:xfrm>
              <a:off x="977639" y="1620960"/>
              <a:ext cx="14425880" cy="87038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2A9"/>
                </a:buClr>
                <a:buSzPts val="2000"/>
                <a:buFont typeface="Arial"/>
                <a:buNone/>
              </a:pPr>
              <a:r>
                <a:rPr lang="en-US" sz="2000" b="0" i="0" u="none" strike="noStrike" cap="none" dirty="0">
                  <a:solidFill>
                    <a:schemeClr val="accent4"/>
                  </a:solidFill>
                  <a:latin typeface="Arial"/>
                  <a:ea typeface="Arial"/>
                  <a:cs typeface="Arial"/>
                  <a:sym typeface="Arial"/>
                </a:rPr>
                <a:t>Adapt excel template Energy and CO2 balance hands drying - </a:t>
              </a:r>
              <a:r>
                <a:rPr lang="en-US" sz="2000" b="0" i="0" u="none" strike="noStrike" cap="none" dirty="0" err="1">
                  <a:solidFill>
                    <a:schemeClr val="accent4"/>
                  </a:solidFill>
                  <a:latin typeface="Arial"/>
                  <a:ea typeface="Arial"/>
                  <a:cs typeface="Arial"/>
                  <a:sym typeface="Arial"/>
                </a:rPr>
                <a:t>answerkeys</a:t>
              </a:r>
              <a:r>
                <a:rPr lang="en-US" sz="2000" b="0" i="0" u="none" strike="noStrike" cap="none" dirty="0">
                  <a:solidFill>
                    <a:schemeClr val="accent4"/>
                  </a:solidFill>
                  <a:latin typeface="Arial"/>
                  <a:ea typeface="Arial"/>
                  <a:cs typeface="Arial"/>
                  <a:sym typeface="Arial"/>
                </a:rPr>
                <a:t> 1a.xlsx. Look for </a:t>
              </a:r>
              <a:br>
                <a:rPr lang="en-US" sz="2000" b="0" i="0" u="none" strike="noStrike" cap="none" dirty="0">
                  <a:solidFill>
                    <a:schemeClr val="accent4"/>
                  </a:solidFill>
                  <a:latin typeface="Arial"/>
                  <a:ea typeface="Arial"/>
                  <a:cs typeface="Arial"/>
                  <a:sym typeface="Arial"/>
                </a:rPr>
              </a:br>
              <a:r>
                <a:rPr lang="en-US" sz="2000" b="0" i="0" u="none" strike="noStrike" cap="none" dirty="0">
                  <a:solidFill>
                    <a:schemeClr val="accent4"/>
                  </a:solidFill>
                  <a:latin typeface="Arial"/>
                  <a:ea typeface="Arial"/>
                  <a:cs typeface="Arial"/>
                  <a:sym typeface="Arial"/>
                </a:rPr>
                <a:t>data for MJ/unit and gCO2/unit in Energy and CO2 balance hands drying - </a:t>
              </a:r>
              <a:r>
                <a:rPr lang="en-US" sz="2000" b="0" i="0" u="none" strike="noStrike" cap="none" dirty="0" err="1">
                  <a:solidFill>
                    <a:schemeClr val="accent4"/>
                  </a:solidFill>
                  <a:latin typeface="Arial"/>
                  <a:ea typeface="Arial"/>
                  <a:cs typeface="Arial"/>
                  <a:sym typeface="Arial"/>
                </a:rPr>
                <a:t>answerkeys</a:t>
              </a:r>
              <a:r>
                <a:rPr lang="en-US" sz="2000" b="0" i="0" u="none" strike="noStrike" cap="none" dirty="0">
                  <a:solidFill>
                    <a:schemeClr val="accent4"/>
                  </a:solidFill>
                  <a:sym typeface="Arial"/>
                </a:rPr>
                <a:t> 1a.xlsx</a:t>
              </a:r>
              <a:endParaRPr dirty="0">
                <a:solidFill>
                  <a:schemeClr val="accent4"/>
                </a:solidFill>
              </a:endParaRPr>
            </a:p>
            <a:p>
              <a:pPr marL="0" marR="0" lvl="0" indent="0" algn="l" rtl="0">
                <a:lnSpc>
                  <a:spcPct val="100000"/>
                </a:lnSpc>
                <a:spcBef>
                  <a:spcPts val="400"/>
                </a:spcBef>
                <a:spcAft>
                  <a:spcPts val="0"/>
                </a:spcAft>
                <a:buClr>
                  <a:srgbClr val="00274C"/>
                </a:buClr>
                <a:buSzPts val="2000"/>
                <a:buFont typeface="Arial"/>
                <a:buNone/>
              </a:pPr>
              <a:endParaRPr sz="2000" b="0" i="0" u="none" strike="noStrike" cap="none" dirty="0">
                <a:solidFill>
                  <a:srgbClr val="00274C"/>
                </a:solidFill>
                <a:latin typeface="Arial"/>
                <a:ea typeface="Arial"/>
                <a:cs typeface="Arial"/>
                <a:sym typeface="Arial"/>
              </a:endParaRPr>
            </a:p>
          </p:txBody>
        </p:sp>
        <p:sp>
          <p:nvSpPr>
            <p:cNvPr id="221" name="Google Shape;221;p20"/>
            <p:cNvSpPr/>
            <p:nvPr/>
          </p:nvSpPr>
          <p:spPr>
            <a:xfrm>
              <a:off x="878783" y="1517396"/>
              <a:ext cx="14500022" cy="973949"/>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200"/>
                <a:buFont typeface="Arial"/>
                <a:buNone/>
              </a:pPr>
              <a:endParaRPr sz="3200" b="0" i="0" u="none" strike="noStrike" cap="none">
                <a:solidFill>
                  <a:srgbClr val="FFFFFF"/>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1"/>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274C"/>
              </a:buClr>
              <a:buSzPts val="4400"/>
              <a:buFont typeface="Arial"/>
              <a:buNone/>
            </a:pPr>
            <a:r>
              <a:rPr lang="en-US" dirty="0"/>
              <a:t>Energy and CO</a:t>
            </a:r>
            <a:r>
              <a:rPr lang="en-US" baseline="-25000" dirty="0"/>
              <a:t>2</a:t>
            </a:r>
            <a:r>
              <a:rPr lang="en-US" dirty="0"/>
              <a:t> balance: B</a:t>
            </a:r>
            <a:endParaRPr dirty="0"/>
          </a:p>
        </p:txBody>
      </p:sp>
      <p:sp>
        <p:nvSpPr>
          <p:cNvPr id="227" name="Google Shape;227;p21">
            <a:extLst>
              <a:ext uri="{C183D7F6-B498-43B3-948B-1728B52AA6E4}">
                <adec:decorative xmlns:adec="http://schemas.microsoft.com/office/drawing/2017/decorative" val="1"/>
              </a:ext>
            </a:extLst>
          </p:cNvPr>
          <p:cNvSpPr txBox="1"/>
          <p:nvPr/>
        </p:nvSpPr>
        <p:spPr>
          <a:xfrm>
            <a:off x="977639" y="1620961"/>
            <a:ext cx="14425880" cy="5148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2A9"/>
              </a:buClr>
              <a:buSzPts val="2000"/>
              <a:buFont typeface="Arial"/>
              <a:buNone/>
            </a:pPr>
            <a:r>
              <a:rPr lang="en-US" sz="2000" b="0" i="0" u="none" strike="noStrike" cap="none" dirty="0">
                <a:solidFill>
                  <a:schemeClr val="accent4"/>
                </a:solidFill>
                <a:latin typeface="Arial"/>
                <a:ea typeface="Arial"/>
                <a:cs typeface="Arial"/>
                <a:sym typeface="Arial"/>
              </a:rPr>
              <a:t>Adapt excel template from Energy and CO2 balance hands drying - </a:t>
            </a:r>
            <a:r>
              <a:rPr lang="en-US" sz="2000" b="0" i="0" u="none" strike="noStrike" cap="none" dirty="0" err="1">
                <a:solidFill>
                  <a:schemeClr val="accent4"/>
                </a:solidFill>
                <a:latin typeface="Arial"/>
                <a:ea typeface="Arial"/>
                <a:cs typeface="Arial"/>
                <a:sym typeface="Arial"/>
              </a:rPr>
              <a:t>answerkeys</a:t>
            </a:r>
            <a:r>
              <a:rPr lang="en-US" sz="2000" b="0" i="0" u="none" strike="noStrike" cap="none" dirty="0">
                <a:solidFill>
                  <a:schemeClr val="accent4"/>
                </a:solidFill>
                <a:sym typeface="Arial"/>
              </a:rPr>
              <a:t> 1a.xlsx</a:t>
            </a:r>
            <a:endParaRPr dirty="0">
              <a:solidFill>
                <a:schemeClr val="accent4"/>
              </a:solidFill>
            </a:endParaRPr>
          </a:p>
        </p:txBody>
      </p:sp>
      <p:sp>
        <p:nvSpPr>
          <p:cNvPr id="228" name="Google Shape;228;p21">
            <a:extLst>
              <a:ext uri="{C183D7F6-B498-43B3-948B-1728B52AA6E4}">
                <adec:decorative xmlns:adec="http://schemas.microsoft.com/office/drawing/2017/decorative" val="1"/>
              </a:ext>
            </a:extLst>
          </p:cNvPr>
          <p:cNvSpPr/>
          <p:nvPr/>
        </p:nvSpPr>
        <p:spPr>
          <a:xfrm>
            <a:off x="878783" y="1517397"/>
            <a:ext cx="14500022" cy="618424"/>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200"/>
              <a:buFont typeface="Arial"/>
              <a:buNone/>
            </a:pPr>
            <a:endParaRPr sz="3200" b="0" i="0" u="none" strike="noStrike" cap="non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2"/>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274C"/>
              </a:buClr>
              <a:buSzPts val="4400"/>
              <a:buFont typeface="Arial"/>
              <a:buNone/>
            </a:pPr>
            <a:r>
              <a:rPr lang="en-US" dirty="0"/>
              <a:t>Comparison of energy and CO2 balance across scenarios</a:t>
            </a:r>
            <a:endParaRPr dirty="0"/>
          </a:p>
        </p:txBody>
      </p:sp>
      <p:sp>
        <p:nvSpPr>
          <p:cNvPr id="234" name="Google Shape;234;p22">
            <a:extLst>
              <a:ext uri="{C183D7F6-B498-43B3-948B-1728B52AA6E4}">
                <adec:decorative xmlns:adec="http://schemas.microsoft.com/office/drawing/2017/decorative" val="1"/>
              </a:ext>
            </a:extLst>
          </p:cNvPr>
          <p:cNvSpPr txBox="1"/>
          <p:nvPr/>
        </p:nvSpPr>
        <p:spPr>
          <a:xfrm>
            <a:off x="977639" y="1472676"/>
            <a:ext cx="14425880" cy="87038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2A9"/>
              </a:buClr>
              <a:buSzPts val="2800"/>
              <a:buFont typeface="Arial"/>
              <a:buNone/>
            </a:pPr>
            <a:r>
              <a:rPr lang="en-US" sz="2800" b="0" i="0" u="none" strike="noStrike" cap="none" dirty="0">
                <a:solidFill>
                  <a:schemeClr val="accent4"/>
                </a:solidFill>
                <a:sym typeface="Arial"/>
              </a:rPr>
              <a:t>Create two stacked bar graphs </a:t>
            </a:r>
            <a:endParaRPr dirty="0">
              <a:solidFill>
                <a:schemeClr val="accent4"/>
              </a:solidFill>
            </a:endParaRPr>
          </a:p>
          <a:p>
            <a:pPr marL="342900" marR="0" lvl="0" indent="-342900" algn="l" rtl="0">
              <a:lnSpc>
                <a:spcPct val="100000"/>
              </a:lnSpc>
              <a:spcBef>
                <a:spcPts val="0"/>
              </a:spcBef>
              <a:spcAft>
                <a:spcPts val="0"/>
              </a:spcAft>
              <a:buClr>
                <a:srgbClr val="FFCB05"/>
              </a:buClr>
              <a:buSzPts val="2800"/>
              <a:buFont typeface="NTR"/>
              <a:buChar char="→"/>
            </a:pPr>
            <a:r>
              <a:rPr lang="en-US" sz="2800" b="0" i="0" u="none" strike="noStrike" cap="none" dirty="0">
                <a:solidFill>
                  <a:schemeClr val="accent4"/>
                </a:solidFill>
                <a:latin typeface="Arial"/>
                <a:ea typeface="Arial"/>
                <a:cs typeface="Arial"/>
                <a:sym typeface="Arial"/>
              </a:rPr>
              <a:t>one for Energy, one for CO</a:t>
            </a:r>
            <a:r>
              <a:rPr lang="en-US" sz="2800" b="0" i="0" u="none" strike="noStrike" cap="none" baseline="-25000" dirty="0">
                <a:solidFill>
                  <a:schemeClr val="accent4"/>
                </a:solidFill>
                <a:latin typeface="Arial"/>
                <a:ea typeface="Arial"/>
                <a:cs typeface="Arial"/>
                <a:sym typeface="Arial"/>
              </a:rPr>
              <a:t>2</a:t>
            </a:r>
            <a:r>
              <a:rPr lang="en-US" sz="2800" b="0" i="0" u="none" strike="noStrike" cap="none" dirty="0">
                <a:solidFill>
                  <a:schemeClr val="accent4"/>
                </a:solidFill>
                <a:sym typeface="Arial"/>
              </a:rPr>
              <a:t> one stacked bar per scenario on each graph</a:t>
            </a:r>
            <a:endParaRPr dirty="0">
              <a:solidFill>
                <a:schemeClr val="accent4"/>
              </a:solidFill>
            </a:endParaRPr>
          </a:p>
        </p:txBody>
      </p:sp>
      <p:sp>
        <p:nvSpPr>
          <p:cNvPr id="235" name="Google Shape;235;p22">
            <a:extLst>
              <a:ext uri="{C183D7F6-B498-43B3-948B-1728B52AA6E4}">
                <adec:decorative xmlns:adec="http://schemas.microsoft.com/office/drawing/2017/decorative" val="1"/>
              </a:ext>
            </a:extLst>
          </p:cNvPr>
          <p:cNvSpPr/>
          <p:nvPr/>
        </p:nvSpPr>
        <p:spPr>
          <a:xfrm>
            <a:off x="878783" y="1387036"/>
            <a:ext cx="14500022" cy="1104310"/>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200"/>
              <a:buFont typeface="Arial"/>
              <a:buNone/>
            </a:pPr>
            <a:endParaRPr sz="3200" b="0" i="0" u="none" strike="noStrike" cap="none">
              <a:solidFill>
                <a:srgbClr val="FFFF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3"/>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274C"/>
              </a:buClr>
              <a:buSzPts val="4400"/>
              <a:buFont typeface="Arial"/>
              <a:buNone/>
            </a:pPr>
            <a:r>
              <a:rPr lang="en-US" dirty="0"/>
              <a:t>Interpretation – sensitivity study</a:t>
            </a:r>
            <a:endParaRPr dirty="0"/>
          </a:p>
        </p:txBody>
      </p:sp>
      <p:sp>
        <p:nvSpPr>
          <p:cNvPr id="241" name="Google Shape;241;p23">
            <a:extLst>
              <a:ext uri="{C183D7F6-B498-43B3-948B-1728B52AA6E4}">
                <adec:decorative xmlns:adec="http://schemas.microsoft.com/office/drawing/2017/decorative" val="1"/>
              </a:ext>
            </a:extLst>
          </p:cNvPr>
          <p:cNvSpPr/>
          <p:nvPr/>
        </p:nvSpPr>
        <p:spPr>
          <a:xfrm>
            <a:off x="878783" y="5259057"/>
            <a:ext cx="14072893" cy="2377419"/>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200"/>
              <a:buFont typeface="Arial"/>
              <a:buNone/>
            </a:pPr>
            <a:endParaRPr sz="3200" b="0" i="0" u="none" strike="noStrike" cap="none">
              <a:solidFill>
                <a:srgbClr val="FFFFFF"/>
              </a:solidFill>
              <a:latin typeface="Arial"/>
              <a:ea typeface="Arial"/>
              <a:cs typeface="Arial"/>
              <a:sym typeface="Arial"/>
            </a:endParaRPr>
          </a:p>
        </p:txBody>
      </p:sp>
      <p:sp>
        <p:nvSpPr>
          <p:cNvPr id="242" name="Google Shape;242;p23">
            <a:extLst>
              <a:ext uri="{C183D7F6-B498-43B3-948B-1728B52AA6E4}">
                <adec:decorative xmlns:adec="http://schemas.microsoft.com/office/drawing/2017/decorative" val="1"/>
              </a:ext>
            </a:extLst>
          </p:cNvPr>
          <p:cNvSpPr/>
          <p:nvPr/>
        </p:nvSpPr>
        <p:spPr>
          <a:xfrm>
            <a:off x="1043542" y="5333765"/>
            <a:ext cx="13661000" cy="224676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2A9"/>
              </a:buClr>
              <a:buSzPts val="2800"/>
              <a:buFont typeface="Arial"/>
              <a:buNone/>
            </a:pPr>
            <a:r>
              <a:rPr lang="en-US" sz="2800" b="0" i="0" u="none" strike="noStrike" cap="none" dirty="0">
                <a:solidFill>
                  <a:schemeClr val="accent4"/>
                </a:solidFill>
                <a:latin typeface="Arial"/>
                <a:ea typeface="Arial"/>
                <a:cs typeface="Arial"/>
                <a:sym typeface="Arial"/>
              </a:rPr>
              <a:t>Identify which main use parameter affect your results and the ranking between scenario (e.g. number of use, lifetime, frequency of a give operation, transport distances). Create a sensitivity graph showing how your total energy and CO</a:t>
            </a:r>
            <a:r>
              <a:rPr lang="en-US" sz="2800" b="0" i="0" u="none" strike="noStrike" cap="none" baseline="-25000" dirty="0">
                <a:solidFill>
                  <a:schemeClr val="accent4"/>
                </a:solidFill>
                <a:latin typeface="Arial"/>
                <a:ea typeface="Arial"/>
                <a:cs typeface="Arial"/>
                <a:sym typeface="Arial"/>
              </a:rPr>
              <a:t>2</a:t>
            </a:r>
            <a:r>
              <a:rPr lang="en-US" sz="2800" b="0" i="0" u="none" strike="noStrike" cap="none" dirty="0">
                <a:solidFill>
                  <a:schemeClr val="accent4"/>
                </a:solidFill>
                <a:sym typeface="Arial"/>
              </a:rPr>
              <a:t> varies as a function of this parameter. Cumulative graphs usually easier to apprehend, than the graph per FU shown here.</a:t>
            </a:r>
            <a:endParaRPr dirty="0">
              <a:solidFill>
                <a:schemeClr val="accent4"/>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4"/>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274C"/>
              </a:buClr>
              <a:buSzPts val="4400"/>
              <a:buFont typeface="Arial"/>
              <a:buNone/>
            </a:pPr>
            <a:r>
              <a:rPr lang="en-US" dirty="0"/>
              <a:t>Key parameter: collection of primary data</a:t>
            </a:r>
            <a:endParaRPr dirty="0"/>
          </a:p>
        </p:txBody>
      </p:sp>
      <p:sp>
        <p:nvSpPr>
          <p:cNvPr id="248" name="Google Shape;248;p24">
            <a:extLst>
              <a:ext uri="{C183D7F6-B498-43B3-948B-1728B52AA6E4}">
                <adec:decorative xmlns:adec="http://schemas.microsoft.com/office/drawing/2017/decorative" val="1"/>
              </a:ext>
            </a:extLst>
          </p:cNvPr>
          <p:cNvSpPr/>
          <p:nvPr/>
        </p:nvSpPr>
        <p:spPr>
          <a:xfrm>
            <a:off x="1043542" y="6176751"/>
            <a:ext cx="13661000" cy="1384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2A9"/>
              </a:buClr>
              <a:buSzPts val="2800"/>
              <a:buFont typeface="Arial"/>
              <a:buNone/>
            </a:pPr>
            <a:r>
              <a:rPr lang="en-US" sz="2800" b="0" i="0" u="none" strike="noStrike" cap="none" dirty="0">
                <a:solidFill>
                  <a:schemeClr val="accent4"/>
                </a:solidFill>
                <a:sym typeface="Arial"/>
              </a:rPr>
              <a:t>Identify one key data or parameter for which it would be useful to get better primary data. Propose an approach to obtain these data (small survey, systematic literature search, industry contact).</a:t>
            </a:r>
            <a:endParaRPr dirty="0">
              <a:solidFill>
                <a:schemeClr val="accent4"/>
              </a:solidFill>
            </a:endParaRPr>
          </a:p>
        </p:txBody>
      </p:sp>
      <p:sp>
        <p:nvSpPr>
          <p:cNvPr id="249" name="Google Shape;249;p24">
            <a:extLst>
              <a:ext uri="{C183D7F6-B498-43B3-948B-1728B52AA6E4}">
                <adec:decorative xmlns:adec="http://schemas.microsoft.com/office/drawing/2017/decorative" val="1"/>
              </a:ext>
            </a:extLst>
          </p:cNvPr>
          <p:cNvSpPr/>
          <p:nvPr/>
        </p:nvSpPr>
        <p:spPr>
          <a:xfrm>
            <a:off x="878783" y="6066816"/>
            <a:ext cx="14072893" cy="1569660"/>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200"/>
              <a:buFont typeface="Arial"/>
              <a:buNone/>
            </a:pPr>
            <a:endParaRPr sz="3200" b="0" i="0" u="none" strike="noStrike" cap="none">
              <a:solidFill>
                <a:srgbClr val="FFFFFF"/>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5"/>
          <p:cNvSpPr txBox="1">
            <a:spLocks noGrp="1"/>
          </p:cNvSpPr>
          <p:nvPr>
            <p:ph type="title"/>
          </p:nvPr>
        </p:nvSpPr>
        <p:spPr>
          <a:xfrm>
            <a:off x="878783" y="272169"/>
            <a:ext cx="14631900" cy="8703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274C"/>
              </a:buClr>
              <a:buSzPts val="4400"/>
              <a:buFont typeface="Arial"/>
              <a:buNone/>
            </a:pPr>
            <a:r>
              <a:rPr lang="en-US" dirty="0"/>
              <a:t>Conclusion and next steps</a:t>
            </a:r>
            <a:endParaRPr dirty="0"/>
          </a:p>
        </p:txBody>
      </p:sp>
      <p:sp>
        <p:nvSpPr>
          <p:cNvPr id="255" name="Google Shape;255;p25">
            <a:extLst>
              <a:ext uri="{C183D7F6-B498-43B3-948B-1728B52AA6E4}">
                <adec:decorative xmlns:adec="http://schemas.microsoft.com/office/drawing/2017/decorative" val="1"/>
              </a:ext>
            </a:extLst>
          </p:cNvPr>
          <p:cNvSpPr/>
          <p:nvPr/>
        </p:nvSpPr>
        <p:spPr>
          <a:xfrm>
            <a:off x="1043542" y="7013323"/>
            <a:ext cx="136611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2A9"/>
              </a:buClr>
              <a:buSzPts val="2800"/>
              <a:buFont typeface="Arial"/>
              <a:buNone/>
            </a:pPr>
            <a:r>
              <a:rPr lang="en-US" sz="2800" b="0" i="0" u="none" strike="noStrike" cap="none" dirty="0">
                <a:solidFill>
                  <a:schemeClr val="accent4"/>
                </a:solidFill>
                <a:sym typeface="Arial"/>
              </a:rPr>
              <a:t>Final slides on main conclusions and next steps</a:t>
            </a:r>
            <a:endParaRPr dirty="0">
              <a:solidFill>
                <a:schemeClr val="accent4"/>
              </a:solidFill>
            </a:endParaRPr>
          </a:p>
        </p:txBody>
      </p:sp>
      <p:sp>
        <p:nvSpPr>
          <p:cNvPr id="256" name="Google Shape;256;p25">
            <a:extLst>
              <a:ext uri="{C183D7F6-B498-43B3-948B-1728B52AA6E4}">
                <adec:decorative xmlns:adec="http://schemas.microsoft.com/office/drawing/2017/decorative" val="1"/>
              </a:ext>
            </a:extLst>
          </p:cNvPr>
          <p:cNvSpPr/>
          <p:nvPr/>
        </p:nvSpPr>
        <p:spPr>
          <a:xfrm>
            <a:off x="855081" y="6899199"/>
            <a:ext cx="14073000" cy="737400"/>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200"/>
              <a:buFont typeface="Arial"/>
              <a:buNone/>
            </a:pPr>
            <a:endParaRPr sz="3200" b="0" i="0" u="none" strike="noStrike" cap="none">
              <a:solidFill>
                <a:srgbClr val="FFFFFF"/>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6"/>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400"/>
              <a:buFont typeface="Arial"/>
              <a:buNone/>
            </a:pPr>
            <a:r>
              <a:rPr lang="en-US" dirty="0">
                <a:solidFill>
                  <a:schemeClr val="dk2"/>
                </a:solidFill>
              </a:rPr>
              <a:t>Evaluation criteria - intermediary presentation</a:t>
            </a:r>
            <a:endParaRPr dirty="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7"/>
          <p:cNvSpPr txBox="1">
            <a:spLocks noGrp="1"/>
          </p:cNvSpPr>
          <p:nvPr>
            <p:ph type="title"/>
          </p:nvPr>
        </p:nvSpPr>
        <p:spPr>
          <a:xfrm>
            <a:off x="878783" y="272169"/>
            <a:ext cx="14913152" cy="87038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274C"/>
              </a:buClr>
              <a:buSzPts val="3600"/>
              <a:buFont typeface="Arial"/>
              <a:buNone/>
            </a:pPr>
            <a:r>
              <a:rPr lang="en-US" sz="3600"/>
              <a:t>Case study phase 1: summary of complementary instructions &amp; material</a:t>
            </a:r>
            <a:endParaRPr sz="3600">
              <a:solidFill>
                <a:schemeClr val="dk2"/>
              </a:solidFill>
            </a:endParaRPr>
          </a:p>
        </p:txBody>
      </p:sp>
      <p:sp>
        <p:nvSpPr>
          <p:cNvPr id="268" name="Google Shape;268;p27"/>
          <p:cNvSpPr txBox="1"/>
          <p:nvPr/>
        </p:nvSpPr>
        <p:spPr>
          <a:xfrm>
            <a:off x="879475" y="1761319"/>
            <a:ext cx="14630400" cy="5468156"/>
          </a:xfrm>
          <a:prstGeom prst="rect">
            <a:avLst/>
          </a:prstGeom>
          <a:noFill/>
          <a:ln>
            <a:noFill/>
          </a:ln>
        </p:spPr>
        <p:txBody>
          <a:bodyPr spcFirstLastPara="1" wrap="square" lIns="91425" tIns="45700" rIns="91425" bIns="45700" anchor="t" anchorCtr="0">
            <a:normAutofit/>
          </a:bodyPr>
          <a:lstStyle/>
          <a:p>
            <a:pPr marL="693737" marR="0" lvl="0" indent="-681037" algn="l" rtl="0">
              <a:lnSpc>
                <a:spcPct val="100000"/>
              </a:lnSpc>
              <a:spcBef>
                <a:spcPts val="1840"/>
              </a:spcBef>
              <a:spcAft>
                <a:spcPts val="0"/>
              </a:spcAft>
              <a:buClr>
                <a:srgbClr val="FFCB05"/>
              </a:buClr>
              <a:buSzPts val="3200"/>
              <a:buChar char="►"/>
            </a:pPr>
            <a:r>
              <a:rPr lang="en-US" sz="3200">
                <a:solidFill>
                  <a:srgbClr val="00274C"/>
                </a:solidFill>
              </a:rPr>
              <a:t>Intermediary Presentation Template         </a:t>
            </a:r>
            <a:endParaRPr sz="3200">
              <a:solidFill>
                <a:srgbClr val="00274C"/>
              </a:solidFill>
            </a:endParaRPr>
          </a:p>
          <a:p>
            <a:pPr marL="693737" marR="0" lvl="0" indent="-681037" algn="l" rtl="0">
              <a:lnSpc>
                <a:spcPct val="100000"/>
              </a:lnSpc>
              <a:spcBef>
                <a:spcPts val="1840"/>
              </a:spcBef>
              <a:spcAft>
                <a:spcPts val="0"/>
              </a:spcAft>
              <a:buClr>
                <a:srgbClr val="FFCB05"/>
              </a:buClr>
              <a:buSzPts val="3200"/>
              <a:buChar char="►"/>
            </a:pPr>
            <a:r>
              <a:rPr lang="en-US" sz="3200">
                <a:solidFill>
                  <a:srgbClr val="00274C"/>
                </a:solidFill>
              </a:rPr>
              <a:t>Example Intermediary Presentation </a:t>
            </a:r>
            <a:endParaRPr sz="3200">
              <a:solidFill>
                <a:srgbClr val="00274C"/>
              </a:solidFill>
            </a:endParaRPr>
          </a:p>
          <a:p>
            <a:pPr marL="693737" marR="0" lvl="0" indent="-681037" algn="l" rtl="0">
              <a:lnSpc>
                <a:spcPct val="100000"/>
              </a:lnSpc>
              <a:spcBef>
                <a:spcPts val="1840"/>
              </a:spcBef>
              <a:spcAft>
                <a:spcPts val="0"/>
              </a:spcAft>
              <a:buClr>
                <a:srgbClr val="FFCB05"/>
              </a:buClr>
              <a:buSzPts val="3200"/>
              <a:buChar char="►"/>
            </a:pPr>
            <a:r>
              <a:rPr lang="en-US" sz="3200">
                <a:solidFill>
                  <a:srgbClr val="00274C"/>
                </a:solidFill>
              </a:rPr>
              <a:t>Final Presentation Template </a:t>
            </a:r>
            <a:endParaRPr sz="3200">
              <a:solidFill>
                <a:srgbClr val="00274C"/>
              </a:solidFill>
            </a:endParaRPr>
          </a:p>
          <a:p>
            <a:pPr marL="693737" marR="0" lvl="0" indent="-681037" algn="l" rtl="0">
              <a:lnSpc>
                <a:spcPct val="100000"/>
              </a:lnSpc>
              <a:spcBef>
                <a:spcPts val="1840"/>
              </a:spcBef>
              <a:spcAft>
                <a:spcPts val="0"/>
              </a:spcAft>
              <a:buClr>
                <a:srgbClr val="FFCB05"/>
              </a:buClr>
              <a:buSzPts val="3200"/>
              <a:buChar char="►"/>
            </a:pPr>
            <a:r>
              <a:rPr lang="en-US" sz="3200">
                <a:solidFill>
                  <a:srgbClr val="00274C"/>
                </a:solidFill>
              </a:rPr>
              <a:t>Example 1 Abstract - Wall paint &amp; Wallpaper</a:t>
            </a:r>
            <a:endParaRPr sz="3200">
              <a:solidFill>
                <a:srgbClr val="00274C"/>
              </a:solidFill>
            </a:endParaRPr>
          </a:p>
          <a:p>
            <a:pPr marL="693737" marR="0" lvl="0" indent="-681037" algn="l" rtl="0">
              <a:lnSpc>
                <a:spcPct val="100000"/>
              </a:lnSpc>
              <a:spcBef>
                <a:spcPts val="1840"/>
              </a:spcBef>
              <a:spcAft>
                <a:spcPts val="0"/>
              </a:spcAft>
              <a:buClr>
                <a:srgbClr val="FFCB05"/>
              </a:buClr>
              <a:buSzPts val="3200"/>
              <a:buChar char="►"/>
            </a:pPr>
            <a:r>
              <a:rPr lang="en-US" sz="3200">
                <a:solidFill>
                  <a:srgbClr val="00274C"/>
                </a:solidFill>
              </a:rPr>
              <a:t>Example 2 Abstract - Stovetop and Gas Grill</a:t>
            </a:r>
            <a:endParaRPr sz="3200">
              <a:solidFill>
                <a:srgbClr val="00274C"/>
              </a:solidFill>
            </a:endParaRPr>
          </a:p>
          <a:p>
            <a:pPr marL="457200" lvl="0" indent="-431800" algn="l" rtl="0">
              <a:spcBef>
                <a:spcPts val="1840"/>
              </a:spcBef>
              <a:spcAft>
                <a:spcPts val="0"/>
              </a:spcAft>
              <a:buClr>
                <a:schemeClr val="accent1"/>
              </a:buClr>
              <a:buSzPts val="3200"/>
              <a:buChar char="►"/>
            </a:pPr>
            <a:r>
              <a:rPr lang="en-US" sz="3200">
                <a:solidFill>
                  <a:schemeClr val="dk2"/>
                </a:solidFill>
              </a:rPr>
              <a:t>Abstract Template</a:t>
            </a:r>
            <a:endParaRPr sz="3200">
              <a:solidFill>
                <a:srgbClr val="00274C"/>
              </a:solidFill>
            </a:endParaRPr>
          </a:p>
        </p:txBody>
      </p:sp>
    </p:spTree>
  </p:cSld>
  <p:clrMapOvr>
    <a:masterClrMapping/>
  </p:clrMapOvr>
</p:sld>
</file>

<file path=ppt/theme/theme1.xml><?xml version="1.0" encoding="utf-8"?>
<a:theme xmlns:a="http://schemas.openxmlformats.org/drawingml/2006/main" name="Title slide option 2">
  <a:themeElements>
    <a:clrScheme name="SPH brand colors">
      <a:dk1>
        <a:srgbClr val="00274C"/>
      </a:dk1>
      <a:lt1>
        <a:srgbClr val="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 slide (shown in video)">
  <a:themeElements>
    <a:clrScheme name="SPH brand colors">
      <a:dk1>
        <a:srgbClr val="000000"/>
      </a:dk1>
      <a:lt1>
        <a:srgbClr val="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slide (shown in video)">
  <a:themeElements>
    <a:clrScheme name="SPH brand colors">
      <a:dk1>
        <a:srgbClr val="000000"/>
      </a:dk1>
      <a:lt1>
        <a:srgbClr val="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slide (shown in video)">
  <a:themeElements>
    <a:clrScheme name="SPH brand colors">
      <a:dk1>
        <a:srgbClr val="000000"/>
      </a:dk1>
      <a:lt1>
        <a:srgbClr val="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Notes (not to be shown in video)">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975</Words>
  <Application>Microsoft Macintosh PowerPoint</Application>
  <PresentationFormat>Custom</PresentationFormat>
  <Paragraphs>138</Paragraphs>
  <Slides>17</Slides>
  <Notes>17</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17</vt:i4>
      </vt:variant>
    </vt:vector>
  </HeadingPairs>
  <TitlesOfParts>
    <vt:vector size="27" baseType="lpstr">
      <vt:lpstr>Arial</vt:lpstr>
      <vt:lpstr>Calibri</vt:lpstr>
      <vt:lpstr>Courier New</vt:lpstr>
      <vt:lpstr>Noto Sans Symbols</vt:lpstr>
      <vt:lpstr>NTR</vt:lpstr>
      <vt:lpstr>Title slide option 2</vt:lpstr>
      <vt:lpstr>Content slide (shown in video)</vt:lpstr>
      <vt:lpstr>2_Content slide (shown in video)</vt:lpstr>
      <vt:lpstr>3_Content slide (shown in video)</vt:lpstr>
      <vt:lpstr>Notes (not to be shown in video)</vt:lpstr>
      <vt:lpstr>Case study – intermediary presentation</vt:lpstr>
      <vt:lpstr>Case study: screening analysis and intermediary presentation</vt:lpstr>
      <vt:lpstr>Needs and objectives</vt:lpstr>
      <vt:lpstr>Function</vt:lpstr>
      <vt:lpstr>Reference flows and key environmental parameters</vt:lpstr>
      <vt:lpstr>Main hypotheses and data used</vt:lpstr>
      <vt:lpstr>Process tree design</vt:lpstr>
      <vt:lpstr>Process Tree: A </vt:lpstr>
      <vt:lpstr>Process Tree: B (example from course)</vt:lpstr>
      <vt:lpstr>Energy and CO2 balance: A</vt:lpstr>
      <vt:lpstr>Energy and CO2 balance: B</vt:lpstr>
      <vt:lpstr>Comparison of energy and CO2 balance across scenarios</vt:lpstr>
      <vt:lpstr>Interpretation – sensitivity study</vt:lpstr>
      <vt:lpstr>Key parameter: collection of primary data</vt:lpstr>
      <vt:lpstr>Conclusion and next steps</vt:lpstr>
      <vt:lpstr>Evaluation criteria - intermediary presentation</vt:lpstr>
      <vt:lpstr>Case study phase 1: summary of complementary instructions &amp; material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 intermediary presentation</dc:title>
  <cp:lastModifiedBy>Le, Ruth</cp:lastModifiedBy>
  <cp:revision>1</cp:revision>
  <dcterms:modified xsi:type="dcterms:W3CDTF">2022-10-10T18:18:11Z</dcterms:modified>
</cp:coreProperties>
</file>