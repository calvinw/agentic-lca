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8" r:id="rId1"/>
    <p:sldMasterId id="2147483785" r:id="rId2"/>
    <p:sldMasterId id="2147483806" r:id="rId3"/>
    <p:sldMasterId id="2147483808" r:id="rId4"/>
    <p:sldMasterId id="2147483796" r:id="rId5"/>
  </p:sldMasterIdLst>
  <p:notesMasterIdLst>
    <p:notesMasterId r:id="rId15"/>
  </p:notesMasterIdLst>
  <p:handoutMasterIdLst>
    <p:handoutMasterId r:id="rId16"/>
  </p:handoutMasterIdLst>
  <p:sldIdLst>
    <p:sldId id="623" r:id="rId6"/>
    <p:sldId id="607" r:id="rId7"/>
    <p:sldId id="624" r:id="rId8"/>
    <p:sldId id="619" r:id="rId9"/>
    <p:sldId id="621" r:id="rId10"/>
    <p:sldId id="626" r:id="rId11"/>
    <p:sldId id="625" r:id="rId12"/>
    <p:sldId id="627" r:id="rId13"/>
    <p:sldId id="628" r:id="rId14"/>
  </p:sldIdLst>
  <p:sldSz cx="16257588" cy="9144000"/>
  <p:notesSz cx="6858000" cy="9144000"/>
  <p:defaultTextStyle>
    <a:defPPr>
      <a:defRPr lang="en-US"/>
    </a:defPPr>
    <a:lvl1pPr marL="0" algn="l" defTabSz="812810" rtl="0" eaLnBrk="1" latinLnBrk="0" hangingPunct="1">
      <a:defRPr sz="3200" kern="1200">
        <a:solidFill>
          <a:schemeClr val="tx1"/>
        </a:solidFill>
        <a:latin typeface="+mn-lt"/>
        <a:ea typeface="+mn-ea"/>
        <a:cs typeface="+mn-cs"/>
      </a:defRPr>
    </a:lvl1pPr>
    <a:lvl2pPr marL="812810" algn="l" defTabSz="812810" rtl="0" eaLnBrk="1" latinLnBrk="0" hangingPunct="1">
      <a:defRPr sz="3200" kern="1200">
        <a:solidFill>
          <a:schemeClr val="tx1"/>
        </a:solidFill>
        <a:latin typeface="+mn-lt"/>
        <a:ea typeface="+mn-ea"/>
        <a:cs typeface="+mn-cs"/>
      </a:defRPr>
    </a:lvl2pPr>
    <a:lvl3pPr marL="1625620" algn="l" defTabSz="812810" rtl="0" eaLnBrk="1" latinLnBrk="0" hangingPunct="1">
      <a:defRPr sz="3200" kern="1200">
        <a:solidFill>
          <a:schemeClr val="tx1"/>
        </a:solidFill>
        <a:latin typeface="+mn-lt"/>
        <a:ea typeface="+mn-ea"/>
        <a:cs typeface="+mn-cs"/>
      </a:defRPr>
    </a:lvl3pPr>
    <a:lvl4pPr marL="2438430" algn="l" defTabSz="812810" rtl="0" eaLnBrk="1" latinLnBrk="0" hangingPunct="1">
      <a:defRPr sz="3200" kern="1200">
        <a:solidFill>
          <a:schemeClr val="tx1"/>
        </a:solidFill>
        <a:latin typeface="+mn-lt"/>
        <a:ea typeface="+mn-ea"/>
        <a:cs typeface="+mn-cs"/>
      </a:defRPr>
    </a:lvl4pPr>
    <a:lvl5pPr marL="3251241" algn="l" defTabSz="812810" rtl="0" eaLnBrk="1" latinLnBrk="0" hangingPunct="1">
      <a:defRPr sz="3200" kern="1200">
        <a:solidFill>
          <a:schemeClr val="tx1"/>
        </a:solidFill>
        <a:latin typeface="+mn-lt"/>
        <a:ea typeface="+mn-ea"/>
        <a:cs typeface="+mn-cs"/>
      </a:defRPr>
    </a:lvl5pPr>
    <a:lvl6pPr marL="4064051" algn="l" defTabSz="812810" rtl="0" eaLnBrk="1" latinLnBrk="0" hangingPunct="1">
      <a:defRPr sz="3200" kern="1200">
        <a:solidFill>
          <a:schemeClr val="tx1"/>
        </a:solidFill>
        <a:latin typeface="+mn-lt"/>
        <a:ea typeface="+mn-ea"/>
        <a:cs typeface="+mn-cs"/>
      </a:defRPr>
    </a:lvl6pPr>
    <a:lvl7pPr marL="4876861" algn="l" defTabSz="812810" rtl="0" eaLnBrk="1" latinLnBrk="0" hangingPunct="1">
      <a:defRPr sz="3200" kern="1200">
        <a:solidFill>
          <a:schemeClr val="tx1"/>
        </a:solidFill>
        <a:latin typeface="+mn-lt"/>
        <a:ea typeface="+mn-ea"/>
        <a:cs typeface="+mn-cs"/>
      </a:defRPr>
    </a:lvl7pPr>
    <a:lvl8pPr marL="5689671" algn="l" defTabSz="812810" rtl="0" eaLnBrk="1" latinLnBrk="0" hangingPunct="1">
      <a:defRPr sz="3200" kern="1200">
        <a:solidFill>
          <a:schemeClr val="tx1"/>
        </a:solidFill>
        <a:latin typeface="+mn-lt"/>
        <a:ea typeface="+mn-ea"/>
        <a:cs typeface="+mn-cs"/>
      </a:defRPr>
    </a:lvl8pPr>
    <a:lvl9pPr marL="6502481" algn="l" defTabSz="812810" rtl="0" eaLnBrk="1" latinLnBrk="0" hangingPunct="1">
      <a:defRPr sz="32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slides" id="{C7F91DBA-90A9-5343-8B43-F0D96459C604}">
          <p14:sldIdLst>
            <p14:sldId id="623"/>
            <p14:sldId id="607"/>
            <p14:sldId id="624"/>
            <p14:sldId id="619"/>
            <p14:sldId id="621"/>
            <p14:sldId id="626"/>
            <p14:sldId id="625"/>
            <p14:sldId id="627"/>
            <p14:sldId id="628"/>
          </p14:sldIdLst>
        </p14:section>
      </p14:sectionLst>
    </p:ext>
    <p:ext uri="{EFAFB233-063F-42B5-8137-9DF3F51BA10A}">
      <p15:sldGuideLst xmlns:p15="http://schemas.microsoft.com/office/powerpoint/2012/main">
        <p15:guide id="1" orient="horz" pos="3216" userDrawn="1">
          <p15:clr>
            <a:srgbClr val="A4A3A4"/>
          </p15:clr>
        </p15:guide>
        <p15:guide id="2" pos="51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F92"/>
    <a:srgbClr val="00274C"/>
    <a:srgbClr val="E4E1DF"/>
    <a:srgbClr val="B5B5B5"/>
    <a:srgbClr val="050909"/>
    <a:srgbClr val="FFCB05"/>
    <a:srgbClr val="EA6A20"/>
    <a:srgbClr val="06090A"/>
    <a:srgbClr val="090B0B"/>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08383F-FF67-4061-ABF5-448920EA1BB6}" v="7" dt="2020-10-04T01:01:37.4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571"/>
    <p:restoredTop sz="95071" autoAdjust="0"/>
  </p:normalViewPr>
  <p:slideViewPr>
    <p:cSldViewPr snapToGrid="0">
      <p:cViewPr varScale="1">
        <p:scale>
          <a:sx n="37" d="100"/>
          <a:sy n="37" d="100"/>
        </p:scale>
        <p:origin x="662" y="38"/>
      </p:cViewPr>
      <p:guideLst>
        <p:guide orient="horz" pos="3216"/>
        <p:guide pos="5120"/>
      </p:guideLst>
    </p:cSldViewPr>
  </p:slideViewPr>
  <p:notesTextViewPr>
    <p:cViewPr>
      <p:scale>
        <a:sx n="114" d="100"/>
        <a:sy n="114" d="100"/>
      </p:scale>
      <p:origin x="0" y="0"/>
    </p:cViewPr>
  </p:notesTextViewPr>
  <p:sorterViewPr>
    <p:cViewPr>
      <p:scale>
        <a:sx n="100" d="100"/>
        <a:sy n="100" d="100"/>
      </p:scale>
      <p:origin x="0" y="0"/>
    </p:cViewPr>
  </p:sorterViewPr>
  <p:notesViewPr>
    <p:cSldViewPr snapToGrid="0">
      <p:cViewPr varScale="1">
        <p:scale>
          <a:sx n="131" d="100"/>
          <a:sy n="131" d="100"/>
        </p:scale>
        <p:origin x="515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32C488-5493-244C-B1EB-F7CF3662E0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AD1453-9CD9-5640-A3F8-C0F3421BFA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5623C7-AC5F-3A41-B4CB-88972659BBB1}" type="datetimeFigureOut">
              <a:rPr lang="en-US" smtClean="0"/>
              <a:t>11/25/2021</a:t>
            </a:fld>
            <a:endParaRPr lang="en-US"/>
          </a:p>
        </p:txBody>
      </p:sp>
      <p:sp>
        <p:nvSpPr>
          <p:cNvPr id="4" name="Footer Placeholder 3">
            <a:extLst>
              <a:ext uri="{FF2B5EF4-FFF2-40B4-BE49-F238E27FC236}">
                <a16:creationId xmlns:a16="http://schemas.microsoft.com/office/drawing/2014/main" id="{514A9942-DAC7-014E-98D2-7E2678599F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01CB1E6-A261-2741-AFAE-436A65E0D5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EC83E3-4C2A-B644-AB75-B8266C440FBE}" type="slidenum">
              <a:rPr lang="en-US" smtClean="0"/>
              <a:t>‹#›</a:t>
            </a:fld>
            <a:endParaRPr lang="en-US"/>
          </a:p>
        </p:txBody>
      </p:sp>
    </p:spTree>
    <p:extLst>
      <p:ext uri="{BB962C8B-B14F-4D97-AF65-F5344CB8AC3E}">
        <p14:creationId xmlns:p14="http://schemas.microsoft.com/office/powerpoint/2010/main" val="3172161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733527-EF9E-5940-92CE-307645268EE1}" type="datetimeFigureOut">
              <a:rPr lang="en-US" smtClean="0"/>
              <a:t>11/25/2021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73DB68-E51C-0443-B8CE-2997CF470B35}" type="slidenum">
              <a:rPr lang="en-US" smtClean="0"/>
              <a:t>‹#›</a:t>
            </a:fld>
            <a:endParaRPr lang="en-US"/>
          </a:p>
        </p:txBody>
      </p:sp>
    </p:spTree>
    <p:extLst>
      <p:ext uri="{BB962C8B-B14F-4D97-AF65-F5344CB8AC3E}">
        <p14:creationId xmlns:p14="http://schemas.microsoft.com/office/powerpoint/2010/main" val="720693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Enter lecture title, and subtitle if present, in the text box above. Enter name and credentials on the second line as shown. The slide background graphic for this introduction slide can be replaced with an alternate image more suited to the topic or department (this step will be handled by our graphics team in the production phase).</a:t>
            </a: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9357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Please use this area to provide notes to our design team about the content contained on the slide. Notes can include instructions on how content will be presented; types of imagery needed or desired; plan on how to describe visuals; etc.</a:t>
            </a:r>
          </a:p>
          <a:p>
            <a:endParaRPr lang="en-US" b="0" u="none" dirty="0"/>
          </a:p>
          <a:p>
            <a:r>
              <a:rPr lang="en-US" b="0" u="none" dirty="0"/>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p>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3</a:t>
            </a:fld>
            <a:endParaRPr lang="en-US"/>
          </a:p>
        </p:txBody>
      </p:sp>
    </p:spTree>
    <p:extLst>
      <p:ext uri="{BB962C8B-B14F-4D97-AF65-F5344CB8AC3E}">
        <p14:creationId xmlns:p14="http://schemas.microsoft.com/office/powerpoint/2010/main" val="3372975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Please use this area to provide notes to our design team about the content contained on the slide. Notes can include instructions on how content will be presented; types of imagery needed or desired; plan on how to describe visuals; etc.</a:t>
            </a:r>
          </a:p>
          <a:p>
            <a:endParaRPr lang="en-US" b="0" u="none" dirty="0"/>
          </a:p>
          <a:p>
            <a:r>
              <a:rPr lang="en-US" b="0" u="none" dirty="0"/>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p>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4</a:t>
            </a:fld>
            <a:endParaRPr lang="en-US"/>
          </a:p>
        </p:txBody>
      </p:sp>
    </p:spTree>
    <p:extLst>
      <p:ext uri="{BB962C8B-B14F-4D97-AF65-F5344CB8AC3E}">
        <p14:creationId xmlns:p14="http://schemas.microsoft.com/office/powerpoint/2010/main" val="3852648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298559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eaLnBrk="1" hangingPunct="1">
              <a:spcBef>
                <a:spcPct val="0"/>
              </a:spcBef>
              <a:buClrTx/>
              <a:buFontTx/>
              <a:buNone/>
            </a:pPr>
            <a:endParaRPr lang="en-US" altLang="en-US" sz="1200" dirty="0">
              <a:solidFill>
                <a:schemeClr val="tx1"/>
              </a:solidFill>
            </a:endParaRPr>
          </a:p>
        </p:txBody>
      </p:sp>
      <p:sp>
        <p:nvSpPr>
          <p:cNvPr id="4" name="Slide Number Placeholder 3"/>
          <p:cNvSpPr>
            <a:spLocks noGrp="1"/>
          </p:cNvSpPr>
          <p:nvPr>
            <p:ph type="sldNum" sz="quarter" idx="5"/>
          </p:nvPr>
        </p:nvSpPr>
        <p:spPr/>
        <p:txBody>
          <a:bodyPr/>
          <a:lstStyle/>
          <a:p>
            <a:fld id="{C773DB68-E51C-0443-B8CE-2997CF470B35}" type="slidenum">
              <a:rPr lang="en-US" smtClean="0"/>
              <a:t>6</a:t>
            </a:fld>
            <a:endParaRPr lang="en-US"/>
          </a:p>
        </p:txBody>
      </p:sp>
    </p:spTree>
    <p:extLst>
      <p:ext uri="{BB962C8B-B14F-4D97-AF65-F5344CB8AC3E}">
        <p14:creationId xmlns:p14="http://schemas.microsoft.com/office/powerpoint/2010/main" val="10274936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222400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Please use this area to provide notes to our design team about the content contained on the slide. Notes can include instructions on how content will be presented; types of imagery needed or desired; plan on how to describe visuals; etc.</a:t>
            </a:r>
          </a:p>
          <a:p>
            <a:endParaRPr lang="en-US" b="0" u="none" dirty="0"/>
          </a:p>
          <a:p>
            <a:r>
              <a:rPr lang="en-US" b="0" u="none" dirty="0"/>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p>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8</a:t>
            </a:fld>
            <a:endParaRPr lang="en-US"/>
          </a:p>
        </p:txBody>
      </p:sp>
    </p:spTree>
    <p:extLst>
      <p:ext uri="{BB962C8B-B14F-4D97-AF65-F5344CB8AC3E}">
        <p14:creationId xmlns:p14="http://schemas.microsoft.com/office/powerpoint/2010/main" val="2609926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Please use this area to provide notes to our design team about the content contained on the slide. Notes can include instructions on how content will be presented; types of imagery needed or desired; plan on how to describe visuals; etc.</a:t>
            </a:r>
          </a:p>
          <a:p>
            <a:endParaRPr lang="en-US" b="0" u="none" dirty="0"/>
          </a:p>
          <a:p>
            <a:r>
              <a:rPr lang="en-US" b="0" u="none" dirty="0"/>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p>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9</a:t>
            </a:fld>
            <a:endParaRPr lang="en-US"/>
          </a:p>
        </p:txBody>
      </p:sp>
    </p:spTree>
    <p:extLst>
      <p:ext uri="{BB962C8B-B14F-4D97-AF65-F5344CB8AC3E}">
        <p14:creationId xmlns:p14="http://schemas.microsoft.com/office/powerpoint/2010/main" val="4278585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2802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1" name="Text Placeholder 10"/>
          <p:cNvSpPr>
            <a:spLocks noGrp="1"/>
          </p:cNvSpPr>
          <p:nvPr>
            <p:ph type="body" sz="quarter" idx="10"/>
          </p:nvPr>
        </p:nvSpPr>
        <p:spPr>
          <a:xfrm>
            <a:off x="879475" y="1405719"/>
            <a:ext cx="14630400" cy="6373505"/>
          </a:xfrm>
        </p:spPr>
        <p:txBody>
          <a:bodyPr/>
          <a:lstStyle/>
          <a:p>
            <a:pPr lvl="0"/>
            <a:r>
              <a:rPr lang="en-US" dirty="0"/>
              <a:t>Edit Master text styles</a:t>
            </a:r>
          </a:p>
        </p:txBody>
      </p:sp>
    </p:spTree>
    <p:extLst>
      <p:ext uri="{BB962C8B-B14F-4D97-AF65-F5344CB8AC3E}">
        <p14:creationId xmlns:p14="http://schemas.microsoft.com/office/powerpoint/2010/main" val="869590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pPr>
              <a:defRPr/>
            </a:pPr>
            <a:fld id="{A3B33E8A-D9FE-4ADA-A6F9-338849F03302}" type="slidenum">
              <a:rPr lang="en-US" altLang="en-US"/>
              <a:pPr>
                <a:defRPr/>
              </a:pPr>
              <a:t>‹#›</a:t>
            </a:fld>
            <a:endParaRPr lang="en-US" altLang="en-US"/>
          </a:p>
        </p:txBody>
      </p:sp>
      <p:sp>
        <p:nvSpPr>
          <p:cNvPr id="5" name="Rectangle 10"/>
          <p:cNvSpPr>
            <a:spLocks noGrp="1" noChangeArrowheads="1"/>
          </p:cNvSpPr>
          <p:nvPr>
            <p:ph type="ftr" sz="quarter" idx="11"/>
          </p:nvPr>
        </p:nvSpPr>
        <p:spPr>
          <a:ln/>
        </p:spPr>
        <p:txBody>
          <a:bodyPr/>
          <a:lstStyle>
            <a:lvl1pPr>
              <a:defRPr/>
            </a:lvl1pPr>
          </a:lstStyle>
          <a:p>
            <a:pPr>
              <a:defRPr/>
            </a:pPr>
            <a:r>
              <a:rPr lang="en-US"/>
              <a:t>iMod Group – Prof. Olivier Jolliet</a:t>
            </a:r>
          </a:p>
        </p:txBody>
      </p:sp>
    </p:spTree>
    <p:extLst>
      <p:ext uri="{BB962C8B-B14F-4D97-AF65-F5344CB8AC3E}">
        <p14:creationId xmlns:p14="http://schemas.microsoft.com/office/powerpoint/2010/main" val="2026276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 y="347133"/>
            <a:ext cx="16251943" cy="1176867"/>
          </a:xfrm>
        </p:spPr>
        <p:txBody>
          <a:bodyPr/>
          <a:lstStyle/>
          <a:p>
            <a:r>
              <a:rPr lang="en-US"/>
              <a:t>Click to edit Master title style</a:t>
            </a:r>
          </a:p>
        </p:txBody>
      </p:sp>
      <p:sp>
        <p:nvSpPr>
          <p:cNvPr id="3" name="Text Placeholder 2"/>
          <p:cNvSpPr>
            <a:spLocks noGrp="1"/>
          </p:cNvSpPr>
          <p:nvPr>
            <p:ph type="body" sz="half" idx="1"/>
          </p:nvPr>
        </p:nvSpPr>
        <p:spPr>
          <a:xfrm>
            <a:off x="812879" y="2133601"/>
            <a:ext cx="7180435" cy="60346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8264274" y="2133600"/>
            <a:ext cx="7180435" cy="2914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8264274" y="5251451"/>
            <a:ext cx="7180435" cy="29167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sldNum" sz="quarter" idx="10"/>
          </p:nvPr>
        </p:nvSpPr>
        <p:spPr>
          <a:ln/>
        </p:spPr>
        <p:txBody>
          <a:bodyPr/>
          <a:lstStyle>
            <a:lvl1pPr>
              <a:defRPr/>
            </a:lvl1pPr>
          </a:lstStyle>
          <a:p>
            <a:pPr>
              <a:defRPr/>
            </a:pPr>
            <a:fld id="{D117F4C4-609F-4EF2-BA7E-D0D5DD9807F4}" type="slidenum">
              <a:rPr lang="en-US" altLang="en-US"/>
              <a:pPr>
                <a:defRPr/>
              </a:pPr>
              <a:t>‹#›</a:t>
            </a:fld>
            <a:endParaRPr lang="en-US" altLang="en-US"/>
          </a:p>
        </p:txBody>
      </p:sp>
      <p:sp>
        <p:nvSpPr>
          <p:cNvPr id="7" name="Rectangle 10"/>
          <p:cNvSpPr>
            <a:spLocks noGrp="1" noChangeArrowheads="1"/>
          </p:cNvSpPr>
          <p:nvPr>
            <p:ph type="ftr" sz="quarter" idx="11"/>
          </p:nvPr>
        </p:nvSpPr>
        <p:spPr>
          <a:ln/>
        </p:spPr>
        <p:txBody>
          <a:bodyPr/>
          <a:lstStyle>
            <a:lvl1pPr>
              <a:defRPr/>
            </a:lvl1pPr>
          </a:lstStyle>
          <a:p>
            <a:pPr>
              <a:defRPr/>
            </a:pPr>
            <a:r>
              <a:rPr lang="en-US"/>
              <a:t>iMod Group – Prof. Olivier Jolliet</a:t>
            </a:r>
          </a:p>
        </p:txBody>
      </p:sp>
    </p:spTree>
    <p:extLst>
      <p:ext uri="{BB962C8B-B14F-4D97-AF65-F5344CB8AC3E}">
        <p14:creationId xmlns:p14="http://schemas.microsoft.com/office/powerpoint/2010/main" val="2356048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B94A1462-55F6-494B-8554-951DED06E28A}"/>
              </a:ext>
            </a:extLst>
          </p:cNvPr>
          <p:cNvSpPr>
            <a:spLocks noGrp="1"/>
          </p:cNvSpPr>
          <p:nvPr>
            <p:ph idx="1"/>
          </p:nvPr>
        </p:nvSpPr>
        <p:spPr>
          <a:xfrm>
            <a:off x="878783" y="386862"/>
            <a:ext cx="14631828" cy="7389165"/>
          </a:xfrm>
          <a:prstGeom prst="rect">
            <a:avLst/>
          </a:prstGeom>
        </p:spPr>
        <p:txBody>
          <a:bodyPr vert="horz" lIns="91440" tIns="45720" rIns="91440" bIns="45720" rtlCol="0">
            <a:normAutofit/>
          </a:bodyPr>
          <a:lstStyle/>
          <a:p>
            <a:pPr lvl="0"/>
            <a:r>
              <a:rPr lang="en-US" dirty="0"/>
              <a:t>Edit Master text styles</a:t>
            </a:r>
          </a:p>
        </p:txBody>
      </p:sp>
    </p:spTree>
    <p:extLst>
      <p:ext uri="{BB962C8B-B14F-4D97-AF65-F5344CB8AC3E}">
        <p14:creationId xmlns:p14="http://schemas.microsoft.com/office/powerpoint/2010/main" val="3604544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1" name="Text Placeholder 10"/>
          <p:cNvSpPr>
            <a:spLocks noGrp="1"/>
          </p:cNvSpPr>
          <p:nvPr>
            <p:ph type="body" sz="quarter" idx="10"/>
          </p:nvPr>
        </p:nvSpPr>
        <p:spPr>
          <a:xfrm>
            <a:off x="879475" y="1405719"/>
            <a:ext cx="14630400" cy="6373505"/>
          </a:xfrm>
        </p:spPr>
        <p:txBody>
          <a:bodyPr/>
          <a:lstStyle/>
          <a:p>
            <a:pPr lvl="0"/>
            <a:r>
              <a:rPr lang="en-US" dirty="0"/>
              <a:t>Edit Master text styles</a:t>
            </a:r>
          </a:p>
        </p:txBody>
      </p:sp>
    </p:spTree>
    <p:extLst>
      <p:ext uri="{BB962C8B-B14F-4D97-AF65-F5344CB8AC3E}">
        <p14:creationId xmlns:p14="http://schemas.microsoft.com/office/powerpoint/2010/main" val="2738806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resenter notes (not to be shown in video)">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581665" y="1301578"/>
            <a:ext cx="13007546" cy="5807676"/>
          </a:xfrm>
        </p:spPr>
        <p:txBody>
          <a:bodyPr/>
          <a:lstStyle>
            <a:lvl1pPr marL="0" indent="0">
              <a:buNone/>
              <a:defRPr/>
            </a:lvl1pPr>
          </a:lstStyle>
          <a:p>
            <a:pPr lvl="0"/>
            <a:r>
              <a:rPr lang="en-US" dirty="0"/>
              <a:t>Edit Master text styles</a:t>
            </a:r>
          </a:p>
        </p:txBody>
      </p:sp>
    </p:spTree>
    <p:extLst>
      <p:ext uri="{BB962C8B-B14F-4D97-AF65-F5344CB8AC3E}">
        <p14:creationId xmlns:p14="http://schemas.microsoft.com/office/powerpoint/2010/main" val="13474145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27000">
              <a:srgbClr val="ECECEC"/>
            </a:gs>
            <a:gs pos="80000">
              <a:schemeClr val="bg1"/>
            </a:gs>
            <a:gs pos="2000">
              <a:schemeClr val="bg1">
                <a:lumMod val="50000"/>
              </a:schemeClr>
            </a:gs>
          </a:gsLst>
          <a:lin ang="16200000" scaled="0"/>
          <a:tileRect/>
        </a:gra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3"/>
          <a:srcRect l="329" r="247"/>
          <a:stretch/>
        </p:blipFill>
        <p:spPr>
          <a:xfrm>
            <a:off x="0" y="-3810"/>
            <a:ext cx="16284389" cy="9151620"/>
          </a:xfrm>
          <a:prstGeom prst="rect">
            <a:avLst/>
          </a:prstGeom>
        </p:spPr>
      </p:pic>
    </p:spTree>
    <p:extLst>
      <p:ext uri="{BB962C8B-B14F-4D97-AF65-F5344CB8AC3E}">
        <p14:creationId xmlns:p14="http://schemas.microsoft.com/office/powerpoint/2010/main" val="799904919"/>
      </p:ext>
    </p:extLst>
  </p:cSld>
  <p:clrMap bg1="lt1" tx1="dk1" bg2="lt2" tx2="dk2" accent1="accent1" accent2="accent2" accent3="accent3" accent4="accent4" accent5="accent5" accent6="accent6" hlink="hlink" folHlink="folHlink"/>
  <p:sldLayoutIdLst>
    <p:sldLayoutId id="2147483819"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78783" y="1405719"/>
            <a:ext cx="14631828" cy="6370308"/>
          </a:xfrm>
          <a:prstGeom prst="rect">
            <a:avLst/>
          </a:prstGeom>
        </p:spPr>
        <p:txBody>
          <a:bodyPr vert="horz" lIns="91440" tIns="45720" rIns="91440" bIns="45720" rtlCol="0">
            <a:normAutofit/>
          </a:bodyPr>
          <a:lstStyle/>
          <a:p>
            <a:pPr lvl="0"/>
            <a:r>
              <a:rPr lang="en-US" dirty="0"/>
              <a:t>Edit Master text styles</a:t>
            </a:r>
          </a:p>
        </p:txBody>
      </p:sp>
      <p:sp>
        <p:nvSpPr>
          <p:cNvPr id="3" name="Title Placeholder 2"/>
          <p:cNvSpPr>
            <a:spLocks noGrp="1"/>
          </p:cNvSpPr>
          <p:nvPr>
            <p:ph type="title"/>
          </p:nvPr>
        </p:nvSpPr>
        <p:spPr>
          <a:xfrm>
            <a:off x="878783" y="272169"/>
            <a:ext cx="14631828" cy="870385"/>
          </a:xfrm>
          <a:prstGeom prst="rect">
            <a:avLst/>
          </a:prstGeom>
        </p:spPr>
        <p:txBody>
          <a:bodyPr vert="horz" lIns="91440" tIns="45720" rIns="91440" bIns="45720" rtlCol="0" anchor="ctr">
            <a:noAutofit/>
          </a:bodyPr>
          <a:lstStyle/>
          <a:p>
            <a:r>
              <a:rPr lang="en-US" dirty="0"/>
              <a:t>Click to edit Master title style</a:t>
            </a:r>
          </a:p>
        </p:txBody>
      </p:sp>
      <p:sp>
        <p:nvSpPr>
          <p:cNvPr id="10" name="Rectangle 9">
            <a:extLst>
              <a:ext uri="{FF2B5EF4-FFF2-40B4-BE49-F238E27FC236}">
                <a16:creationId xmlns:a16="http://schemas.microsoft.com/office/drawing/2014/main" id="{E0D8E102-C795-3941-9125-C4D5BBD0193F}"/>
              </a:ext>
            </a:extLst>
          </p:cNvPr>
          <p:cNvSpPr/>
          <p:nvPr userDrawn="1"/>
        </p:nvSpPr>
        <p:spPr>
          <a:xfrm>
            <a:off x="0" y="0"/>
            <a:ext cx="16257588" cy="224918"/>
          </a:xfrm>
          <a:prstGeom prst="rect">
            <a:avLst/>
          </a:prstGeom>
          <a:gradFill>
            <a:gsLst>
              <a:gs pos="63000">
                <a:srgbClr val="00274C"/>
              </a:gs>
              <a:gs pos="0">
                <a:srgbClr val="587ABC"/>
              </a:gs>
            </a:gsLst>
            <a:lin ang="0" scaled="0"/>
          </a:gra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BB45DA2-7C42-8445-AD00-272875B751FD}"/>
              </a:ext>
            </a:extLst>
          </p:cNvPr>
          <p:cNvCxnSpPr>
            <a:cxnSpLocks/>
          </p:cNvCxnSpPr>
          <p:nvPr userDrawn="1"/>
        </p:nvCxnSpPr>
        <p:spPr>
          <a:xfrm>
            <a:off x="1023582" y="1210794"/>
            <a:ext cx="14343797" cy="0"/>
          </a:xfrm>
          <a:prstGeom prst="line">
            <a:avLst/>
          </a:prstGeom>
          <a:ln w="381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BF1E5EF9-7466-AC4A-8B9B-8C26E6EB2668}"/>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50E2D098-25F8-1B47-A897-734EE7598560}"/>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6842840"/>
      </p:ext>
    </p:extLst>
  </p:cSld>
  <p:clrMap bg1="lt1" tx1="dk1" bg2="lt2" tx2="dk2" accent1="accent1" accent2="accent2" accent3="accent3" accent4="accent4" accent5="accent5" accent6="accent6" hlink="hlink" folHlink="folHlink"/>
  <p:sldLayoutIdLst>
    <p:sldLayoutId id="2147483791" r:id="rId1"/>
    <p:sldLayoutId id="2147483810" r:id="rId2"/>
    <p:sldLayoutId id="2147483812" r:id="rId3"/>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E75BEE-68E8-7E41-9537-113B0DA1B9A2}"/>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AEABBCB0-652C-4D4B-9603-135F326E9486}"/>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
        <p:nvSpPr>
          <p:cNvPr id="6" name="Text Placeholder 1">
            <a:extLst>
              <a:ext uri="{FF2B5EF4-FFF2-40B4-BE49-F238E27FC236}">
                <a16:creationId xmlns:a16="http://schemas.microsoft.com/office/drawing/2014/main" id="{3FF513C8-0BD3-FA4B-8D9A-FB9C21ECBC36}"/>
              </a:ext>
            </a:extLst>
          </p:cNvPr>
          <p:cNvSpPr>
            <a:spLocks noGrp="1"/>
          </p:cNvSpPr>
          <p:nvPr>
            <p:ph type="body" idx="1"/>
          </p:nvPr>
        </p:nvSpPr>
        <p:spPr>
          <a:xfrm>
            <a:off x="878783" y="386862"/>
            <a:ext cx="14631828" cy="7389165"/>
          </a:xfrm>
          <a:prstGeom prst="rect">
            <a:avLst/>
          </a:prstGeom>
        </p:spPr>
        <p:txBody>
          <a:bodyPr vert="horz" lIns="91440" tIns="45720" rIns="91440" bIns="45720" rtlCol="0">
            <a:normAutofit/>
          </a:bodyPr>
          <a:lstStyle/>
          <a:p>
            <a:pPr lvl="0"/>
            <a:r>
              <a:rPr lang="en-US" dirty="0"/>
              <a:t>Edit Master text styles</a:t>
            </a:r>
          </a:p>
        </p:txBody>
      </p:sp>
    </p:spTree>
    <p:extLst>
      <p:ext uri="{BB962C8B-B14F-4D97-AF65-F5344CB8AC3E}">
        <p14:creationId xmlns:p14="http://schemas.microsoft.com/office/powerpoint/2010/main" val="1262599898"/>
      </p:ext>
    </p:extLst>
  </p:cSld>
  <p:clrMap bg1="lt1" tx1="dk1" bg2="lt2" tx2="dk2" accent1="accent1" accent2="accent2" accent3="accent3" accent4="accent4" accent5="accent5" accent6="accent6" hlink="hlink" folHlink="folHlink"/>
  <p:sldLayoutIdLst>
    <p:sldLayoutId id="2147483807"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78783" y="1405719"/>
            <a:ext cx="9489860" cy="6370308"/>
          </a:xfrm>
          <a:prstGeom prst="rect">
            <a:avLst/>
          </a:prstGeom>
        </p:spPr>
        <p:txBody>
          <a:bodyPr vert="horz" lIns="91440" tIns="45720" rIns="91440" bIns="45720" rtlCol="0">
            <a:normAutofit/>
          </a:bodyPr>
          <a:lstStyle/>
          <a:p>
            <a:pPr lvl="0"/>
            <a:r>
              <a:rPr lang="en-US" dirty="0"/>
              <a:t>Edit Master text styles</a:t>
            </a:r>
          </a:p>
        </p:txBody>
      </p:sp>
      <p:sp>
        <p:nvSpPr>
          <p:cNvPr id="3" name="Title Placeholder 2"/>
          <p:cNvSpPr>
            <a:spLocks noGrp="1"/>
          </p:cNvSpPr>
          <p:nvPr>
            <p:ph type="title"/>
          </p:nvPr>
        </p:nvSpPr>
        <p:spPr>
          <a:xfrm>
            <a:off x="878783" y="272169"/>
            <a:ext cx="9489860" cy="870385"/>
          </a:xfrm>
          <a:prstGeom prst="rect">
            <a:avLst/>
          </a:prstGeom>
        </p:spPr>
        <p:txBody>
          <a:bodyPr vert="horz" lIns="91440" tIns="45720" rIns="91440" bIns="45720" rtlCol="0" anchor="ctr">
            <a:noAutofit/>
          </a:bodyPr>
          <a:lstStyle/>
          <a:p>
            <a:r>
              <a:rPr lang="en-US" dirty="0"/>
              <a:t>Click to edit Master title style</a:t>
            </a:r>
          </a:p>
        </p:txBody>
      </p:sp>
      <p:sp>
        <p:nvSpPr>
          <p:cNvPr id="6" name="Rectangle 5">
            <a:extLst>
              <a:ext uri="{FF2B5EF4-FFF2-40B4-BE49-F238E27FC236}">
                <a16:creationId xmlns:a16="http://schemas.microsoft.com/office/drawing/2014/main" id="{22C5F1F8-1280-884E-8894-968C107F09E4}"/>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1F80828F-C4E5-CD4A-8C1F-761E9B421162}"/>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0462567"/>
      </p:ext>
    </p:extLst>
  </p:cSld>
  <p:clrMap bg1="lt1" tx1="dk1" bg2="lt2" tx2="dk2" accent1="accent1" accent2="accent2" accent3="accent3" accent4="accent4" accent5="accent5" accent6="accent6" hlink="hlink" folHlink="folHlink"/>
  <p:sldLayoutIdLst>
    <p:sldLayoutId id="2147483809"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2084172" y="1066154"/>
            <a:ext cx="12002531" cy="5802312"/>
          </a:xfrm>
          <a:prstGeom prst="rect">
            <a:avLst/>
          </a:prstGeom>
        </p:spPr>
        <p:txBody>
          <a:bodyPr vert="horz" lIns="91440" tIns="45720" rIns="91440" bIns="45720" rtlCol="0">
            <a:normAutofit/>
          </a:bodyPr>
          <a:lstStyle/>
          <a:p>
            <a:pPr lvl="0"/>
            <a:r>
              <a:rPr lang="en-US" dirty="0"/>
              <a:t>Edit Master text styles</a:t>
            </a:r>
          </a:p>
          <a:p>
            <a:pPr lvl="1"/>
            <a:r>
              <a:rPr lang="en-US" dirty="0"/>
              <a:t>	Edit Master text styles</a:t>
            </a:r>
          </a:p>
          <a:p>
            <a:pPr lvl="2"/>
            <a:r>
              <a:rPr lang="en-US" dirty="0"/>
              <a:t>Edit Master Text styles</a:t>
            </a:r>
          </a:p>
        </p:txBody>
      </p:sp>
    </p:spTree>
    <p:extLst>
      <p:ext uri="{BB962C8B-B14F-4D97-AF65-F5344CB8AC3E}">
        <p14:creationId xmlns:p14="http://schemas.microsoft.com/office/powerpoint/2010/main" val="1365302262"/>
      </p:ext>
    </p:extLst>
  </p:cSld>
  <p:clrMap bg1="lt1" tx1="dk1" bg2="lt2" tx2="dk2" accent1="accent1" accent2="accent2" accent3="accent3" accent4="accent4" accent5="accent5" accent6="accent6" hlink="hlink" folHlink="folHlink"/>
  <p:sldLayoutIdLst>
    <p:sldLayoutId id="21474837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Courier New" panose="02070309020205020404" pitchFamily="49" charset="0"/>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2000" kern="1200" baseline="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130207" y="4959985"/>
            <a:ext cx="15922794" cy="1583039"/>
          </a:xfrm>
          <a:prstGeom prst="rect">
            <a:avLst/>
          </a:prstGeom>
        </p:spPr>
        <p:txBody>
          <a:bodyPr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lgn="l">
              <a:defRPr/>
            </a:pPr>
            <a:r>
              <a:rPr lang="en-US" sz="5400" b="1" dirty="0">
                <a:solidFill>
                  <a:schemeClr val="tx2"/>
                </a:solidFill>
              </a:rPr>
              <a:t>Hands drying</a:t>
            </a:r>
          </a:p>
          <a:p>
            <a:pPr lvl="0" algn="l">
              <a:defRPr/>
            </a:pPr>
            <a:r>
              <a:rPr lang="en-US" sz="3900" b="1" dirty="0">
                <a:solidFill>
                  <a:schemeClr val="accent5"/>
                </a:solidFill>
              </a:rPr>
              <a:t>Process tree answer keys</a:t>
            </a:r>
            <a:endParaRPr lang="en-US" altLang="en-US" sz="3900" b="1" dirty="0">
              <a:solidFill>
                <a:schemeClr val="accent5"/>
              </a:solidFill>
            </a:endParaRP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3021981" cy="4770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274C"/>
                </a:solidFill>
                <a:effectLst/>
                <a:uLnTx/>
                <a:uFillTx/>
                <a:latin typeface="Arial"/>
                <a:ea typeface="+mn-ea"/>
                <a:cs typeface="+mn-cs"/>
              </a:rPr>
              <a:t>Olivier Jolliet, PhD</a:t>
            </a:r>
            <a:endParaRPr kumimoji="0" lang="en-US" sz="2500" b="0" i="0" u="none" strike="noStrike" kern="1200" cap="none" spc="0" normalizeH="0" baseline="0" noProof="0" dirty="0">
              <a:ln>
                <a:noFill/>
              </a:ln>
              <a:solidFill>
                <a:srgbClr val="00274C"/>
              </a:solidFill>
              <a:effectLst/>
              <a:uLnTx/>
              <a:uFillTx/>
              <a:latin typeface="Arial"/>
              <a:ea typeface="+mn-ea"/>
              <a:cs typeface="+mn-cs"/>
            </a:endParaRPr>
          </a:p>
        </p:txBody>
      </p:sp>
    </p:spTree>
    <p:extLst>
      <p:ext uri="{BB962C8B-B14F-4D97-AF65-F5344CB8AC3E}">
        <p14:creationId xmlns:p14="http://schemas.microsoft.com/office/powerpoint/2010/main" val="783769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Hands dryer</a:t>
            </a:r>
            <a:endParaRPr lang="en-US" dirty="0">
              <a:solidFill>
                <a:srgbClr val="FF0000"/>
              </a:solidFill>
            </a:endParaRPr>
          </a:p>
        </p:txBody>
      </p:sp>
      <p:sp>
        <p:nvSpPr>
          <p:cNvPr id="3" name="Content Placeholder 2"/>
          <p:cNvSpPr>
            <a:spLocks noGrp="1"/>
          </p:cNvSpPr>
          <p:nvPr>
            <p:ph idx="1"/>
          </p:nvPr>
        </p:nvSpPr>
        <p:spPr>
          <a:xfrm>
            <a:off x="878783" y="1257078"/>
            <a:ext cx="14863738" cy="2243826"/>
          </a:xfrm>
        </p:spPr>
        <p:txBody>
          <a:bodyPr>
            <a:noAutofit/>
          </a:bodyPr>
          <a:lstStyle/>
          <a:p>
            <a:pPr>
              <a:spcBef>
                <a:spcPts val="0"/>
              </a:spcBef>
              <a:spcAft>
                <a:spcPts val="2000"/>
              </a:spcAft>
            </a:pPr>
            <a:r>
              <a:rPr lang="en-US" sz="2800" dirty="0"/>
              <a:t>In public restrooms, different types of hand dryers exist.  What is the best type of hand dryer?  </a:t>
            </a:r>
          </a:p>
          <a:p>
            <a:pPr>
              <a:spcBef>
                <a:spcPts val="0"/>
              </a:spcBef>
              <a:spcAft>
                <a:spcPts val="2000"/>
              </a:spcAft>
            </a:pPr>
            <a:r>
              <a:rPr lang="en-US" sz="2800" dirty="0"/>
              <a:t>Objective: Compare two types of hand drying: </a:t>
            </a:r>
            <a:br>
              <a:rPr lang="en-US" sz="2800" dirty="0"/>
            </a:br>
            <a:r>
              <a:rPr lang="en-US" sz="2800" dirty="0"/>
              <a:t>A. The paper towel</a:t>
            </a:r>
            <a:br>
              <a:rPr lang="en-US" sz="2800" dirty="0"/>
            </a:br>
            <a:r>
              <a:rPr lang="en-US" sz="2800" dirty="0"/>
              <a:t>B. The air-dryer with hot air</a:t>
            </a:r>
          </a:p>
        </p:txBody>
      </p:sp>
      <p:sp>
        <p:nvSpPr>
          <p:cNvPr id="4" name="Rectangle 3">
            <a:extLst>
              <a:ext uri="{FF2B5EF4-FFF2-40B4-BE49-F238E27FC236}">
                <a16:creationId xmlns:a16="http://schemas.microsoft.com/office/drawing/2014/main" id="{4C53867D-86C8-944F-8D47-9D280BFADD50}"/>
              </a:ext>
            </a:extLst>
          </p:cNvPr>
          <p:cNvSpPr/>
          <p:nvPr/>
        </p:nvSpPr>
        <p:spPr>
          <a:xfrm>
            <a:off x="878783" y="3711902"/>
            <a:ext cx="13534436" cy="3877985"/>
          </a:xfrm>
          <a:prstGeom prst="rect">
            <a:avLst/>
          </a:prstGeom>
        </p:spPr>
        <p:txBody>
          <a:bodyPr wrap="square">
            <a:spAutoFit/>
          </a:bodyPr>
          <a:lstStyle/>
          <a:p>
            <a:pPr>
              <a:spcAft>
                <a:spcPts val="2000"/>
              </a:spcAft>
            </a:pPr>
            <a:r>
              <a:rPr lang="en-US" sz="2800" dirty="0"/>
              <a:t>Method:</a:t>
            </a:r>
          </a:p>
          <a:p>
            <a:pPr>
              <a:spcBef>
                <a:spcPts val="0"/>
              </a:spcBef>
              <a:spcAft>
                <a:spcPts val="2000"/>
              </a:spcAft>
            </a:pPr>
            <a:r>
              <a:rPr lang="en-US" sz="2800" dirty="0"/>
              <a:t>1. describe the function of the system (slide 2); </a:t>
            </a:r>
          </a:p>
          <a:p>
            <a:pPr>
              <a:spcBef>
                <a:spcPts val="0"/>
              </a:spcBef>
              <a:spcAft>
                <a:spcPts val="2000"/>
              </a:spcAft>
            </a:pPr>
            <a:r>
              <a:rPr lang="en-US" sz="2800" dirty="0"/>
              <a:t>2. choose the functional unit that represents the function of the system </a:t>
            </a:r>
            <a:br>
              <a:rPr lang="en-US" sz="2800" dirty="0"/>
            </a:br>
            <a:r>
              <a:rPr lang="en-US" sz="2800" dirty="0"/>
              <a:t>(including a number that qualify the FU) – slide 2; </a:t>
            </a:r>
          </a:p>
          <a:p>
            <a:pPr>
              <a:spcBef>
                <a:spcPts val="0"/>
              </a:spcBef>
              <a:spcAft>
                <a:spcPts val="2000"/>
              </a:spcAft>
            </a:pPr>
            <a:r>
              <a:rPr lang="en-US" sz="2800" dirty="0"/>
              <a:t>3. for each scenario, and using the data on slide 4, list the reference flows corresponding to the selected functional unit. Do provide for each reference flow the QUANTITY used per functional unit.</a:t>
            </a:r>
          </a:p>
        </p:txBody>
      </p:sp>
      <p:sp>
        <p:nvSpPr>
          <p:cNvPr id="5" name="Rectangle 4">
            <a:extLst>
              <a:ext uri="{FF2B5EF4-FFF2-40B4-BE49-F238E27FC236}">
                <a16:creationId xmlns:a16="http://schemas.microsoft.com/office/drawing/2014/main" id="{ADFD014E-2934-5949-A120-3FF5DB0E60F6}"/>
              </a:ext>
            </a:extLst>
          </p:cNvPr>
          <p:cNvSpPr/>
          <p:nvPr/>
        </p:nvSpPr>
        <p:spPr>
          <a:xfrm>
            <a:off x="878783" y="3615428"/>
            <a:ext cx="14052884" cy="3974459"/>
          </a:xfrm>
          <a:prstGeom prst="rect">
            <a:avLst/>
          </a:prstGeom>
          <a:noFill/>
          <a:ln w="317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4" descr="sèche-ma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2300" y="1920020"/>
            <a:ext cx="1778000" cy="1462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descr="seche-mainpapi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7715" y="1920020"/>
            <a:ext cx="1564216" cy="156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190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04FC4DB2-6CDF-5A42-95DB-F7B9760E1BF4}"/>
              </a:ext>
            </a:extLst>
          </p:cNvPr>
          <p:cNvSpPr txBox="1"/>
          <p:nvPr/>
        </p:nvSpPr>
        <p:spPr>
          <a:xfrm>
            <a:off x="7966518" y="8264847"/>
            <a:ext cx="184731" cy="369332"/>
          </a:xfrm>
          <a:prstGeom prst="rect">
            <a:avLst/>
          </a:prstGeom>
          <a:noFill/>
        </p:spPr>
        <p:txBody>
          <a:bodyPr wrap="none" rtlCol="0">
            <a:spAutoFit/>
          </a:bodyPr>
          <a:lstStyle/>
          <a:p>
            <a:endParaRPr lang="en-US" dirty="0"/>
          </a:p>
        </p:txBody>
      </p:sp>
      <p:sp>
        <p:nvSpPr>
          <p:cNvPr id="44" name="Rectangle 43">
            <a:extLst>
              <a:ext uri="{FF2B5EF4-FFF2-40B4-BE49-F238E27FC236}">
                <a16:creationId xmlns:a16="http://schemas.microsoft.com/office/drawing/2014/main" id="{D0A456B8-5E35-1441-97A2-026CB857662B}"/>
              </a:ext>
            </a:extLst>
          </p:cNvPr>
          <p:cNvSpPr/>
          <p:nvPr/>
        </p:nvSpPr>
        <p:spPr>
          <a:xfrm>
            <a:off x="2844266" y="3924298"/>
            <a:ext cx="1978708" cy="1478214"/>
          </a:xfrm>
          <a:prstGeom prst="rect">
            <a:avLst/>
          </a:prstGeom>
          <a:solidFill>
            <a:schemeClr val="accent6">
              <a:alpha val="2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D9CEB1C-999A-1142-9DF9-90742F2B7A4D}"/>
              </a:ext>
            </a:extLst>
          </p:cNvPr>
          <p:cNvSpPr/>
          <p:nvPr/>
        </p:nvSpPr>
        <p:spPr>
          <a:xfrm>
            <a:off x="3042133" y="3309008"/>
            <a:ext cx="1672351" cy="33805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PRODUCTS</a:t>
            </a:r>
          </a:p>
        </p:txBody>
      </p:sp>
      <p:sp>
        <p:nvSpPr>
          <p:cNvPr id="53" name="Rectangle 52">
            <a:extLst>
              <a:ext uri="{FF2B5EF4-FFF2-40B4-BE49-F238E27FC236}">
                <a16:creationId xmlns:a16="http://schemas.microsoft.com/office/drawing/2014/main" id="{B38207BB-5785-DE4D-83A6-89ADC75E6F09}"/>
              </a:ext>
            </a:extLst>
          </p:cNvPr>
          <p:cNvSpPr/>
          <p:nvPr/>
        </p:nvSpPr>
        <p:spPr>
          <a:xfrm>
            <a:off x="5790344" y="3324506"/>
            <a:ext cx="2022678" cy="35128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MAIN FUNCTION</a:t>
            </a:r>
          </a:p>
        </p:txBody>
      </p:sp>
      <p:cxnSp>
        <p:nvCxnSpPr>
          <p:cNvPr id="56" name="Straight Connector 55">
            <a:extLst>
              <a:ext uri="{FF2B5EF4-FFF2-40B4-BE49-F238E27FC236}">
                <a16:creationId xmlns:a16="http://schemas.microsoft.com/office/drawing/2014/main" id="{70A3846F-C647-EC41-ABCE-3FAADA05B775}"/>
              </a:ext>
            </a:extLst>
          </p:cNvPr>
          <p:cNvCxnSpPr>
            <a:cxnSpLocks/>
          </p:cNvCxnSpPr>
          <p:nvPr/>
        </p:nvCxnSpPr>
        <p:spPr>
          <a:xfrm>
            <a:off x="2844266" y="3911552"/>
            <a:ext cx="10412044"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F053C79B-8F47-8E4A-9776-E167F0F62FF9}"/>
              </a:ext>
            </a:extLst>
          </p:cNvPr>
          <p:cNvSpPr/>
          <p:nvPr/>
        </p:nvSpPr>
        <p:spPr>
          <a:xfrm>
            <a:off x="8821536" y="3207732"/>
            <a:ext cx="4419275"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lgn="ctr"/>
            <a:r>
              <a:rPr lang="en-US" sz="1600" b="1" dirty="0">
                <a:solidFill>
                  <a:schemeClr val="tx2"/>
                </a:solidFill>
              </a:rPr>
              <a:t>SECONDARY FUNCTION &amp; </a:t>
            </a:r>
            <a:br>
              <a:rPr lang="en-US" sz="1600" b="1" dirty="0">
                <a:solidFill>
                  <a:schemeClr val="tx2"/>
                </a:solidFill>
              </a:rPr>
            </a:br>
            <a:r>
              <a:rPr lang="en-US" sz="1600" b="1" dirty="0">
                <a:solidFill>
                  <a:schemeClr val="tx2"/>
                </a:solidFill>
              </a:rPr>
              <a:t>OTHER PERFORMANCES</a:t>
            </a:r>
          </a:p>
        </p:txBody>
      </p:sp>
      <p:sp>
        <p:nvSpPr>
          <p:cNvPr id="60" name="Rectangle 59">
            <a:extLst>
              <a:ext uri="{FF2B5EF4-FFF2-40B4-BE49-F238E27FC236}">
                <a16:creationId xmlns:a16="http://schemas.microsoft.com/office/drawing/2014/main" id="{0F6810AE-D525-C14D-AC7D-69242E6A0B6F}"/>
              </a:ext>
            </a:extLst>
          </p:cNvPr>
          <p:cNvSpPr/>
          <p:nvPr/>
        </p:nvSpPr>
        <p:spPr>
          <a:xfrm>
            <a:off x="3008206" y="3955654"/>
            <a:ext cx="1659784"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1600" b="1" dirty="0">
                <a:solidFill>
                  <a:schemeClr val="tx2"/>
                </a:solidFill>
              </a:rPr>
              <a:t>Paper towel</a:t>
            </a:r>
          </a:p>
        </p:txBody>
      </p:sp>
      <p:sp>
        <p:nvSpPr>
          <p:cNvPr id="61" name="Rectangle 60">
            <a:extLst>
              <a:ext uri="{FF2B5EF4-FFF2-40B4-BE49-F238E27FC236}">
                <a16:creationId xmlns:a16="http://schemas.microsoft.com/office/drawing/2014/main" id="{1933C772-478B-5B46-83B3-0F663A1DB1E2}"/>
              </a:ext>
            </a:extLst>
          </p:cNvPr>
          <p:cNvSpPr/>
          <p:nvPr/>
        </p:nvSpPr>
        <p:spPr>
          <a:xfrm>
            <a:off x="3008206" y="4690280"/>
            <a:ext cx="1659784"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1600" b="1" dirty="0">
                <a:solidFill>
                  <a:schemeClr val="tx2"/>
                </a:solidFill>
              </a:rPr>
              <a:t>Air dryer</a:t>
            </a:r>
          </a:p>
        </p:txBody>
      </p:sp>
      <p:cxnSp>
        <p:nvCxnSpPr>
          <p:cNvPr id="63" name="Straight Connector 62">
            <a:extLst>
              <a:ext uri="{FF2B5EF4-FFF2-40B4-BE49-F238E27FC236}">
                <a16:creationId xmlns:a16="http://schemas.microsoft.com/office/drawing/2014/main" id="{D45188D7-D319-0D44-8DF3-A32F029ED678}"/>
              </a:ext>
            </a:extLst>
          </p:cNvPr>
          <p:cNvCxnSpPr>
            <a:cxnSpLocks/>
          </p:cNvCxnSpPr>
          <p:nvPr/>
        </p:nvCxnSpPr>
        <p:spPr>
          <a:xfrm>
            <a:off x="4822974" y="3154024"/>
            <a:ext cx="0" cy="2260863"/>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63100A33-6483-8340-899F-5D30D624704F}"/>
              </a:ext>
            </a:extLst>
          </p:cNvPr>
          <p:cNvCxnSpPr>
            <a:cxnSpLocks/>
          </p:cNvCxnSpPr>
          <p:nvPr/>
        </p:nvCxnSpPr>
        <p:spPr>
          <a:xfrm>
            <a:off x="8837035" y="3154024"/>
            <a:ext cx="0" cy="2260863"/>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65" name="Rectangle 64">
            <a:extLst>
              <a:ext uri="{FF2B5EF4-FFF2-40B4-BE49-F238E27FC236}">
                <a16:creationId xmlns:a16="http://schemas.microsoft.com/office/drawing/2014/main" id="{85FCB4A6-66B1-D741-8ED3-0D94C04830A5}"/>
              </a:ext>
            </a:extLst>
          </p:cNvPr>
          <p:cNvSpPr/>
          <p:nvPr/>
        </p:nvSpPr>
        <p:spPr>
          <a:xfrm>
            <a:off x="2844266" y="3154024"/>
            <a:ext cx="10412044" cy="2248488"/>
          </a:xfrm>
          <a:prstGeom prst="rect">
            <a:avLst/>
          </a:prstGeom>
          <a:noFill/>
          <a:ln w="254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Title 1">
            <a:extLst>
              <a:ext uri="{FF2B5EF4-FFF2-40B4-BE49-F238E27FC236}">
                <a16:creationId xmlns:a16="http://schemas.microsoft.com/office/drawing/2014/main" id="{FD8439A4-B037-4F4E-AFCE-96000C7C1237}"/>
              </a:ext>
            </a:extLst>
          </p:cNvPr>
          <p:cNvSpPr txBox="1">
            <a:spLocks/>
          </p:cNvSpPr>
          <p:nvPr/>
        </p:nvSpPr>
        <p:spPr>
          <a:xfrm>
            <a:off x="1041339" y="288697"/>
            <a:ext cx="14631828" cy="870385"/>
          </a:xfrm>
          <a:prstGeom prst="rect">
            <a:avLst/>
          </a:prstGeom>
        </p:spPr>
        <p:txBody>
          <a:bodyPr vert="horz" lIns="91440" tIns="45720" rIns="91440" bIns="45720" rtlCol="0" anchor="ctr">
            <a:noAutofit/>
          </a:bodyPr>
          <a:lstStyle>
            <a:lvl1pPr algn="l" defTabSz="457200" rtl="0" eaLnBrk="1" latinLnBrk="0" hangingPunct="1">
              <a:spcBef>
                <a:spcPct val="0"/>
              </a:spcBef>
              <a:buNone/>
              <a:defRPr sz="4400" kern="1200">
                <a:solidFill>
                  <a:srgbClr val="00274C"/>
                </a:solidFill>
                <a:latin typeface="+mj-lt"/>
                <a:ea typeface="+mj-ea"/>
                <a:cs typeface="+mj-cs"/>
              </a:defRPr>
            </a:lvl1pPr>
          </a:lstStyle>
          <a:p>
            <a:r>
              <a:rPr lang="en-US" altLang="en-US" dirty="0"/>
              <a:t>Function and functional unit</a:t>
            </a:r>
            <a:endParaRPr lang="en-US" dirty="0">
              <a:solidFill>
                <a:schemeClr val="tx2"/>
              </a:solidFill>
            </a:endParaRPr>
          </a:p>
        </p:txBody>
      </p:sp>
      <p:pic>
        <p:nvPicPr>
          <p:cNvPr id="28" name="Picture 4" descr="sèche-ma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1875" y="4709109"/>
            <a:ext cx="1125721" cy="926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5" descr="seche-mainpapi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1635" y="3750148"/>
            <a:ext cx="870524" cy="87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Rectangle 29">
            <a:extLst>
              <a:ext uri="{FF2B5EF4-FFF2-40B4-BE49-F238E27FC236}">
                <a16:creationId xmlns:a16="http://schemas.microsoft.com/office/drawing/2014/main" id="{0F6810AE-D525-C14D-AC7D-69242E6A0B6F}"/>
              </a:ext>
            </a:extLst>
          </p:cNvPr>
          <p:cNvSpPr/>
          <p:nvPr/>
        </p:nvSpPr>
        <p:spPr>
          <a:xfrm>
            <a:off x="5074660" y="4269538"/>
            <a:ext cx="3674561"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31470" indent="-285750">
              <a:buFont typeface="Arial" panose="020B0604020202020204" pitchFamily="34" charset="0"/>
              <a:buChar char="•"/>
            </a:pPr>
            <a:r>
              <a:rPr lang="en-US" sz="1600" b="1" dirty="0">
                <a:solidFill>
                  <a:srgbClr val="FF0000"/>
                </a:solidFill>
              </a:rPr>
              <a:t>Dry hands after washing</a:t>
            </a:r>
          </a:p>
        </p:txBody>
      </p:sp>
      <p:sp>
        <p:nvSpPr>
          <p:cNvPr id="31" name="Rectangle 30">
            <a:extLst>
              <a:ext uri="{FF2B5EF4-FFF2-40B4-BE49-F238E27FC236}">
                <a16:creationId xmlns:a16="http://schemas.microsoft.com/office/drawing/2014/main" id="{0F6810AE-D525-C14D-AC7D-69242E6A0B6F}"/>
              </a:ext>
            </a:extLst>
          </p:cNvPr>
          <p:cNvSpPr/>
          <p:nvPr/>
        </p:nvSpPr>
        <p:spPr>
          <a:xfrm>
            <a:off x="9155891" y="4310680"/>
            <a:ext cx="3307651"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31470" indent="-285750">
              <a:buFont typeface="Arial" panose="020B0604020202020204" pitchFamily="34" charset="0"/>
              <a:buChar char="•"/>
            </a:pPr>
            <a:r>
              <a:rPr lang="en-US" sz="1600" b="1" dirty="0">
                <a:solidFill>
                  <a:srgbClr val="FF0000"/>
                </a:solidFill>
              </a:rPr>
              <a:t>Clean up a spill</a:t>
            </a:r>
          </a:p>
          <a:p>
            <a:pPr marL="331470" indent="-285750">
              <a:buFont typeface="Arial" panose="020B0604020202020204" pitchFamily="34" charset="0"/>
              <a:buChar char="•"/>
            </a:pPr>
            <a:r>
              <a:rPr lang="en-US" sz="1600" b="1" dirty="0">
                <a:solidFill>
                  <a:srgbClr val="FF0000"/>
                </a:solidFill>
              </a:rPr>
              <a:t>Blow nose</a:t>
            </a:r>
          </a:p>
          <a:p>
            <a:pPr marL="331470" indent="-285750">
              <a:buFont typeface="Arial" panose="020B0604020202020204" pitchFamily="34" charset="0"/>
              <a:buChar char="•"/>
            </a:pPr>
            <a:r>
              <a:rPr lang="en-US" sz="1600" b="1" dirty="0">
                <a:solidFill>
                  <a:srgbClr val="FF0000"/>
                </a:solidFill>
              </a:rPr>
              <a:t>Take to eat food in car</a:t>
            </a:r>
          </a:p>
          <a:p>
            <a:pPr marL="331470" indent="-285750">
              <a:buFont typeface="Arial" panose="020B0604020202020204" pitchFamily="34" charset="0"/>
              <a:buChar char="•"/>
            </a:pPr>
            <a:r>
              <a:rPr lang="en-US" sz="1600" b="1" dirty="0">
                <a:solidFill>
                  <a:srgbClr val="FF0000"/>
                </a:solidFill>
              </a:rPr>
              <a:t>Noise level</a:t>
            </a:r>
          </a:p>
          <a:p>
            <a:pPr marL="331470" indent="-285750">
              <a:buFont typeface="Arial" panose="020B0604020202020204" pitchFamily="34" charset="0"/>
              <a:buChar char="•"/>
            </a:pPr>
            <a:r>
              <a:rPr lang="en-US" sz="1600" b="1" dirty="0">
                <a:solidFill>
                  <a:srgbClr val="FF0000"/>
                </a:solidFill>
              </a:rPr>
              <a:t>Dry wet hair or clothes</a:t>
            </a:r>
          </a:p>
          <a:p>
            <a:pPr marL="331470" indent="-285750">
              <a:buFont typeface="Arial" panose="020B0604020202020204" pitchFamily="34" charset="0"/>
              <a:buChar char="•"/>
            </a:pPr>
            <a:r>
              <a:rPr lang="en-US" sz="1600" b="1" dirty="0">
                <a:solidFill>
                  <a:srgbClr val="FF0000"/>
                </a:solidFill>
              </a:rPr>
              <a:t>Heat the building in Winter</a:t>
            </a:r>
          </a:p>
        </p:txBody>
      </p:sp>
      <p:sp>
        <p:nvSpPr>
          <p:cNvPr id="2" name="Rectangle 1"/>
          <p:cNvSpPr/>
          <p:nvPr/>
        </p:nvSpPr>
        <p:spPr>
          <a:xfrm>
            <a:off x="1041339" y="5635149"/>
            <a:ext cx="11456983" cy="1815882"/>
          </a:xfrm>
          <a:prstGeom prst="rect">
            <a:avLst/>
          </a:prstGeom>
        </p:spPr>
        <p:txBody>
          <a:bodyPr wrap="none">
            <a:spAutoFit/>
          </a:bodyPr>
          <a:lstStyle/>
          <a:p>
            <a:r>
              <a:rPr lang="en-US" sz="2800" dirty="0"/>
              <a:t>2. choose the functional unit that represents the function of the system </a:t>
            </a:r>
          </a:p>
          <a:p>
            <a:r>
              <a:rPr lang="en-US" sz="2800" dirty="0"/>
              <a:t>(including a number that qualify the FU) </a:t>
            </a:r>
          </a:p>
          <a:p>
            <a:endParaRPr lang="en-US" sz="2800" dirty="0"/>
          </a:p>
          <a:p>
            <a:r>
              <a:rPr lang="en-US" sz="2800" dirty="0"/>
              <a:t>Selected functional unit : </a:t>
            </a:r>
            <a:r>
              <a:rPr lang="en-US" sz="2800" dirty="0">
                <a:solidFill>
                  <a:srgbClr val="FF0000"/>
                </a:solidFill>
              </a:rPr>
              <a:t>1 pair of dried hands</a:t>
            </a:r>
          </a:p>
        </p:txBody>
      </p:sp>
      <p:sp>
        <p:nvSpPr>
          <p:cNvPr id="3" name="Rectangle 2"/>
          <p:cNvSpPr/>
          <p:nvPr/>
        </p:nvSpPr>
        <p:spPr>
          <a:xfrm>
            <a:off x="996340" y="1371723"/>
            <a:ext cx="11221342" cy="1877437"/>
          </a:xfrm>
          <a:prstGeom prst="rect">
            <a:avLst/>
          </a:prstGeom>
        </p:spPr>
        <p:txBody>
          <a:bodyPr wrap="none">
            <a:spAutoFit/>
          </a:bodyPr>
          <a:lstStyle/>
          <a:p>
            <a:r>
              <a:rPr lang="en-US" sz="2800" dirty="0"/>
              <a:t>1. describe the function of the system by filling the table below </a:t>
            </a:r>
            <a:br>
              <a:rPr lang="en-US" sz="2800" dirty="0"/>
            </a:br>
            <a:r>
              <a:rPr lang="en-US" sz="2800" dirty="0"/>
              <a:t>(</a:t>
            </a:r>
            <a:r>
              <a:rPr lang="en-US" altLang="en-US" sz="2800" dirty="0"/>
              <a:t>For each scenario, find a secondary function that might save energy </a:t>
            </a:r>
            <a:br>
              <a:rPr lang="en-US" altLang="en-US" sz="2800" dirty="0"/>
            </a:br>
            <a:r>
              <a:rPr lang="en-US" altLang="en-US" sz="2800" dirty="0"/>
              <a:t>beyond the main hand drying function)</a:t>
            </a:r>
            <a:endParaRPr lang="en-US" altLang="en-US" sz="2800" dirty="0">
              <a:solidFill>
                <a:srgbClr val="FF0000"/>
              </a:solidFill>
            </a:endParaRPr>
          </a:p>
          <a:p>
            <a:endParaRPr lang="en-US" dirty="0"/>
          </a:p>
        </p:txBody>
      </p:sp>
    </p:spTree>
    <p:extLst>
      <p:ext uri="{BB962C8B-B14F-4D97-AF65-F5344CB8AC3E}">
        <p14:creationId xmlns:p14="http://schemas.microsoft.com/office/powerpoint/2010/main" val="2792084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216734" y="2432246"/>
            <a:ext cx="13869029" cy="5057259"/>
          </a:xfrm>
          <a:prstGeom prst="rect">
            <a:avLst/>
          </a:prstGeom>
        </p:spPr>
      </p:pic>
      <p:sp>
        <p:nvSpPr>
          <p:cNvPr id="35" name="TextBox 34">
            <a:extLst>
              <a:ext uri="{FF2B5EF4-FFF2-40B4-BE49-F238E27FC236}">
                <a16:creationId xmlns:a16="http://schemas.microsoft.com/office/drawing/2014/main" id="{04FC4DB2-6CDF-5A42-95DB-F7B9760E1BF4}"/>
              </a:ext>
            </a:extLst>
          </p:cNvPr>
          <p:cNvSpPr txBox="1"/>
          <p:nvPr/>
        </p:nvSpPr>
        <p:spPr>
          <a:xfrm>
            <a:off x="7966518" y="8264847"/>
            <a:ext cx="184731" cy="369332"/>
          </a:xfrm>
          <a:prstGeom prst="rect">
            <a:avLst/>
          </a:prstGeom>
          <a:noFill/>
        </p:spPr>
        <p:txBody>
          <a:bodyPr wrap="none" rtlCol="0">
            <a:spAutoFit/>
          </a:bodyPr>
          <a:lstStyle/>
          <a:p>
            <a:endParaRPr lang="en-US" dirty="0"/>
          </a:p>
        </p:txBody>
      </p:sp>
      <p:sp>
        <p:nvSpPr>
          <p:cNvPr id="77" name="Rectangle 76">
            <a:extLst>
              <a:ext uri="{FF2B5EF4-FFF2-40B4-BE49-F238E27FC236}">
                <a16:creationId xmlns:a16="http://schemas.microsoft.com/office/drawing/2014/main" id="{CF6374D5-C9C2-AE45-8C51-D4497FBF8B9E}"/>
              </a:ext>
            </a:extLst>
          </p:cNvPr>
          <p:cNvSpPr/>
          <p:nvPr/>
        </p:nvSpPr>
        <p:spPr>
          <a:xfrm>
            <a:off x="1302534" y="3676649"/>
            <a:ext cx="1659784" cy="33360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Paper towel</a:t>
            </a:r>
          </a:p>
        </p:txBody>
      </p:sp>
      <p:sp>
        <p:nvSpPr>
          <p:cNvPr id="78" name="Rectangle 77">
            <a:extLst>
              <a:ext uri="{FF2B5EF4-FFF2-40B4-BE49-F238E27FC236}">
                <a16:creationId xmlns:a16="http://schemas.microsoft.com/office/drawing/2014/main" id="{C094E664-CCF6-D147-80EE-713A4CDC09FD}"/>
              </a:ext>
            </a:extLst>
          </p:cNvPr>
          <p:cNvSpPr/>
          <p:nvPr/>
        </p:nvSpPr>
        <p:spPr>
          <a:xfrm>
            <a:off x="1302534" y="5598747"/>
            <a:ext cx="1659784" cy="32847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Air dryer</a:t>
            </a:r>
          </a:p>
        </p:txBody>
      </p:sp>
      <p:sp>
        <p:nvSpPr>
          <p:cNvPr id="39" name="Title 1">
            <a:extLst>
              <a:ext uri="{FF2B5EF4-FFF2-40B4-BE49-F238E27FC236}">
                <a16:creationId xmlns:a16="http://schemas.microsoft.com/office/drawing/2014/main" id="{FD8439A4-B037-4F4E-AFCE-96000C7C1237}"/>
              </a:ext>
            </a:extLst>
          </p:cNvPr>
          <p:cNvSpPr txBox="1">
            <a:spLocks/>
          </p:cNvSpPr>
          <p:nvPr/>
        </p:nvSpPr>
        <p:spPr>
          <a:xfrm>
            <a:off x="1041339" y="288697"/>
            <a:ext cx="14631828" cy="870385"/>
          </a:xfrm>
          <a:prstGeom prst="rect">
            <a:avLst/>
          </a:prstGeom>
        </p:spPr>
        <p:txBody>
          <a:bodyPr vert="horz" lIns="91440" tIns="45720" rIns="91440" bIns="45720" rtlCol="0" anchor="ctr">
            <a:noAutofit/>
          </a:bodyPr>
          <a:lstStyle>
            <a:lvl1pPr algn="l" defTabSz="457200" rtl="0" eaLnBrk="1" latinLnBrk="0" hangingPunct="1">
              <a:spcBef>
                <a:spcPct val="0"/>
              </a:spcBef>
              <a:buNone/>
              <a:defRPr sz="4400" kern="1200">
                <a:solidFill>
                  <a:srgbClr val="00274C"/>
                </a:solidFill>
                <a:latin typeface="+mj-lt"/>
                <a:ea typeface="+mj-ea"/>
                <a:cs typeface="+mj-cs"/>
              </a:defRPr>
            </a:lvl1pPr>
          </a:lstStyle>
          <a:p>
            <a:r>
              <a:rPr lang="en-US" altLang="en-US" dirty="0"/>
              <a:t>Reference flows and key environmental parameters</a:t>
            </a:r>
            <a:endParaRPr lang="en-US" dirty="0">
              <a:solidFill>
                <a:schemeClr val="tx2"/>
              </a:solidFill>
            </a:endParaRPr>
          </a:p>
        </p:txBody>
      </p:sp>
      <p:sp>
        <p:nvSpPr>
          <p:cNvPr id="30" name="Rectangle 29"/>
          <p:cNvSpPr/>
          <p:nvPr/>
        </p:nvSpPr>
        <p:spPr>
          <a:xfrm>
            <a:off x="887104" y="1323869"/>
            <a:ext cx="14575809" cy="1384995"/>
          </a:xfrm>
          <a:prstGeom prst="rect">
            <a:avLst/>
          </a:prstGeom>
        </p:spPr>
        <p:txBody>
          <a:bodyPr wrap="square">
            <a:spAutoFit/>
          </a:bodyPr>
          <a:lstStyle/>
          <a:p>
            <a:r>
              <a:rPr lang="en-US" sz="2800" dirty="0"/>
              <a:t>To make your life easier to compare with the answer keys, I have now selected a functional unit of 1 pair of dried hands:  </a:t>
            </a:r>
            <a:r>
              <a:rPr lang="en-US" sz="2800" dirty="0">
                <a:solidFill>
                  <a:srgbClr val="FF0000"/>
                </a:solidFill>
              </a:rPr>
              <a:t>keep your reference flows simple, only what you directly buy!</a:t>
            </a:r>
          </a:p>
          <a:p>
            <a:endParaRPr lang="en-US" sz="2800" dirty="0"/>
          </a:p>
        </p:txBody>
      </p:sp>
      <p:sp>
        <p:nvSpPr>
          <p:cNvPr id="31" name="Rectangle 30">
            <a:extLst>
              <a:ext uri="{FF2B5EF4-FFF2-40B4-BE49-F238E27FC236}">
                <a16:creationId xmlns:a16="http://schemas.microsoft.com/office/drawing/2014/main" id="{CF6374D5-C9C2-AE45-8C51-D4497FBF8B9E}"/>
              </a:ext>
            </a:extLst>
          </p:cNvPr>
          <p:cNvSpPr/>
          <p:nvPr/>
        </p:nvSpPr>
        <p:spPr>
          <a:xfrm>
            <a:off x="4047378" y="4987084"/>
            <a:ext cx="1659784" cy="33360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1 pair of dried hands</a:t>
            </a:r>
          </a:p>
        </p:txBody>
      </p:sp>
      <p:sp>
        <p:nvSpPr>
          <p:cNvPr id="23" name="Rectangle 22">
            <a:extLst>
              <a:ext uri="{FF2B5EF4-FFF2-40B4-BE49-F238E27FC236}">
                <a16:creationId xmlns:a16="http://schemas.microsoft.com/office/drawing/2014/main" id="{CF6374D5-C9C2-AE45-8C51-D4497FBF8B9E}"/>
              </a:ext>
            </a:extLst>
          </p:cNvPr>
          <p:cNvSpPr/>
          <p:nvPr/>
        </p:nvSpPr>
        <p:spPr>
          <a:xfrm>
            <a:off x="6209731" y="3703023"/>
            <a:ext cx="3586278" cy="1384671"/>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rgbClr val="FF0000"/>
                </a:solidFill>
              </a:rPr>
              <a:t>1.5 towels /FU</a:t>
            </a:r>
          </a:p>
          <a:p>
            <a:pPr marL="45720"/>
            <a:endParaRPr lang="en-US" sz="1600" b="1" dirty="0">
              <a:solidFill>
                <a:srgbClr val="FF0000"/>
              </a:solidFill>
            </a:endParaRPr>
          </a:p>
          <a:p>
            <a:pPr marL="45720"/>
            <a:r>
              <a:rPr lang="en-US" sz="1600" dirty="0">
                <a:solidFill>
                  <a:srgbClr val="FF0000"/>
                </a:solidFill>
              </a:rPr>
              <a:t>1/(365*10*50)/FU = </a:t>
            </a:r>
          </a:p>
          <a:p>
            <a:pPr marL="45720"/>
            <a:r>
              <a:rPr lang="en-US" sz="1600" b="1" dirty="0">
                <a:solidFill>
                  <a:srgbClr val="FF0000"/>
                </a:solidFill>
              </a:rPr>
              <a:t>(1/182500) plastic distributor/FU</a:t>
            </a:r>
          </a:p>
        </p:txBody>
      </p:sp>
      <p:sp>
        <p:nvSpPr>
          <p:cNvPr id="24" name="Rectangle 23">
            <a:extLst>
              <a:ext uri="{FF2B5EF4-FFF2-40B4-BE49-F238E27FC236}">
                <a16:creationId xmlns:a16="http://schemas.microsoft.com/office/drawing/2014/main" id="{CF6374D5-C9C2-AE45-8C51-D4497FBF8B9E}"/>
              </a:ext>
            </a:extLst>
          </p:cNvPr>
          <p:cNvSpPr/>
          <p:nvPr/>
        </p:nvSpPr>
        <p:spPr>
          <a:xfrm>
            <a:off x="6029228" y="5565336"/>
            <a:ext cx="3766781" cy="1384671"/>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dirty="0">
                <a:solidFill>
                  <a:srgbClr val="FF0000"/>
                </a:solidFill>
              </a:rPr>
              <a:t>1800 W ∙ 30s/FU = 54000 J  (or W∙s)</a:t>
            </a:r>
          </a:p>
          <a:p>
            <a:pPr marL="45720"/>
            <a:r>
              <a:rPr lang="en-US" sz="1600" dirty="0">
                <a:solidFill>
                  <a:srgbClr val="FF0000"/>
                </a:solidFill>
              </a:rPr>
              <a:t>= 54000 W∙s /(3600 s/h) / (1000 W/kW)</a:t>
            </a:r>
          </a:p>
          <a:p>
            <a:pPr marL="45720"/>
            <a:r>
              <a:rPr lang="en-US" sz="1600" b="1" dirty="0">
                <a:solidFill>
                  <a:srgbClr val="FF0000"/>
                </a:solidFill>
              </a:rPr>
              <a:t>= 0.015 kWh/FU electricity</a:t>
            </a:r>
          </a:p>
          <a:p>
            <a:pPr marL="45720"/>
            <a:endParaRPr lang="en-US" sz="1600" b="1" dirty="0">
              <a:solidFill>
                <a:srgbClr val="FF0000"/>
              </a:solidFill>
            </a:endParaRPr>
          </a:p>
          <a:p>
            <a:pPr marL="45720"/>
            <a:r>
              <a:rPr lang="en-US" sz="1600" dirty="0">
                <a:solidFill>
                  <a:srgbClr val="FF0000"/>
                </a:solidFill>
              </a:rPr>
              <a:t>1/(365*20*50)/FU = </a:t>
            </a:r>
          </a:p>
          <a:p>
            <a:pPr marL="45720"/>
            <a:r>
              <a:rPr lang="en-US" sz="1600" b="1" dirty="0">
                <a:solidFill>
                  <a:srgbClr val="FF0000"/>
                </a:solidFill>
              </a:rPr>
              <a:t>(1/365000) air dryer device /FU</a:t>
            </a:r>
          </a:p>
        </p:txBody>
      </p:sp>
      <p:sp>
        <p:nvSpPr>
          <p:cNvPr id="25" name="Rectangle 24">
            <a:extLst>
              <a:ext uri="{FF2B5EF4-FFF2-40B4-BE49-F238E27FC236}">
                <a16:creationId xmlns:a16="http://schemas.microsoft.com/office/drawing/2014/main" id="{CF6374D5-C9C2-AE45-8C51-D4497FBF8B9E}"/>
              </a:ext>
            </a:extLst>
          </p:cNvPr>
          <p:cNvSpPr/>
          <p:nvPr/>
        </p:nvSpPr>
        <p:spPr>
          <a:xfrm>
            <a:off x="9836000" y="3703023"/>
            <a:ext cx="5209771" cy="2726071"/>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331470" indent="-285750">
              <a:buFont typeface="Arial" panose="020B0604020202020204" pitchFamily="34" charset="0"/>
              <a:buChar char="•"/>
            </a:pPr>
            <a:r>
              <a:rPr lang="en-US" sz="1600" b="1" dirty="0">
                <a:solidFill>
                  <a:srgbClr val="FF0000"/>
                </a:solidFill>
              </a:rPr>
              <a:t>Number of towels used to dry 1 pair of hand</a:t>
            </a:r>
            <a:r>
              <a:rPr lang="en-US" sz="1600" dirty="0">
                <a:solidFill>
                  <a:srgbClr val="FF0000"/>
                </a:solidFill>
              </a:rPr>
              <a:t>: According to a screening survey at our Swiss University, 1 towel/pair of dry hands in the men bathroom, 2 towels/pair of dry hands in the women bathroom, thus 1.5 on average)</a:t>
            </a:r>
          </a:p>
          <a:p>
            <a:pPr marL="45720"/>
            <a:endParaRPr lang="en-US" sz="300" dirty="0">
              <a:solidFill>
                <a:srgbClr val="FF0000"/>
              </a:solidFill>
            </a:endParaRPr>
          </a:p>
          <a:p>
            <a:pPr marL="331470" indent="-285750">
              <a:buFont typeface="Arial" panose="020B0604020202020204" pitchFamily="34" charset="0"/>
              <a:buChar char="•"/>
            </a:pPr>
            <a:r>
              <a:rPr lang="en-US" sz="1600" b="1" dirty="0">
                <a:solidFill>
                  <a:srgbClr val="FF0000"/>
                </a:solidFill>
              </a:rPr>
              <a:t>Weight of a paper towel </a:t>
            </a:r>
            <a:r>
              <a:rPr lang="en-US" sz="1600" dirty="0">
                <a:solidFill>
                  <a:srgbClr val="FF0000"/>
                </a:solidFill>
              </a:rPr>
              <a:t>(material extraction and manufacturing)</a:t>
            </a:r>
          </a:p>
          <a:p>
            <a:pPr marL="331470" indent="-285750">
              <a:buFont typeface="Arial" panose="020B0604020202020204" pitchFamily="34" charset="0"/>
              <a:buChar char="•"/>
            </a:pPr>
            <a:endParaRPr lang="en-US" sz="300" dirty="0">
              <a:solidFill>
                <a:srgbClr val="FF0000"/>
              </a:solidFill>
            </a:endParaRPr>
          </a:p>
          <a:p>
            <a:pPr marL="331470" indent="-285750">
              <a:buFont typeface="Arial" panose="020B0604020202020204" pitchFamily="34" charset="0"/>
              <a:buChar char="•"/>
            </a:pPr>
            <a:r>
              <a:rPr lang="en-US" sz="1600" i="1" dirty="0">
                <a:solidFill>
                  <a:srgbClr val="FF0000"/>
                </a:solidFill>
              </a:rPr>
              <a:t>Lifespan of the devices and amount and type of materials per device, plastic or iron </a:t>
            </a:r>
            <a:r>
              <a:rPr lang="en-US" sz="1600" dirty="0">
                <a:solidFill>
                  <a:srgbClr val="FF0000"/>
                </a:solidFill>
              </a:rPr>
              <a:t>(material extraction and manufacturing stages: whereas the fraction is so low that it does not really matter much)</a:t>
            </a:r>
          </a:p>
          <a:p>
            <a:pPr marL="331470" indent="-285750">
              <a:buFont typeface="Arial" panose="020B0604020202020204" pitchFamily="34" charset="0"/>
              <a:buChar char="•"/>
            </a:pPr>
            <a:endParaRPr lang="en-US" sz="300" dirty="0">
              <a:solidFill>
                <a:srgbClr val="FF0000"/>
              </a:solidFill>
            </a:endParaRPr>
          </a:p>
          <a:p>
            <a:pPr marL="331470" indent="-285750">
              <a:buFont typeface="Arial" panose="020B0604020202020204" pitchFamily="34" charset="0"/>
              <a:buChar char="•"/>
            </a:pPr>
            <a:r>
              <a:rPr lang="en-US" sz="1600" b="1" dirty="0">
                <a:solidFill>
                  <a:srgbClr val="FF0000"/>
                </a:solidFill>
              </a:rPr>
              <a:t>Duration of the air drying (use stage: newer dryers with high flow only need 10s)</a:t>
            </a:r>
          </a:p>
          <a:p>
            <a:pPr marL="331470" indent="-285750">
              <a:buFont typeface="Arial" panose="020B0604020202020204" pitchFamily="34" charset="0"/>
              <a:buChar char="•"/>
            </a:pPr>
            <a:endParaRPr lang="en-US" sz="1600" b="1" dirty="0">
              <a:solidFill>
                <a:schemeClr val="tx2"/>
              </a:solidFill>
            </a:endParaRPr>
          </a:p>
          <a:p>
            <a:pPr marL="45720"/>
            <a:endParaRPr lang="en-US" sz="1600" b="1" dirty="0">
              <a:solidFill>
                <a:schemeClr val="tx2"/>
              </a:solidFill>
            </a:endParaRPr>
          </a:p>
        </p:txBody>
      </p:sp>
      <p:pic>
        <p:nvPicPr>
          <p:cNvPr id="26" name="Picture 12" descr="sèche-ma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1293" y="6227224"/>
            <a:ext cx="1116374" cy="91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3" descr="seche-mainpapi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6880" y="4133732"/>
            <a:ext cx="844304" cy="844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6387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Char char="•"/>
              <a:defRPr sz="4267" b="1">
                <a:solidFill>
                  <a:srgbClr val="01035B"/>
                </a:solidFill>
                <a:latin typeface="Arial" panose="020B0604020202020204" pitchFamily="34" charset="0"/>
              </a:defRPr>
            </a:lvl1pPr>
            <a:lvl2pPr marL="990575" indent="-380990">
              <a:spcBef>
                <a:spcPct val="20000"/>
              </a:spcBef>
              <a:buClr>
                <a:srgbClr val="FF9900"/>
              </a:buClr>
              <a:buChar char="–"/>
              <a:defRPr sz="3733" b="1">
                <a:solidFill>
                  <a:srgbClr val="01035B"/>
                </a:solidFill>
                <a:latin typeface="Arial" panose="020B0604020202020204" pitchFamily="34" charset="0"/>
              </a:defRPr>
            </a:lvl2pPr>
            <a:lvl3pPr marL="1523962" indent="-304792">
              <a:spcBef>
                <a:spcPct val="20000"/>
              </a:spcBef>
              <a:buClr>
                <a:srgbClr val="FF9900"/>
              </a:buClr>
              <a:buChar char="•"/>
              <a:defRPr sz="3200" b="1">
                <a:solidFill>
                  <a:srgbClr val="01035B"/>
                </a:solidFill>
                <a:latin typeface="Arial" panose="020B0604020202020204" pitchFamily="34" charset="0"/>
              </a:defRPr>
            </a:lvl3pPr>
            <a:lvl4pPr marL="2133547" indent="-304792">
              <a:spcBef>
                <a:spcPct val="20000"/>
              </a:spcBef>
              <a:buClr>
                <a:srgbClr val="FF9900"/>
              </a:buClr>
              <a:buChar char="–"/>
              <a:defRPr sz="2667" b="1">
                <a:solidFill>
                  <a:srgbClr val="01035B"/>
                </a:solidFill>
                <a:latin typeface="Arial" panose="020B0604020202020204" pitchFamily="34" charset="0"/>
              </a:defRPr>
            </a:lvl4pPr>
            <a:lvl5pPr marL="2743131" indent="-304792">
              <a:spcBef>
                <a:spcPct val="20000"/>
              </a:spcBef>
              <a:buClr>
                <a:srgbClr val="FF9900"/>
              </a:buClr>
              <a:buChar char="»"/>
              <a:defRPr sz="2667" b="1">
                <a:solidFill>
                  <a:srgbClr val="01035B"/>
                </a:solidFill>
                <a:latin typeface="Arial" panose="020B0604020202020204" pitchFamily="34" charset="0"/>
              </a:defRPr>
            </a:lvl5pPr>
            <a:lvl6pPr marL="3352716"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6pPr>
            <a:lvl7pPr marL="3962301"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7pPr>
            <a:lvl8pPr marL="4571886"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8pPr>
            <a:lvl9pPr marL="5181470"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9pPr>
          </a:lstStyle>
          <a:p>
            <a:pPr>
              <a:spcBef>
                <a:spcPct val="0"/>
              </a:spcBef>
              <a:buClrTx/>
              <a:buFontTx/>
              <a:buNone/>
            </a:pPr>
            <a:fld id="{D0FA91AE-63A9-4136-AFFF-24EAFB373D13}" type="slidenum">
              <a:rPr lang="en-US" altLang="en-US" sz="1867" b="0">
                <a:solidFill>
                  <a:schemeClr val="tx1"/>
                </a:solidFill>
              </a:rPr>
              <a:pPr>
                <a:spcBef>
                  <a:spcPct val="0"/>
                </a:spcBef>
                <a:buClrTx/>
                <a:buFontTx/>
                <a:buNone/>
              </a:pPr>
              <a:t>5</a:t>
            </a:fld>
            <a:endParaRPr lang="en-US" altLang="en-US" sz="1867" b="0">
              <a:solidFill>
                <a:schemeClr val="tx1"/>
              </a:solidFill>
            </a:endParaRPr>
          </a:p>
        </p:txBody>
      </p:sp>
      <p:sp>
        <p:nvSpPr>
          <p:cNvPr id="15363" name="Rectangle 2"/>
          <p:cNvSpPr>
            <a:spLocks noGrp="1" noChangeArrowheads="1"/>
          </p:cNvSpPr>
          <p:nvPr>
            <p:ph type="title"/>
          </p:nvPr>
        </p:nvSpPr>
        <p:spPr>
          <a:xfrm>
            <a:off x="846163" y="139085"/>
            <a:ext cx="16251943" cy="1176867"/>
          </a:xfrm>
        </p:spPr>
        <p:txBody>
          <a:bodyPr/>
          <a:lstStyle/>
          <a:p>
            <a:pPr eaLnBrk="1" hangingPunct="1"/>
            <a:r>
              <a:rPr lang="en-US" altLang="en-US" sz="4267" dirty="0"/>
              <a:t>Hand Dryers – Intermediary Flows</a:t>
            </a:r>
          </a:p>
        </p:txBody>
      </p:sp>
      <p:graphicFrame>
        <p:nvGraphicFramePr>
          <p:cNvPr id="3106870" name="Group 54"/>
          <p:cNvGraphicFramePr>
            <a:graphicFrameLocks noGrp="1"/>
          </p:cNvGraphicFramePr>
          <p:nvPr>
            <p:ph sz="quarter" idx="2"/>
            <p:extLst>
              <p:ext uri="{D42A27DB-BD31-4B8C-83A1-F6EECF244321}">
                <p14:modId xmlns:p14="http://schemas.microsoft.com/office/powerpoint/2010/main" val="4000052364"/>
              </p:ext>
            </p:extLst>
          </p:nvPr>
        </p:nvGraphicFramePr>
        <p:xfrm>
          <a:off x="9922719" y="1485822"/>
          <a:ext cx="5384800" cy="3906136"/>
        </p:xfrm>
        <a:graphic>
          <a:graphicData uri="http://schemas.openxmlformats.org/drawingml/2006/table">
            <a:tbl>
              <a:tblPr/>
              <a:tblGrid>
                <a:gridCol w="2495551">
                  <a:extLst>
                    <a:ext uri="{9D8B030D-6E8A-4147-A177-3AD203B41FA5}">
                      <a16:colId xmlns:a16="http://schemas.microsoft.com/office/drawing/2014/main" val="20000"/>
                    </a:ext>
                  </a:extLst>
                </a:gridCol>
                <a:gridCol w="2889249">
                  <a:extLst>
                    <a:ext uri="{9D8B030D-6E8A-4147-A177-3AD203B41FA5}">
                      <a16:colId xmlns:a16="http://schemas.microsoft.com/office/drawing/2014/main" val="20001"/>
                    </a:ext>
                  </a:extLst>
                </a:gridCol>
              </a:tblGrid>
              <a:tr h="547694">
                <a:tc>
                  <a:txBody>
                    <a:bodyPr/>
                    <a:lstStyle/>
                    <a:p>
                      <a:pPr marL="0" marR="0" lvl="0" indent="0" algn="l" defTabSz="914400" rtl="0" eaLnBrk="1" fontAlgn="base" latinLnBrk="0" hangingPunct="1">
                        <a:lnSpc>
                          <a:spcPct val="100000"/>
                        </a:lnSpc>
                        <a:spcBef>
                          <a:spcPts val="0"/>
                        </a:spcBef>
                        <a:spcAft>
                          <a:spcPct val="0"/>
                        </a:spcAft>
                        <a:buClr>
                          <a:srgbClr val="FF9900"/>
                        </a:buClr>
                        <a:buSzTx/>
                        <a:buFontTx/>
                        <a:buNone/>
                        <a:tabLst/>
                      </a:pPr>
                      <a:endParaRPr kumimoji="0" lang="en-US" sz="4300" b="1" i="0" u="none" strike="noStrike" cap="none" normalizeH="0" baseline="0" dirty="0">
                        <a:ln>
                          <a:noFill/>
                        </a:ln>
                        <a:solidFill>
                          <a:srgbClr val="01035B"/>
                        </a:solidFill>
                        <a:effectLst/>
                        <a:latin typeface="Arial" charset="0"/>
                      </a:endParaRPr>
                    </a:p>
                  </a:txBody>
                  <a:tcPr marL="121920" marR="121920" marT="60936" marB="609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ts val="0"/>
                        </a:spcBef>
                        <a:spcAft>
                          <a:spcPct val="0"/>
                        </a:spcAft>
                        <a:buClrTx/>
                        <a:buSzTx/>
                        <a:buFontTx/>
                        <a:buNone/>
                        <a:tabLst/>
                      </a:pPr>
                      <a:r>
                        <a:rPr kumimoji="0" lang="en-US" sz="2100" b="1" i="0" u="none" strike="noStrike" cap="none" normalizeH="0" baseline="0" dirty="0">
                          <a:ln>
                            <a:noFill/>
                          </a:ln>
                          <a:solidFill>
                            <a:schemeClr val="tx1"/>
                          </a:solidFill>
                          <a:effectLst/>
                          <a:latin typeface="+mn-lt"/>
                          <a:cs typeface="Times New Roman" pitchFamily="18" charset="0"/>
                        </a:rPr>
                        <a:t>Hot air hand dryer</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Weight</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a:ln>
                            <a:noFill/>
                          </a:ln>
                          <a:solidFill>
                            <a:schemeClr val="tx1"/>
                          </a:solidFill>
                          <a:effectLst/>
                          <a:latin typeface="+mn-lt"/>
                          <a:cs typeface="Times New Roman" pitchFamily="18" charset="0"/>
                        </a:rPr>
                        <a:t>12 kg</a:t>
                      </a:r>
                      <a:endParaRPr kumimoji="0" lang="en-US" sz="3700" b="0" i="0" u="none" strike="noStrike" cap="none" normalizeH="0" baseline="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Carcass</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8 kg Cast iron</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Base</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4 kg steel</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a:ln>
                            <a:noFill/>
                          </a:ln>
                          <a:solidFill>
                            <a:schemeClr val="tx1"/>
                          </a:solidFill>
                          <a:effectLst/>
                          <a:latin typeface="+mn-lt"/>
                          <a:cs typeface="Times New Roman" pitchFamily="18" charset="0"/>
                        </a:rPr>
                        <a:t>Device Life time</a:t>
                      </a:r>
                      <a:endParaRPr kumimoji="0" lang="en-US" sz="3700" b="0" i="0" u="none" strike="noStrike" cap="none" normalizeH="0" baseline="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20 years</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a:ln>
                            <a:noFill/>
                          </a:ln>
                          <a:solidFill>
                            <a:schemeClr val="tx1"/>
                          </a:solidFill>
                          <a:effectLst/>
                          <a:latin typeface="+mn-lt"/>
                          <a:cs typeface="Times New Roman" pitchFamily="18" charset="0"/>
                        </a:rPr>
                        <a:t>Electricity rate</a:t>
                      </a:r>
                      <a:endParaRPr kumimoji="0" lang="en-US" sz="3700" b="0" i="0" u="none" strike="noStrike" cap="none" normalizeH="0" baseline="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1800 W</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a:ln>
                            <a:noFill/>
                          </a:ln>
                          <a:solidFill>
                            <a:schemeClr val="tx1"/>
                          </a:solidFill>
                          <a:effectLst/>
                          <a:latin typeface="+mn-lt"/>
                          <a:cs typeface="Times New Roman" pitchFamily="18" charset="0"/>
                        </a:rPr>
                        <a:t>Drying time</a:t>
                      </a:r>
                      <a:endParaRPr kumimoji="0" lang="en-US" sz="3700" b="0" i="0" u="none" strike="noStrike" cap="none" normalizeH="0" baseline="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30 s</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a:ln>
                            <a:noFill/>
                          </a:ln>
                          <a:solidFill>
                            <a:schemeClr val="tx1"/>
                          </a:solidFill>
                          <a:effectLst/>
                          <a:latin typeface="+mn-lt"/>
                          <a:cs typeface="Times New Roman" pitchFamily="18" charset="0"/>
                        </a:rPr>
                        <a:t>Transport</a:t>
                      </a:r>
                      <a:endParaRPr kumimoji="0" lang="en-US" sz="3700" b="0" i="0" u="none" strike="noStrike" cap="none" normalizeH="0" baseline="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100km truck</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3106849" name="Group 33"/>
          <p:cNvGraphicFramePr>
            <a:graphicFrameLocks noGrp="1"/>
          </p:cNvGraphicFramePr>
          <p:nvPr>
            <p:ph sz="quarter" idx="3"/>
            <p:extLst>
              <p:ext uri="{D42A27DB-BD31-4B8C-83A1-F6EECF244321}">
                <p14:modId xmlns:p14="http://schemas.microsoft.com/office/powerpoint/2010/main" val="250409087"/>
              </p:ext>
            </p:extLst>
          </p:nvPr>
        </p:nvGraphicFramePr>
        <p:xfrm>
          <a:off x="9922719" y="5561828"/>
          <a:ext cx="5384800" cy="2453240"/>
        </p:xfrm>
        <a:graphic>
          <a:graphicData uri="http://schemas.openxmlformats.org/drawingml/2006/table">
            <a:tbl>
              <a:tblPr/>
              <a:tblGrid>
                <a:gridCol w="3433233">
                  <a:extLst>
                    <a:ext uri="{9D8B030D-6E8A-4147-A177-3AD203B41FA5}">
                      <a16:colId xmlns:a16="http://schemas.microsoft.com/office/drawing/2014/main" val="20000"/>
                    </a:ext>
                  </a:extLst>
                </a:gridCol>
                <a:gridCol w="1951567">
                  <a:extLst>
                    <a:ext uri="{9D8B030D-6E8A-4147-A177-3AD203B41FA5}">
                      <a16:colId xmlns:a16="http://schemas.microsoft.com/office/drawing/2014/main" val="20001"/>
                    </a:ext>
                  </a:extLst>
                </a:gridCol>
              </a:tblGrid>
              <a:tr h="585559">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100" b="1" i="0" u="none" strike="noStrike" cap="none" normalizeH="0" baseline="0" dirty="0">
                          <a:ln>
                            <a:noFill/>
                          </a:ln>
                          <a:solidFill>
                            <a:schemeClr val="tx1"/>
                          </a:solidFill>
                          <a:effectLst/>
                          <a:latin typeface="+mn-lt"/>
                          <a:cs typeface="Times New Roman" pitchFamily="18" charset="0"/>
                        </a:rPr>
                        <a:t>paper towel</a:t>
                      </a:r>
                      <a:endParaRPr kumimoji="0" lang="en-US" sz="3700" b="1"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595">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Towel weight</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3.58 g</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595">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Weight of towel container</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3 kg plastic</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6595">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a:ln>
                            <a:noFill/>
                          </a:ln>
                          <a:solidFill>
                            <a:schemeClr val="tx1"/>
                          </a:solidFill>
                          <a:effectLst/>
                          <a:latin typeface="+mn-lt"/>
                          <a:cs typeface="Times New Roman" pitchFamily="18" charset="0"/>
                        </a:rPr>
                        <a:t>Device life-time</a:t>
                      </a:r>
                      <a:endParaRPr kumimoji="0" lang="en-US" sz="3700" b="0" i="0" u="none" strike="noStrike" cap="none" normalizeH="0" baseline="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10 years</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6595">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Transport</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100km truck</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Rectangle 6"/>
          <p:cNvSpPr/>
          <p:nvPr/>
        </p:nvSpPr>
        <p:spPr>
          <a:xfrm>
            <a:off x="846163" y="1621304"/>
            <a:ext cx="8789156" cy="5693866"/>
          </a:xfrm>
          <a:prstGeom prst="rect">
            <a:avLst/>
          </a:prstGeom>
        </p:spPr>
        <p:txBody>
          <a:bodyPr wrap="square">
            <a:spAutoFit/>
          </a:bodyPr>
          <a:lstStyle/>
          <a:p>
            <a:r>
              <a:rPr lang="en-US" sz="2800" b="1" dirty="0"/>
              <a:t>For all systems: </a:t>
            </a:r>
          </a:p>
          <a:p>
            <a:r>
              <a:rPr lang="en-US" sz="2800" dirty="0"/>
              <a:t>50 uses per day</a:t>
            </a:r>
          </a:p>
          <a:p>
            <a:endParaRPr lang="en-US" sz="2800" dirty="0"/>
          </a:p>
          <a:p>
            <a:r>
              <a:rPr lang="en-US" sz="2800" b="1" dirty="0"/>
              <a:t>Hot air hand-dryer</a:t>
            </a:r>
          </a:p>
          <a:p>
            <a:r>
              <a:rPr lang="en-US" sz="2800" dirty="0"/>
              <a:t>The device is made out of cast iron with white coating (no need to go in the detail of the device composition at this stage; for the reference flows – just give the number of devices per FU). </a:t>
            </a:r>
          </a:p>
          <a:p>
            <a:r>
              <a:rPr lang="en-US" sz="2800" dirty="0"/>
              <a:t>The air dryer is handled by a press button that is regulated for a 30 s usage.</a:t>
            </a:r>
          </a:p>
          <a:p>
            <a:endParaRPr lang="en-US" sz="2800" dirty="0"/>
          </a:p>
          <a:p>
            <a:r>
              <a:rPr lang="en-US" sz="2800" b="1" dirty="0"/>
              <a:t>Paper towel </a:t>
            </a:r>
          </a:p>
          <a:p>
            <a:r>
              <a:rPr lang="en-US" sz="2800" dirty="0"/>
              <a:t>Assume 1.5 towel used on average per hands drying</a:t>
            </a:r>
          </a:p>
        </p:txBody>
      </p:sp>
    </p:spTree>
    <p:extLst>
      <p:ext uri="{BB962C8B-B14F-4D97-AF65-F5344CB8AC3E}">
        <p14:creationId xmlns:p14="http://schemas.microsoft.com/office/powerpoint/2010/main" val="426281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5444708" cy="870385"/>
          </a:xfrm>
        </p:spPr>
        <p:txBody>
          <a:bodyPr/>
          <a:lstStyle/>
          <a:p>
            <a:r>
              <a:rPr lang="en-US" altLang="en-US" dirty="0"/>
              <a:t>Process tree design</a:t>
            </a:r>
            <a:endParaRPr lang="en-US" dirty="0">
              <a:solidFill>
                <a:schemeClr val="tx2"/>
              </a:solidFill>
            </a:endParaRPr>
          </a:p>
        </p:txBody>
      </p:sp>
      <p:sp>
        <p:nvSpPr>
          <p:cNvPr id="5" name="Rectangle 3">
            <a:extLst>
              <a:ext uri="{FF2B5EF4-FFF2-40B4-BE49-F238E27FC236}">
                <a16:creationId xmlns:a16="http://schemas.microsoft.com/office/drawing/2014/main" id="{5868F279-55FF-0146-A398-704D27232C0A}"/>
              </a:ext>
            </a:extLst>
          </p:cNvPr>
          <p:cNvSpPr>
            <a:spLocks noChangeArrowheads="1"/>
          </p:cNvSpPr>
          <p:nvPr/>
        </p:nvSpPr>
        <p:spPr bwMode="auto">
          <a:xfrm>
            <a:off x="2024571" y="1808054"/>
            <a:ext cx="9004340" cy="4585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indent="0">
              <a:spcBef>
                <a:spcPct val="0"/>
              </a:spcBef>
              <a:spcAft>
                <a:spcPts val="1600"/>
              </a:spcAft>
              <a:buClrTx/>
              <a:buNone/>
            </a:pPr>
            <a:r>
              <a:rPr lang="en-US" altLang="en-US" sz="2800" b="0" i="1" dirty="0">
                <a:solidFill>
                  <a:schemeClr val="accent6"/>
                </a:solidFill>
              </a:rPr>
              <a:t>Start from reference flows </a:t>
            </a:r>
            <a:r>
              <a:rPr lang="en-US" altLang="en-US" sz="2800" b="0" dirty="0">
                <a:solidFill>
                  <a:schemeClr val="tx2"/>
                </a:solidFill>
              </a:rPr>
              <a:t>needed to be purchased </a:t>
            </a:r>
            <a:br>
              <a:rPr lang="en-US" altLang="en-US" sz="2800" b="0" dirty="0">
                <a:solidFill>
                  <a:schemeClr val="tx2"/>
                </a:solidFill>
              </a:rPr>
            </a:br>
            <a:r>
              <a:rPr lang="en-US" altLang="en-US" sz="2800" b="0" dirty="0">
                <a:solidFill>
                  <a:schemeClr val="tx2"/>
                </a:solidFill>
              </a:rPr>
              <a:t>per functional unit. </a:t>
            </a:r>
            <a:br>
              <a:rPr lang="en-US" altLang="en-US" sz="2800" b="0" dirty="0">
                <a:solidFill>
                  <a:schemeClr val="tx2"/>
                </a:solidFill>
              </a:rPr>
            </a:br>
            <a:r>
              <a:rPr lang="en-US" altLang="en-US" sz="2800" dirty="0">
                <a:solidFill>
                  <a:schemeClr val="tx2"/>
                </a:solidFill>
              </a:rPr>
              <a:t>Draw one box per reference flow</a:t>
            </a:r>
            <a:r>
              <a:rPr lang="en-US" altLang="en-US" sz="2800" b="0" dirty="0">
                <a:solidFill>
                  <a:schemeClr val="tx2"/>
                </a:solidFill>
              </a:rPr>
              <a:t>.</a:t>
            </a:r>
          </a:p>
          <a:p>
            <a:pPr marL="0" indent="0">
              <a:spcBef>
                <a:spcPct val="0"/>
              </a:spcBef>
              <a:spcAft>
                <a:spcPts val="1600"/>
              </a:spcAft>
              <a:buClrTx/>
              <a:buNone/>
            </a:pPr>
            <a:r>
              <a:rPr lang="en-US" altLang="en-US" sz="2800" b="0" i="1" dirty="0">
                <a:solidFill>
                  <a:schemeClr val="accent6"/>
                </a:solidFill>
              </a:rPr>
              <a:t>Follow the upstream and downstream </a:t>
            </a:r>
            <a:r>
              <a:rPr lang="en-US" altLang="en-US" sz="2800" b="0" dirty="0">
                <a:solidFill>
                  <a:schemeClr val="tx2"/>
                </a:solidFill>
              </a:rPr>
              <a:t>intermediary flows until you reach processes further (likely to be) covered by an LCA database.</a:t>
            </a:r>
          </a:p>
          <a:p>
            <a:pPr marL="0" indent="0">
              <a:spcBef>
                <a:spcPct val="0"/>
              </a:spcBef>
              <a:spcAft>
                <a:spcPts val="1600"/>
              </a:spcAft>
              <a:buClrTx/>
              <a:buNone/>
            </a:pPr>
            <a:r>
              <a:rPr lang="en-US" altLang="en-US" sz="2800" b="0" i="1" dirty="0">
                <a:solidFill>
                  <a:schemeClr val="accent6"/>
                </a:solidFill>
              </a:rPr>
              <a:t>Design the process tree</a:t>
            </a:r>
            <a:r>
              <a:rPr lang="en-US" altLang="en-US" sz="2800" b="0" dirty="0">
                <a:solidFill>
                  <a:schemeClr val="tx2"/>
                </a:solidFill>
              </a:rPr>
              <a:t>.</a:t>
            </a:r>
          </a:p>
          <a:p>
            <a:pPr marL="0" indent="0">
              <a:spcBef>
                <a:spcPct val="0"/>
              </a:spcBef>
              <a:spcAft>
                <a:spcPts val="1600"/>
              </a:spcAft>
              <a:buClrTx/>
              <a:buNone/>
            </a:pPr>
            <a:r>
              <a:rPr lang="en-US" altLang="en-US" sz="2800" b="0" dirty="0">
                <a:solidFill>
                  <a:schemeClr val="tx2"/>
                </a:solidFill>
              </a:rPr>
              <a:t>For each unit process, document in each box,</a:t>
            </a:r>
            <a:br>
              <a:rPr lang="en-US" altLang="en-US" sz="2800" b="0" dirty="0">
                <a:solidFill>
                  <a:schemeClr val="tx2"/>
                </a:solidFill>
              </a:rPr>
            </a:br>
            <a:r>
              <a:rPr lang="en-US" altLang="en-US" sz="2800" b="0" dirty="0">
                <a:solidFill>
                  <a:schemeClr val="tx2"/>
                </a:solidFill>
              </a:rPr>
              <a:t>the amount needed per FU.</a:t>
            </a:r>
          </a:p>
        </p:txBody>
      </p:sp>
      <p:sp>
        <p:nvSpPr>
          <p:cNvPr id="10" name="Rectangle 9">
            <a:extLst>
              <a:ext uri="{FF2B5EF4-FFF2-40B4-BE49-F238E27FC236}">
                <a16:creationId xmlns:a16="http://schemas.microsoft.com/office/drawing/2014/main" id="{1001FC1C-213B-3940-BBD7-83366F46EBAF}"/>
              </a:ext>
            </a:extLst>
          </p:cNvPr>
          <p:cNvSpPr/>
          <p:nvPr/>
        </p:nvSpPr>
        <p:spPr bwMode="auto">
          <a:xfrm>
            <a:off x="12702467" y="5472847"/>
            <a:ext cx="777574" cy="609647"/>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eaLnBrk="1" hangingPunct="1">
              <a:defRPr/>
            </a:pPr>
            <a:endParaRPr lang="en-US">
              <a:latin typeface="Arial" charset="0"/>
            </a:endParaRPr>
          </a:p>
        </p:txBody>
      </p:sp>
      <p:cxnSp>
        <p:nvCxnSpPr>
          <p:cNvPr id="11" name="Elbow Connector 5">
            <a:extLst>
              <a:ext uri="{FF2B5EF4-FFF2-40B4-BE49-F238E27FC236}">
                <a16:creationId xmlns:a16="http://schemas.microsoft.com/office/drawing/2014/main" id="{CB1EE4D1-16C8-B042-8014-459B95BF74C5}"/>
              </a:ext>
            </a:extLst>
          </p:cNvPr>
          <p:cNvCxnSpPr>
            <a:cxnSpLocks noChangeShapeType="1"/>
          </p:cNvCxnSpPr>
          <p:nvPr/>
        </p:nvCxnSpPr>
        <p:spPr bwMode="auto">
          <a:xfrm rot="16200000" flipH="1">
            <a:off x="12054153" y="4383275"/>
            <a:ext cx="902365" cy="1171838"/>
          </a:xfrm>
          <a:prstGeom prst="bentConnector3">
            <a:avLst>
              <a:gd name="adj1" fmla="val 50000"/>
            </a:avLst>
          </a:prstGeom>
          <a:noFill/>
          <a:ln w="25400" algn="ctr">
            <a:solidFill>
              <a:srgbClr val="FFC000"/>
            </a:solidFill>
            <a:round/>
            <a:headEnd/>
            <a:tailEnd type="arrow" w="med" len="med"/>
          </a:ln>
          <a:extLst>
            <a:ext uri="{909E8E84-426E-40DD-AFC4-6F175D3DCCD1}">
              <a14:hiddenFill xmlns:a14="http://schemas.microsoft.com/office/drawing/2010/main">
                <a:noFill/>
              </a14:hiddenFill>
            </a:ext>
          </a:extLst>
        </p:spPr>
      </p:cxnSp>
      <p:cxnSp>
        <p:nvCxnSpPr>
          <p:cNvPr id="12" name="Elbow Connector 7">
            <a:extLst>
              <a:ext uri="{FF2B5EF4-FFF2-40B4-BE49-F238E27FC236}">
                <a16:creationId xmlns:a16="http://schemas.microsoft.com/office/drawing/2014/main" id="{F503B68F-7426-6C49-920C-1874BD3746DF}"/>
              </a:ext>
            </a:extLst>
          </p:cNvPr>
          <p:cNvCxnSpPr>
            <a:cxnSpLocks noChangeShapeType="1"/>
          </p:cNvCxnSpPr>
          <p:nvPr/>
        </p:nvCxnSpPr>
        <p:spPr bwMode="auto">
          <a:xfrm rot="5400000">
            <a:off x="13252832" y="4469065"/>
            <a:ext cx="677105" cy="1000259"/>
          </a:xfrm>
          <a:prstGeom prst="bentConnector3">
            <a:avLst>
              <a:gd name="adj1" fmla="val 50000"/>
            </a:avLst>
          </a:prstGeom>
          <a:noFill/>
          <a:ln w="25400" algn="ctr">
            <a:solidFill>
              <a:srgbClr val="FFC000"/>
            </a:solidFill>
            <a:round/>
            <a:headEnd/>
            <a:tailEnd type="none" w="med" len="med"/>
          </a:ln>
          <a:extLst>
            <a:ext uri="{909E8E84-426E-40DD-AFC4-6F175D3DCCD1}">
              <a14:hiddenFill xmlns:a14="http://schemas.microsoft.com/office/drawing/2010/main">
                <a:noFill/>
              </a14:hiddenFill>
            </a:ext>
          </a:extLst>
        </p:spPr>
      </p:cxnSp>
      <p:cxnSp>
        <p:nvCxnSpPr>
          <p:cNvPr id="15" name="Elbow Connector 5">
            <a:extLst>
              <a:ext uri="{FF2B5EF4-FFF2-40B4-BE49-F238E27FC236}">
                <a16:creationId xmlns:a16="http://schemas.microsoft.com/office/drawing/2014/main" id="{8974C8DA-4B18-7545-8001-F50644292E74}"/>
              </a:ext>
            </a:extLst>
          </p:cNvPr>
          <p:cNvCxnSpPr>
            <a:cxnSpLocks noChangeShapeType="1"/>
            <a:stCxn id="13" idx="2"/>
          </p:cNvCxnSpPr>
          <p:nvPr/>
        </p:nvCxnSpPr>
        <p:spPr bwMode="auto">
          <a:xfrm rot="16200000" flipH="1">
            <a:off x="11208274" y="3349236"/>
            <a:ext cx="733549" cy="530556"/>
          </a:xfrm>
          <a:prstGeom prst="bentConnector3">
            <a:avLst>
              <a:gd name="adj1" fmla="val 50000"/>
            </a:avLst>
          </a:prstGeom>
          <a:noFill/>
          <a:ln w="25400" algn="ctr">
            <a:solidFill>
              <a:srgbClr val="FFC000"/>
            </a:solidFill>
            <a:round/>
            <a:headEnd/>
            <a:tailEnd type="none" w="med" len="med"/>
          </a:ln>
          <a:extLst>
            <a:ext uri="{909E8E84-426E-40DD-AFC4-6F175D3DCCD1}">
              <a14:hiddenFill xmlns:a14="http://schemas.microsoft.com/office/drawing/2010/main">
                <a:noFill/>
              </a14:hiddenFill>
            </a:ext>
          </a:extLst>
        </p:spPr>
      </p:cxnSp>
      <p:cxnSp>
        <p:nvCxnSpPr>
          <p:cNvPr id="16" name="Elbow Connector 7">
            <a:extLst>
              <a:ext uri="{FF2B5EF4-FFF2-40B4-BE49-F238E27FC236}">
                <a16:creationId xmlns:a16="http://schemas.microsoft.com/office/drawing/2014/main" id="{2E443960-40E1-AE4F-AB41-0896E4E7F0BB}"/>
              </a:ext>
            </a:extLst>
          </p:cNvPr>
          <p:cNvCxnSpPr>
            <a:cxnSpLocks noChangeShapeType="1"/>
            <a:stCxn id="14" idx="2"/>
          </p:cNvCxnSpPr>
          <p:nvPr/>
        </p:nvCxnSpPr>
        <p:spPr bwMode="auto">
          <a:xfrm rot="5400000">
            <a:off x="11779589" y="3312128"/>
            <a:ext cx="729900" cy="608427"/>
          </a:xfrm>
          <a:prstGeom prst="bentConnector3">
            <a:avLst>
              <a:gd name="adj1" fmla="val 50000"/>
            </a:avLst>
          </a:prstGeom>
          <a:noFill/>
          <a:ln w="25400" algn="ctr">
            <a:solidFill>
              <a:srgbClr val="FFC000"/>
            </a:solidFill>
            <a:round/>
            <a:headEnd/>
            <a:tailEnd type="arrow" w="med" len="med"/>
          </a:ln>
          <a:extLst>
            <a:ext uri="{909E8E84-426E-40DD-AFC4-6F175D3DCCD1}">
              <a14:hiddenFill xmlns:a14="http://schemas.microsoft.com/office/drawing/2010/main">
                <a:noFill/>
              </a14:hiddenFill>
            </a:ext>
          </a:extLst>
        </p:spPr>
      </p:cxnSp>
      <p:cxnSp>
        <p:nvCxnSpPr>
          <p:cNvPr id="19" name="Elbow Connector 5">
            <a:extLst>
              <a:ext uri="{FF2B5EF4-FFF2-40B4-BE49-F238E27FC236}">
                <a16:creationId xmlns:a16="http://schemas.microsoft.com/office/drawing/2014/main" id="{6E3010A8-0CEC-2045-A816-68CD66F98EF5}"/>
              </a:ext>
            </a:extLst>
          </p:cNvPr>
          <p:cNvCxnSpPr>
            <a:cxnSpLocks noChangeShapeType="1"/>
          </p:cNvCxnSpPr>
          <p:nvPr/>
        </p:nvCxnSpPr>
        <p:spPr bwMode="auto">
          <a:xfrm rot="16200000" flipH="1">
            <a:off x="13469900" y="3360847"/>
            <a:ext cx="733650" cy="532634"/>
          </a:xfrm>
          <a:prstGeom prst="bentConnector3">
            <a:avLst>
              <a:gd name="adj1" fmla="val 50000"/>
            </a:avLst>
          </a:prstGeom>
          <a:noFill/>
          <a:ln w="25400" algn="ctr">
            <a:solidFill>
              <a:srgbClr val="FFC000"/>
            </a:solidFill>
            <a:round/>
            <a:headEnd/>
            <a:tailEnd type="none" w="med" len="med"/>
          </a:ln>
          <a:extLst>
            <a:ext uri="{909E8E84-426E-40DD-AFC4-6F175D3DCCD1}">
              <a14:hiddenFill xmlns:a14="http://schemas.microsoft.com/office/drawing/2010/main">
                <a:noFill/>
              </a14:hiddenFill>
            </a:ext>
          </a:extLst>
        </p:spPr>
      </p:cxnSp>
      <p:cxnSp>
        <p:nvCxnSpPr>
          <p:cNvPr id="20" name="Elbow Connector 7">
            <a:extLst>
              <a:ext uri="{FF2B5EF4-FFF2-40B4-BE49-F238E27FC236}">
                <a16:creationId xmlns:a16="http://schemas.microsoft.com/office/drawing/2014/main" id="{4423FADB-A455-CA4D-8A60-1DF3F9F31E85}"/>
              </a:ext>
            </a:extLst>
          </p:cNvPr>
          <p:cNvCxnSpPr>
            <a:cxnSpLocks noChangeShapeType="1"/>
          </p:cNvCxnSpPr>
          <p:nvPr/>
        </p:nvCxnSpPr>
        <p:spPr bwMode="auto">
          <a:xfrm rot="5400000">
            <a:off x="14044869" y="3348090"/>
            <a:ext cx="718389" cy="586893"/>
          </a:xfrm>
          <a:prstGeom prst="bentConnector3">
            <a:avLst>
              <a:gd name="adj1" fmla="val 50000"/>
            </a:avLst>
          </a:prstGeom>
          <a:noFill/>
          <a:ln w="25400" algn="ctr">
            <a:solidFill>
              <a:srgbClr val="FFC000"/>
            </a:solidFill>
            <a:round/>
            <a:headEnd/>
            <a:tailEnd type="arrow" w="med" len="med"/>
          </a:ln>
          <a:extLst>
            <a:ext uri="{909E8E84-426E-40DD-AFC4-6F175D3DCCD1}">
              <a14:hiddenFill xmlns:a14="http://schemas.microsoft.com/office/drawing/2010/main">
                <a:noFill/>
              </a14:hiddenFill>
            </a:ext>
          </a:extLst>
        </p:spPr>
      </p:cxnSp>
      <p:sp>
        <p:nvSpPr>
          <p:cNvPr id="21" name="Rectangle 20">
            <a:extLst>
              <a:ext uri="{FF2B5EF4-FFF2-40B4-BE49-F238E27FC236}">
                <a16:creationId xmlns:a16="http://schemas.microsoft.com/office/drawing/2014/main" id="{1F72B3CE-EB38-FF47-AAD0-3AB5E6DA25CD}"/>
              </a:ext>
            </a:extLst>
          </p:cNvPr>
          <p:cNvSpPr/>
          <p:nvPr/>
        </p:nvSpPr>
        <p:spPr bwMode="auto">
          <a:xfrm>
            <a:off x="11599991" y="6090926"/>
            <a:ext cx="777574" cy="605998"/>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eaLnBrk="1" hangingPunct="1">
              <a:defRPr/>
            </a:pPr>
            <a:endParaRPr lang="en-US">
              <a:latin typeface="Arial" charset="0"/>
            </a:endParaRPr>
          </a:p>
        </p:txBody>
      </p:sp>
      <p:sp>
        <p:nvSpPr>
          <p:cNvPr id="22" name="Rectangle 21">
            <a:extLst>
              <a:ext uri="{FF2B5EF4-FFF2-40B4-BE49-F238E27FC236}">
                <a16:creationId xmlns:a16="http://schemas.microsoft.com/office/drawing/2014/main" id="{A4EBEA9C-9DAE-E440-9F18-47747E772FAF}"/>
              </a:ext>
            </a:extLst>
          </p:cNvPr>
          <p:cNvSpPr/>
          <p:nvPr/>
        </p:nvSpPr>
        <p:spPr bwMode="auto">
          <a:xfrm>
            <a:off x="13808591" y="6090926"/>
            <a:ext cx="777576" cy="609647"/>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eaLnBrk="1" hangingPunct="1">
              <a:defRPr/>
            </a:pPr>
            <a:endParaRPr lang="en-US">
              <a:latin typeface="Arial" charset="0"/>
            </a:endParaRPr>
          </a:p>
        </p:txBody>
      </p:sp>
      <p:cxnSp>
        <p:nvCxnSpPr>
          <p:cNvPr id="23" name="Elbow Connector 5">
            <a:extLst>
              <a:ext uri="{FF2B5EF4-FFF2-40B4-BE49-F238E27FC236}">
                <a16:creationId xmlns:a16="http://schemas.microsoft.com/office/drawing/2014/main" id="{1386F04C-7348-E440-84CD-6AA1C842C12B}"/>
              </a:ext>
            </a:extLst>
          </p:cNvPr>
          <p:cNvCxnSpPr>
            <a:cxnSpLocks noChangeShapeType="1"/>
            <a:endCxn id="21" idx="3"/>
          </p:cNvCxnSpPr>
          <p:nvPr/>
        </p:nvCxnSpPr>
        <p:spPr bwMode="auto">
          <a:xfrm rot="5400000">
            <a:off x="12616795" y="5919465"/>
            <a:ext cx="235231" cy="713689"/>
          </a:xfrm>
          <a:prstGeom prst="bentConnector2">
            <a:avLst/>
          </a:prstGeom>
          <a:noFill/>
          <a:ln w="25400" algn="ctr">
            <a:solidFill>
              <a:srgbClr val="FFC000"/>
            </a:solidFill>
            <a:round/>
            <a:headEnd/>
            <a:tailEnd type="arrow" w="med" len="med"/>
          </a:ln>
          <a:extLst>
            <a:ext uri="{909E8E84-426E-40DD-AFC4-6F175D3DCCD1}">
              <a14:hiddenFill xmlns:a14="http://schemas.microsoft.com/office/drawing/2010/main">
                <a:noFill/>
              </a14:hiddenFill>
            </a:ext>
          </a:extLst>
        </p:spPr>
      </p:cxnSp>
      <p:cxnSp>
        <p:nvCxnSpPr>
          <p:cNvPr id="24" name="Elbow Connector 7">
            <a:extLst>
              <a:ext uri="{FF2B5EF4-FFF2-40B4-BE49-F238E27FC236}">
                <a16:creationId xmlns:a16="http://schemas.microsoft.com/office/drawing/2014/main" id="{D475F799-925B-ED43-99F6-D14A5C9D67D8}"/>
              </a:ext>
            </a:extLst>
          </p:cNvPr>
          <p:cNvCxnSpPr>
            <a:cxnSpLocks noChangeShapeType="1"/>
            <a:endCxn id="22" idx="1"/>
          </p:cNvCxnSpPr>
          <p:nvPr/>
        </p:nvCxnSpPr>
        <p:spPr bwMode="auto">
          <a:xfrm rot="16200000" flipH="1">
            <a:off x="13331394" y="5918553"/>
            <a:ext cx="237056" cy="717337"/>
          </a:xfrm>
          <a:prstGeom prst="bentConnector2">
            <a:avLst/>
          </a:prstGeom>
          <a:noFill/>
          <a:ln w="25400" algn="ctr">
            <a:solidFill>
              <a:srgbClr val="FFC000"/>
            </a:solidFill>
            <a:round/>
            <a:headEnd/>
            <a:tailEnd type="arrow" w="med" len="med"/>
          </a:ln>
          <a:extLst>
            <a:ext uri="{909E8E84-426E-40DD-AFC4-6F175D3DCCD1}">
              <a14:hiddenFill xmlns:a14="http://schemas.microsoft.com/office/drawing/2010/main">
                <a:noFill/>
              </a14:hiddenFill>
            </a:ext>
          </a:extLst>
        </p:spPr>
      </p:cxnSp>
      <p:sp>
        <p:nvSpPr>
          <p:cNvPr id="8" name="Rectangle 7">
            <a:extLst>
              <a:ext uri="{FF2B5EF4-FFF2-40B4-BE49-F238E27FC236}">
                <a16:creationId xmlns:a16="http://schemas.microsoft.com/office/drawing/2014/main" id="{1FFB958C-32B1-6F4D-B480-2DBEF9B3D740}"/>
              </a:ext>
            </a:extLst>
          </p:cNvPr>
          <p:cNvSpPr/>
          <p:nvPr/>
        </p:nvSpPr>
        <p:spPr bwMode="auto">
          <a:xfrm>
            <a:off x="11530628" y="4002584"/>
            <a:ext cx="777576" cy="605998"/>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eaLnBrk="1" hangingPunct="1">
              <a:defRPr/>
            </a:pPr>
            <a:r>
              <a:rPr lang="en-US" dirty="0">
                <a:latin typeface="Arial" charset="0"/>
              </a:rPr>
              <a:t> </a:t>
            </a:r>
          </a:p>
        </p:txBody>
      </p:sp>
      <p:sp>
        <p:nvSpPr>
          <p:cNvPr id="9" name="Rectangle 8">
            <a:extLst>
              <a:ext uri="{FF2B5EF4-FFF2-40B4-BE49-F238E27FC236}">
                <a16:creationId xmlns:a16="http://schemas.microsoft.com/office/drawing/2014/main" id="{8A8AA4BE-57C3-6E49-B67A-0905D35286CE}"/>
              </a:ext>
            </a:extLst>
          </p:cNvPr>
          <p:cNvSpPr/>
          <p:nvPr/>
        </p:nvSpPr>
        <p:spPr bwMode="auto">
          <a:xfrm>
            <a:off x="13702726" y="4046393"/>
            <a:ext cx="777574" cy="609649"/>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eaLnBrk="1" hangingPunct="1">
              <a:defRPr/>
            </a:pPr>
            <a:endParaRPr lang="en-US">
              <a:latin typeface="Arial" charset="0"/>
            </a:endParaRPr>
          </a:p>
        </p:txBody>
      </p:sp>
      <p:sp>
        <p:nvSpPr>
          <p:cNvPr id="13" name="Rectangle 12">
            <a:extLst>
              <a:ext uri="{FF2B5EF4-FFF2-40B4-BE49-F238E27FC236}">
                <a16:creationId xmlns:a16="http://schemas.microsoft.com/office/drawing/2014/main" id="{3CD3B1E1-0248-1E4A-864F-DA9F38405A4C}"/>
              </a:ext>
            </a:extLst>
          </p:cNvPr>
          <p:cNvSpPr/>
          <p:nvPr/>
        </p:nvSpPr>
        <p:spPr bwMode="auto">
          <a:xfrm>
            <a:off x="10920983" y="2641742"/>
            <a:ext cx="777574" cy="605998"/>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eaLnBrk="1" hangingPunct="1">
              <a:defRPr/>
            </a:pPr>
            <a:endParaRPr lang="en-US">
              <a:latin typeface="Arial" charset="0"/>
            </a:endParaRPr>
          </a:p>
        </p:txBody>
      </p:sp>
      <p:sp>
        <p:nvSpPr>
          <p:cNvPr id="14" name="Rectangle 13">
            <a:extLst>
              <a:ext uri="{FF2B5EF4-FFF2-40B4-BE49-F238E27FC236}">
                <a16:creationId xmlns:a16="http://schemas.microsoft.com/office/drawing/2014/main" id="{54AF2D9B-551D-F34E-842B-7519752F6C77}"/>
              </a:ext>
            </a:extLst>
          </p:cNvPr>
          <p:cNvSpPr/>
          <p:nvPr/>
        </p:nvSpPr>
        <p:spPr bwMode="auto">
          <a:xfrm>
            <a:off x="12059965" y="2641742"/>
            <a:ext cx="777574" cy="609649"/>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eaLnBrk="1" hangingPunct="1">
              <a:defRPr/>
            </a:pPr>
            <a:endParaRPr lang="en-US">
              <a:latin typeface="Arial" charset="0"/>
            </a:endParaRPr>
          </a:p>
        </p:txBody>
      </p:sp>
      <p:sp>
        <p:nvSpPr>
          <p:cNvPr id="17" name="Rectangle 16">
            <a:extLst>
              <a:ext uri="{FF2B5EF4-FFF2-40B4-BE49-F238E27FC236}">
                <a16:creationId xmlns:a16="http://schemas.microsoft.com/office/drawing/2014/main" id="{A699D8E3-E571-C545-BB20-579C2E8ABBE4}"/>
              </a:ext>
            </a:extLst>
          </p:cNvPr>
          <p:cNvSpPr/>
          <p:nvPr/>
        </p:nvSpPr>
        <p:spPr bwMode="auto">
          <a:xfrm>
            <a:off x="13169743" y="2641742"/>
            <a:ext cx="777574" cy="605998"/>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eaLnBrk="1" hangingPunct="1">
              <a:defRPr/>
            </a:pPr>
            <a:endParaRPr lang="en-US">
              <a:latin typeface="Arial" charset="0"/>
            </a:endParaRPr>
          </a:p>
        </p:txBody>
      </p:sp>
      <p:sp>
        <p:nvSpPr>
          <p:cNvPr id="18" name="Rectangle 17">
            <a:extLst>
              <a:ext uri="{FF2B5EF4-FFF2-40B4-BE49-F238E27FC236}">
                <a16:creationId xmlns:a16="http://schemas.microsoft.com/office/drawing/2014/main" id="{92CC5323-8F1A-0840-BD5B-D2BDC53672D6}"/>
              </a:ext>
            </a:extLst>
          </p:cNvPr>
          <p:cNvSpPr/>
          <p:nvPr/>
        </p:nvSpPr>
        <p:spPr bwMode="auto">
          <a:xfrm>
            <a:off x="14308722" y="2641742"/>
            <a:ext cx="777574" cy="609649"/>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eaLnBrk="1" hangingPunct="1">
              <a:defRPr/>
            </a:pPr>
            <a:endParaRPr lang="en-US">
              <a:latin typeface="Arial" charset="0"/>
            </a:endParaRPr>
          </a:p>
        </p:txBody>
      </p:sp>
      <p:sp>
        <p:nvSpPr>
          <p:cNvPr id="6" name="Oval 5">
            <a:extLst>
              <a:ext uri="{FF2B5EF4-FFF2-40B4-BE49-F238E27FC236}">
                <a16:creationId xmlns:a16="http://schemas.microsoft.com/office/drawing/2014/main" id="{BDF4C85C-A7D7-C340-891B-43D37FD69E05}"/>
              </a:ext>
            </a:extLst>
          </p:cNvPr>
          <p:cNvSpPr/>
          <p:nvPr/>
        </p:nvSpPr>
        <p:spPr>
          <a:xfrm>
            <a:off x="984738" y="1899138"/>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1</a:t>
            </a:r>
          </a:p>
        </p:txBody>
      </p:sp>
      <p:sp>
        <p:nvSpPr>
          <p:cNvPr id="25" name="Oval 24">
            <a:extLst>
              <a:ext uri="{FF2B5EF4-FFF2-40B4-BE49-F238E27FC236}">
                <a16:creationId xmlns:a16="http://schemas.microsoft.com/office/drawing/2014/main" id="{1FA92A5C-A173-3640-A4A7-960FB2EF3EBB}"/>
              </a:ext>
            </a:extLst>
          </p:cNvPr>
          <p:cNvSpPr/>
          <p:nvPr/>
        </p:nvSpPr>
        <p:spPr>
          <a:xfrm>
            <a:off x="984738" y="3356120"/>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2</a:t>
            </a:r>
          </a:p>
        </p:txBody>
      </p:sp>
      <p:sp>
        <p:nvSpPr>
          <p:cNvPr id="26" name="Oval 25">
            <a:extLst>
              <a:ext uri="{FF2B5EF4-FFF2-40B4-BE49-F238E27FC236}">
                <a16:creationId xmlns:a16="http://schemas.microsoft.com/office/drawing/2014/main" id="{6286FB70-54AD-7B4C-8B27-B18D59AD7D96}"/>
              </a:ext>
            </a:extLst>
          </p:cNvPr>
          <p:cNvSpPr/>
          <p:nvPr/>
        </p:nvSpPr>
        <p:spPr>
          <a:xfrm>
            <a:off x="984738" y="4656042"/>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3</a:t>
            </a:r>
          </a:p>
        </p:txBody>
      </p:sp>
      <p:sp>
        <p:nvSpPr>
          <p:cNvPr id="27" name="Oval 26">
            <a:extLst>
              <a:ext uri="{FF2B5EF4-FFF2-40B4-BE49-F238E27FC236}">
                <a16:creationId xmlns:a16="http://schemas.microsoft.com/office/drawing/2014/main" id="{18991E85-73FD-134B-9322-077E01D16916}"/>
              </a:ext>
            </a:extLst>
          </p:cNvPr>
          <p:cNvSpPr/>
          <p:nvPr/>
        </p:nvSpPr>
        <p:spPr>
          <a:xfrm>
            <a:off x="984738" y="5509623"/>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4</a:t>
            </a:r>
          </a:p>
        </p:txBody>
      </p:sp>
    </p:spTree>
    <p:extLst>
      <p:ext uri="{BB962C8B-B14F-4D97-AF65-F5344CB8AC3E}">
        <p14:creationId xmlns:p14="http://schemas.microsoft.com/office/powerpoint/2010/main" val="2862032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Char char="•"/>
              <a:defRPr sz="4267" b="1">
                <a:solidFill>
                  <a:srgbClr val="01035B"/>
                </a:solidFill>
                <a:latin typeface="Arial" panose="020B0604020202020204" pitchFamily="34" charset="0"/>
              </a:defRPr>
            </a:lvl1pPr>
            <a:lvl2pPr marL="990575" indent="-380990">
              <a:spcBef>
                <a:spcPct val="20000"/>
              </a:spcBef>
              <a:buClr>
                <a:srgbClr val="FF9900"/>
              </a:buClr>
              <a:buChar char="–"/>
              <a:defRPr sz="3733" b="1">
                <a:solidFill>
                  <a:srgbClr val="01035B"/>
                </a:solidFill>
                <a:latin typeface="Arial" panose="020B0604020202020204" pitchFamily="34" charset="0"/>
              </a:defRPr>
            </a:lvl2pPr>
            <a:lvl3pPr marL="1523962" indent="-304792">
              <a:spcBef>
                <a:spcPct val="20000"/>
              </a:spcBef>
              <a:buClr>
                <a:srgbClr val="FF9900"/>
              </a:buClr>
              <a:buChar char="•"/>
              <a:defRPr sz="3200" b="1">
                <a:solidFill>
                  <a:srgbClr val="01035B"/>
                </a:solidFill>
                <a:latin typeface="Arial" panose="020B0604020202020204" pitchFamily="34" charset="0"/>
              </a:defRPr>
            </a:lvl3pPr>
            <a:lvl4pPr marL="2133547" indent="-304792">
              <a:spcBef>
                <a:spcPct val="20000"/>
              </a:spcBef>
              <a:buClr>
                <a:srgbClr val="FF9900"/>
              </a:buClr>
              <a:buChar char="–"/>
              <a:defRPr sz="2667" b="1">
                <a:solidFill>
                  <a:srgbClr val="01035B"/>
                </a:solidFill>
                <a:latin typeface="Arial" panose="020B0604020202020204" pitchFamily="34" charset="0"/>
              </a:defRPr>
            </a:lvl4pPr>
            <a:lvl5pPr marL="2743131" indent="-304792">
              <a:spcBef>
                <a:spcPct val="20000"/>
              </a:spcBef>
              <a:buClr>
                <a:srgbClr val="FF9900"/>
              </a:buClr>
              <a:buChar char="»"/>
              <a:defRPr sz="2667" b="1">
                <a:solidFill>
                  <a:srgbClr val="01035B"/>
                </a:solidFill>
                <a:latin typeface="Arial" panose="020B0604020202020204" pitchFamily="34" charset="0"/>
              </a:defRPr>
            </a:lvl5pPr>
            <a:lvl6pPr marL="3352716"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6pPr>
            <a:lvl7pPr marL="3962301"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7pPr>
            <a:lvl8pPr marL="4571886"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8pPr>
            <a:lvl9pPr marL="5181470"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9pPr>
          </a:lstStyle>
          <a:p>
            <a:pPr>
              <a:spcBef>
                <a:spcPct val="0"/>
              </a:spcBef>
              <a:buClrTx/>
              <a:buFontTx/>
              <a:buNone/>
            </a:pPr>
            <a:fld id="{75BCA31E-1BFA-4B6B-8021-6F775C22E9B4}" type="slidenum">
              <a:rPr lang="en-US" altLang="en-US" sz="1867" b="0">
                <a:solidFill>
                  <a:schemeClr val="tx1"/>
                </a:solidFill>
              </a:rPr>
              <a:pPr>
                <a:spcBef>
                  <a:spcPct val="0"/>
                </a:spcBef>
                <a:buClrTx/>
                <a:buFontTx/>
                <a:buNone/>
              </a:pPr>
              <a:t>7</a:t>
            </a:fld>
            <a:endParaRPr lang="en-US" altLang="en-US" sz="1867" b="0">
              <a:solidFill>
                <a:schemeClr val="tx1"/>
              </a:solidFill>
            </a:endParaRPr>
          </a:p>
        </p:txBody>
      </p:sp>
      <p:sp>
        <p:nvSpPr>
          <p:cNvPr id="13315" name="Rectangle 2"/>
          <p:cNvSpPr>
            <a:spLocks noGrp="1" noChangeArrowheads="1"/>
          </p:cNvSpPr>
          <p:nvPr>
            <p:ph type="title"/>
          </p:nvPr>
        </p:nvSpPr>
        <p:spPr/>
        <p:txBody>
          <a:bodyPr/>
          <a:lstStyle/>
          <a:p>
            <a:pPr eaLnBrk="1" hangingPunct="1"/>
            <a:r>
              <a:rPr lang="en-US" altLang="en-US" sz="4267" dirty="0"/>
              <a:t>Hand Dryers – Build the process tree</a:t>
            </a:r>
          </a:p>
        </p:txBody>
      </p:sp>
      <p:sp>
        <p:nvSpPr>
          <p:cNvPr id="3103747" name="Rectangle 3"/>
          <p:cNvSpPr>
            <a:spLocks noGrp="1" noChangeArrowheads="1"/>
          </p:cNvSpPr>
          <p:nvPr>
            <p:ph type="body" idx="1"/>
          </p:nvPr>
        </p:nvSpPr>
        <p:spPr>
          <a:xfrm>
            <a:off x="1086548" y="1641618"/>
            <a:ext cx="12997942" cy="6538383"/>
          </a:xfrm>
        </p:spPr>
        <p:txBody>
          <a:bodyPr/>
          <a:lstStyle/>
          <a:p>
            <a:pPr>
              <a:lnSpc>
                <a:spcPct val="90000"/>
              </a:lnSpc>
              <a:defRPr/>
            </a:pPr>
            <a:r>
              <a:rPr lang="en-US" dirty="0">
                <a:effectLst>
                  <a:outerShdw blurRad="38100" dist="38100" dir="2700000" algn="tl">
                    <a:srgbClr val="C0C0C0"/>
                  </a:outerShdw>
                </a:effectLst>
              </a:rPr>
              <a:t> </a:t>
            </a:r>
            <a:r>
              <a:rPr lang="en-US" dirty="0"/>
              <a:t>On the next slides, starting from the FU and the reference flows of slide 4, and </a:t>
            </a:r>
            <a:r>
              <a:rPr lang="en-US" dirty="0">
                <a:solidFill>
                  <a:schemeClr val="accent5"/>
                </a:solidFill>
              </a:rPr>
              <a:t>using all the information on slide </a:t>
            </a:r>
            <a:r>
              <a:rPr lang="en-US" dirty="0" smtClean="0">
                <a:solidFill>
                  <a:schemeClr val="accent5"/>
                </a:solidFill>
              </a:rPr>
              <a:t>5</a:t>
            </a:r>
            <a:r>
              <a:rPr lang="en-US" dirty="0" smtClean="0"/>
              <a:t>, </a:t>
            </a:r>
            <a:r>
              <a:rPr lang="en-US" dirty="0"/>
              <a:t/>
            </a:r>
            <a:br>
              <a:rPr lang="en-US" dirty="0"/>
            </a:br>
            <a:endParaRPr lang="en-US" dirty="0"/>
          </a:p>
          <a:p>
            <a:pPr>
              <a:lnSpc>
                <a:spcPct val="90000"/>
              </a:lnSpc>
              <a:defRPr/>
            </a:pPr>
            <a:r>
              <a:rPr lang="en-US" dirty="0"/>
              <a:t>follow the steps of slide </a:t>
            </a:r>
            <a:r>
              <a:rPr lang="en-US" dirty="0" smtClean="0"/>
              <a:t>6 </a:t>
            </a:r>
            <a:r>
              <a:rPr lang="en-US" dirty="0"/>
              <a:t>to draw on slides </a:t>
            </a:r>
            <a:r>
              <a:rPr lang="en-US" dirty="0" smtClean="0"/>
              <a:t>8 </a:t>
            </a:r>
            <a:r>
              <a:rPr lang="en-US" dirty="0"/>
              <a:t>and </a:t>
            </a:r>
            <a:r>
              <a:rPr lang="en-US" dirty="0" smtClean="0"/>
              <a:t>9 the </a:t>
            </a:r>
            <a:r>
              <a:rPr lang="en-US" dirty="0"/>
              <a:t>process tree for each of the two scenarios until you are able to link to databases. </a:t>
            </a:r>
          </a:p>
          <a:p>
            <a:pPr>
              <a:lnSpc>
                <a:spcPct val="90000"/>
              </a:lnSpc>
              <a:defRPr/>
            </a:pPr>
            <a:r>
              <a:rPr lang="en-US" dirty="0"/>
              <a:t>In each unit process box, </a:t>
            </a:r>
            <a:r>
              <a:rPr lang="en-US" dirty="0">
                <a:solidFill>
                  <a:schemeClr val="accent5"/>
                </a:solidFill>
              </a:rPr>
              <a:t>indicate the amount of this process used per FU (</a:t>
            </a:r>
            <a:r>
              <a:rPr lang="en-US" dirty="0" err="1">
                <a:solidFill>
                  <a:schemeClr val="accent5"/>
                </a:solidFill>
              </a:rPr>
              <a:t>e.g</a:t>
            </a:r>
            <a:r>
              <a:rPr lang="en-US" dirty="0">
                <a:solidFill>
                  <a:schemeClr val="accent5"/>
                </a:solidFill>
              </a:rPr>
              <a:t> kg of paper/FU).</a:t>
            </a:r>
          </a:p>
          <a:p>
            <a:pPr>
              <a:lnSpc>
                <a:spcPct val="90000"/>
              </a:lnSpc>
              <a:defRPr/>
            </a:pPr>
            <a:endParaRPr lang="en-US" dirty="0"/>
          </a:p>
          <a:p>
            <a:pPr>
              <a:lnSpc>
                <a:spcPct val="90000"/>
              </a:lnSpc>
              <a:defRPr/>
            </a:pPr>
            <a:r>
              <a:rPr lang="en-US" dirty="0">
                <a:solidFill>
                  <a:schemeClr val="accent6"/>
                </a:solidFill>
              </a:rPr>
              <a:t>Hints: 1) All the information you need is available on slide </a:t>
            </a:r>
            <a:r>
              <a:rPr lang="en-US" dirty="0" smtClean="0">
                <a:solidFill>
                  <a:schemeClr val="accent6"/>
                </a:solidFill>
              </a:rPr>
              <a:t>5</a:t>
            </a:r>
            <a:endParaRPr lang="en-US" dirty="0">
              <a:solidFill>
                <a:schemeClr val="accent6"/>
              </a:solidFill>
            </a:endParaRPr>
          </a:p>
          <a:p>
            <a:pPr>
              <a:lnSpc>
                <a:spcPct val="90000"/>
              </a:lnSpc>
              <a:defRPr/>
            </a:pPr>
            <a:r>
              <a:rPr lang="en-US" dirty="0">
                <a:solidFill>
                  <a:schemeClr val="accent6"/>
                </a:solidFill>
              </a:rPr>
              <a:t>		  2) Look at the slides </a:t>
            </a:r>
            <a:r>
              <a:rPr lang="en-US" dirty="0" smtClean="0">
                <a:solidFill>
                  <a:schemeClr val="accent6"/>
                </a:solidFill>
              </a:rPr>
              <a:t>and </a:t>
            </a:r>
            <a:r>
              <a:rPr lang="en-US" dirty="0">
                <a:solidFill>
                  <a:schemeClr val="accent6"/>
                </a:solidFill>
              </a:rPr>
              <a:t>videos on “Building of Product System and Process </a:t>
            </a:r>
            <a:r>
              <a:rPr lang="en-US" dirty="0" smtClean="0">
                <a:solidFill>
                  <a:schemeClr val="accent6"/>
                </a:solidFill>
              </a:rPr>
              <a:t>Tree” </a:t>
            </a:r>
            <a:r>
              <a:rPr lang="en-US" dirty="0" smtClean="0">
                <a:solidFill>
                  <a:schemeClr val="accent6"/>
                </a:solidFill>
              </a:rPr>
              <a:t>and </a:t>
            </a:r>
            <a:r>
              <a:rPr lang="en-US" dirty="0">
                <a:solidFill>
                  <a:schemeClr val="accent6"/>
                </a:solidFill>
              </a:rPr>
              <a:t>imitate the </a:t>
            </a:r>
            <a:r>
              <a:rPr lang="en-US" dirty="0" smtClean="0">
                <a:solidFill>
                  <a:schemeClr val="accent6"/>
                </a:solidFill>
              </a:rPr>
              <a:t>process for the hands drying</a:t>
            </a:r>
            <a:r>
              <a:rPr lang="en-US" dirty="0"/>
              <a:t/>
            </a:r>
            <a:br>
              <a:rPr lang="en-US" dirty="0"/>
            </a:br>
            <a:endParaRPr lang="en-US" dirty="0"/>
          </a:p>
          <a:p>
            <a:pPr marL="632867" lvl="1">
              <a:lnSpc>
                <a:spcPct val="90000"/>
              </a:lnSpc>
              <a:defRPr/>
            </a:pPr>
            <a:endParaRPr lang="en-US" sz="2667" dirty="0">
              <a:solidFill>
                <a:srgbClr val="FF0000"/>
              </a:solidFill>
            </a:endParaRPr>
          </a:p>
        </p:txBody>
      </p:sp>
      <p:pic>
        <p:nvPicPr>
          <p:cNvPr id="13317" name="Picture 4" descr="sèche-ma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4795" y="4910809"/>
            <a:ext cx="1778000" cy="1462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5" descr="seche-mainpapi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02069" y="2378597"/>
            <a:ext cx="1564216" cy="156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9526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Process Tree: Hands drying - paper towel </a:t>
            </a:r>
            <a:endParaRPr lang="en-US" dirty="0">
              <a:solidFill>
                <a:schemeClr val="tx2"/>
              </a:solidFill>
            </a:endParaRPr>
          </a:p>
        </p:txBody>
      </p:sp>
      <p:sp>
        <p:nvSpPr>
          <p:cNvPr id="13" name="Text Box 41">
            <a:extLst>
              <a:ext uri="{FF2B5EF4-FFF2-40B4-BE49-F238E27FC236}">
                <a16:creationId xmlns:a16="http://schemas.microsoft.com/office/drawing/2014/main" id="{2BAB109B-612E-A149-9127-94CCCF2EE827}"/>
              </a:ext>
            </a:extLst>
          </p:cNvPr>
          <p:cNvSpPr txBox="1">
            <a:spLocks noChangeArrowheads="1"/>
          </p:cNvSpPr>
          <p:nvPr/>
        </p:nvSpPr>
        <p:spPr bwMode="auto">
          <a:xfrm>
            <a:off x="698546" y="1879059"/>
            <a:ext cx="1920875" cy="400110"/>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xxx</a:t>
            </a:r>
          </a:p>
        </p:txBody>
      </p:sp>
      <p:sp>
        <p:nvSpPr>
          <p:cNvPr id="14" name="Text Box 41">
            <a:extLst>
              <a:ext uri="{FF2B5EF4-FFF2-40B4-BE49-F238E27FC236}">
                <a16:creationId xmlns:a16="http://schemas.microsoft.com/office/drawing/2014/main" id="{DCC22E31-971F-6C48-AEB8-7CACEFE36048}"/>
              </a:ext>
            </a:extLst>
          </p:cNvPr>
          <p:cNvSpPr txBox="1">
            <a:spLocks noChangeArrowheads="1"/>
          </p:cNvSpPr>
          <p:nvPr/>
        </p:nvSpPr>
        <p:spPr bwMode="auto">
          <a:xfrm>
            <a:off x="698546" y="2917204"/>
            <a:ext cx="1920875" cy="400110"/>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xxx</a:t>
            </a:r>
          </a:p>
        </p:txBody>
      </p:sp>
      <p:cxnSp>
        <p:nvCxnSpPr>
          <p:cNvPr id="15" name="Elbow Connector 14">
            <a:extLst>
              <a:ext uri="{FF2B5EF4-FFF2-40B4-BE49-F238E27FC236}">
                <a16:creationId xmlns:a16="http://schemas.microsoft.com/office/drawing/2014/main" id="{3345EECF-6844-1D4F-8B16-504585BA483F}"/>
              </a:ext>
            </a:extLst>
          </p:cNvPr>
          <p:cNvCxnSpPr>
            <a:cxnSpLocks noChangeShapeType="1"/>
          </p:cNvCxnSpPr>
          <p:nvPr/>
        </p:nvCxnSpPr>
        <p:spPr bwMode="auto">
          <a:xfrm flipV="1">
            <a:off x="3222575" y="2331362"/>
            <a:ext cx="615950" cy="1571794"/>
          </a:xfrm>
          <a:prstGeom prst="bentConnector3">
            <a:avLst>
              <a:gd name="adj1" fmla="val 50000"/>
            </a:avLst>
          </a:prstGeom>
          <a:noFill/>
          <a:ln w="28575" algn="ctr">
            <a:solidFill>
              <a:schemeClr val="accent1"/>
            </a:solidFill>
            <a:round/>
            <a:headEnd/>
            <a:tailEnd type="arrow" w="med" len="med"/>
          </a:ln>
        </p:spPr>
      </p:cxnSp>
      <p:cxnSp>
        <p:nvCxnSpPr>
          <p:cNvPr id="16" name="Elbow Connector 15">
            <a:extLst>
              <a:ext uri="{FF2B5EF4-FFF2-40B4-BE49-F238E27FC236}">
                <a16:creationId xmlns:a16="http://schemas.microsoft.com/office/drawing/2014/main" id="{3345EECF-6844-1D4F-8B16-504585BA483F}"/>
              </a:ext>
            </a:extLst>
          </p:cNvPr>
          <p:cNvCxnSpPr>
            <a:cxnSpLocks noChangeShapeType="1"/>
          </p:cNvCxnSpPr>
          <p:nvPr/>
        </p:nvCxnSpPr>
        <p:spPr bwMode="auto">
          <a:xfrm flipV="1">
            <a:off x="2886453" y="1545465"/>
            <a:ext cx="615950" cy="1571794"/>
          </a:xfrm>
          <a:prstGeom prst="bentConnector3">
            <a:avLst>
              <a:gd name="adj1" fmla="val 50000"/>
            </a:avLst>
          </a:prstGeom>
          <a:noFill/>
          <a:ln w="28575" algn="ctr">
            <a:solidFill>
              <a:schemeClr val="accent1"/>
            </a:solidFill>
            <a:round/>
            <a:headEnd/>
            <a:tailEnd type="arrow" w="med" len="med"/>
          </a:ln>
        </p:spPr>
      </p:cxnSp>
      <p:sp>
        <p:nvSpPr>
          <p:cNvPr id="17" name="Text Box 41">
            <a:extLst>
              <a:ext uri="{FF2B5EF4-FFF2-40B4-BE49-F238E27FC236}">
                <a16:creationId xmlns:a16="http://schemas.microsoft.com/office/drawing/2014/main" id="{DEC1D860-E40A-CC4C-A6AC-F667EEBCC8EC}"/>
              </a:ext>
            </a:extLst>
          </p:cNvPr>
          <p:cNvSpPr txBox="1">
            <a:spLocks noChangeArrowheads="1"/>
          </p:cNvSpPr>
          <p:nvPr/>
        </p:nvSpPr>
        <p:spPr bwMode="auto">
          <a:xfrm>
            <a:off x="9942288" y="3903156"/>
            <a:ext cx="2408936" cy="707886"/>
          </a:xfrm>
          <a:prstGeom prst="rect">
            <a:avLst/>
          </a:prstGeom>
          <a:solidFill>
            <a:schemeClr val="accent6">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defRPr/>
            </a:pPr>
            <a:r>
              <a:rPr lang="en-US" altLang="en-US" sz="2000" b="0" dirty="0">
                <a:solidFill>
                  <a:schemeClr val="accent6"/>
                </a:solidFill>
                <a:cs typeface="Arial" panose="020B0604020202020204" pitchFamily="34" charset="0"/>
              </a:rPr>
              <a:t>1 pair of dried hands, paper towel</a:t>
            </a:r>
          </a:p>
        </p:txBody>
      </p:sp>
      <p:sp>
        <p:nvSpPr>
          <p:cNvPr id="18" name="Text Box 41">
            <a:extLst>
              <a:ext uri="{FF2B5EF4-FFF2-40B4-BE49-F238E27FC236}">
                <a16:creationId xmlns:a16="http://schemas.microsoft.com/office/drawing/2014/main" id="{DCC22E31-971F-6C48-AEB8-7CACEFE36048}"/>
              </a:ext>
            </a:extLst>
          </p:cNvPr>
          <p:cNvSpPr txBox="1">
            <a:spLocks noChangeArrowheads="1"/>
          </p:cNvSpPr>
          <p:nvPr/>
        </p:nvSpPr>
        <p:spPr bwMode="auto">
          <a:xfrm>
            <a:off x="7405463" y="5734276"/>
            <a:ext cx="1920875" cy="400110"/>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xxx</a:t>
            </a:r>
          </a:p>
        </p:txBody>
      </p:sp>
      <p:sp>
        <p:nvSpPr>
          <p:cNvPr id="19" name="Text Box 41">
            <a:extLst>
              <a:ext uri="{FF2B5EF4-FFF2-40B4-BE49-F238E27FC236}">
                <a16:creationId xmlns:a16="http://schemas.microsoft.com/office/drawing/2014/main" id="{2BAB109B-612E-A149-9127-94CCCF2EE827}"/>
              </a:ext>
            </a:extLst>
          </p:cNvPr>
          <p:cNvSpPr txBox="1">
            <a:spLocks noChangeArrowheads="1"/>
          </p:cNvSpPr>
          <p:nvPr/>
        </p:nvSpPr>
        <p:spPr bwMode="auto">
          <a:xfrm>
            <a:off x="7405463" y="4057144"/>
            <a:ext cx="1920875" cy="400110"/>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xxx</a:t>
            </a:r>
          </a:p>
        </p:txBody>
      </p:sp>
      <p:cxnSp>
        <p:nvCxnSpPr>
          <p:cNvPr id="20" name="Elbow Connector 10">
            <a:extLst>
              <a:ext uri="{FF2B5EF4-FFF2-40B4-BE49-F238E27FC236}">
                <a16:creationId xmlns:a16="http://schemas.microsoft.com/office/drawing/2014/main" id="{3345EECF-6844-1D4F-8B16-504585BA483F}"/>
              </a:ext>
            </a:extLst>
          </p:cNvPr>
          <p:cNvCxnSpPr>
            <a:cxnSpLocks noChangeShapeType="1"/>
            <a:stCxn id="18" idx="3"/>
            <a:endCxn id="17" idx="1"/>
          </p:cNvCxnSpPr>
          <p:nvPr/>
        </p:nvCxnSpPr>
        <p:spPr bwMode="auto">
          <a:xfrm flipV="1">
            <a:off x="9326338" y="4257099"/>
            <a:ext cx="615950" cy="1677232"/>
          </a:xfrm>
          <a:prstGeom prst="bentConnector3">
            <a:avLst>
              <a:gd name="adj1" fmla="val 50000"/>
            </a:avLst>
          </a:prstGeom>
          <a:noFill/>
          <a:ln w="28575" algn="ctr">
            <a:solidFill>
              <a:schemeClr val="accent1"/>
            </a:solidFill>
            <a:round/>
            <a:headEnd/>
            <a:tailEnd type="arrow" w="med" len="med"/>
          </a:ln>
        </p:spPr>
      </p:cxnSp>
      <p:cxnSp>
        <p:nvCxnSpPr>
          <p:cNvPr id="21" name="Elbow Connector 20">
            <a:extLst>
              <a:ext uri="{FF2B5EF4-FFF2-40B4-BE49-F238E27FC236}">
                <a16:creationId xmlns:a16="http://schemas.microsoft.com/office/drawing/2014/main" id="{3345EECF-6844-1D4F-8B16-504585BA483F}"/>
              </a:ext>
            </a:extLst>
          </p:cNvPr>
          <p:cNvCxnSpPr>
            <a:cxnSpLocks noChangeShapeType="1"/>
            <a:stCxn id="19" idx="3"/>
            <a:endCxn id="17" idx="1"/>
          </p:cNvCxnSpPr>
          <p:nvPr/>
        </p:nvCxnSpPr>
        <p:spPr bwMode="auto">
          <a:xfrm flipV="1">
            <a:off x="9326338" y="4257099"/>
            <a:ext cx="615950" cy="100"/>
          </a:xfrm>
          <a:prstGeom prst="bentConnector3">
            <a:avLst>
              <a:gd name="adj1" fmla="val 50000"/>
            </a:avLst>
          </a:prstGeom>
          <a:noFill/>
          <a:ln w="28575" algn="ctr">
            <a:solidFill>
              <a:schemeClr val="accent1"/>
            </a:solidFill>
            <a:round/>
            <a:headEnd/>
            <a:tailEnd type="arrow" w="med" len="med"/>
          </a:ln>
        </p:spPr>
      </p:cxnSp>
    </p:spTree>
    <p:extLst>
      <p:ext uri="{BB962C8B-B14F-4D97-AF65-F5344CB8AC3E}">
        <p14:creationId xmlns:p14="http://schemas.microsoft.com/office/powerpoint/2010/main" val="4037239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Process Tree: Hands drying  - air dryer</a:t>
            </a:r>
            <a:endParaRPr lang="en-US" dirty="0">
              <a:solidFill>
                <a:schemeClr val="tx2"/>
              </a:solidFill>
            </a:endParaRPr>
          </a:p>
        </p:txBody>
      </p:sp>
      <p:sp>
        <p:nvSpPr>
          <p:cNvPr id="26" name="Text Box 41">
            <a:extLst>
              <a:ext uri="{FF2B5EF4-FFF2-40B4-BE49-F238E27FC236}">
                <a16:creationId xmlns:a16="http://schemas.microsoft.com/office/drawing/2014/main" id="{DEC1D860-E40A-CC4C-A6AC-F667EEBCC8EC}"/>
              </a:ext>
            </a:extLst>
          </p:cNvPr>
          <p:cNvSpPr txBox="1">
            <a:spLocks noChangeArrowheads="1"/>
          </p:cNvSpPr>
          <p:nvPr/>
        </p:nvSpPr>
        <p:spPr bwMode="auto">
          <a:xfrm>
            <a:off x="10665619" y="4085866"/>
            <a:ext cx="2135981" cy="707886"/>
          </a:xfrm>
          <a:prstGeom prst="rect">
            <a:avLst/>
          </a:prstGeom>
          <a:solidFill>
            <a:schemeClr val="accent6">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defRPr/>
            </a:pPr>
            <a:r>
              <a:rPr lang="en-US" altLang="en-US" sz="2000" b="0" dirty="0">
                <a:solidFill>
                  <a:schemeClr val="accent6"/>
                </a:solidFill>
                <a:cs typeface="Arial" panose="020B0604020202020204" pitchFamily="34" charset="0"/>
              </a:rPr>
              <a:t>1 pair of dried hands, air dryer</a:t>
            </a:r>
          </a:p>
        </p:txBody>
      </p:sp>
      <p:sp>
        <p:nvSpPr>
          <p:cNvPr id="27" name="Text Box 41">
            <a:extLst>
              <a:ext uri="{FF2B5EF4-FFF2-40B4-BE49-F238E27FC236}">
                <a16:creationId xmlns:a16="http://schemas.microsoft.com/office/drawing/2014/main" id="{DCC22E31-971F-6C48-AEB8-7CACEFE36048}"/>
              </a:ext>
            </a:extLst>
          </p:cNvPr>
          <p:cNvSpPr txBox="1">
            <a:spLocks noChangeArrowheads="1"/>
          </p:cNvSpPr>
          <p:nvPr/>
        </p:nvSpPr>
        <p:spPr bwMode="auto">
          <a:xfrm>
            <a:off x="8128794" y="5916986"/>
            <a:ext cx="1920875" cy="400110"/>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xxx</a:t>
            </a:r>
          </a:p>
        </p:txBody>
      </p:sp>
      <p:sp>
        <p:nvSpPr>
          <p:cNvPr id="29" name="Text Box 41">
            <a:extLst>
              <a:ext uri="{FF2B5EF4-FFF2-40B4-BE49-F238E27FC236}">
                <a16:creationId xmlns:a16="http://schemas.microsoft.com/office/drawing/2014/main" id="{2BAB109B-612E-A149-9127-94CCCF2EE827}"/>
              </a:ext>
            </a:extLst>
          </p:cNvPr>
          <p:cNvSpPr txBox="1">
            <a:spLocks noChangeArrowheads="1"/>
          </p:cNvSpPr>
          <p:nvPr/>
        </p:nvSpPr>
        <p:spPr bwMode="auto">
          <a:xfrm>
            <a:off x="8128794" y="4239854"/>
            <a:ext cx="1920875" cy="400110"/>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xxx</a:t>
            </a:r>
          </a:p>
        </p:txBody>
      </p:sp>
      <p:cxnSp>
        <p:nvCxnSpPr>
          <p:cNvPr id="37" name="Elbow Connector 10">
            <a:extLst>
              <a:ext uri="{FF2B5EF4-FFF2-40B4-BE49-F238E27FC236}">
                <a16:creationId xmlns:a16="http://schemas.microsoft.com/office/drawing/2014/main" id="{3345EECF-6844-1D4F-8B16-504585BA483F}"/>
              </a:ext>
            </a:extLst>
          </p:cNvPr>
          <p:cNvCxnSpPr>
            <a:cxnSpLocks noChangeShapeType="1"/>
            <a:stCxn id="27" idx="3"/>
            <a:endCxn id="26" idx="1"/>
          </p:cNvCxnSpPr>
          <p:nvPr/>
        </p:nvCxnSpPr>
        <p:spPr bwMode="auto">
          <a:xfrm flipV="1">
            <a:off x="10049669" y="4439809"/>
            <a:ext cx="615950" cy="1677232"/>
          </a:xfrm>
          <a:prstGeom prst="bentConnector3">
            <a:avLst>
              <a:gd name="adj1" fmla="val 50000"/>
            </a:avLst>
          </a:prstGeom>
          <a:noFill/>
          <a:ln w="28575" algn="ctr">
            <a:solidFill>
              <a:schemeClr val="accent1"/>
            </a:solidFill>
            <a:round/>
            <a:headEnd/>
            <a:tailEnd type="arrow" w="med" len="med"/>
          </a:ln>
        </p:spPr>
      </p:cxnSp>
      <p:sp>
        <p:nvSpPr>
          <p:cNvPr id="13" name="Text Box 41">
            <a:extLst>
              <a:ext uri="{FF2B5EF4-FFF2-40B4-BE49-F238E27FC236}">
                <a16:creationId xmlns:a16="http://schemas.microsoft.com/office/drawing/2014/main" id="{2BAB109B-612E-A149-9127-94CCCF2EE827}"/>
              </a:ext>
            </a:extLst>
          </p:cNvPr>
          <p:cNvSpPr txBox="1">
            <a:spLocks noChangeArrowheads="1"/>
          </p:cNvSpPr>
          <p:nvPr/>
        </p:nvSpPr>
        <p:spPr bwMode="auto">
          <a:xfrm>
            <a:off x="698546" y="1879059"/>
            <a:ext cx="1920875" cy="400110"/>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xxx</a:t>
            </a:r>
          </a:p>
        </p:txBody>
      </p:sp>
      <p:sp>
        <p:nvSpPr>
          <p:cNvPr id="14" name="Text Box 41">
            <a:extLst>
              <a:ext uri="{FF2B5EF4-FFF2-40B4-BE49-F238E27FC236}">
                <a16:creationId xmlns:a16="http://schemas.microsoft.com/office/drawing/2014/main" id="{DCC22E31-971F-6C48-AEB8-7CACEFE36048}"/>
              </a:ext>
            </a:extLst>
          </p:cNvPr>
          <p:cNvSpPr txBox="1">
            <a:spLocks noChangeArrowheads="1"/>
          </p:cNvSpPr>
          <p:nvPr/>
        </p:nvSpPr>
        <p:spPr bwMode="auto">
          <a:xfrm>
            <a:off x="698546" y="2917204"/>
            <a:ext cx="1920875" cy="400110"/>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xxx</a:t>
            </a:r>
          </a:p>
        </p:txBody>
      </p:sp>
      <p:cxnSp>
        <p:nvCxnSpPr>
          <p:cNvPr id="15" name="Elbow Connector 14">
            <a:extLst>
              <a:ext uri="{FF2B5EF4-FFF2-40B4-BE49-F238E27FC236}">
                <a16:creationId xmlns:a16="http://schemas.microsoft.com/office/drawing/2014/main" id="{3345EECF-6844-1D4F-8B16-504585BA483F}"/>
              </a:ext>
            </a:extLst>
          </p:cNvPr>
          <p:cNvCxnSpPr>
            <a:cxnSpLocks noChangeShapeType="1"/>
          </p:cNvCxnSpPr>
          <p:nvPr/>
        </p:nvCxnSpPr>
        <p:spPr bwMode="auto">
          <a:xfrm flipV="1">
            <a:off x="3222575" y="2331362"/>
            <a:ext cx="615950" cy="1571794"/>
          </a:xfrm>
          <a:prstGeom prst="bentConnector3">
            <a:avLst>
              <a:gd name="adj1" fmla="val 50000"/>
            </a:avLst>
          </a:prstGeom>
          <a:noFill/>
          <a:ln w="28575" algn="ctr">
            <a:solidFill>
              <a:schemeClr val="accent1"/>
            </a:solidFill>
            <a:round/>
            <a:headEnd/>
            <a:tailEnd type="arrow" w="med" len="med"/>
          </a:ln>
        </p:spPr>
      </p:cxnSp>
      <p:cxnSp>
        <p:nvCxnSpPr>
          <p:cNvPr id="16" name="Elbow Connector 15">
            <a:extLst>
              <a:ext uri="{FF2B5EF4-FFF2-40B4-BE49-F238E27FC236}">
                <a16:creationId xmlns:a16="http://schemas.microsoft.com/office/drawing/2014/main" id="{3345EECF-6844-1D4F-8B16-504585BA483F}"/>
              </a:ext>
            </a:extLst>
          </p:cNvPr>
          <p:cNvCxnSpPr>
            <a:cxnSpLocks noChangeShapeType="1"/>
          </p:cNvCxnSpPr>
          <p:nvPr/>
        </p:nvCxnSpPr>
        <p:spPr bwMode="auto">
          <a:xfrm flipV="1">
            <a:off x="2886453" y="1545465"/>
            <a:ext cx="615950" cy="1571794"/>
          </a:xfrm>
          <a:prstGeom prst="bentConnector3">
            <a:avLst>
              <a:gd name="adj1" fmla="val 50000"/>
            </a:avLst>
          </a:prstGeom>
          <a:noFill/>
          <a:ln w="28575" algn="ctr">
            <a:solidFill>
              <a:schemeClr val="accent1"/>
            </a:solidFill>
            <a:round/>
            <a:headEnd/>
            <a:tailEnd type="arrow" w="med" len="med"/>
          </a:ln>
        </p:spPr>
      </p:cxnSp>
      <p:cxnSp>
        <p:nvCxnSpPr>
          <p:cNvPr id="19" name="Elbow Connector 18">
            <a:extLst>
              <a:ext uri="{FF2B5EF4-FFF2-40B4-BE49-F238E27FC236}">
                <a16:creationId xmlns:a16="http://schemas.microsoft.com/office/drawing/2014/main" id="{3345EECF-6844-1D4F-8B16-504585BA483F}"/>
              </a:ext>
            </a:extLst>
          </p:cNvPr>
          <p:cNvCxnSpPr>
            <a:cxnSpLocks noChangeShapeType="1"/>
            <a:stCxn id="29" idx="3"/>
            <a:endCxn id="26" idx="1"/>
          </p:cNvCxnSpPr>
          <p:nvPr/>
        </p:nvCxnSpPr>
        <p:spPr bwMode="auto">
          <a:xfrm flipV="1">
            <a:off x="10049669" y="4439809"/>
            <a:ext cx="615950" cy="100"/>
          </a:xfrm>
          <a:prstGeom prst="bentConnector3">
            <a:avLst>
              <a:gd name="adj1" fmla="val 50000"/>
            </a:avLst>
          </a:prstGeom>
          <a:noFill/>
          <a:ln w="28575" algn="ctr">
            <a:solidFill>
              <a:schemeClr val="accent1"/>
            </a:solidFill>
            <a:round/>
            <a:headEnd/>
            <a:tailEnd type="arrow" w="med" len="med"/>
          </a:ln>
        </p:spPr>
      </p:cxnSp>
    </p:spTree>
    <p:extLst>
      <p:ext uri="{BB962C8B-B14F-4D97-AF65-F5344CB8AC3E}">
        <p14:creationId xmlns:p14="http://schemas.microsoft.com/office/powerpoint/2010/main" val="3946036970"/>
      </p:ext>
    </p:extLst>
  </p:cSld>
  <p:clrMapOvr>
    <a:masterClrMapping/>
  </p:clrMapOvr>
</p:sld>
</file>

<file path=ppt/theme/theme1.xml><?xml version="1.0" encoding="utf-8"?>
<a:theme xmlns:a="http://schemas.openxmlformats.org/drawingml/2006/main" name="Title slide option 2">
  <a:themeElements>
    <a:clrScheme name="SPH brand colors">
      <a:dk1>
        <a:srgbClr val="00274C"/>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Notes (not to be shown in vide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AI_PPT_Template_2.potx</Template>
  <TotalTime>18214</TotalTime>
  <Words>1379</Words>
  <Application>Microsoft Office PowerPoint</Application>
  <PresentationFormat>Custom</PresentationFormat>
  <Paragraphs>144</Paragraphs>
  <Slides>9</Slides>
  <Notes>8</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9</vt:i4>
      </vt:variant>
    </vt:vector>
  </HeadingPairs>
  <TitlesOfParts>
    <vt:vector size="19" baseType="lpstr">
      <vt:lpstr>Arial</vt:lpstr>
      <vt:lpstr>Calibri</vt:lpstr>
      <vt:lpstr>Courier New</vt:lpstr>
      <vt:lpstr>Times New Roman</vt:lpstr>
      <vt:lpstr>Wingdings</vt:lpstr>
      <vt:lpstr>Title slide option 2</vt:lpstr>
      <vt:lpstr>Content slide (shown in video)</vt:lpstr>
      <vt:lpstr>2_Content slide (shown in video)</vt:lpstr>
      <vt:lpstr>3_Content slide (shown in video)</vt:lpstr>
      <vt:lpstr>Notes (not to be shown in video)</vt:lpstr>
      <vt:lpstr>PowerPoint Presentation</vt:lpstr>
      <vt:lpstr>Hands dryer</vt:lpstr>
      <vt:lpstr>PowerPoint Presentation</vt:lpstr>
      <vt:lpstr>PowerPoint Presentation</vt:lpstr>
      <vt:lpstr>Hand Dryers – Intermediary Flows</vt:lpstr>
      <vt:lpstr>Process tree design</vt:lpstr>
      <vt:lpstr>Hand Dryers – Build the process tree</vt:lpstr>
      <vt:lpstr>Process Tree: Hands drying - paper towel </vt:lpstr>
      <vt:lpstr>Process Tree: Hands drying  - air dryer</vt:lpstr>
    </vt:vector>
  </TitlesOfParts>
  <Manager/>
  <Company>University of Michigan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Scott Mahler</dc:creator>
  <cp:keywords/>
  <dc:description/>
  <cp:lastModifiedBy>Olivier Jolliet</cp:lastModifiedBy>
  <cp:revision>807</cp:revision>
  <cp:lastPrinted>2020-03-06T14:51:20Z</cp:lastPrinted>
  <dcterms:created xsi:type="dcterms:W3CDTF">2017-01-17T22:07:36Z</dcterms:created>
  <dcterms:modified xsi:type="dcterms:W3CDTF">2021-11-25T21:52:25Z</dcterms:modified>
  <cp:category/>
</cp:coreProperties>
</file>