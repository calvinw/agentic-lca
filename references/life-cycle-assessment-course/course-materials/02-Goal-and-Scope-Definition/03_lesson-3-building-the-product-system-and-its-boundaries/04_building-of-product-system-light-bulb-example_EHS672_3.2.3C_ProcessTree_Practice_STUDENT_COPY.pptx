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  <p:sldMasterId id="2147483785" r:id="rId2"/>
    <p:sldMasterId id="2147483806" r:id="rId3"/>
    <p:sldMasterId id="2147483808" r:id="rId4"/>
    <p:sldMasterId id="2147483796" r:id="rId5"/>
  </p:sldMasterIdLst>
  <p:notesMasterIdLst>
    <p:notesMasterId r:id="rId17"/>
  </p:notesMasterIdLst>
  <p:handoutMasterIdLst>
    <p:handoutMasterId r:id="rId18"/>
  </p:handoutMasterIdLst>
  <p:sldIdLst>
    <p:sldId id="267" r:id="rId6"/>
    <p:sldId id="274" r:id="rId7"/>
    <p:sldId id="526" r:id="rId8"/>
    <p:sldId id="521" r:id="rId9"/>
    <p:sldId id="519" r:id="rId10"/>
    <p:sldId id="517" r:id="rId11"/>
    <p:sldId id="522" r:id="rId12"/>
    <p:sldId id="528" r:id="rId13"/>
    <p:sldId id="527" r:id="rId14"/>
    <p:sldId id="520" r:id="rId15"/>
    <p:sldId id="524" r:id="rId16"/>
  </p:sldIdLst>
  <p:sldSz cx="16257588" cy="9144000"/>
  <p:notesSz cx="6858000" cy="9144000"/>
  <p:defaultTextStyle>
    <a:defPPr>
      <a:defRPr lang="en-US"/>
    </a:defPPr>
    <a:lvl1pPr marL="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81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62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43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24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405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86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67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48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slides" id="{C7F91DBA-90A9-5343-8B43-F0D96459C604}">
          <p14:sldIdLst>
            <p14:sldId id="267"/>
            <p14:sldId id="274"/>
            <p14:sldId id="526"/>
            <p14:sldId id="521"/>
            <p14:sldId id="519"/>
            <p14:sldId id="517"/>
            <p14:sldId id="522"/>
            <p14:sldId id="528"/>
            <p14:sldId id="527"/>
            <p14:sldId id="520"/>
            <p14:sldId id="5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0274C"/>
    <a:srgbClr val="E4E1DF"/>
    <a:srgbClr val="B5B5B5"/>
    <a:srgbClr val="050909"/>
    <a:srgbClr val="FFCB05"/>
    <a:srgbClr val="EA6A20"/>
    <a:srgbClr val="06090A"/>
    <a:srgbClr val="090B0B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01"/>
    <p:restoredTop sz="81088"/>
  </p:normalViewPr>
  <p:slideViewPr>
    <p:cSldViewPr snapToGrid="0">
      <p:cViewPr varScale="1">
        <p:scale>
          <a:sx n="77" d="100"/>
          <a:sy n="77" d="100"/>
        </p:scale>
        <p:origin x="920" y="184"/>
      </p:cViewPr>
      <p:guideLst>
        <p:guide orient="horz" pos="3216"/>
        <p:guide pos="5120"/>
      </p:guideLst>
    </p:cSldViewPr>
  </p:slideViewPr>
  <p:notesTextViewPr>
    <p:cViewPr>
      <p:scale>
        <a:sx n="114" d="100"/>
        <a:sy n="114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51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32C488-5493-244C-B1EB-F7CF3662E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D1453-9CD9-5640-A3F8-C0F3421BFA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623C7-AC5F-3A41-B4CB-88972659BBB1}" type="datetimeFigureOut">
              <a:rPr lang="en-US" smtClean="0"/>
              <a:t>11/5/21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A9942-DAC7-014E-98D2-7E2678599F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CB1E6-A261-2741-AFAE-436A65E0D5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C83E3-4C2A-B644-AB75-B8266C440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61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33527-EF9E-5940-92CE-307645268EE1}" type="datetimeFigureOut">
              <a:rPr lang="en-US" smtClean="0"/>
              <a:t>11/5/21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DB68-E51C-0443-B8CE-2997CF470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9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17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83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09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35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32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32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baseline="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45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baseline="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26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62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90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3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62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95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94A1462-55F6-494B-8554-951DED06E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454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notes (not to be 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81665" y="1301578"/>
            <a:ext cx="13007546" cy="58076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41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27000">
              <a:srgbClr val="ECECEC"/>
            </a:gs>
            <a:gs pos="80000">
              <a:schemeClr val="bg1"/>
            </a:gs>
            <a:gs pos="2000">
              <a:schemeClr val="bg1">
                <a:lumMod val="50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F79A2DE-44A3-E846-BDE0-2432CDF19E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0"/>
            <a:ext cx="16271545" cy="777602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7674428"/>
            <a:ext cx="16257588" cy="1469571"/>
          </a:xfrm>
          <a:prstGeom prst="rect">
            <a:avLst/>
          </a:prstGeom>
          <a:solidFill>
            <a:srgbClr val="0027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_SchoolPublicHealth_logo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9986" y="8007770"/>
            <a:ext cx="5372640" cy="76752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7623628"/>
            <a:ext cx="16257588" cy="15240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01CEF-1B1A-0A48-82FA-0DF2D06BC503}"/>
              </a:ext>
            </a:extLst>
          </p:cNvPr>
          <p:cNvSpPr/>
          <p:nvPr userDrawn="1"/>
        </p:nvSpPr>
        <p:spPr>
          <a:xfrm>
            <a:off x="0" y="4767944"/>
            <a:ext cx="16257588" cy="2846366"/>
          </a:xfrm>
          <a:prstGeom prst="rect">
            <a:avLst/>
          </a:prstGeom>
          <a:gradFill flip="none" rotWithShape="1">
            <a:gsLst>
              <a:gs pos="100000">
                <a:srgbClr val="587ABC">
                  <a:lumMod val="74000"/>
                  <a:alpha val="55000"/>
                </a:srgbClr>
              </a:gs>
              <a:gs pos="0">
                <a:schemeClr val="bg1">
                  <a:lumMod val="95000"/>
                </a:schemeClr>
              </a:gs>
              <a:gs pos="66000">
                <a:srgbClr val="EEEEEE"/>
              </a:gs>
            </a:gsLst>
            <a:lin ang="12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38555-B398-464F-9B4E-17CD401959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4757918"/>
            <a:ext cx="12192001" cy="289111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F0919A-AFA5-E147-95FD-08292D7FF4FB}"/>
              </a:ext>
            </a:extLst>
          </p:cNvPr>
          <p:cNvCxnSpPr>
            <a:cxnSpLocks/>
          </p:cNvCxnSpPr>
          <p:nvPr userDrawn="1"/>
        </p:nvCxnSpPr>
        <p:spPr>
          <a:xfrm>
            <a:off x="0" y="6607960"/>
            <a:ext cx="10140043" cy="0"/>
          </a:xfrm>
          <a:prstGeom prst="line">
            <a:avLst/>
          </a:prstGeom>
          <a:ln w="38100">
            <a:solidFill>
              <a:srgbClr val="0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ED9A923-5028-2F43-A7E3-007357342122}"/>
              </a:ext>
            </a:extLst>
          </p:cNvPr>
          <p:cNvSpPr/>
          <p:nvPr userDrawn="1"/>
        </p:nvSpPr>
        <p:spPr>
          <a:xfrm>
            <a:off x="0" y="4550950"/>
            <a:ext cx="16257588" cy="224918"/>
          </a:xfrm>
          <a:prstGeom prst="rect">
            <a:avLst/>
          </a:prstGeom>
          <a:gradFill>
            <a:gsLst>
              <a:gs pos="63000">
                <a:schemeClr val="bg1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14631828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14631828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8E102-C795-3941-9125-C4D5BBD0193F}"/>
              </a:ext>
            </a:extLst>
          </p:cNvPr>
          <p:cNvSpPr/>
          <p:nvPr userDrawn="1"/>
        </p:nvSpPr>
        <p:spPr>
          <a:xfrm>
            <a:off x="0" y="0"/>
            <a:ext cx="16257588" cy="224918"/>
          </a:xfrm>
          <a:prstGeom prst="rect">
            <a:avLst/>
          </a:prstGeom>
          <a:gradFill>
            <a:gsLst>
              <a:gs pos="63000">
                <a:srgbClr val="00274C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45DA2-7C42-8445-AD00-272875B751FD}"/>
              </a:ext>
            </a:extLst>
          </p:cNvPr>
          <p:cNvCxnSpPr>
            <a:cxnSpLocks/>
          </p:cNvCxnSpPr>
          <p:nvPr userDrawn="1"/>
        </p:nvCxnSpPr>
        <p:spPr>
          <a:xfrm>
            <a:off x="1023582" y="1210794"/>
            <a:ext cx="14343797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E5EF9-7466-AC4A-8B9B-8C26E6EB2668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2D098-25F8-1B47-A897-734EE7598560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84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E75BEE-68E8-7E41-9537-113B0DA1B9A2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BBCB0-652C-4D4B-9603-135F326E9486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FF513C8-0BD3-FA4B-8D9A-FB9C21EC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259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9489860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9489860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5F1F8-1280-884E-8894-968C107F09E4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80828F-C4E5-CD4A-8C1F-761E9B421162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46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084172" y="1066154"/>
            <a:ext cx="12002531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	Edit Master text styles</a:t>
            </a:r>
          </a:p>
          <a:p>
            <a:pPr lvl="2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DCE93A83-2E66-F74F-A5CD-47D28E6C7BC3}"/>
              </a:ext>
            </a:extLst>
          </p:cNvPr>
          <p:cNvSpPr txBox="1">
            <a:spLocks/>
          </p:cNvSpPr>
          <p:nvPr/>
        </p:nvSpPr>
        <p:spPr>
          <a:xfrm>
            <a:off x="440871" y="5021568"/>
            <a:ext cx="14799129" cy="1718216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000" b="1" dirty="0"/>
              <a:t>Building of Product System and Process Tree: </a:t>
            </a:r>
            <a:r>
              <a:rPr lang="en-US" sz="3600" b="1" dirty="0">
                <a:solidFill>
                  <a:schemeClr val="accent5"/>
                </a:solidFill>
              </a:rPr>
              <a:t>Part C – Steps and application to aluminum</a:t>
            </a:r>
            <a:endParaRPr lang="en-US" altLang="en-US" sz="3600" b="1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B5F09-AA9C-0C49-A705-E3ECF1BA7055}"/>
              </a:ext>
            </a:extLst>
          </p:cNvPr>
          <p:cNvSpPr txBox="1"/>
          <p:nvPr/>
        </p:nvSpPr>
        <p:spPr>
          <a:xfrm>
            <a:off x="440871" y="6790584"/>
            <a:ext cx="30219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Olivier Jolliet, PhD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536684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C63FD6C-8B55-0A4A-A3F9-421E18D7D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0211" y="1783976"/>
            <a:ext cx="14630400" cy="5429624"/>
          </a:xfrm>
        </p:spPr>
        <p:txBody>
          <a:bodyPr>
            <a:normAutofit/>
          </a:bodyPr>
          <a:lstStyle/>
          <a:p>
            <a:pPr marL="693738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/>
              <a:t>Build the product system and process tree, more specifically</a:t>
            </a:r>
          </a:p>
          <a:p>
            <a:pPr marL="1150938" lvl="1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>
                <a:solidFill>
                  <a:schemeClr val="tx2"/>
                </a:solidFill>
              </a:rPr>
              <a:t>Design the process tree of the incandescent light bulb system</a:t>
            </a:r>
          </a:p>
          <a:p>
            <a:pPr marL="1150938" lvl="1" indent="-681038">
              <a:spcAft>
                <a:spcPts val="12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dirty="0">
                <a:solidFill>
                  <a:schemeClr val="tx2"/>
                </a:solidFill>
              </a:rPr>
              <a:t>Determine amount of each process per functional unit</a:t>
            </a:r>
          </a:p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endParaRPr lang="en-US" dirty="0"/>
          </a:p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endParaRPr lang="en-US" altLang="en-US" dirty="0"/>
          </a:p>
          <a:p>
            <a:pPr marL="693738" indent="-681038">
              <a:spcAft>
                <a:spcPts val="3200"/>
              </a:spcAft>
              <a:buClr>
                <a:schemeClr val="accent1"/>
              </a:buClr>
              <a:buFont typeface="Arial Bold"/>
              <a:buChar char="►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05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5444708" cy="870385"/>
          </a:xfrm>
        </p:spPr>
        <p:txBody>
          <a:bodyPr/>
          <a:lstStyle/>
          <a:p>
            <a:r>
              <a:rPr lang="en-US" altLang="en-US" dirty="0"/>
              <a:t>Process tree design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868F279-55FF-0146-A398-704D27232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571" y="1808054"/>
            <a:ext cx="900434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spcAft>
                <a:spcPts val="2400"/>
              </a:spcAft>
              <a:buClrTx/>
              <a:buNone/>
            </a:pPr>
            <a:r>
              <a:rPr lang="en-US" altLang="en-US" sz="2800" b="0" i="1" dirty="0">
                <a:solidFill>
                  <a:schemeClr val="accent6"/>
                </a:solidFill>
              </a:rPr>
              <a:t>Start from reference flows </a:t>
            </a:r>
            <a:r>
              <a:rPr lang="en-US" altLang="en-US" sz="2800" b="0" dirty="0">
                <a:solidFill>
                  <a:schemeClr val="tx2"/>
                </a:solidFill>
              </a:rPr>
              <a:t>needed to be </a:t>
            </a:r>
            <a:br>
              <a:rPr lang="en-US" altLang="en-US" sz="2800" b="0" dirty="0">
                <a:solidFill>
                  <a:schemeClr val="tx2"/>
                </a:solidFill>
              </a:rPr>
            </a:br>
            <a:r>
              <a:rPr lang="en-US" altLang="en-US" sz="2800" b="0" dirty="0">
                <a:solidFill>
                  <a:schemeClr val="tx2"/>
                </a:solidFill>
              </a:rPr>
              <a:t>purchased per functional unit. </a:t>
            </a:r>
            <a:br>
              <a:rPr lang="en-US" altLang="en-US" sz="2800" b="0" dirty="0">
                <a:solidFill>
                  <a:schemeClr val="tx2"/>
                </a:solidFill>
              </a:rPr>
            </a:br>
            <a:r>
              <a:rPr lang="en-US" altLang="en-US" sz="2800" dirty="0">
                <a:solidFill>
                  <a:schemeClr val="tx2"/>
                </a:solidFill>
              </a:rPr>
              <a:t>Draw one box per reference flow</a:t>
            </a:r>
            <a:r>
              <a:rPr lang="en-US" altLang="en-US" sz="2800" b="0" dirty="0">
                <a:solidFill>
                  <a:schemeClr val="tx2"/>
                </a:solidFill>
              </a:rPr>
              <a:t>.</a:t>
            </a:r>
          </a:p>
          <a:p>
            <a:pPr marL="0" indent="0">
              <a:spcBef>
                <a:spcPct val="0"/>
              </a:spcBef>
              <a:spcAft>
                <a:spcPts val="2400"/>
              </a:spcAft>
              <a:buClrTx/>
              <a:buNone/>
            </a:pPr>
            <a:r>
              <a:rPr lang="en-US" altLang="en-US" sz="2800" b="0" i="1" dirty="0">
                <a:solidFill>
                  <a:schemeClr val="accent6"/>
                </a:solidFill>
              </a:rPr>
              <a:t>Follow the upstream and downstream </a:t>
            </a:r>
            <a:r>
              <a:rPr lang="en-US" altLang="en-US" sz="2800" b="0" dirty="0">
                <a:solidFill>
                  <a:schemeClr val="tx2"/>
                </a:solidFill>
              </a:rPr>
              <a:t>intermediary flows until you reach processes further (likely to be) covered by an LCA database.</a:t>
            </a:r>
          </a:p>
          <a:p>
            <a:pPr marL="0" indent="0">
              <a:spcBef>
                <a:spcPct val="0"/>
              </a:spcBef>
              <a:spcAft>
                <a:spcPts val="2400"/>
              </a:spcAft>
              <a:buClrTx/>
              <a:buNone/>
            </a:pPr>
            <a:r>
              <a:rPr lang="en-US" altLang="en-US" sz="2800" b="0" i="1" dirty="0">
                <a:solidFill>
                  <a:schemeClr val="accent6"/>
                </a:solidFill>
              </a:rPr>
              <a:t>Design the process tree</a:t>
            </a:r>
            <a:r>
              <a:rPr lang="en-US" altLang="en-US" sz="2800" b="0" dirty="0">
                <a:solidFill>
                  <a:schemeClr val="tx2"/>
                </a:solidFill>
              </a:rPr>
              <a:t>.</a:t>
            </a:r>
          </a:p>
          <a:p>
            <a:pPr marL="0" indent="0">
              <a:spcBef>
                <a:spcPct val="0"/>
              </a:spcBef>
              <a:spcAft>
                <a:spcPts val="2400"/>
              </a:spcAft>
              <a:buClrTx/>
              <a:buNone/>
            </a:pPr>
            <a:r>
              <a:rPr lang="en-US" altLang="en-US" sz="2800" b="0" dirty="0">
                <a:solidFill>
                  <a:schemeClr val="tx2"/>
                </a:solidFill>
              </a:rPr>
              <a:t>For each unit process, document in each box,</a:t>
            </a:r>
            <a:br>
              <a:rPr lang="en-US" altLang="en-US" sz="2800" b="0" dirty="0">
                <a:solidFill>
                  <a:schemeClr val="tx2"/>
                </a:solidFill>
              </a:rPr>
            </a:br>
            <a:r>
              <a:rPr lang="en-US" altLang="en-US" sz="2800" b="0" dirty="0">
                <a:solidFill>
                  <a:schemeClr val="tx2"/>
                </a:solidFill>
              </a:rPr>
              <a:t>the amount needed per FU.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01FC1C-213B-3940-BBD7-83366F46EBAF}"/>
              </a:ext>
            </a:extLst>
          </p:cNvPr>
          <p:cNvSpPr/>
          <p:nvPr/>
        </p:nvSpPr>
        <p:spPr bwMode="auto">
          <a:xfrm>
            <a:off x="12702467" y="5472847"/>
            <a:ext cx="777574" cy="60964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11" name="Elbow Connector 5">
            <a:extLst>
              <a:ext uri="{FF2B5EF4-FFF2-40B4-BE49-F238E27FC236}">
                <a16:creationId xmlns:a16="http://schemas.microsoft.com/office/drawing/2014/main" id="{CB1EE4D1-16C8-B042-8014-459B95BF74C5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12054153" y="4383275"/>
            <a:ext cx="902365" cy="1171838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C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Elbow Connector 7">
            <a:extLst>
              <a:ext uri="{FF2B5EF4-FFF2-40B4-BE49-F238E27FC236}">
                <a16:creationId xmlns:a16="http://schemas.microsoft.com/office/drawing/2014/main" id="{F503B68F-7426-6C49-920C-1874BD3746D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3252832" y="4469065"/>
            <a:ext cx="677105" cy="1000259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C000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Elbow Connector 5">
            <a:extLst>
              <a:ext uri="{FF2B5EF4-FFF2-40B4-BE49-F238E27FC236}">
                <a16:creationId xmlns:a16="http://schemas.microsoft.com/office/drawing/2014/main" id="{8974C8DA-4B18-7545-8001-F50644292E74}"/>
              </a:ext>
            </a:extLst>
          </p:cNvPr>
          <p:cNvCxnSpPr>
            <a:cxnSpLocks noChangeShapeType="1"/>
            <a:stCxn id="13" idx="2"/>
          </p:cNvCxnSpPr>
          <p:nvPr/>
        </p:nvCxnSpPr>
        <p:spPr bwMode="auto">
          <a:xfrm rot="16200000" flipH="1">
            <a:off x="11208274" y="3349236"/>
            <a:ext cx="733549" cy="530556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C000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Elbow Connector 7">
            <a:extLst>
              <a:ext uri="{FF2B5EF4-FFF2-40B4-BE49-F238E27FC236}">
                <a16:creationId xmlns:a16="http://schemas.microsoft.com/office/drawing/2014/main" id="{2E443960-40E1-AE4F-AB41-0896E4E7F0BB}"/>
              </a:ext>
            </a:extLst>
          </p:cNvPr>
          <p:cNvCxnSpPr>
            <a:cxnSpLocks noChangeShapeType="1"/>
            <a:stCxn id="14" idx="2"/>
          </p:cNvCxnSpPr>
          <p:nvPr/>
        </p:nvCxnSpPr>
        <p:spPr bwMode="auto">
          <a:xfrm rot="5400000">
            <a:off x="11779589" y="3312128"/>
            <a:ext cx="729900" cy="608427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C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Elbow Connector 5">
            <a:extLst>
              <a:ext uri="{FF2B5EF4-FFF2-40B4-BE49-F238E27FC236}">
                <a16:creationId xmlns:a16="http://schemas.microsoft.com/office/drawing/2014/main" id="{6E3010A8-0CEC-2045-A816-68CD66F98EF5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13469900" y="3360847"/>
            <a:ext cx="733650" cy="532634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C000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Elbow Connector 7">
            <a:extLst>
              <a:ext uri="{FF2B5EF4-FFF2-40B4-BE49-F238E27FC236}">
                <a16:creationId xmlns:a16="http://schemas.microsoft.com/office/drawing/2014/main" id="{4423FADB-A455-CA4D-8A60-1DF3F9F31E8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4044869" y="3348090"/>
            <a:ext cx="718389" cy="586893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C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F72B3CE-EB38-FF47-AAD0-3AB5E6DA25CD}"/>
              </a:ext>
            </a:extLst>
          </p:cNvPr>
          <p:cNvSpPr/>
          <p:nvPr/>
        </p:nvSpPr>
        <p:spPr bwMode="auto">
          <a:xfrm>
            <a:off x="11599991" y="6090926"/>
            <a:ext cx="777574" cy="60599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EBEA9C-9DAE-E440-9F18-47747E772FAF}"/>
              </a:ext>
            </a:extLst>
          </p:cNvPr>
          <p:cNvSpPr/>
          <p:nvPr/>
        </p:nvSpPr>
        <p:spPr bwMode="auto">
          <a:xfrm>
            <a:off x="13808591" y="6090926"/>
            <a:ext cx="777576" cy="60964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cxnSp>
        <p:nvCxnSpPr>
          <p:cNvPr id="23" name="Elbow Connector 5">
            <a:extLst>
              <a:ext uri="{FF2B5EF4-FFF2-40B4-BE49-F238E27FC236}">
                <a16:creationId xmlns:a16="http://schemas.microsoft.com/office/drawing/2014/main" id="{1386F04C-7348-E440-84CD-6AA1C842C12B}"/>
              </a:ext>
            </a:extLst>
          </p:cNvPr>
          <p:cNvCxnSpPr>
            <a:cxnSpLocks noChangeShapeType="1"/>
            <a:endCxn id="21" idx="3"/>
          </p:cNvCxnSpPr>
          <p:nvPr/>
        </p:nvCxnSpPr>
        <p:spPr bwMode="auto">
          <a:xfrm rot="5400000">
            <a:off x="12616795" y="5919465"/>
            <a:ext cx="235231" cy="713689"/>
          </a:xfrm>
          <a:prstGeom prst="bentConnector2">
            <a:avLst/>
          </a:prstGeom>
          <a:noFill/>
          <a:ln w="25400" algn="ctr">
            <a:solidFill>
              <a:srgbClr val="FFC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Elbow Connector 7">
            <a:extLst>
              <a:ext uri="{FF2B5EF4-FFF2-40B4-BE49-F238E27FC236}">
                <a16:creationId xmlns:a16="http://schemas.microsoft.com/office/drawing/2014/main" id="{D475F799-925B-ED43-99F6-D14A5C9D67D8}"/>
              </a:ext>
            </a:extLst>
          </p:cNvPr>
          <p:cNvCxnSpPr>
            <a:cxnSpLocks noChangeShapeType="1"/>
            <a:endCxn id="22" idx="1"/>
          </p:cNvCxnSpPr>
          <p:nvPr/>
        </p:nvCxnSpPr>
        <p:spPr bwMode="auto">
          <a:xfrm rot="16200000" flipH="1">
            <a:off x="13331394" y="5918553"/>
            <a:ext cx="237056" cy="717337"/>
          </a:xfrm>
          <a:prstGeom prst="bentConnector2">
            <a:avLst/>
          </a:prstGeom>
          <a:noFill/>
          <a:ln w="25400" algn="ctr">
            <a:solidFill>
              <a:srgbClr val="FFC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FFB958C-32B1-6F4D-B480-2DBEF9B3D740}"/>
              </a:ext>
            </a:extLst>
          </p:cNvPr>
          <p:cNvSpPr/>
          <p:nvPr/>
        </p:nvSpPr>
        <p:spPr bwMode="auto">
          <a:xfrm>
            <a:off x="11530628" y="4002584"/>
            <a:ext cx="777576" cy="60599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r>
              <a:rPr lang="en-US" dirty="0">
                <a:latin typeface="Arial" charset="0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8AA4BE-57C3-6E49-B67A-0905D35286CE}"/>
              </a:ext>
            </a:extLst>
          </p:cNvPr>
          <p:cNvSpPr/>
          <p:nvPr/>
        </p:nvSpPr>
        <p:spPr bwMode="auto">
          <a:xfrm>
            <a:off x="13702726" y="4046393"/>
            <a:ext cx="777574" cy="609649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D3B1E1-0248-1E4A-864F-DA9F38405A4C}"/>
              </a:ext>
            </a:extLst>
          </p:cNvPr>
          <p:cNvSpPr/>
          <p:nvPr/>
        </p:nvSpPr>
        <p:spPr bwMode="auto">
          <a:xfrm>
            <a:off x="10920983" y="2641742"/>
            <a:ext cx="777574" cy="60599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AF2D9B-551D-F34E-842B-7519752F6C77}"/>
              </a:ext>
            </a:extLst>
          </p:cNvPr>
          <p:cNvSpPr/>
          <p:nvPr/>
        </p:nvSpPr>
        <p:spPr bwMode="auto">
          <a:xfrm>
            <a:off x="12059965" y="2641742"/>
            <a:ext cx="777574" cy="609649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99D8E3-E571-C545-BB20-579C2E8ABBE4}"/>
              </a:ext>
            </a:extLst>
          </p:cNvPr>
          <p:cNvSpPr/>
          <p:nvPr/>
        </p:nvSpPr>
        <p:spPr bwMode="auto">
          <a:xfrm>
            <a:off x="13169743" y="2641742"/>
            <a:ext cx="777574" cy="60599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CC5323-8F1A-0840-BD5B-D2BDC53672D6}"/>
              </a:ext>
            </a:extLst>
          </p:cNvPr>
          <p:cNvSpPr/>
          <p:nvPr/>
        </p:nvSpPr>
        <p:spPr bwMode="auto">
          <a:xfrm>
            <a:off x="14308722" y="2641742"/>
            <a:ext cx="777574" cy="609649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F4C85C-A7D7-C340-891B-43D37FD69E05}"/>
              </a:ext>
            </a:extLst>
          </p:cNvPr>
          <p:cNvSpPr/>
          <p:nvPr/>
        </p:nvSpPr>
        <p:spPr>
          <a:xfrm>
            <a:off x="984738" y="2177432"/>
            <a:ext cx="707629" cy="70762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FA92A5C-A173-3640-A4A7-960FB2EF3EBB}"/>
              </a:ext>
            </a:extLst>
          </p:cNvPr>
          <p:cNvSpPr/>
          <p:nvPr/>
        </p:nvSpPr>
        <p:spPr>
          <a:xfrm>
            <a:off x="984738" y="3713930"/>
            <a:ext cx="707629" cy="70762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286FB70-54AD-7B4C-8B27-B18D59AD7D96}"/>
              </a:ext>
            </a:extLst>
          </p:cNvPr>
          <p:cNvSpPr/>
          <p:nvPr/>
        </p:nvSpPr>
        <p:spPr>
          <a:xfrm>
            <a:off x="984738" y="4834948"/>
            <a:ext cx="707629" cy="70762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991E85-73FD-134B-9322-077E01D16916}"/>
              </a:ext>
            </a:extLst>
          </p:cNvPr>
          <p:cNvSpPr/>
          <p:nvPr/>
        </p:nvSpPr>
        <p:spPr>
          <a:xfrm>
            <a:off x="984738" y="5827675"/>
            <a:ext cx="707629" cy="70762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3568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sz="3400" dirty="0"/>
              <a:t>Elementary and intermediary flows of Tier 1 Aluminum oxide Unit Process </a:t>
            </a:r>
            <a:endParaRPr lang="en-US" sz="3400" dirty="0">
              <a:solidFill>
                <a:schemeClr val="tx2"/>
              </a:solidFill>
            </a:endParaRPr>
          </a:p>
        </p:txBody>
      </p:sp>
      <p:sp>
        <p:nvSpPr>
          <p:cNvPr id="26" name="Text Box 41">
            <a:extLst>
              <a:ext uri="{FF2B5EF4-FFF2-40B4-BE49-F238E27FC236}">
                <a16:creationId xmlns:a16="http://schemas.microsoft.com/office/drawing/2014/main" id="{1DD35CA7-82CD-F849-B3EB-917AB3F7C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4782" y="2341563"/>
            <a:ext cx="2044657" cy="2554545"/>
          </a:xfrm>
          <a:prstGeom prst="rect">
            <a:avLst/>
          </a:prstGeom>
          <a:noFill/>
          <a:ln w="508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Illumination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800 lumen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During 5000 h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dirty="0">
              <a:solidFill>
                <a:schemeClr val="accent6"/>
              </a:solidFill>
              <a:cs typeface="Arial" panose="020B0604020202020204" pitchFamily="34" charset="0"/>
            </a:endParaRPr>
          </a:p>
        </p:txBody>
      </p:sp>
      <p:sp>
        <p:nvSpPr>
          <p:cNvPr id="27" name="Line 57">
            <a:extLst>
              <a:ext uri="{FF2B5EF4-FFF2-40B4-BE49-F238E27FC236}">
                <a16:creationId xmlns:a16="http://schemas.microsoft.com/office/drawing/2014/main" id="{E01BAF48-939B-534E-95AA-9FFD220F8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214720" y="3455988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59">
            <a:extLst>
              <a:ext uri="{FF2B5EF4-FFF2-40B4-BE49-F238E27FC236}">
                <a16:creationId xmlns:a16="http://schemas.microsoft.com/office/drawing/2014/main" id="{2F061A13-8428-6C40-B040-294EB0BB0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9594" y="3257549"/>
            <a:ext cx="26644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b="0" dirty="0">
                <a:solidFill>
                  <a:schemeClr val="tx2"/>
                </a:solidFill>
                <a:cs typeface="Arial" panose="020B0604020202020204" pitchFamily="34" charset="0"/>
              </a:rPr>
              <a:t>Electricity 300 kWh</a:t>
            </a:r>
          </a:p>
        </p:txBody>
      </p:sp>
      <p:sp>
        <p:nvSpPr>
          <p:cNvPr id="29" name="Line 57">
            <a:extLst>
              <a:ext uri="{FF2B5EF4-FFF2-40B4-BE49-F238E27FC236}">
                <a16:creationId xmlns:a16="http://schemas.microsoft.com/office/drawing/2014/main" id="{700F1F31-1A12-FA47-B12F-67D8641A7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214720" y="3068638"/>
            <a:ext cx="381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Text Box 59">
            <a:extLst>
              <a:ext uri="{FF2B5EF4-FFF2-40B4-BE49-F238E27FC236}">
                <a16:creationId xmlns:a16="http://schemas.microsoft.com/office/drawing/2014/main" id="{F5203702-2870-BC4E-977C-717922087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4907" y="2843213"/>
            <a:ext cx="35544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US" altLang="en-US" sz="1800" b="0" dirty="0">
                <a:solidFill>
                  <a:schemeClr val="tx2"/>
                </a:solidFill>
                <a:cs typeface="Arial" panose="020B0604020202020204" pitchFamily="34" charset="0"/>
              </a:rPr>
              <a:t>Incandescent light bulb 5 p</a:t>
            </a:r>
          </a:p>
        </p:txBody>
      </p:sp>
      <p:sp>
        <p:nvSpPr>
          <p:cNvPr id="50" name="TextBox 6">
            <a:extLst>
              <a:ext uri="{FF2B5EF4-FFF2-40B4-BE49-F238E27FC236}">
                <a16:creationId xmlns:a16="http://schemas.microsoft.com/office/drawing/2014/main" id="{CCEE7701-7418-9F48-8F1C-1D2DF9D5E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113" y="1985406"/>
            <a:ext cx="43524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>
                <a:solidFill>
                  <a:schemeClr val="accent6"/>
                </a:solidFill>
              </a:rPr>
              <a:t>From functional unit lecture:</a:t>
            </a:r>
          </a:p>
        </p:txBody>
      </p:sp>
      <p:sp>
        <p:nvSpPr>
          <p:cNvPr id="51" name="TextBox 29">
            <a:extLst>
              <a:ext uri="{FF2B5EF4-FFF2-40B4-BE49-F238E27FC236}">
                <a16:creationId xmlns:a16="http://schemas.microsoft.com/office/drawing/2014/main" id="{CBD5CFC9-B4EC-0D4B-BA6C-9B193DA59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6369364"/>
            <a:ext cx="1339690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dirty="0">
                <a:solidFill>
                  <a:schemeClr val="tx2"/>
                </a:solidFill>
              </a:rPr>
              <a:t>Design the process tree for illumination with incandescent light bulb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627CE5-EEB6-8B42-80C1-3197E2774469}"/>
              </a:ext>
            </a:extLst>
          </p:cNvPr>
          <p:cNvGrpSpPr/>
          <p:nvPr/>
        </p:nvGrpSpPr>
        <p:grpSpPr>
          <a:xfrm>
            <a:off x="1514855" y="2672013"/>
            <a:ext cx="6075429" cy="2075950"/>
            <a:chOff x="812880" y="6761864"/>
            <a:chExt cx="6075429" cy="2075950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4C6855A-F2DD-4245-AD8E-E1AB3402774C}"/>
                </a:ext>
              </a:extLst>
            </p:cNvPr>
            <p:cNvSpPr txBox="1"/>
            <p:nvPr/>
          </p:nvSpPr>
          <p:spPr>
            <a:xfrm>
              <a:off x="4372257" y="8148781"/>
              <a:ext cx="251605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tx2"/>
                  </a:solidFill>
                </a:rPr>
                <a:t>5 incandescent </a:t>
              </a:r>
              <a:br>
                <a:rPr lang="en-US" sz="1600" b="1" dirty="0">
                  <a:solidFill>
                    <a:schemeClr val="tx2"/>
                  </a:solidFill>
                </a:rPr>
              </a:br>
              <a:r>
                <a:rPr lang="en-US" sz="1600" b="1" dirty="0">
                  <a:solidFill>
                    <a:schemeClr val="tx2"/>
                  </a:solidFill>
                </a:rPr>
                <a:t>bulbs/FU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72E9870-53F2-274C-8F74-A2A5D1B2BCCD}"/>
                </a:ext>
              </a:extLst>
            </p:cNvPr>
            <p:cNvSpPr txBox="1"/>
            <p:nvPr/>
          </p:nvSpPr>
          <p:spPr>
            <a:xfrm>
              <a:off x="4403333" y="7594352"/>
              <a:ext cx="24849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tx2"/>
                  </a:solidFill>
                </a:rPr>
                <a:t>5000h/FU x  60 W</a:t>
              </a:r>
            </a:p>
            <a:p>
              <a:r>
                <a:rPr lang="en-US" sz="1600" b="1" dirty="0">
                  <a:solidFill>
                    <a:schemeClr val="tx2"/>
                  </a:solidFill>
                </a:rPr>
                <a:t>=300 kWh/FU electricity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69AA317D-36B9-DC4E-B247-8C20D42AACD6}"/>
                </a:ext>
              </a:extLst>
            </p:cNvPr>
            <p:cNvSpPr/>
            <p:nvPr/>
          </p:nvSpPr>
          <p:spPr>
            <a:xfrm>
              <a:off x="812880" y="7564408"/>
              <a:ext cx="1978708" cy="1273406"/>
            </a:xfrm>
            <a:prstGeom prst="rect">
              <a:avLst/>
            </a:prstGeom>
            <a:solidFill>
              <a:schemeClr val="accent6">
                <a:alpha val="29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83212DEC-14B7-294E-939E-DD2066529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90208" y="7994506"/>
              <a:ext cx="457145" cy="637233"/>
            </a:xfrm>
            <a:prstGeom prst="rect">
              <a:avLst/>
            </a:prstGeom>
          </p:spPr>
        </p:pic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2BF64A91-32E7-4847-B42B-9D3E6D96DC86}"/>
                </a:ext>
              </a:extLst>
            </p:cNvPr>
            <p:cNvSpPr/>
            <p:nvPr/>
          </p:nvSpPr>
          <p:spPr>
            <a:xfrm>
              <a:off x="812880" y="6873024"/>
              <a:ext cx="1978707" cy="615495"/>
            </a:xfrm>
            <a:prstGeom prst="rect">
              <a:avLst/>
            </a:prstGeom>
            <a:noFill/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45720" algn="ctr"/>
              <a:r>
                <a:rPr lang="en-US" sz="1600" b="1" dirty="0">
                  <a:solidFill>
                    <a:schemeClr val="tx2"/>
                  </a:solidFill>
                </a:rPr>
                <a:t>PRODUCTS </a:t>
              </a:r>
              <a:br>
                <a:rPr lang="en-US" sz="1600" b="1" dirty="0">
                  <a:solidFill>
                    <a:schemeClr val="tx2"/>
                  </a:solidFill>
                </a:rPr>
              </a:br>
              <a:r>
                <a:rPr lang="en-US" sz="1600" b="1" dirty="0">
                  <a:solidFill>
                    <a:schemeClr val="tx2"/>
                  </a:solidFill>
                </a:rPr>
                <a:t>OR SYSTEM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81BA57E-888F-7F4F-87C4-2249512BA0ED}"/>
                </a:ext>
              </a:extLst>
            </p:cNvPr>
            <p:cNvSpPr/>
            <p:nvPr/>
          </p:nvSpPr>
          <p:spPr>
            <a:xfrm>
              <a:off x="4576657" y="6761864"/>
              <a:ext cx="1985887" cy="735296"/>
            </a:xfrm>
            <a:prstGeom prst="rect">
              <a:avLst/>
            </a:prstGeom>
            <a:noFill/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45720" algn="ctr"/>
              <a:r>
                <a:rPr lang="en-US" sz="1600" b="1" dirty="0">
                  <a:solidFill>
                    <a:schemeClr val="tx2"/>
                  </a:solidFill>
                </a:rPr>
                <a:t>REFERENCE FLOWS</a:t>
              </a:r>
              <a:br>
                <a:rPr lang="en-US" sz="1600" b="1" dirty="0">
                  <a:solidFill>
                    <a:schemeClr val="tx2"/>
                  </a:solidFill>
                </a:rPr>
              </a:br>
              <a:r>
                <a:rPr lang="en-US" sz="1400" dirty="0">
                  <a:solidFill>
                    <a:schemeClr val="tx2"/>
                  </a:solidFill>
                </a:rPr>
                <a:t>(what is purchased)</a:t>
              </a:r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3D92C5C-ACD8-834B-B1D3-C62345CDAA05}"/>
                </a:ext>
              </a:extLst>
            </p:cNvPr>
            <p:cNvCxnSpPr>
              <a:cxnSpLocks/>
            </p:cNvCxnSpPr>
            <p:nvPr/>
          </p:nvCxnSpPr>
          <p:spPr>
            <a:xfrm>
              <a:off x="812880" y="7551662"/>
              <a:ext cx="6008268" cy="0"/>
            </a:xfrm>
            <a:prstGeom prst="line">
              <a:avLst/>
            </a:prstGeom>
            <a:ln w="38100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F83369C-9FA7-D040-A367-8794F0698061}"/>
                </a:ext>
              </a:extLst>
            </p:cNvPr>
            <p:cNvSpPr/>
            <p:nvPr/>
          </p:nvSpPr>
          <p:spPr>
            <a:xfrm>
              <a:off x="1007816" y="7595764"/>
              <a:ext cx="1659784" cy="333602"/>
            </a:xfrm>
            <a:prstGeom prst="rect">
              <a:avLst/>
            </a:prstGeom>
            <a:noFill/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45720"/>
              <a:r>
                <a:rPr lang="en-US" sz="1600" b="1" dirty="0">
                  <a:solidFill>
                    <a:schemeClr val="tx2"/>
                  </a:solidFill>
                </a:rPr>
                <a:t>SCENARIO 1</a:t>
              </a:r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7399EB7-340D-434B-A55B-5029633AF07C}"/>
                </a:ext>
              </a:extLst>
            </p:cNvPr>
            <p:cNvCxnSpPr>
              <a:cxnSpLocks/>
            </p:cNvCxnSpPr>
            <p:nvPr/>
          </p:nvCxnSpPr>
          <p:spPr>
            <a:xfrm>
              <a:off x="2791588" y="6794134"/>
              <a:ext cx="0" cy="20436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5DDAA0D-D772-6046-8D72-68D3BED4D0C5}"/>
                </a:ext>
              </a:extLst>
            </p:cNvPr>
            <p:cNvSpPr/>
            <p:nvPr/>
          </p:nvSpPr>
          <p:spPr>
            <a:xfrm>
              <a:off x="812880" y="6794134"/>
              <a:ext cx="6008268" cy="2043680"/>
            </a:xfrm>
            <a:prstGeom prst="rect">
              <a:avLst/>
            </a:prstGeom>
            <a:noFill/>
            <a:ln w="25400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958539C-DD7E-234E-998D-423DDC660CB7}"/>
                </a:ext>
              </a:extLst>
            </p:cNvPr>
            <p:cNvSpPr/>
            <p:nvPr/>
          </p:nvSpPr>
          <p:spPr>
            <a:xfrm>
              <a:off x="2662525" y="6779831"/>
              <a:ext cx="1787302" cy="735296"/>
            </a:xfrm>
            <a:prstGeom prst="rect">
              <a:avLst/>
            </a:prstGeom>
            <a:noFill/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45720" algn="ctr"/>
              <a:r>
                <a:rPr lang="en-US" sz="1600" b="1" dirty="0">
                  <a:solidFill>
                    <a:schemeClr val="tx2"/>
                  </a:solidFill>
                </a:rPr>
                <a:t>FUNCTIONAL </a:t>
              </a:r>
              <a:br>
                <a:rPr lang="en-US" sz="1600" b="1" dirty="0">
                  <a:solidFill>
                    <a:schemeClr val="tx2"/>
                  </a:solidFill>
                </a:rPr>
              </a:br>
              <a:r>
                <a:rPr lang="en-US" sz="1600" b="1" dirty="0">
                  <a:solidFill>
                    <a:schemeClr val="tx2"/>
                  </a:solidFill>
                </a:rPr>
                <a:t>UNIT</a:t>
              </a:r>
              <a:br>
                <a:rPr lang="en-US" sz="1600" b="1" dirty="0">
                  <a:solidFill>
                    <a:schemeClr val="tx2"/>
                  </a:solidFill>
                </a:rPr>
              </a:br>
              <a:r>
                <a:rPr lang="en-US" sz="1400" dirty="0">
                  <a:solidFill>
                    <a:schemeClr val="tx2"/>
                  </a:solidFill>
                </a:rPr>
                <a:t>(service offered)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B50D1AF-B5C0-5546-BEFD-CA3A313E80DA}"/>
                </a:ext>
              </a:extLst>
            </p:cNvPr>
            <p:cNvCxnSpPr>
              <a:cxnSpLocks/>
            </p:cNvCxnSpPr>
            <p:nvPr/>
          </p:nvCxnSpPr>
          <p:spPr>
            <a:xfrm>
              <a:off x="4372257" y="6794134"/>
              <a:ext cx="0" cy="204368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5BD0FEA-EF8A-4045-A5E4-6AAE9BF0572F}"/>
                </a:ext>
              </a:extLst>
            </p:cNvPr>
            <p:cNvSpPr txBox="1"/>
            <p:nvPr/>
          </p:nvSpPr>
          <p:spPr>
            <a:xfrm>
              <a:off x="2863886" y="7602760"/>
              <a:ext cx="142978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chemeClr val="tx2"/>
                  </a:solidFill>
                </a:rPr>
                <a:t>800 lumen </a:t>
              </a:r>
            </a:p>
            <a:p>
              <a:r>
                <a:rPr lang="en-US" sz="1800" dirty="0">
                  <a:solidFill>
                    <a:schemeClr val="tx2"/>
                  </a:solidFill>
                </a:rPr>
                <a:t>for a </a:t>
              </a:r>
              <a:br>
                <a:rPr lang="en-US" sz="1800" dirty="0">
                  <a:solidFill>
                    <a:schemeClr val="tx2"/>
                  </a:solidFill>
                </a:rPr>
              </a:br>
              <a:r>
                <a:rPr lang="en-US" sz="1800" dirty="0">
                  <a:solidFill>
                    <a:schemeClr val="tx2"/>
                  </a:solidFill>
                </a:rPr>
                <a:t>duration of </a:t>
              </a:r>
              <a:br>
                <a:rPr lang="en-US" sz="1800" dirty="0">
                  <a:solidFill>
                    <a:schemeClr val="tx2"/>
                  </a:solidFill>
                </a:rPr>
              </a:br>
              <a:r>
                <a:rPr lang="en-US" sz="1800" dirty="0">
                  <a:solidFill>
                    <a:schemeClr val="tx2"/>
                  </a:solidFill>
                </a:rPr>
                <a:t>5000 hours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0DBF878-B91C-AB41-8DC2-914331718FC3}"/>
              </a:ext>
            </a:extLst>
          </p:cNvPr>
          <p:cNvSpPr/>
          <p:nvPr/>
        </p:nvSpPr>
        <p:spPr>
          <a:xfrm>
            <a:off x="1032255" y="6075433"/>
            <a:ext cx="14412453" cy="1214367"/>
          </a:xfrm>
          <a:prstGeom prst="rect">
            <a:avLst/>
          </a:prstGeom>
          <a:noFill/>
          <a:ln w="317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object, light, indoor, bowl&#10;&#10;Description automatically generated">
            <a:extLst>
              <a:ext uri="{FF2B5EF4-FFF2-40B4-BE49-F238E27FC236}">
                <a16:creationId xmlns:a16="http://schemas.microsoft.com/office/drawing/2014/main" id="{F0D7B6D1-CDB7-0746-81DA-04D419863B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73195" y="3480563"/>
            <a:ext cx="911389" cy="121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36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Process Tree: illuminating with incandescent bulbs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3E92066-1895-2740-9D7F-5EC20DBEECEB}"/>
              </a:ext>
            </a:extLst>
          </p:cNvPr>
          <p:cNvGrpSpPr/>
          <p:nvPr/>
        </p:nvGrpSpPr>
        <p:grpSpPr>
          <a:xfrm>
            <a:off x="8128794" y="4085866"/>
            <a:ext cx="4457700" cy="2433638"/>
            <a:chOff x="5664200" y="3289300"/>
            <a:chExt cx="4457700" cy="2433638"/>
          </a:xfrm>
        </p:grpSpPr>
        <p:sp>
          <p:nvSpPr>
            <p:cNvPr id="26" name="Text Box 41">
              <a:extLst>
                <a:ext uri="{FF2B5EF4-FFF2-40B4-BE49-F238E27FC236}">
                  <a16:creationId xmlns:a16="http://schemas.microsoft.com/office/drawing/2014/main" id="{DEC1D860-E40A-CC4C-A6AC-F667EEBCC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1025" y="3289300"/>
              <a:ext cx="1920875" cy="1015663"/>
            </a:xfrm>
            <a:prstGeom prst="rect">
              <a:avLst/>
            </a:prstGeom>
            <a:solidFill>
              <a:schemeClr val="accent6"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en-US" sz="2000" b="0" dirty="0">
                  <a:solidFill>
                    <a:schemeClr val="accent6"/>
                  </a:solidFill>
                  <a:cs typeface="Arial" panose="020B0604020202020204" pitchFamily="34" charset="0"/>
                </a:rPr>
                <a:t>Illumination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en-US" sz="2000" b="0" dirty="0">
                  <a:solidFill>
                    <a:schemeClr val="accent6"/>
                  </a:solidFill>
                  <a:cs typeface="Arial" panose="020B0604020202020204" pitchFamily="34" charset="0"/>
                </a:rPr>
                <a:t>800 lumen 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en-US" sz="2000" b="0" dirty="0">
                  <a:solidFill>
                    <a:schemeClr val="accent6"/>
                  </a:solidFill>
                  <a:cs typeface="Arial" panose="020B0604020202020204" pitchFamily="34" charset="0"/>
                </a:rPr>
                <a:t>During 5000 h </a:t>
              </a:r>
            </a:p>
          </p:txBody>
        </p:sp>
        <p:sp>
          <p:nvSpPr>
            <p:cNvPr id="27" name="Text Box 41">
              <a:extLst>
                <a:ext uri="{FF2B5EF4-FFF2-40B4-BE49-F238E27FC236}">
                  <a16:creationId xmlns:a16="http://schemas.microsoft.com/office/drawing/2014/main" id="{DCC22E31-971F-6C48-AEB8-7CACEFE36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4200" y="5014913"/>
              <a:ext cx="1920875" cy="708025"/>
            </a:xfrm>
            <a:prstGeom prst="rect">
              <a:avLst/>
            </a:prstGeom>
            <a:solidFill>
              <a:schemeClr val="accent4"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>
                  <a:solidFill>
                    <a:schemeClr val="tx2"/>
                  </a:solidFill>
                  <a:cs typeface="Arial" panose="020B0604020202020204" pitchFamily="34" charset="0"/>
                </a:rPr>
                <a:t>Electricity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>
                  <a:solidFill>
                    <a:schemeClr val="tx2"/>
                  </a:solidFill>
                  <a:cs typeface="Arial" panose="020B0604020202020204" pitchFamily="34" charset="0"/>
                </a:rPr>
                <a:t>300 kWh</a:t>
              </a:r>
            </a:p>
          </p:txBody>
        </p:sp>
        <p:sp>
          <p:nvSpPr>
            <p:cNvPr id="29" name="Text Box 41">
              <a:extLst>
                <a:ext uri="{FF2B5EF4-FFF2-40B4-BE49-F238E27FC236}">
                  <a16:creationId xmlns:a16="http://schemas.microsoft.com/office/drawing/2014/main" id="{2BAB109B-612E-A149-9127-94CCCF2EE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4200" y="3443288"/>
              <a:ext cx="1920875" cy="707886"/>
            </a:xfrm>
            <a:prstGeom prst="rect">
              <a:avLst/>
            </a:prstGeom>
            <a:solidFill>
              <a:schemeClr val="accent4"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9900"/>
                </a:buClr>
                <a:buChar char="•"/>
                <a:defRPr sz="3200" b="1">
                  <a:solidFill>
                    <a:srgbClr val="01035B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FF9900"/>
                </a:buClr>
                <a:buChar char="–"/>
                <a:defRPr sz="2800" b="1">
                  <a:solidFill>
                    <a:srgbClr val="01035B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FF9900"/>
                </a:buClr>
                <a:buChar char="•"/>
                <a:defRPr sz="2400" b="1">
                  <a:solidFill>
                    <a:srgbClr val="01035B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Char char="–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Char char="»"/>
                <a:defRPr sz="2000" b="1">
                  <a:solidFill>
                    <a:srgbClr val="01035B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b="0">
                  <a:solidFill>
                    <a:schemeClr val="tx2"/>
                  </a:solidFill>
                  <a:cs typeface="Arial" panose="020B0604020202020204" pitchFamily="34" charset="0"/>
                </a:rPr>
                <a:t>5 Incandescent bulbs</a:t>
              </a:r>
            </a:p>
          </p:txBody>
        </p:sp>
        <p:cxnSp>
          <p:nvCxnSpPr>
            <p:cNvPr id="37" name="Elbow Connector 10">
              <a:extLst>
                <a:ext uri="{FF2B5EF4-FFF2-40B4-BE49-F238E27FC236}">
                  <a16:creationId xmlns:a16="http://schemas.microsoft.com/office/drawing/2014/main" id="{3345EECF-6844-1D4F-8B16-504585BA483F}"/>
                </a:ext>
              </a:extLst>
            </p:cNvPr>
            <p:cNvCxnSpPr>
              <a:cxnSpLocks noChangeShapeType="1"/>
              <a:stCxn id="27" idx="3"/>
              <a:endCxn id="26" idx="1"/>
            </p:cNvCxnSpPr>
            <p:nvPr/>
          </p:nvCxnSpPr>
          <p:spPr bwMode="auto">
            <a:xfrm flipV="1">
              <a:off x="7585075" y="3797132"/>
              <a:ext cx="615950" cy="1571794"/>
            </a:xfrm>
            <a:prstGeom prst="bentConnector3">
              <a:avLst>
                <a:gd name="adj1" fmla="val 50000"/>
              </a:avLst>
            </a:prstGeom>
            <a:noFill/>
            <a:ln w="28575" algn="ctr">
              <a:solidFill>
                <a:schemeClr val="accent1"/>
              </a:solidFill>
              <a:round/>
              <a:headEnd/>
              <a:tailEnd type="arrow" w="med" len="med"/>
            </a:ln>
          </p:spPr>
        </p:cxnSp>
        <p:cxnSp>
          <p:nvCxnSpPr>
            <p:cNvPr id="38" name="Straight Arrow Connector 12">
              <a:extLst>
                <a:ext uri="{FF2B5EF4-FFF2-40B4-BE49-F238E27FC236}">
                  <a16:creationId xmlns:a16="http://schemas.microsoft.com/office/drawing/2014/main" id="{8F9C3D88-AC66-6B4B-9068-395695C91A64}"/>
                </a:ext>
              </a:extLst>
            </p:cNvPr>
            <p:cNvCxnSpPr>
              <a:cxnSpLocks noChangeShapeType="1"/>
              <a:stCxn id="29" idx="3"/>
              <a:endCxn id="26" idx="1"/>
            </p:cNvCxnSpPr>
            <p:nvPr/>
          </p:nvCxnSpPr>
          <p:spPr bwMode="auto">
            <a:xfrm flipV="1">
              <a:off x="7585075" y="3797132"/>
              <a:ext cx="615950" cy="99"/>
            </a:xfrm>
            <a:prstGeom prst="straightConnector1">
              <a:avLst/>
            </a:prstGeom>
            <a:noFill/>
            <a:ln w="28575" algn="ctr">
              <a:solidFill>
                <a:schemeClr val="accent1"/>
              </a:solidFill>
              <a:round/>
              <a:headEnd/>
              <a:tailEnd type="arrow" w="med" len="med"/>
            </a:ln>
          </p:spPr>
        </p:cxnSp>
      </p:grpSp>
      <p:sp>
        <p:nvSpPr>
          <p:cNvPr id="9" name="TextBox 29">
            <a:extLst>
              <a:ext uri="{FF2B5EF4-FFF2-40B4-BE49-F238E27FC236}">
                <a16:creationId xmlns:a16="http://schemas.microsoft.com/office/drawing/2014/main" id="{CBD5CFC9-B4EC-0D4B-BA6C-9B193DA59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4268" y="1503629"/>
            <a:ext cx="1339690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tx2"/>
                </a:solidFill>
              </a:rPr>
              <a:t>Start with reference flows at Tier 1, draw one box per reference flow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DF4C85C-A7D7-C340-891B-43D37FD69E05}"/>
              </a:ext>
            </a:extLst>
          </p:cNvPr>
          <p:cNvSpPr/>
          <p:nvPr/>
        </p:nvSpPr>
        <p:spPr>
          <a:xfrm>
            <a:off x="991783" y="1442201"/>
            <a:ext cx="707629" cy="70762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0798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sz="4000" dirty="0"/>
              <a:t>Elementary and intermediary flows of an incandescent bulb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32" name="Text Box 14">
            <a:extLst>
              <a:ext uri="{FF2B5EF4-FFF2-40B4-BE49-F238E27FC236}">
                <a16:creationId xmlns:a16="http://schemas.microsoft.com/office/drawing/2014/main" id="{C17AB0CB-F274-6F4D-9FA3-3E5F9DFE5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425" y="2425700"/>
            <a:ext cx="2205037" cy="3816429"/>
          </a:xfrm>
          <a:prstGeom prst="rect">
            <a:avLst/>
          </a:prstGeom>
          <a:noFill/>
          <a:ln w="508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fr-FR" sz="2000" dirty="0">
              <a:solidFill>
                <a:schemeClr val="accent6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accent6"/>
                </a:solidFill>
                <a:cs typeface="Arial" panose="020B0604020202020204" pitchFamily="34" charset="0"/>
              </a:rPr>
              <a:t>1 incandescent bulb at retail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b="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2"/>
                </a:solidFill>
                <a:cs typeface="Arial" panose="020B0604020202020204" pitchFamily="34" charset="0"/>
              </a:rPr>
              <a:t>35.7g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fr-FR" sz="1800" b="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fr-FR" sz="1800" b="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fr-FR" sz="1800" b="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fr-FR" sz="1800" b="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fr-FR" sz="1800" b="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fr-FR" sz="1800" b="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fr-FR" sz="1800" b="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fr-FR" sz="1800" b="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8" name="Line 16">
            <a:extLst>
              <a:ext uri="{FF2B5EF4-FFF2-40B4-BE49-F238E27FC236}">
                <a16:creationId xmlns:a16="http://schemas.microsoft.com/office/drawing/2014/main" id="{2D8857B5-A726-D04E-A6EC-5B1A04B67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6863" y="2909887"/>
            <a:ext cx="609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Line 18">
            <a:extLst>
              <a:ext uri="{FF2B5EF4-FFF2-40B4-BE49-F238E27FC236}">
                <a16:creationId xmlns:a16="http://schemas.microsoft.com/office/drawing/2014/main" id="{A0F6A872-0335-6043-BF17-3347A3EBB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6863" y="3394075"/>
            <a:ext cx="609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Line 19">
            <a:extLst>
              <a:ext uri="{FF2B5EF4-FFF2-40B4-BE49-F238E27FC236}">
                <a16:creationId xmlns:a16="http://schemas.microsoft.com/office/drawing/2014/main" id="{E520FDD1-6481-E548-82F3-6D27D6328E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6863" y="4421187"/>
            <a:ext cx="609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Line 20">
            <a:extLst>
              <a:ext uri="{FF2B5EF4-FFF2-40B4-BE49-F238E27FC236}">
                <a16:creationId xmlns:a16="http://schemas.microsoft.com/office/drawing/2014/main" id="{291DCAEE-1F6F-9942-B188-1D61CABDC7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6863" y="5010150"/>
            <a:ext cx="609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Box 24">
            <a:extLst>
              <a:ext uri="{FF2B5EF4-FFF2-40B4-BE49-F238E27FC236}">
                <a16:creationId xmlns:a16="http://schemas.microsoft.com/office/drawing/2014/main" id="{3929129D-854F-A94F-8D7F-B22B60295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3133" y="2665412"/>
            <a:ext cx="2598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2000" b="0">
                <a:solidFill>
                  <a:schemeClr val="tx2"/>
                </a:solidFill>
                <a:cs typeface="Arial" panose="020B0604020202020204" pitchFamily="34" charset="0"/>
              </a:rPr>
              <a:t>20 g glass</a:t>
            </a:r>
          </a:p>
        </p:txBody>
      </p:sp>
      <p:sp>
        <p:nvSpPr>
          <p:cNvPr id="44" name="Text Box 25">
            <a:extLst>
              <a:ext uri="{FF2B5EF4-FFF2-40B4-BE49-F238E27FC236}">
                <a16:creationId xmlns:a16="http://schemas.microsoft.com/office/drawing/2014/main" id="{10184BEB-34BE-3543-86BE-C296FAC8E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3133" y="3149600"/>
            <a:ext cx="2598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2000" b="0">
                <a:solidFill>
                  <a:schemeClr val="tx2"/>
                </a:solidFill>
                <a:cs typeface="Arial" panose="020B0604020202020204" pitchFamily="34" charset="0"/>
              </a:rPr>
              <a:t>15 g aluminum</a:t>
            </a:r>
          </a:p>
        </p:txBody>
      </p:sp>
      <p:sp>
        <p:nvSpPr>
          <p:cNvPr id="47" name="Text Box 26">
            <a:extLst>
              <a:ext uri="{FF2B5EF4-FFF2-40B4-BE49-F238E27FC236}">
                <a16:creationId xmlns:a16="http://schemas.microsoft.com/office/drawing/2014/main" id="{1DDF84E9-B6CB-A345-BBF4-DAFAC015B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683" y="4818062"/>
            <a:ext cx="274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2000" b="0">
                <a:solidFill>
                  <a:schemeClr val="tx2"/>
                </a:solidFill>
                <a:cs typeface="Arial" panose="020B0604020202020204" pitchFamily="34" charset="0"/>
              </a:rPr>
              <a:t>10g packaging paper </a:t>
            </a:r>
          </a:p>
        </p:txBody>
      </p:sp>
      <p:sp>
        <p:nvSpPr>
          <p:cNvPr id="49" name="Text Box 27">
            <a:extLst>
              <a:ext uri="{FF2B5EF4-FFF2-40B4-BE49-F238E27FC236}">
                <a16:creationId xmlns:a16="http://schemas.microsoft.com/office/drawing/2014/main" id="{F1007FAB-35A5-F74D-929F-F113C28FD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544" y="4224337"/>
            <a:ext cx="34133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2000" b="0" dirty="0">
                <a:solidFill>
                  <a:schemeClr val="tx2"/>
                </a:solidFill>
                <a:cs typeface="Arial" panose="020B0604020202020204" pitchFamily="34" charset="0"/>
              </a:rPr>
              <a:t>0.38 MJ primary energy</a:t>
            </a:r>
          </a:p>
        </p:txBody>
      </p:sp>
      <p:sp>
        <p:nvSpPr>
          <p:cNvPr id="58" name="Line 18">
            <a:extLst>
              <a:ext uri="{FF2B5EF4-FFF2-40B4-BE49-F238E27FC236}">
                <a16:creationId xmlns:a16="http://schemas.microsoft.com/office/drawing/2014/main" id="{932EC6FF-97BE-5643-950D-1F9B24808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6863" y="3917950"/>
            <a:ext cx="609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Box 25">
            <a:extLst>
              <a:ext uri="{FF2B5EF4-FFF2-40B4-BE49-F238E27FC236}">
                <a16:creationId xmlns:a16="http://schemas.microsoft.com/office/drawing/2014/main" id="{D1E59826-B590-5B44-90F0-3BCF3C1E1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8083" y="3673475"/>
            <a:ext cx="236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2000" b="0">
                <a:solidFill>
                  <a:schemeClr val="tx2"/>
                </a:solidFill>
                <a:cs typeface="Arial" panose="020B0604020202020204" pitchFamily="34" charset="0"/>
              </a:rPr>
              <a:t>0.7 g tungsten</a:t>
            </a:r>
          </a:p>
        </p:txBody>
      </p:sp>
      <p:sp>
        <p:nvSpPr>
          <p:cNvPr id="70" name="Line 20">
            <a:extLst>
              <a:ext uri="{FF2B5EF4-FFF2-40B4-BE49-F238E27FC236}">
                <a16:creationId xmlns:a16="http://schemas.microsoft.com/office/drawing/2014/main" id="{836EFB9C-6EFC-C642-983C-68E866C30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3654" y="3903662"/>
            <a:ext cx="609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 Box 27">
            <a:extLst>
              <a:ext uri="{FF2B5EF4-FFF2-40B4-BE49-F238E27FC236}">
                <a16:creationId xmlns:a16="http://schemas.microsoft.com/office/drawing/2014/main" id="{F358D2CF-7CA3-A24B-8655-503022BFC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2846" y="3703607"/>
            <a:ext cx="44071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2000" b="0" dirty="0">
                <a:solidFill>
                  <a:schemeClr val="tx2"/>
                </a:solidFill>
                <a:cs typeface="Arial" panose="020B0604020202020204" pitchFamily="34" charset="0"/>
              </a:rPr>
              <a:t>1 bulb &amp; 10g packaging to landfill</a:t>
            </a:r>
          </a:p>
        </p:txBody>
      </p:sp>
      <p:sp>
        <p:nvSpPr>
          <p:cNvPr id="73" name="Line 19">
            <a:extLst>
              <a:ext uri="{FF2B5EF4-FFF2-40B4-BE49-F238E27FC236}">
                <a16:creationId xmlns:a16="http://schemas.microsoft.com/office/drawing/2014/main" id="{4CBE73F0-4320-704A-9A43-06F4E23CB5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6863" y="5522912"/>
            <a:ext cx="609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Line 20">
            <a:extLst>
              <a:ext uri="{FF2B5EF4-FFF2-40B4-BE49-F238E27FC236}">
                <a16:creationId xmlns:a16="http://schemas.microsoft.com/office/drawing/2014/main" id="{0326B75A-FEE3-6B41-8BD1-30A1EA4BB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6863" y="6018212"/>
            <a:ext cx="609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Box 26">
            <a:extLst>
              <a:ext uri="{FF2B5EF4-FFF2-40B4-BE49-F238E27FC236}">
                <a16:creationId xmlns:a16="http://schemas.microsoft.com/office/drawing/2014/main" id="{02F49018-005F-3C4E-BA6B-363C70E4F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6146" y="5826125"/>
            <a:ext cx="38179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2000" b="0" dirty="0">
                <a:solidFill>
                  <a:schemeClr val="tx2"/>
                </a:solidFill>
                <a:cs typeface="Arial" panose="020B0604020202020204" pitchFamily="34" charset="0"/>
              </a:rPr>
              <a:t>10,000 km transoceanic freight</a:t>
            </a:r>
          </a:p>
        </p:txBody>
      </p:sp>
      <p:sp>
        <p:nvSpPr>
          <p:cNvPr id="78" name="Text Box 27">
            <a:extLst>
              <a:ext uri="{FF2B5EF4-FFF2-40B4-BE49-F238E27FC236}">
                <a16:creationId xmlns:a16="http://schemas.microsoft.com/office/drawing/2014/main" id="{263DD8A5-ECF0-4046-A542-A5C79FE99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5471" y="5321300"/>
            <a:ext cx="2819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fr-FR" sz="2000" b="0">
                <a:solidFill>
                  <a:schemeClr val="tx2"/>
                </a:solidFill>
                <a:cs typeface="Arial" panose="020B0604020202020204" pitchFamily="34" charset="0"/>
              </a:rPr>
              <a:t>3,200 km truck</a:t>
            </a:r>
          </a:p>
        </p:txBody>
      </p:sp>
      <p:pic>
        <p:nvPicPr>
          <p:cNvPr id="4" name="Picture 3" descr="A picture containing object, light, lamp, standing&#10;&#10;Description automatically generated">
            <a:extLst>
              <a:ext uri="{FF2B5EF4-FFF2-40B4-BE49-F238E27FC236}">
                <a16:creationId xmlns:a16="http://schemas.microsoft.com/office/drawing/2014/main" id="{59A6CA9A-8533-DF42-AF2D-5C37C1CCEEB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90383" y="4352686"/>
            <a:ext cx="988319" cy="1483202"/>
          </a:xfrm>
          <a:prstGeom prst="rect">
            <a:avLst/>
          </a:prstGeom>
        </p:spPr>
      </p:pic>
      <p:sp>
        <p:nvSpPr>
          <p:cNvPr id="21" name="TextBox 29">
            <a:extLst>
              <a:ext uri="{FF2B5EF4-FFF2-40B4-BE49-F238E27FC236}">
                <a16:creationId xmlns:a16="http://schemas.microsoft.com/office/drawing/2014/main" id="{CBD5CFC9-B4EC-0D4B-BA6C-9B193DA59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675" y="1534157"/>
            <a:ext cx="130704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tx2"/>
                </a:solidFill>
              </a:rPr>
              <a:t>Use the bulb </a:t>
            </a:r>
            <a:r>
              <a:rPr lang="en-US" altLang="en-US" dirty="0">
                <a:solidFill>
                  <a:schemeClr val="accent4"/>
                </a:solidFill>
              </a:rPr>
              <a:t>intermediary</a:t>
            </a:r>
            <a:r>
              <a:rPr lang="en-US" altLang="en-US" dirty="0">
                <a:solidFill>
                  <a:schemeClr val="tx2"/>
                </a:solidFill>
              </a:rPr>
              <a:t> flows to design the Tier 2 processes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BCAF102-8395-1143-9584-47BAA692EA1F}"/>
              </a:ext>
            </a:extLst>
          </p:cNvPr>
          <p:cNvSpPr/>
          <p:nvPr/>
        </p:nvSpPr>
        <p:spPr>
          <a:xfrm>
            <a:off x="991783" y="1442201"/>
            <a:ext cx="707629" cy="70762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02660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Process Tree: illuminating with incandescent bulbs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8" name="Text Box 41">
            <a:extLst>
              <a:ext uri="{FF2B5EF4-FFF2-40B4-BE49-F238E27FC236}">
                <a16:creationId xmlns:a16="http://schemas.microsoft.com/office/drawing/2014/main" id="{3A7B05EC-E3C1-B14D-A694-15B544CB3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4145" y="4116777"/>
            <a:ext cx="1920873" cy="1015663"/>
          </a:xfrm>
          <a:prstGeom prst="rect">
            <a:avLst/>
          </a:prstGeom>
          <a:solidFill>
            <a:schemeClr val="accent6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Illumination</a:t>
            </a:r>
          </a:p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800 lumen </a:t>
            </a:r>
          </a:p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During 5000 h </a:t>
            </a:r>
          </a:p>
        </p:txBody>
      </p:sp>
      <p:sp>
        <p:nvSpPr>
          <p:cNvPr id="49" name="Text Box 41">
            <a:extLst>
              <a:ext uri="{FF2B5EF4-FFF2-40B4-BE49-F238E27FC236}">
                <a16:creationId xmlns:a16="http://schemas.microsoft.com/office/drawing/2014/main" id="{2037A831-DA5C-BE45-8907-3F73462E2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395" y="5842390"/>
            <a:ext cx="20828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Electricity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300 kWh</a:t>
            </a:r>
          </a:p>
        </p:txBody>
      </p:sp>
      <p:sp>
        <p:nvSpPr>
          <p:cNvPr id="54" name="Text Box 41">
            <a:extLst>
              <a:ext uri="{FF2B5EF4-FFF2-40B4-BE49-F238E27FC236}">
                <a16:creationId xmlns:a16="http://schemas.microsoft.com/office/drawing/2014/main" id="{C274F3F6-6EA7-B348-9C85-885277C2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059" y="4258065"/>
            <a:ext cx="2082800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5 Incandescent bulbs</a:t>
            </a:r>
          </a:p>
        </p:txBody>
      </p:sp>
      <p:cxnSp>
        <p:nvCxnSpPr>
          <p:cNvPr id="56" name="Elbow Connector 10">
            <a:extLst>
              <a:ext uri="{FF2B5EF4-FFF2-40B4-BE49-F238E27FC236}">
                <a16:creationId xmlns:a16="http://schemas.microsoft.com/office/drawing/2014/main" id="{8C744CA9-F26F-1446-BA94-DB0C1DFB5BE9}"/>
              </a:ext>
            </a:extLst>
          </p:cNvPr>
          <p:cNvCxnSpPr>
            <a:cxnSpLocks noChangeShapeType="1"/>
            <a:stCxn id="49" idx="3"/>
            <a:endCxn id="48" idx="1"/>
          </p:cNvCxnSpPr>
          <p:nvPr/>
        </p:nvCxnSpPr>
        <p:spPr bwMode="auto">
          <a:xfrm flipV="1">
            <a:off x="9688195" y="4624609"/>
            <a:ext cx="615950" cy="1571794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57" name="Text Box 41">
            <a:extLst>
              <a:ext uri="{FF2B5EF4-FFF2-40B4-BE49-F238E27FC236}">
                <a16:creationId xmlns:a16="http://schemas.microsoft.com/office/drawing/2014/main" id="{B0A9A569-F302-EA41-A1DA-6D6EA369E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395" y="2772165"/>
            <a:ext cx="2082800" cy="1016000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Transportation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Truck 3200 km           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59" name="Text Box 41">
            <a:extLst>
              <a:ext uri="{FF2B5EF4-FFF2-40B4-BE49-F238E27FC236}">
                <a16:creationId xmlns:a16="http://schemas.microsoft.com/office/drawing/2014/main" id="{C63DDDA7-58F8-564F-A590-439A41E39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395" y="4172340"/>
            <a:ext cx="2082800" cy="1322387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Transportation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Oceanic freight 10,000 km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60" name="Straight Arrow Connector 13">
            <a:extLst>
              <a:ext uri="{FF2B5EF4-FFF2-40B4-BE49-F238E27FC236}">
                <a16:creationId xmlns:a16="http://schemas.microsoft.com/office/drawing/2014/main" id="{C26FDE61-5617-5140-BE35-FA691A1A7C0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858" y="4612008"/>
            <a:ext cx="617537" cy="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62" name="Straight Arrow Connector 14">
            <a:extLst>
              <a:ext uri="{FF2B5EF4-FFF2-40B4-BE49-F238E27FC236}">
                <a16:creationId xmlns:a16="http://schemas.microsoft.com/office/drawing/2014/main" id="{783A27D6-CE93-244D-A2DA-20DD43B04E92}"/>
              </a:ext>
            </a:extLst>
          </p:cNvPr>
          <p:cNvCxnSpPr>
            <a:cxnSpLocks noChangeShapeType="1"/>
            <a:stCxn id="59" idx="0"/>
            <a:endCxn id="57" idx="2"/>
          </p:cNvCxnSpPr>
          <p:nvPr/>
        </p:nvCxnSpPr>
        <p:spPr bwMode="auto">
          <a:xfrm flipV="1">
            <a:off x="8646795" y="3788165"/>
            <a:ext cx="0" cy="384175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63" name="Elbow Connector 15">
            <a:extLst>
              <a:ext uri="{FF2B5EF4-FFF2-40B4-BE49-F238E27FC236}">
                <a16:creationId xmlns:a16="http://schemas.microsoft.com/office/drawing/2014/main" id="{E0E085A5-B312-1649-AA61-113BD2B94094}"/>
              </a:ext>
            </a:extLst>
          </p:cNvPr>
          <p:cNvCxnSpPr>
            <a:cxnSpLocks noChangeShapeType="1"/>
            <a:stCxn id="57" idx="3"/>
            <a:endCxn id="48" idx="0"/>
          </p:cNvCxnSpPr>
          <p:nvPr/>
        </p:nvCxnSpPr>
        <p:spPr bwMode="auto">
          <a:xfrm>
            <a:off x="9688195" y="3280165"/>
            <a:ext cx="1576387" cy="836612"/>
          </a:xfrm>
          <a:prstGeom prst="bentConnector2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64" name="Text Box 41">
            <a:extLst>
              <a:ext uri="{FF2B5EF4-FFF2-40B4-BE49-F238E27FC236}">
                <a16:creationId xmlns:a16="http://schemas.microsoft.com/office/drawing/2014/main" id="{F9BE2778-E588-2C4F-A55F-820739AF8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365" y="5562237"/>
            <a:ext cx="1711325" cy="1016000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Paper packaging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5" name="Text Box 41">
            <a:extLst>
              <a:ext uri="{FF2B5EF4-FFF2-40B4-BE49-F238E27FC236}">
                <a16:creationId xmlns:a16="http://schemas.microsoft.com/office/drawing/2014/main" id="{24102F60-AED6-9941-A169-CA1782179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837" y="4367184"/>
            <a:ext cx="1711325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Aluminum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6" name="Text Box 41">
            <a:extLst>
              <a:ext uri="{FF2B5EF4-FFF2-40B4-BE49-F238E27FC236}">
                <a16:creationId xmlns:a16="http://schemas.microsoft.com/office/drawing/2014/main" id="{C39B93DC-E94B-A34B-808C-8B9423E13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262" y="3453620"/>
            <a:ext cx="1709738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Glass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7" name="Text Box 41">
            <a:extLst>
              <a:ext uri="{FF2B5EF4-FFF2-40B4-BE49-F238E27FC236}">
                <a16:creationId xmlns:a16="http://schemas.microsoft.com/office/drawing/2014/main" id="{D5CAE1EC-CEBF-4947-A1D8-648B5E62F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262" y="5435738"/>
            <a:ext cx="1709738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Tungsten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68" name="Straight Arrow Connector 22">
            <a:extLst>
              <a:ext uri="{FF2B5EF4-FFF2-40B4-BE49-F238E27FC236}">
                <a16:creationId xmlns:a16="http://schemas.microsoft.com/office/drawing/2014/main" id="{21306E63-F609-A843-908F-2B2723B385EB}"/>
              </a:ext>
            </a:extLst>
          </p:cNvPr>
          <p:cNvCxnSpPr>
            <a:cxnSpLocks noChangeShapeType="1"/>
            <a:stCxn id="64" idx="0"/>
          </p:cNvCxnSpPr>
          <p:nvPr/>
        </p:nvCxnSpPr>
        <p:spPr bwMode="auto">
          <a:xfrm flipV="1">
            <a:off x="6068028" y="4965951"/>
            <a:ext cx="0" cy="596286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</p:spPr>
      </p:cxnSp>
      <p:cxnSp>
        <p:nvCxnSpPr>
          <p:cNvPr id="70" name="Elbow Connector 28">
            <a:extLst>
              <a:ext uri="{FF2B5EF4-FFF2-40B4-BE49-F238E27FC236}">
                <a16:creationId xmlns:a16="http://schemas.microsoft.com/office/drawing/2014/main" id="{AE2FCF28-3F5B-FC4D-9CB7-EA5FA8C1FC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93000" y="3599746"/>
            <a:ext cx="898525" cy="1131719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72" name="Straight Arrow Connector 39">
            <a:extLst>
              <a:ext uri="{FF2B5EF4-FFF2-40B4-BE49-F238E27FC236}">
                <a16:creationId xmlns:a16="http://schemas.microsoft.com/office/drawing/2014/main" id="{B5D8D3F6-DA11-284E-9AA9-86D5FBC4F8E0}"/>
              </a:ext>
            </a:extLst>
          </p:cNvPr>
          <p:cNvCxnSpPr>
            <a:cxnSpLocks noChangeShapeType="1"/>
            <a:stCxn id="48" idx="3"/>
            <a:endCxn id="73" idx="1"/>
          </p:cNvCxnSpPr>
          <p:nvPr/>
        </p:nvCxnSpPr>
        <p:spPr bwMode="auto">
          <a:xfrm>
            <a:off x="12225018" y="4624609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73" name="Text Box 41">
            <a:extLst>
              <a:ext uri="{FF2B5EF4-FFF2-40B4-BE49-F238E27FC236}">
                <a16:creationId xmlns:a16="http://schemas.microsoft.com/office/drawing/2014/main" id="{96522511-0F0A-8B45-8BF7-F6C17B2BD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7857" y="4123127"/>
            <a:ext cx="1490663" cy="1016000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Bulbs to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Landfill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74" name="Text Box 41">
            <a:extLst>
              <a:ext uri="{FF2B5EF4-FFF2-40B4-BE49-F238E27FC236}">
                <a16:creationId xmlns:a16="http://schemas.microsoft.com/office/drawing/2014/main" id="{6049ED45-6AEA-7B4A-A099-204CE6F22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262" y="6327831"/>
            <a:ext cx="1709738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Energy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75" name="Elbow Connector 45">
            <a:extLst>
              <a:ext uri="{FF2B5EF4-FFF2-40B4-BE49-F238E27FC236}">
                <a16:creationId xmlns:a16="http://schemas.microsoft.com/office/drawing/2014/main" id="{645E7D2C-8641-B643-9BB4-EC996002C823}"/>
              </a:ext>
            </a:extLst>
          </p:cNvPr>
          <p:cNvCxnSpPr>
            <a:cxnSpLocks noChangeShapeType="1"/>
            <a:stCxn id="74" idx="3"/>
          </p:cNvCxnSpPr>
          <p:nvPr/>
        </p:nvCxnSpPr>
        <p:spPr bwMode="auto">
          <a:xfrm flipV="1">
            <a:off x="3993000" y="4733813"/>
            <a:ext cx="898525" cy="1948031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0" name="Straight Arrow Connector 39">
            <a:extLst>
              <a:ext uri="{FF2B5EF4-FFF2-40B4-BE49-F238E27FC236}">
                <a16:creationId xmlns:a16="http://schemas.microsoft.com/office/drawing/2014/main" id="{99174339-345F-6846-AC0E-9A35607F2B6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93000" y="5834284"/>
            <a:ext cx="449429" cy="8106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cxnSp>
        <p:nvCxnSpPr>
          <p:cNvPr id="31" name="Straight Arrow Connector 39">
            <a:extLst>
              <a:ext uri="{FF2B5EF4-FFF2-40B4-BE49-F238E27FC236}">
                <a16:creationId xmlns:a16="http://schemas.microsoft.com/office/drawing/2014/main" id="{045F45ED-AC85-7E42-A180-B5D21F31F4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26504" y="4737071"/>
            <a:ext cx="415925" cy="635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sp>
        <p:nvSpPr>
          <p:cNvPr id="27" name="TextBox 29">
            <a:extLst>
              <a:ext uri="{FF2B5EF4-FFF2-40B4-BE49-F238E27FC236}">
                <a16:creationId xmlns:a16="http://schemas.microsoft.com/office/drawing/2014/main" id="{CBD5CFC9-B4EC-0D4B-BA6C-9B193DA59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4843" y="1542274"/>
            <a:ext cx="130704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tx2"/>
                </a:solidFill>
              </a:rPr>
              <a:t>Design the process tree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37D94E6-6B08-1D42-890B-AD094C4AAAEB}"/>
              </a:ext>
            </a:extLst>
          </p:cNvPr>
          <p:cNvSpPr/>
          <p:nvPr/>
        </p:nvSpPr>
        <p:spPr>
          <a:xfrm>
            <a:off x="991783" y="1442201"/>
            <a:ext cx="707629" cy="70762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98386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Process Tree: illuminating with incandescent bulbs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8" name="Text Box 41">
            <a:extLst>
              <a:ext uri="{FF2B5EF4-FFF2-40B4-BE49-F238E27FC236}">
                <a16:creationId xmlns:a16="http://schemas.microsoft.com/office/drawing/2014/main" id="{3A7B05EC-E3C1-B14D-A694-15B544CB3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4145" y="3821806"/>
            <a:ext cx="1920873" cy="1015663"/>
          </a:xfrm>
          <a:prstGeom prst="rect">
            <a:avLst/>
          </a:prstGeom>
          <a:solidFill>
            <a:schemeClr val="accent6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Illumination</a:t>
            </a:r>
          </a:p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800 lumen </a:t>
            </a:r>
          </a:p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During 5000 h </a:t>
            </a:r>
          </a:p>
        </p:txBody>
      </p:sp>
      <p:sp>
        <p:nvSpPr>
          <p:cNvPr id="49" name="Text Box 41">
            <a:extLst>
              <a:ext uri="{FF2B5EF4-FFF2-40B4-BE49-F238E27FC236}">
                <a16:creationId xmlns:a16="http://schemas.microsoft.com/office/drawing/2014/main" id="{2037A831-DA5C-BE45-8907-3F73462E2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395" y="5547419"/>
            <a:ext cx="20828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Electricity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300 kWh</a:t>
            </a:r>
          </a:p>
        </p:txBody>
      </p:sp>
      <p:sp>
        <p:nvSpPr>
          <p:cNvPr id="54" name="Text Box 41">
            <a:extLst>
              <a:ext uri="{FF2B5EF4-FFF2-40B4-BE49-F238E27FC236}">
                <a16:creationId xmlns:a16="http://schemas.microsoft.com/office/drawing/2014/main" id="{C274F3F6-6EA7-B348-9C85-885277C2F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059" y="3963094"/>
            <a:ext cx="2082800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5 Incandescent bulbs</a:t>
            </a:r>
          </a:p>
        </p:txBody>
      </p:sp>
      <p:cxnSp>
        <p:nvCxnSpPr>
          <p:cNvPr id="56" name="Elbow Connector 10">
            <a:extLst>
              <a:ext uri="{FF2B5EF4-FFF2-40B4-BE49-F238E27FC236}">
                <a16:creationId xmlns:a16="http://schemas.microsoft.com/office/drawing/2014/main" id="{8C744CA9-F26F-1446-BA94-DB0C1DFB5BE9}"/>
              </a:ext>
            </a:extLst>
          </p:cNvPr>
          <p:cNvCxnSpPr>
            <a:cxnSpLocks noChangeShapeType="1"/>
            <a:stCxn id="49" idx="3"/>
            <a:endCxn id="48" idx="1"/>
          </p:cNvCxnSpPr>
          <p:nvPr/>
        </p:nvCxnSpPr>
        <p:spPr bwMode="auto">
          <a:xfrm flipV="1">
            <a:off x="9688195" y="4329638"/>
            <a:ext cx="615950" cy="1571794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57" name="Text Box 41">
            <a:extLst>
              <a:ext uri="{FF2B5EF4-FFF2-40B4-BE49-F238E27FC236}">
                <a16:creationId xmlns:a16="http://schemas.microsoft.com/office/drawing/2014/main" id="{B0A9A569-F302-EA41-A1DA-6D6EA369E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395" y="2477194"/>
            <a:ext cx="2082800" cy="1016000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Transportation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Truck 3200 km           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59" name="Text Box 41">
            <a:extLst>
              <a:ext uri="{FF2B5EF4-FFF2-40B4-BE49-F238E27FC236}">
                <a16:creationId xmlns:a16="http://schemas.microsoft.com/office/drawing/2014/main" id="{C63DDDA7-58F8-564F-A590-439A41E39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395" y="3877369"/>
            <a:ext cx="2082800" cy="1322387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Transportation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Oceanic freight 10,000 km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60" name="Straight Arrow Connector 13">
            <a:extLst>
              <a:ext uri="{FF2B5EF4-FFF2-40B4-BE49-F238E27FC236}">
                <a16:creationId xmlns:a16="http://schemas.microsoft.com/office/drawing/2014/main" id="{C26FDE61-5617-5140-BE35-FA691A1A7C0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987858" y="4317037"/>
            <a:ext cx="617537" cy="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62" name="Straight Arrow Connector 14">
            <a:extLst>
              <a:ext uri="{FF2B5EF4-FFF2-40B4-BE49-F238E27FC236}">
                <a16:creationId xmlns:a16="http://schemas.microsoft.com/office/drawing/2014/main" id="{783A27D6-CE93-244D-A2DA-20DD43B04E92}"/>
              </a:ext>
            </a:extLst>
          </p:cNvPr>
          <p:cNvCxnSpPr>
            <a:cxnSpLocks noChangeShapeType="1"/>
            <a:stCxn id="59" idx="0"/>
            <a:endCxn id="57" idx="2"/>
          </p:cNvCxnSpPr>
          <p:nvPr/>
        </p:nvCxnSpPr>
        <p:spPr bwMode="auto">
          <a:xfrm flipV="1">
            <a:off x="8646795" y="3493194"/>
            <a:ext cx="0" cy="384175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63" name="Elbow Connector 15">
            <a:extLst>
              <a:ext uri="{FF2B5EF4-FFF2-40B4-BE49-F238E27FC236}">
                <a16:creationId xmlns:a16="http://schemas.microsoft.com/office/drawing/2014/main" id="{E0E085A5-B312-1649-AA61-113BD2B94094}"/>
              </a:ext>
            </a:extLst>
          </p:cNvPr>
          <p:cNvCxnSpPr>
            <a:cxnSpLocks noChangeShapeType="1"/>
            <a:stCxn id="57" idx="3"/>
            <a:endCxn id="48" idx="0"/>
          </p:cNvCxnSpPr>
          <p:nvPr/>
        </p:nvCxnSpPr>
        <p:spPr bwMode="auto">
          <a:xfrm>
            <a:off x="9688195" y="2985194"/>
            <a:ext cx="1576387" cy="836612"/>
          </a:xfrm>
          <a:prstGeom prst="bentConnector2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64" name="Text Box 41">
            <a:extLst>
              <a:ext uri="{FF2B5EF4-FFF2-40B4-BE49-F238E27FC236}">
                <a16:creationId xmlns:a16="http://schemas.microsoft.com/office/drawing/2014/main" id="{F9BE2778-E588-2C4F-A55F-820739AF8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2365" y="5267266"/>
            <a:ext cx="1711325" cy="1016000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Paper packaging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5" name="Text Box 41">
            <a:extLst>
              <a:ext uri="{FF2B5EF4-FFF2-40B4-BE49-F238E27FC236}">
                <a16:creationId xmlns:a16="http://schemas.microsoft.com/office/drawing/2014/main" id="{24102F60-AED6-9941-A169-CA1782179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837" y="4072213"/>
            <a:ext cx="1711325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Aluminum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6" name="Text Box 41">
            <a:extLst>
              <a:ext uri="{FF2B5EF4-FFF2-40B4-BE49-F238E27FC236}">
                <a16:creationId xmlns:a16="http://schemas.microsoft.com/office/drawing/2014/main" id="{C39B93DC-E94B-A34B-808C-8B9423E13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262" y="3158649"/>
            <a:ext cx="1709738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Glass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7" name="Text Box 41">
            <a:extLst>
              <a:ext uri="{FF2B5EF4-FFF2-40B4-BE49-F238E27FC236}">
                <a16:creationId xmlns:a16="http://schemas.microsoft.com/office/drawing/2014/main" id="{D5CAE1EC-CEBF-4947-A1D8-648B5E62F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262" y="5140767"/>
            <a:ext cx="1709738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Tungsten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68" name="Straight Arrow Connector 22">
            <a:extLst>
              <a:ext uri="{FF2B5EF4-FFF2-40B4-BE49-F238E27FC236}">
                <a16:creationId xmlns:a16="http://schemas.microsoft.com/office/drawing/2014/main" id="{21306E63-F609-A843-908F-2B2723B385EB}"/>
              </a:ext>
            </a:extLst>
          </p:cNvPr>
          <p:cNvCxnSpPr>
            <a:cxnSpLocks noChangeShapeType="1"/>
            <a:stCxn id="64" idx="0"/>
          </p:cNvCxnSpPr>
          <p:nvPr/>
        </p:nvCxnSpPr>
        <p:spPr bwMode="auto">
          <a:xfrm flipV="1">
            <a:off x="6068028" y="4670980"/>
            <a:ext cx="0" cy="596286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</p:spPr>
      </p:cxnSp>
      <p:cxnSp>
        <p:nvCxnSpPr>
          <p:cNvPr id="70" name="Elbow Connector 28">
            <a:extLst>
              <a:ext uri="{FF2B5EF4-FFF2-40B4-BE49-F238E27FC236}">
                <a16:creationId xmlns:a16="http://schemas.microsoft.com/office/drawing/2014/main" id="{AE2FCF28-3F5B-FC4D-9CB7-EA5FA8C1FC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93000" y="3304775"/>
            <a:ext cx="898525" cy="1131719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72" name="Straight Arrow Connector 39">
            <a:extLst>
              <a:ext uri="{FF2B5EF4-FFF2-40B4-BE49-F238E27FC236}">
                <a16:creationId xmlns:a16="http://schemas.microsoft.com/office/drawing/2014/main" id="{B5D8D3F6-DA11-284E-9AA9-86D5FBC4F8E0}"/>
              </a:ext>
            </a:extLst>
          </p:cNvPr>
          <p:cNvCxnSpPr>
            <a:cxnSpLocks noChangeShapeType="1"/>
            <a:stCxn id="48" idx="3"/>
            <a:endCxn id="73" idx="1"/>
          </p:cNvCxnSpPr>
          <p:nvPr/>
        </p:nvCxnSpPr>
        <p:spPr bwMode="auto">
          <a:xfrm>
            <a:off x="12225018" y="4329638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73" name="Text Box 41">
            <a:extLst>
              <a:ext uri="{FF2B5EF4-FFF2-40B4-BE49-F238E27FC236}">
                <a16:creationId xmlns:a16="http://schemas.microsoft.com/office/drawing/2014/main" id="{96522511-0F0A-8B45-8BF7-F6C17B2BD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7857" y="3828156"/>
            <a:ext cx="1490663" cy="1016000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Bulbs to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Landfill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74" name="Text Box 41">
            <a:extLst>
              <a:ext uri="{FF2B5EF4-FFF2-40B4-BE49-F238E27FC236}">
                <a16:creationId xmlns:a16="http://schemas.microsoft.com/office/drawing/2014/main" id="{6049ED45-6AEA-7B4A-A099-204CE6F22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262" y="6032860"/>
            <a:ext cx="1709738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Energy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2000" b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75" name="Elbow Connector 45">
            <a:extLst>
              <a:ext uri="{FF2B5EF4-FFF2-40B4-BE49-F238E27FC236}">
                <a16:creationId xmlns:a16="http://schemas.microsoft.com/office/drawing/2014/main" id="{645E7D2C-8641-B643-9BB4-EC996002C823}"/>
              </a:ext>
            </a:extLst>
          </p:cNvPr>
          <p:cNvCxnSpPr>
            <a:cxnSpLocks noChangeShapeType="1"/>
            <a:stCxn id="74" idx="3"/>
          </p:cNvCxnSpPr>
          <p:nvPr/>
        </p:nvCxnSpPr>
        <p:spPr bwMode="auto">
          <a:xfrm flipV="1">
            <a:off x="3993000" y="4438842"/>
            <a:ext cx="898525" cy="1948031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0" name="Straight Arrow Connector 39">
            <a:extLst>
              <a:ext uri="{FF2B5EF4-FFF2-40B4-BE49-F238E27FC236}">
                <a16:creationId xmlns:a16="http://schemas.microsoft.com/office/drawing/2014/main" id="{99174339-345F-6846-AC0E-9A35607F2B6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93000" y="5539313"/>
            <a:ext cx="449429" cy="8106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cxnSp>
        <p:nvCxnSpPr>
          <p:cNvPr id="31" name="Straight Arrow Connector 39">
            <a:extLst>
              <a:ext uri="{FF2B5EF4-FFF2-40B4-BE49-F238E27FC236}">
                <a16:creationId xmlns:a16="http://schemas.microsoft.com/office/drawing/2014/main" id="{045F45ED-AC85-7E42-A180-B5D21F31F4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26504" y="4442100"/>
            <a:ext cx="415925" cy="635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1C6EF1E-388D-1048-B216-9126CEBE596A}"/>
              </a:ext>
            </a:extLst>
          </p:cNvPr>
          <p:cNvSpPr txBox="1"/>
          <p:nvPr/>
        </p:nvSpPr>
        <p:spPr>
          <a:xfrm>
            <a:off x="2276023" y="2131286"/>
            <a:ext cx="34339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5 bulbs/FU x 20g Glass/Bulb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2B94AB-1372-004B-9D08-37360754114D}"/>
              </a:ext>
            </a:extLst>
          </p:cNvPr>
          <p:cNvSpPr txBox="1"/>
          <p:nvPr/>
        </p:nvSpPr>
        <p:spPr>
          <a:xfrm>
            <a:off x="2276023" y="2544940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= 100g Glass/FU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9DC7CA-C5AE-D840-B8F7-B82EF1071138}"/>
              </a:ext>
            </a:extLst>
          </p:cNvPr>
          <p:cNvSpPr txBox="1"/>
          <p:nvPr/>
        </p:nvSpPr>
        <p:spPr>
          <a:xfrm>
            <a:off x="2276023" y="6901406"/>
            <a:ext cx="4927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5 bulbs/FU x 0.38MJ primary Energy/Bulb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F3A307-B5BB-7B41-AC13-0160789729C5}"/>
              </a:ext>
            </a:extLst>
          </p:cNvPr>
          <p:cNvSpPr txBox="1"/>
          <p:nvPr/>
        </p:nvSpPr>
        <p:spPr>
          <a:xfrm>
            <a:off x="2276023" y="7315060"/>
            <a:ext cx="34644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= 1.9 Energy/FU MJ primary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2367" y="1418277"/>
            <a:ext cx="143576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ts val="1600"/>
              </a:spcAft>
            </a:pPr>
            <a:r>
              <a:rPr lang="en-US" altLang="en-US" dirty="0">
                <a:solidFill>
                  <a:schemeClr val="tx2"/>
                </a:solidFill>
              </a:rPr>
              <a:t>For each unit process, document in each box, the amount needed per FU.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8991E85-73FD-134B-9322-077E01D16916}"/>
              </a:ext>
            </a:extLst>
          </p:cNvPr>
          <p:cNvSpPr/>
          <p:nvPr/>
        </p:nvSpPr>
        <p:spPr>
          <a:xfrm>
            <a:off x="909559" y="1358643"/>
            <a:ext cx="707629" cy="707629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97701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Process tree – illuminating with incandescent bulbs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31" name="Text Box 41">
            <a:extLst>
              <a:ext uri="{FF2B5EF4-FFF2-40B4-BE49-F238E27FC236}">
                <a16:creationId xmlns:a16="http://schemas.microsoft.com/office/drawing/2014/main" id="{590009EE-4DF8-194D-8296-AB8A8B50F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850" y="5537355"/>
            <a:ext cx="2327275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Paper packaging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50g to recycling</a:t>
            </a:r>
          </a:p>
        </p:txBody>
      </p:sp>
      <p:sp>
        <p:nvSpPr>
          <p:cNvPr id="132" name="Text Box 41">
            <a:extLst>
              <a:ext uri="{FF2B5EF4-FFF2-40B4-BE49-F238E27FC236}">
                <a16:creationId xmlns:a16="http://schemas.microsoft.com/office/drawing/2014/main" id="{05F688DB-37E0-B147-A6C4-CC873D1CF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8425" y="3533330"/>
            <a:ext cx="22987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Aluminum to landfill 75g</a:t>
            </a:r>
          </a:p>
        </p:txBody>
      </p:sp>
      <p:sp>
        <p:nvSpPr>
          <p:cNvPr id="133" name="Text Box 41">
            <a:extLst>
              <a:ext uri="{FF2B5EF4-FFF2-40B4-BE49-F238E27FC236}">
                <a16:creationId xmlns:a16="http://schemas.microsoft.com/office/drawing/2014/main" id="{8C081DA3-954C-4346-9E4F-664D48E15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850" y="2523880"/>
            <a:ext cx="2327275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Glass to landfill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100g</a:t>
            </a:r>
          </a:p>
        </p:txBody>
      </p:sp>
      <p:sp>
        <p:nvSpPr>
          <p:cNvPr id="134" name="Text Box 41">
            <a:extLst>
              <a:ext uri="{FF2B5EF4-FFF2-40B4-BE49-F238E27FC236}">
                <a16:creationId xmlns:a16="http://schemas.microsoft.com/office/drawing/2014/main" id="{CE8E0F7B-24D2-7F48-90ED-B64AA9CEF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8424" y="4530480"/>
            <a:ext cx="2327275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Tungsten to landfill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3.5g</a:t>
            </a:r>
          </a:p>
        </p:txBody>
      </p:sp>
      <p:sp>
        <p:nvSpPr>
          <p:cNvPr id="53" name="Text Box 41">
            <a:extLst>
              <a:ext uri="{FF2B5EF4-FFF2-40B4-BE49-F238E27FC236}">
                <a16:creationId xmlns:a16="http://schemas.microsoft.com/office/drawing/2014/main" id="{108FF7E9-F790-E24B-B422-E2E815C0E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978" y="3845897"/>
            <a:ext cx="1920873" cy="1015663"/>
          </a:xfrm>
          <a:prstGeom prst="rect">
            <a:avLst/>
          </a:prstGeom>
          <a:solidFill>
            <a:schemeClr val="accent6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Illumination</a:t>
            </a:r>
          </a:p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800 lumen </a:t>
            </a:r>
          </a:p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During 5000 h </a:t>
            </a:r>
          </a:p>
        </p:txBody>
      </p:sp>
      <p:sp>
        <p:nvSpPr>
          <p:cNvPr id="57" name="Text Box 41">
            <a:extLst>
              <a:ext uri="{FF2B5EF4-FFF2-40B4-BE49-F238E27FC236}">
                <a16:creationId xmlns:a16="http://schemas.microsoft.com/office/drawing/2014/main" id="{9B3B77ED-9DAD-9648-A1C7-8AF831382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228" y="5571510"/>
            <a:ext cx="20828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Electricity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300 kWh</a:t>
            </a:r>
          </a:p>
        </p:txBody>
      </p:sp>
      <p:sp>
        <p:nvSpPr>
          <p:cNvPr id="58" name="Text Box 41">
            <a:extLst>
              <a:ext uri="{FF2B5EF4-FFF2-40B4-BE49-F238E27FC236}">
                <a16:creationId xmlns:a16="http://schemas.microsoft.com/office/drawing/2014/main" id="{9305B3EB-FE3C-7542-9553-C1C5021E3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892" y="3987185"/>
            <a:ext cx="2082800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5 Incandescent bulbs</a:t>
            </a:r>
          </a:p>
        </p:txBody>
      </p:sp>
      <p:cxnSp>
        <p:nvCxnSpPr>
          <p:cNvPr id="59" name="Elbow Connector 10">
            <a:extLst>
              <a:ext uri="{FF2B5EF4-FFF2-40B4-BE49-F238E27FC236}">
                <a16:creationId xmlns:a16="http://schemas.microsoft.com/office/drawing/2014/main" id="{C32C57BD-A0A6-CF4D-8D89-99F11C658C8A}"/>
              </a:ext>
            </a:extLst>
          </p:cNvPr>
          <p:cNvCxnSpPr>
            <a:cxnSpLocks noChangeShapeType="1"/>
            <a:stCxn id="57" idx="3"/>
            <a:endCxn id="53" idx="1"/>
          </p:cNvCxnSpPr>
          <p:nvPr/>
        </p:nvCxnSpPr>
        <p:spPr bwMode="auto">
          <a:xfrm flipV="1">
            <a:off x="9189028" y="4353729"/>
            <a:ext cx="615950" cy="1571794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60" name="Text Box 41">
            <a:extLst>
              <a:ext uri="{FF2B5EF4-FFF2-40B4-BE49-F238E27FC236}">
                <a16:creationId xmlns:a16="http://schemas.microsoft.com/office/drawing/2014/main" id="{094281D4-57F1-9E42-B0DA-3C0D9F74D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228" y="2501285"/>
            <a:ext cx="2082800" cy="1015663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Transportation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Truck 3200 km            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         </a:t>
            </a:r>
            <a:r>
              <a:rPr lang="en-US" altLang="en-US" sz="2000" b="0" dirty="0" err="1">
                <a:solidFill>
                  <a:schemeClr val="tx2"/>
                </a:solidFill>
                <a:cs typeface="Arial" panose="020B0604020202020204" pitchFamily="34" charset="0"/>
              </a:rPr>
              <a:t>kg∙km</a:t>
            </a: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61" name="Text Box 41">
            <a:extLst>
              <a:ext uri="{FF2B5EF4-FFF2-40B4-BE49-F238E27FC236}">
                <a16:creationId xmlns:a16="http://schemas.microsoft.com/office/drawing/2014/main" id="{DF6B90BA-F1C8-154D-8CDA-7F5306BEC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228" y="3901460"/>
            <a:ext cx="2082800" cy="1323439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Transportation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Oceanic freight 10,000 km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2,285 </a:t>
            </a:r>
            <a:r>
              <a:rPr lang="en-US" altLang="en-US" sz="2000" b="0" dirty="0" err="1">
                <a:solidFill>
                  <a:schemeClr val="tx2"/>
                </a:solidFill>
                <a:cs typeface="Arial" panose="020B0604020202020204" pitchFamily="34" charset="0"/>
              </a:rPr>
              <a:t>kg∙km</a:t>
            </a: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62" name="Straight Arrow Connector 13">
            <a:extLst>
              <a:ext uri="{FF2B5EF4-FFF2-40B4-BE49-F238E27FC236}">
                <a16:creationId xmlns:a16="http://schemas.microsoft.com/office/drawing/2014/main" id="{C56BE03C-DD27-AB45-8435-30F764AE959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88691" y="4341128"/>
            <a:ext cx="617537" cy="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63" name="Straight Arrow Connector 14">
            <a:extLst>
              <a:ext uri="{FF2B5EF4-FFF2-40B4-BE49-F238E27FC236}">
                <a16:creationId xmlns:a16="http://schemas.microsoft.com/office/drawing/2014/main" id="{9D33D505-6C12-C447-858D-66CC4EC02564}"/>
              </a:ext>
            </a:extLst>
          </p:cNvPr>
          <p:cNvCxnSpPr>
            <a:cxnSpLocks noChangeShapeType="1"/>
            <a:stCxn id="61" idx="0"/>
            <a:endCxn id="60" idx="2"/>
          </p:cNvCxnSpPr>
          <p:nvPr/>
        </p:nvCxnSpPr>
        <p:spPr bwMode="auto">
          <a:xfrm flipV="1">
            <a:off x="8147628" y="3516948"/>
            <a:ext cx="0" cy="38451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64" name="Elbow Connector 15">
            <a:extLst>
              <a:ext uri="{FF2B5EF4-FFF2-40B4-BE49-F238E27FC236}">
                <a16:creationId xmlns:a16="http://schemas.microsoft.com/office/drawing/2014/main" id="{330FA271-4DE0-B74F-BD75-7AD78F777B2E}"/>
              </a:ext>
            </a:extLst>
          </p:cNvPr>
          <p:cNvCxnSpPr>
            <a:cxnSpLocks noChangeShapeType="1"/>
            <a:stCxn id="60" idx="3"/>
            <a:endCxn id="53" idx="0"/>
          </p:cNvCxnSpPr>
          <p:nvPr/>
        </p:nvCxnSpPr>
        <p:spPr bwMode="auto">
          <a:xfrm>
            <a:off x="9189028" y="3009117"/>
            <a:ext cx="1576387" cy="836780"/>
          </a:xfrm>
          <a:prstGeom prst="bentConnector2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65" name="Text Box 41">
            <a:extLst>
              <a:ext uri="{FF2B5EF4-FFF2-40B4-BE49-F238E27FC236}">
                <a16:creationId xmlns:a16="http://schemas.microsoft.com/office/drawing/2014/main" id="{32E1C4DE-EE8E-A143-8306-88845CEC6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3198" y="5291357"/>
            <a:ext cx="1711325" cy="1016000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Paper packaging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50g</a:t>
            </a:r>
          </a:p>
        </p:txBody>
      </p:sp>
      <p:sp>
        <p:nvSpPr>
          <p:cNvPr id="66" name="Text Box 41">
            <a:extLst>
              <a:ext uri="{FF2B5EF4-FFF2-40B4-BE49-F238E27FC236}">
                <a16:creationId xmlns:a16="http://schemas.microsoft.com/office/drawing/2014/main" id="{2EC88E66-352D-7447-A6F6-9DCB57DD5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634" y="4096304"/>
            <a:ext cx="1940362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Aluminum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75g</a:t>
            </a:r>
          </a:p>
        </p:txBody>
      </p:sp>
      <p:sp>
        <p:nvSpPr>
          <p:cNvPr id="67" name="Text Box 41">
            <a:extLst>
              <a:ext uri="{FF2B5EF4-FFF2-40B4-BE49-F238E27FC236}">
                <a16:creationId xmlns:a16="http://schemas.microsoft.com/office/drawing/2014/main" id="{736C8784-4980-6A4B-A42C-9D31185F0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633" y="3182740"/>
            <a:ext cx="19102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Glass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100g</a:t>
            </a:r>
          </a:p>
        </p:txBody>
      </p:sp>
      <p:sp>
        <p:nvSpPr>
          <p:cNvPr id="68" name="Text Box 41">
            <a:extLst>
              <a:ext uri="{FF2B5EF4-FFF2-40B4-BE49-F238E27FC236}">
                <a16:creationId xmlns:a16="http://schemas.microsoft.com/office/drawing/2014/main" id="{54C40670-D962-2045-A825-61084C50D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633" y="5164858"/>
            <a:ext cx="19102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Tungsten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3.5g</a:t>
            </a:r>
          </a:p>
        </p:txBody>
      </p:sp>
      <p:cxnSp>
        <p:nvCxnSpPr>
          <p:cNvPr id="69" name="Straight Arrow Connector 22">
            <a:extLst>
              <a:ext uri="{FF2B5EF4-FFF2-40B4-BE49-F238E27FC236}">
                <a16:creationId xmlns:a16="http://schemas.microsoft.com/office/drawing/2014/main" id="{92034888-623A-3D47-9536-1A1DEB09D07E}"/>
              </a:ext>
            </a:extLst>
          </p:cNvPr>
          <p:cNvCxnSpPr>
            <a:cxnSpLocks noChangeShapeType="1"/>
            <a:stCxn id="65" idx="0"/>
          </p:cNvCxnSpPr>
          <p:nvPr/>
        </p:nvCxnSpPr>
        <p:spPr bwMode="auto">
          <a:xfrm flipV="1">
            <a:off x="5568861" y="4695071"/>
            <a:ext cx="0" cy="596286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</p:spPr>
      </p:cxnSp>
      <p:cxnSp>
        <p:nvCxnSpPr>
          <p:cNvPr id="70" name="Elbow Connector 28">
            <a:extLst>
              <a:ext uri="{FF2B5EF4-FFF2-40B4-BE49-F238E27FC236}">
                <a16:creationId xmlns:a16="http://schemas.microsoft.com/office/drawing/2014/main" id="{3DE7F8B5-5192-B243-8785-8B33825C45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3833" y="3349186"/>
            <a:ext cx="898525" cy="1131719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71" name="Straight Arrow Connector 39">
            <a:extLst>
              <a:ext uri="{FF2B5EF4-FFF2-40B4-BE49-F238E27FC236}">
                <a16:creationId xmlns:a16="http://schemas.microsoft.com/office/drawing/2014/main" id="{E0F83AF7-4F38-384B-9039-C25A921969F3}"/>
              </a:ext>
            </a:extLst>
          </p:cNvPr>
          <p:cNvCxnSpPr>
            <a:cxnSpLocks noChangeShapeType="1"/>
            <a:stCxn id="53" idx="3"/>
          </p:cNvCxnSpPr>
          <p:nvPr/>
        </p:nvCxnSpPr>
        <p:spPr bwMode="auto">
          <a:xfrm>
            <a:off x="11725851" y="4353729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sp>
        <p:nvSpPr>
          <p:cNvPr id="73" name="Text Box 41">
            <a:extLst>
              <a:ext uri="{FF2B5EF4-FFF2-40B4-BE49-F238E27FC236}">
                <a16:creationId xmlns:a16="http://schemas.microsoft.com/office/drawing/2014/main" id="{A555C135-EF77-9B4B-AD55-78A10669B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633" y="6056951"/>
            <a:ext cx="1910200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Energy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1.9 </a:t>
            </a:r>
            <a:r>
              <a:rPr lang="en-US" altLang="en-US" sz="2000" b="0" dirty="0" err="1">
                <a:solidFill>
                  <a:schemeClr val="tx2"/>
                </a:solidFill>
                <a:cs typeface="Arial" panose="020B0604020202020204" pitchFamily="34" charset="0"/>
              </a:rPr>
              <a:t>MJprimary</a:t>
            </a: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74" name="Elbow Connector 45">
            <a:extLst>
              <a:ext uri="{FF2B5EF4-FFF2-40B4-BE49-F238E27FC236}">
                <a16:creationId xmlns:a16="http://schemas.microsoft.com/office/drawing/2014/main" id="{EDF87163-1178-794E-ADCE-C89712B34131}"/>
              </a:ext>
            </a:extLst>
          </p:cNvPr>
          <p:cNvCxnSpPr>
            <a:cxnSpLocks noChangeShapeType="1"/>
            <a:stCxn id="73" idx="3"/>
          </p:cNvCxnSpPr>
          <p:nvPr/>
        </p:nvCxnSpPr>
        <p:spPr bwMode="auto">
          <a:xfrm flipV="1">
            <a:off x="3493833" y="4494960"/>
            <a:ext cx="454184" cy="1915934"/>
          </a:xfrm>
          <a:prstGeom prst="bentConnector2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</p:spPr>
      </p:cxnSp>
      <p:cxnSp>
        <p:nvCxnSpPr>
          <p:cNvPr id="75" name="Straight Arrow Connector 39">
            <a:extLst>
              <a:ext uri="{FF2B5EF4-FFF2-40B4-BE49-F238E27FC236}">
                <a16:creationId xmlns:a16="http://schemas.microsoft.com/office/drawing/2014/main" id="{BA05AB30-76A8-9A4C-BFB1-FA28AE7EC56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93833" y="5512604"/>
            <a:ext cx="449429" cy="8106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cxnSp>
        <p:nvCxnSpPr>
          <p:cNvPr id="76" name="Straight Arrow Connector 39">
            <a:extLst>
              <a:ext uri="{FF2B5EF4-FFF2-40B4-BE49-F238E27FC236}">
                <a16:creationId xmlns:a16="http://schemas.microsoft.com/office/drawing/2014/main" id="{7775B6D3-22E4-164D-BDBC-B3EC8AD3140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7337" y="4476351"/>
            <a:ext cx="415925" cy="635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47C370-0F12-D44B-A09B-61094C29E683}"/>
              </a:ext>
            </a:extLst>
          </p:cNvPr>
          <p:cNvCxnSpPr>
            <a:cxnSpLocks/>
          </p:cNvCxnSpPr>
          <p:nvPr/>
        </p:nvCxnSpPr>
        <p:spPr>
          <a:xfrm>
            <a:off x="12108690" y="3009117"/>
            <a:ext cx="0" cy="3047834"/>
          </a:xfrm>
          <a:prstGeom prst="line">
            <a:avLst/>
          </a:prstGeom>
          <a:ln w="2857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39">
            <a:extLst>
              <a:ext uri="{FF2B5EF4-FFF2-40B4-BE49-F238E27FC236}">
                <a16:creationId xmlns:a16="http://schemas.microsoft.com/office/drawing/2014/main" id="{F71204CD-CA20-D34F-B9D0-C6EB6B03C2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03538" y="3018614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88" name="Straight Arrow Connector 39">
            <a:extLst>
              <a:ext uri="{FF2B5EF4-FFF2-40B4-BE49-F238E27FC236}">
                <a16:creationId xmlns:a16="http://schemas.microsoft.com/office/drawing/2014/main" id="{F5550743-A0B0-BB45-A5CE-D76BBB500C2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00267" y="3916407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89" name="Straight Arrow Connector 39">
            <a:extLst>
              <a:ext uri="{FF2B5EF4-FFF2-40B4-BE49-F238E27FC236}">
                <a16:creationId xmlns:a16="http://schemas.microsoft.com/office/drawing/2014/main" id="{048D5CC2-E994-ED4C-B3C3-3078FCB1A72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20145" y="4890442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90" name="Straight Arrow Connector 39">
            <a:extLst>
              <a:ext uri="{FF2B5EF4-FFF2-40B4-BE49-F238E27FC236}">
                <a16:creationId xmlns:a16="http://schemas.microsoft.com/office/drawing/2014/main" id="{BE83B593-8726-DF4C-A60D-270CDA64AC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03539" y="6038858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D98151-105C-DE46-B9C5-8A187F0D3A4C}"/>
              </a:ext>
            </a:extLst>
          </p:cNvPr>
          <p:cNvSpPr txBox="1"/>
          <p:nvPr/>
        </p:nvSpPr>
        <p:spPr>
          <a:xfrm>
            <a:off x="10250081" y="6764837"/>
            <a:ext cx="5194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TOTAL WEIGHT </a:t>
            </a:r>
            <a:r>
              <a:rPr lang="en-US" sz="2000" dirty="0">
                <a:solidFill>
                  <a:schemeClr val="tx2"/>
                </a:solidFill>
              </a:rPr>
              <a:t>= 100g + 75g + 3.5g + 50g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15F0E3-DEA2-644B-8DD4-E944940039DB}"/>
              </a:ext>
            </a:extLst>
          </p:cNvPr>
          <p:cNvSpPr txBox="1"/>
          <p:nvPr/>
        </p:nvSpPr>
        <p:spPr>
          <a:xfrm>
            <a:off x="12229553" y="7161077"/>
            <a:ext cx="131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= 0.229kg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B8B631-FA0D-1742-BC25-8BBF4E4DD090}"/>
              </a:ext>
            </a:extLst>
          </p:cNvPr>
          <p:cNvSpPr/>
          <p:nvPr/>
        </p:nvSpPr>
        <p:spPr>
          <a:xfrm>
            <a:off x="965205" y="1418277"/>
            <a:ext cx="150848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ts val="1600"/>
              </a:spcAft>
            </a:pPr>
            <a:r>
              <a:rPr lang="en-US" altLang="en-US" dirty="0">
                <a:solidFill>
                  <a:schemeClr val="tx2"/>
                </a:solidFill>
              </a:rPr>
              <a:t>Also calculate the transportation flows per FU in </a:t>
            </a:r>
            <a:r>
              <a:rPr lang="en-US" altLang="en-US" dirty="0" err="1">
                <a:solidFill>
                  <a:schemeClr val="tx2"/>
                </a:solidFill>
                <a:cs typeface="Arial" panose="020B0604020202020204" pitchFamily="34" charset="0"/>
              </a:rPr>
              <a:t>kg∙km</a:t>
            </a:r>
            <a:r>
              <a:rPr lang="en-US" altLang="en-US" dirty="0">
                <a:solidFill>
                  <a:schemeClr val="tx2"/>
                </a:solidFill>
                <a:cs typeface="Arial" panose="020B0604020202020204" pitchFamily="34" charset="0"/>
              </a:rPr>
              <a:t> (kg transported over a km)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5199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Process tree – illuminating with incandescent bulbs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4" name="Text Box 41">
            <a:extLst>
              <a:ext uri="{FF2B5EF4-FFF2-40B4-BE49-F238E27FC236}">
                <a16:creationId xmlns:a16="http://schemas.microsoft.com/office/drawing/2014/main" id="{427EA9D1-2372-8B4C-A766-3690B5C76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850" y="5537355"/>
            <a:ext cx="2327275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Paper packaging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50g to recycling</a:t>
            </a:r>
          </a:p>
        </p:txBody>
      </p:sp>
      <p:sp>
        <p:nvSpPr>
          <p:cNvPr id="35" name="Text Box 41">
            <a:extLst>
              <a:ext uri="{FF2B5EF4-FFF2-40B4-BE49-F238E27FC236}">
                <a16:creationId xmlns:a16="http://schemas.microsoft.com/office/drawing/2014/main" id="{3373E3F2-DF61-0644-8D32-1739C6DD6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8425" y="3533330"/>
            <a:ext cx="22987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Aluminum to landfill 75g</a:t>
            </a:r>
          </a:p>
        </p:txBody>
      </p:sp>
      <p:sp>
        <p:nvSpPr>
          <p:cNvPr id="36" name="Text Box 41">
            <a:extLst>
              <a:ext uri="{FF2B5EF4-FFF2-40B4-BE49-F238E27FC236}">
                <a16:creationId xmlns:a16="http://schemas.microsoft.com/office/drawing/2014/main" id="{5AC674C4-0E64-0A46-ACDF-A5A002250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850" y="2523880"/>
            <a:ext cx="2327275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Glass to landfill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100g</a:t>
            </a:r>
          </a:p>
        </p:txBody>
      </p:sp>
      <p:sp>
        <p:nvSpPr>
          <p:cNvPr id="37" name="Text Box 41">
            <a:extLst>
              <a:ext uri="{FF2B5EF4-FFF2-40B4-BE49-F238E27FC236}">
                <a16:creationId xmlns:a16="http://schemas.microsoft.com/office/drawing/2014/main" id="{82AD26FB-801D-A048-999D-005535F2F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8424" y="4530480"/>
            <a:ext cx="2327275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Tungsten to landfill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3.5g</a:t>
            </a:r>
          </a:p>
        </p:txBody>
      </p:sp>
      <p:sp>
        <p:nvSpPr>
          <p:cNvPr id="38" name="Text Box 41">
            <a:extLst>
              <a:ext uri="{FF2B5EF4-FFF2-40B4-BE49-F238E27FC236}">
                <a16:creationId xmlns:a16="http://schemas.microsoft.com/office/drawing/2014/main" id="{714FB288-C7C4-204B-B85D-859018C89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4978" y="3845897"/>
            <a:ext cx="1920873" cy="1015663"/>
          </a:xfrm>
          <a:prstGeom prst="rect">
            <a:avLst/>
          </a:prstGeom>
          <a:solidFill>
            <a:schemeClr val="accent6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Illumination</a:t>
            </a:r>
          </a:p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800 lumen </a:t>
            </a:r>
          </a:p>
          <a:p>
            <a:pPr algn="ctr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000" b="0" dirty="0">
                <a:solidFill>
                  <a:schemeClr val="accent6"/>
                </a:solidFill>
                <a:cs typeface="Arial" panose="020B0604020202020204" pitchFamily="34" charset="0"/>
              </a:rPr>
              <a:t>During 5000 h </a:t>
            </a:r>
          </a:p>
        </p:txBody>
      </p:sp>
      <p:sp>
        <p:nvSpPr>
          <p:cNvPr id="39" name="Text Box 41">
            <a:extLst>
              <a:ext uri="{FF2B5EF4-FFF2-40B4-BE49-F238E27FC236}">
                <a16:creationId xmlns:a16="http://schemas.microsoft.com/office/drawing/2014/main" id="{38DE68D6-2C66-4D41-B523-B85EA7B9F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228" y="5571510"/>
            <a:ext cx="20828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Electricity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chemeClr val="tx2"/>
                </a:solidFill>
                <a:cs typeface="Arial" panose="020B0604020202020204" pitchFamily="34" charset="0"/>
              </a:rPr>
              <a:t>300 kWh</a:t>
            </a:r>
          </a:p>
        </p:txBody>
      </p:sp>
      <p:sp>
        <p:nvSpPr>
          <p:cNvPr id="40" name="Text Box 41">
            <a:extLst>
              <a:ext uri="{FF2B5EF4-FFF2-40B4-BE49-F238E27FC236}">
                <a16:creationId xmlns:a16="http://schemas.microsoft.com/office/drawing/2014/main" id="{257CED47-7186-CC48-BC74-84AB80345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892" y="3987185"/>
            <a:ext cx="2082800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5 Incandescent bulbs</a:t>
            </a:r>
          </a:p>
        </p:txBody>
      </p:sp>
      <p:cxnSp>
        <p:nvCxnSpPr>
          <p:cNvPr id="41" name="Elbow Connector 10">
            <a:extLst>
              <a:ext uri="{FF2B5EF4-FFF2-40B4-BE49-F238E27FC236}">
                <a16:creationId xmlns:a16="http://schemas.microsoft.com/office/drawing/2014/main" id="{F1F1E25A-09C6-D343-B0F4-160495318D7B}"/>
              </a:ext>
            </a:extLst>
          </p:cNvPr>
          <p:cNvCxnSpPr>
            <a:cxnSpLocks noChangeShapeType="1"/>
            <a:stCxn id="39" idx="3"/>
            <a:endCxn id="38" idx="1"/>
          </p:cNvCxnSpPr>
          <p:nvPr/>
        </p:nvCxnSpPr>
        <p:spPr bwMode="auto">
          <a:xfrm flipV="1">
            <a:off x="9189028" y="4353729"/>
            <a:ext cx="615950" cy="1571794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42" name="Text Box 41">
            <a:extLst>
              <a:ext uri="{FF2B5EF4-FFF2-40B4-BE49-F238E27FC236}">
                <a16:creationId xmlns:a16="http://schemas.microsoft.com/office/drawing/2014/main" id="{55E5D119-AAB3-1D4C-AA1A-C7E29055A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228" y="2501285"/>
            <a:ext cx="2082800" cy="1015663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Transportation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Truck 3200 km            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731 </a:t>
            </a:r>
            <a:r>
              <a:rPr lang="en-US" altLang="en-US" sz="2000" b="0" dirty="0" err="1">
                <a:solidFill>
                  <a:schemeClr val="tx2"/>
                </a:solidFill>
                <a:cs typeface="Arial" panose="020B0604020202020204" pitchFamily="34" charset="0"/>
              </a:rPr>
              <a:t>kg∙km</a:t>
            </a: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43" name="Text Box 41">
            <a:extLst>
              <a:ext uri="{FF2B5EF4-FFF2-40B4-BE49-F238E27FC236}">
                <a16:creationId xmlns:a16="http://schemas.microsoft.com/office/drawing/2014/main" id="{52FF68AC-ACE3-6E49-9AB4-0EC307448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6228" y="3901460"/>
            <a:ext cx="2082800" cy="1323439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Transportation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Oceanic freight 10,000 km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2,285 </a:t>
            </a:r>
            <a:r>
              <a:rPr lang="en-US" altLang="en-US" sz="2000" b="0" dirty="0" err="1">
                <a:solidFill>
                  <a:schemeClr val="tx2"/>
                </a:solidFill>
                <a:cs typeface="Arial" panose="020B0604020202020204" pitchFamily="34" charset="0"/>
              </a:rPr>
              <a:t>kg∙km</a:t>
            </a: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44" name="Straight Arrow Connector 13">
            <a:extLst>
              <a:ext uri="{FF2B5EF4-FFF2-40B4-BE49-F238E27FC236}">
                <a16:creationId xmlns:a16="http://schemas.microsoft.com/office/drawing/2014/main" id="{0F7953AB-EA4D-644D-8D96-C557BF47F9C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88691" y="4341128"/>
            <a:ext cx="617537" cy="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45" name="Straight Arrow Connector 14">
            <a:extLst>
              <a:ext uri="{FF2B5EF4-FFF2-40B4-BE49-F238E27FC236}">
                <a16:creationId xmlns:a16="http://schemas.microsoft.com/office/drawing/2014/main" id="{319EE398-E1FA-7F47-8D55-D0A5073DEE89}"/>
              </a:ext>
            </a:extLst>
          </p:cNvPr>
          <p:cNvCxnSpPr>
            <a:cxnSpLocks noChangeShapeType="1"/>
            <a:stCxn id="43" idx="0"/>
            <a:endCxn id="42" idx="2"/>
          </p:cNvCxnSpPr>
          <p:nvPr/>
        </p:nvCxnSpPr>
        <p:spPr bwMode="auto">
          <a:xfrm flipV="1">
            <a:off x="8147628" y="3516948"/>
            <a:ext cx="0" cy="38451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46" name="Elbow Connector 15">
            <a:extLst>
              <a:ext uri="{FF2B5EF4-FFF2-40B4-BE49-F238E27FC236}">
                <a16:creationId xmlns:a16="http://schemas.microsoft.com/office/drawing/2014/main" id="{4D522740-8384-C348-A7A1-9775879C91FC}"/>
              </a:ext>
            </a:extLst>
          </p:cNvPr>
          <p:cNvCxnSpPr>
            <a:cxnSpLocks noChangeShapeType="1"/>
            <a:stCxn id="42" idx="3"/>
            <a:endCxn id="38" idx="0"/>
          </p:cNvCxnSpPr>
          <p:nvPr/>
        </p:nvCxnSpPr>
        <p:spPr bwMode="auto">
          <a:xfrm>
            <a:off x="9189028" y="3009117"/>
            <a:ext cx="1576387" cy="836780"/>
          </a:xfrm>
          <a:prstGeom prst="bentConnector2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47" name="Text Box 41">
            <a:extLst>
              <a:ext uri="{FF2B5EF4-FFF2-40B4-BE49-F238E27FC236}">
                <a16:creationId xmlns:a16="http://schemas.microsoft.com/office/drawing/2014/main" id="{F80576B5-AE6B-7A4D-9469-219296054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3198" y="5291357"/>
            <a:ext cx="1711325" cy="1016000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Paper packaging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50g</a:t>
            </a:r>
          </a:p>
        </p:txBody>
      </p:sp>
      <p:sp>
        <p:nvSpPr>
          <p:cNvPr id="48" name="Text Box 41">
            <a:extLst>
              <a:ext uri="{FF2B5EF4-FFF2-40B4-BE49-F238E27FC236}">
                <a16:creationId xmlns:a16="http://schemas.microsoft.com/office/drawing/2014/main" id="{8215ADBC-6DAE-024F-9AD4-8500251C0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634" y="4096304"/>
            <a:ext cx="1940362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Aluminum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75g</a:t>
            </a:r>
          </a:p>
        </p:txBody>
      </p:sp>
      <p:sp>
        <p:nvSpPr>
          <p:cNvPr id="49" name="Text Box 41">
            <a:extLst>
              <a:ext uri="{FF2B5EF4-FFF2-40B4-BE49-F238E27FC236}">
                <a16:creationId xmlns:a16="http://schemas.microsoft.com/office/drawing/2014/main" id="{8F2EAEEB-C1CE-C744-82E7-45E860F20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633" y="3182740"/>
            <a:ext cx="19102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Glass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100g</a:t>
            </a:r>
          </a:p>
        </p:txBody>
      </p:sp>
      <p:sp>
        <p:nvSpPr>
          <p:cNvPr id="50" name="Text Box 41">
            <a:extLst>
              <a:ext uri="{FF2B5EF4-FFF2-40B4-BE49-F238E27FC236}">
                <a16:creationId xmlns:a16="http://schemas.microsoft.com/office/drawing/2014/main" id="{81EB180A-D982-074A-AE3A-4086871B1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633" y="5164858"/>
            <a:ext cx="1910200" cy="708025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Tungsten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3.5g</a:t>
            </a:r>
          </a:p>
        </p:txBody>
      </p:sp>
      <p:cxnSp>
        <p:nvCxnSpPr>
          <p:cNvPr id="51" name="Straight Arrow Connector 22">
            <a:extLst>
              <a:ext uri="{FF2B5EF4-FFF2-40B4-BE49-F238E27FC236}">
                <a16:creationId xmlns:a16="http://schemas.microsoft.com/office/drawing/2014/main" id="{48602C99-457C-8F42-A840-A1CE2A857DDD}"/>
              </a:ext>
            </a:extLst>
          </p:cNvPr>
          <p:cNvCxnSpPr>
            <a:cxnSpLocks noChangeShapeType="1"/>
            <a:stCxn id="47" idx="0"/>
          </p:cNvCxnSpPr>
          <p:nvPr/>
        </p:nvCxnSpPr>
        <p:spPr bwMode="auto">
          <a:xfrm flipV="1">
            <a:off x="5568861" y="4695071"/>
            <a:ext cx="0" cy="596286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</p:spPr>
      </p:cxnSp>
      <p:cxnSp>
        <p:nvCxnSpPr>
          <p:cNvPr id="52" name="Elbow Connector 28">
            <a:extLst>
              <a:ext uri="{FF2B5EF4-FFF2-40B4-BE49-F238E27FC236}">
                <a16:creationId xmlns:a16="http://schemas.microsoft.com/office/drawing/2014/main" id="{9E4E8C58-D0FA-1845-AC44-960F27824A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93833" y="3349186"/>
            <a:ext cx="898525" cy="1131719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54" name="Straight Arrow Connector 39">
            <a:extLst>
              <a:ext uri="{FF2B5EF4-FFF2-40B4-BE49-F238E27FC236}">
                <a16:creationId xmlns:a16="http://schemas.microsoft.com/office/drawing/2014/main" id="{7C28CE56-8D3A-8B4F-A6A2-6188727020F0}"/>
              </a:ext>
            </a:extLst>
          </p:cNvPr>
          <p:cNvCxnSpPr>
            <a:cxnSpLocks noChangeShapeType="1"/>
            <a:stCxn id="38" idx="3"/>
          </p:cNvCxnSpPr>
          <p:nvPr/>
        </p:nvCxnSpPr>
        <p:spPr bwMode="auto">
          <a:xfrm>
            <a:off x="11725851" y="4353729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sp>
        <p:nvSpPr>
          <p:cNvPr id="55" name="Text Box 41">
            <a:extLst>
              <a:ext uri="{FF2B5EF4-FFF2-40B4-BE49-F238E27FC236}">
                <a16:creationId xmlns:a16="http://schemas.microsoft.com/office/drawing/2014/main" id="{5D5E2B72-816F-D64F-A601-EFB0CB095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633" y="6056951"/>
            <a:ext cx="1910200" cy="707886"/>
          </a:xfrm>
          <a:prstGeom prst="rect">
            <a:avLst/>
          </a:prstGeom>
          <a:solidFill>
            <a:schemeClr val="accent4"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Energy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en-US" altLang="en-US" sz="2000" b="0" dirty="0">
                <a:solidFill>
                  <a:schemeClr val="tx2"/>
                </a:solidFill>
                <a:cs typeface="Arial" panose="020B0604020202020204" pitchFamily="34" charset="0"/>
              </a:rPr>
              <a:t>1.9 </a:t>
            </a:r>
            <a:r>
              <a:rPr lang="en-US" altLang="en-US" sz="2000" b="0" dirty="0" err="1">
                <a:solidFill>
                  <a:schemeClr val="tx2"/>
                </a:solidFill>
                <a:cs typeface="Arial" panose="020B0604020202020204" pitchFamily="34" charset="0"/>
              </a:rPr>
              <a:t>MJprimary</a:t>
            </a:r>
            <a:endParaRPr lang="en-US" altLang="en-US" sz="2000" b="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cxnSp>
        <p:nvCxnSpPr>
          <p:cNvPr id="56" name="Elbow Connector 45">
            <a:extLst>
              <a:ext uri="{FF2B5EF4-FFF2-40B4-BE49-F238E27FC236}">
                <a16:creationId xmlns:a16="http://schemas.microsoft.com/office/drawing/2014/main" id="{031AB9C1-7A79-BC46-B2E6-B96647DDB32D}"/>
              </a:ext>
            </a:extLst>
          </p:cNvPr>
          <p:cNvCxnSpPr>
            <a:cxnSpLocks noChangeShapeType="1"/>
            <a:stCxn id="55" idx="3"/>
          </p:cNvCxnSpPr>
          <p:nvPr/>
        </p:nvCxnSpPr>
        <p:spPr bwMode="auto">
          <a:xfrm flipV="1">
            <a:off x="3493833" y="4494960"/>
            <a:ext cx="454184" cy="1915934"/>
          </a:xfrm>
          <a:prstGeom prst="bentConnector2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</p:spPr>
      </p:cxnSp>
      <p:cxnSp>
        <p:nvCxnSpPr>
          <p:cNvPr id="72" name="Straight Arrow Connector 39">
            <a:extLst>
              <a:ext uri="{FF2B5EF4-FFF2-40B4-BE49-F238E27FC236}">
                <a16:creationId xmlns:a16="http://schemas.microsoft.com/office/drawing/2014/main" id="{2EEC00D0-E22B-E24F-8386-388182AEEE0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93833" y="5512604"/>
            <a:ext cx="449429" cy="8106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cxnSp>
        <p:nvCxnSpPr>
          <p:cNvPr id="77" name="Straight Arrow Connector 39">
            <a:extLst>
              <a:ext uri="{FF2B5EF4-FFF2-40B4-BE49-F238E27FC236}">
                <a16:creationId xmlns:a16="http://schemas.microsoft.com/office/drawing/2014/main" id="{4CEAF0DD-225A-DA42-954C-BEB22A7DE80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27337" y="4476351"/>
            <a:ext cx="415925" cy="635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none" w="med" len="med"/>
          </a:ln>
          <a:effectLst/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436545E-EE22-2844-BFF3-C7A2F4A911B8}"/>
              </a:ext>
            </a:extLst>
          </p:cNvPr>
          <p:cNvCxnSpPr>
            <a:cxnSpLocks/>
          </p:cNvCxnSpPr>
          <p:nvPr/>
        </p:nvCxnSpPr>
        <p:spPr>
          <a:xfrm>
            <a:off x="12108690" y="3009117"/>
            <a:ext cx="0" cy="3047834"/>
          </a:xfrm>
          <a:prstGeom prst="line">
            <a:avLst/>
          </a:prstGeom>
          <a:ln w="2857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39">
            <a:extLst>
              <a:ext uri="{FF2B5EF4-FFF2-40B4-BE49-F238E27FC236}">
                <a16:creationId xmlns:a16="http://schemas.microsoft.com/office/drawing/2014/main" id="{37354031-31E0-C94A-BC75-E4F502C306D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03538" y="3018614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80" name="Straight Arrow Connector 39">
            <a:extLst>
              <a:ext uri="{FF2B5EF4-FFF2-40B4-BE49-F238E27FC236}">
                <a16:creationId xmlns:a16="http://schemas.microsoft.com/office/drawing/2014/main" id="{8C142714-C8B4-C342-94FA-F8AB46ED48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00267" y="3916407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81" name="Straight Arrow Connector 39">
            <a:extLst>
              <a:ext uri="{FF2B5EF4-FFF2-40B4-BE49-F238E27FC236}">
                <a16:creationId xmlns:a16="http://schemas.microsoft.com/office/drawing/2014/main" id="{67556668-D471-7C4E-81DD-2279A8D2ECD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20145" y="4890442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cxnSp>
        <p:nvCxnSpPr>
          <p:cNvPr id="82" name="Straight Arrow Connector 39">
            <a:extLst>
              <a:ext uri="{FF2B5EF4-FFF2-40B4-BE49-F238E27FC236}">
                <a16:creationId xmlns:a16="http://schemas.microsoft.com/office/drawing/2014/main" id="{58209E7E-1F05-5748-8D62-7CE0347B98C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103539" y="6038858"/>
            <a:ext cx="382839" cy="6518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arrow" w="med" len="med"/>
          </a:ln>
          <a:effectLst/>
        </p:spPr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BF7008D-5228-744B-AB5F-7643728F55E7}"/>
              </a:ext>
            </a:extLst>
          </p:cNvPr>
          <p:cNvSpPr txBox="1"/>
          <p:nvPr/>
        </p:nvSpPr>
        <p:spPr>
          <a:xfrm>
            <a:off x="10250081" y="6764837"/>
            <a:ext cx="5194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TOTAL WEIGHT </a:t>
            </a:r>
            <a:r>
              <a:rPr lang="en-US" sz="2000" dirty="0">
                <a:solidFill>
                  <a:schemeClr val="tx2"/>
                </a:solidFill>
              </a:rPr>
              <a:t>= 100g + 75g + 3.5g + 50g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D9457F1-75FD-DF4E-82C4-E5694CC15C46}"/>
              </a:ext>
            </a:extLst>
          </p:cNvPr>
          <p:cNvSpPr txBox="1"/>
          <p:nvPr/>
        </p:nvSpPr>
        <p:spPr>
          <a:xfrm>
            <a:off x="12229553" y="7161077"/>
            <a:ext cx="131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= 0.229kg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D3A6C76-C461-2547-86E9-E1A63A6ABB55}"/>
              </a:ext>
            </a:extLst>
          </p:cNvPr>
          <p:cNvSpPr txBox="1"/>
          <p:nvPr/>
        </p:nvSpPr>
        <p:spPr>
          <a:xfrm>
            <a:off x="5022761" y="1354637"/>
            <a:ext cx="4971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TRANSPORTATION </a:t>
            </a:r>
            <a:r>
              <a:rPr lang="en-US" sz="2000" dirty="0">
                <a:solidFill>
                  <a:schemeClr val="tx2"/>
                </a:solidFill>
              </a:rPr>
              <a:t>= 0.229kg x 3200km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3CE5CA9-A941-2340-BD4A-5CF2FB4FB5A0}"/>
              </a:ext>
            </a:extLst>
          </p:cNvPr>
          <p:cNvSpPr txBox="1"/>
          <p:nvPr/>
        </p:nvSpPr>
        <p:spPr>
          <a:xfrm>
            <a:off x="7438770" y="1750877"/>
            <a:ext cx="15856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= </a:t>
            </a:r>
            <a:r>
              <a:rPr lang="en-US" altLang="en-US" sz="2000" dirty="0">
                <a:solidFill>
                  <a:schemeClr val="tx2"/>
                </a:solidFill>
                <a:cs typeface="Arial" panose="020B0604020202020204" pitchFamily="34" charset="0"/>
              </a:rPr>
              <a:t>731 </a:t>
            </a:r>
            <a:r>
              <a:rPr lang="en-US" altLang="en-US" sz="2000" dirty="0" err="1">
                <a:solidFill>
                  <a:schemeClr val="tx2"/>
                </a:solidFill>
                <a:cs typeface="Arial" panose="020B0604020202020204" pitchFamily="34" charset="0"/>
              </a:rPr>
              <a:t>kg∙km</a:t>
            </a:r>
            <a:endParaRPr lang="en-US" altLang="en-US" sz="2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57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Summary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860404C-E3DD-DB44-9F60-421612D670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0211" y="1783976"/>
            <a:ext cx="14630400" cy="5429624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tx2"/>
                </a:solidFill>
              </a:rPr>
              <a:t>The process tree is an efficient way to visualize the product system.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tx2"/>
                </a:solidFill>
              </a:rPr>
              <a:t>The </a:t>
            </a:r>
            <a:r>
              <a:rPr lang="en-US" altLang="en-US" i="1" dirty="0">
                <a:solidFill>
                  <a:schemeClr val="accent4"/>
                </a:solidFill>
              </a:rPr>
              <a:t>intermediary flows </a:t>
            </a:r>
            <a:r>
              <a:rPr lang="en-US" altLang="en-US" dirty="0">
                <a:solidFill>
                  <a:schemeClr val="tx2"/>
                </a:solidFill>
              </a:rPr>
              <a:t>enable us to determine the amount of each 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process used per function unit, in the unit required by the LCI database.</a:t>
            </a:r>
          </a:p>
          <a:p>
            <a:pPr>
              <a:spcBef>
                <a:spcPct val="0"/>
              </a:spcBef>
            </a:pPr>
            <a:endParaRPr lang="en-US" altLang="en-US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tx2"/>
                </a:solidFill>
              </a:rPr>
              <a:t>This will serve as the basis to then determine the resource extraction 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and emission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accent3"/>
                </a:solidFill>
              </a:rPr>
              <a:t>elementary flows </a:t>
            </a:r>
            <a:r>
              <a:rPr lang="en-US" altLang="en-US" dirty="0">
                <a:solidFill>
                  <a:schemeClr val="tx2"/>
                </a:solidFill>
              </a:rPr>
              <a:t>of the Life Cycle inventory.</a:t>
            </a:r>
          </a:p>
          <a:p>
            <a:pPr>
              <a:spcBef>
                <a:spcPct val="0"/>
              </a:spcBef>
            </a:pPr>
            <a:endParaRPr lang="en-US" altLang="en-US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</a:pPr>
            <a:r>
              <a:rPr lang="en-US" altLang="en-US" dirty="0">
                <a:solidFill>
                  <a:schemeClr val="tx2"/>
                </a:solidFill>
              </a:rPr>
              <a:t>What are the ultimate </a:t>
            </a:r>
            <a:r>
              <a:rPr lang="en-US" altLang="en-US" i="1" dirty="0">
                <a:solidFill>
                  <a:schemeClr val="accent5"/>
                </a:solidFill>
              </a:rPr>
              <a:t>system boundaries </a:t>
            </a:r>
            <a:r>
              <a:rPr lang="en-US" altLang="en-US" dirty="0">
                <a:solidFill>
                  <a:schemeClr val="tx2"/>
                </a:solidFill>
              </a:rPr>
              <a:t>and how to define 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them consistently?</a:t>
            </a:r>
          </a:p>
        </p:txBody>
      </p:sp>
    </p:spTree>
    <p:extLst>
      <p:ext uri="{BB962C8B-B14F-4D97-AF65-F5344CB8AC3E}">
        <p14:creationId xmlns:p14="http://schemas.microsoft.com/office/powerpoint/2010/main" val="3416137914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2">
  <a:themeElements>
    <a:clrScheme name="SPH brand colors">
      <a:dk1>
        <a:srgbClr val="00274C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Notes (not to be shown in vide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AI_PPT_Template_2.potx</Template>
  <TotalTime>17195</TotalTime>
  <Words>702</Words>
  <Application>Microsoft Macintosh PowerPoint</Application>
  <PresentationFormat>Custom</PresentationFormat>
  <Paragraphs>197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Bold</vt:lpstr>
      <vt:lpstr>Calibri</vt:lpstr>
      <vt:lpstr>Courier New</vt:lpstr>
      <vt:lpstr>Wingdings</vt:lpstr>
      <vt:lpstr>Title slide option 2</vt:lpstr>
      <vt:lpstr>Content slide (shown in video)</vt:lpstr>
      <vt:lpstr>2_Content slide (shown in video)</vt:lpstr>
      <vt:lpstr>3_Content slide (shown in video)</vt:lpstr>
      <vt:lpstr>Notes (not to be shown in video)</vt:lpstr>
      <vt:lpstr>PowerPoint Presentation</vt:lpstr>
      <vt:lpstr>Learning Objectives</vt:lpstr>
      <vt:lpstr>Process tree design</vt:lpstr>
      <vt:lpstr>Elementary and intermediary flows of Tier 1 Aluminum oxide Unit Process </vt:lpstr>
      <vt:lpstr>Process Tree: illuminating with incandescent bulbs</vt:lpstr>
      <vt:lpstr>Elementary and intermediary flows of an incandescent bulb</vt:lpstr>
      <vt:lpstr>Process Tree: illuminating with incandescent bulbs</vt:lpstr>
      <vt:lpstr>Process Tree: illuminating with incandescent bulbs</vt:lpstr>
      <vt:lpstr>Process tree – illuminating with incandescent bulbs</vt:lpstr>
      <vt:lpstr>Process tree – illuminating with incandescent bulbs</vt:lpstr>
      <vt:lpstr>Summary</vt:lpstr>
    </vt:vector>
  </TitlesOfParts>
  <Manager/>
  <Company>University of Michigan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Scott Mahler</dc:creator>
  <cp:keywords/>
  <dc:description/>
  <cp:lastModifiedBy>Rosen, Monica</cp:lastModifiedBy>
  <cp:revision>703</cp:revision>
  <cp:lastPrinted>2020-03-06T14:51:20Z</cp:lastPrinted>
  <dcterms:created xsi:type="dcterms:W3CDTF">2017-01-17T22:07:36Z</dcterms:created>
  <dcterms:modified xsi:type="dcterms:W3CDTF">2021-11-05T05:25:07Z</dcterms:modified>
  <cp:category/>
</cp:coreProperties>
</file>