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9"/>
  </p:notesMasterIdLst>
  <p:handoutMasterIdLst>
    <p:handoutMasterId r:id="rId20"/>
  </p:handoutMasterIdLst>
  <p:sldIdLst>
    <p:sldId id="533" r:id="rId6"/>
    <p:sldId id="534" r:id="rId7"/>
    <p:sldId id="524" r:id="rId8"/>
    <p:sldId id="516" r:id="rId9"/>
    <p:sldId id="521" r:id="rId10"/>
    <p:sldId id="518" r:id="rId11"/>
    <p:sldId id="531" r:id="rId12"/>
    <p:sldId id="526" r:id="rId13"/>
    <p:sldId id="527" r:id="rId14"/>
    <p:sldId id="528" r:id="rId15"/>
    <p:sldId id="529" r:id="rId16"/>
    <p:sldId id="530" r:id="rId17"/>
    <p:sldId id="522" r:id="rId18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533"/>
            <p14:sldId id="534"/>
            <p14:sldId id="524"/>
            <p14:sldId id="516"/>
            <p14:sldId id="521"/>
            <p14:sldId id="518"/>
            <p14:sldId id="531"/>
            <p14:sldId id="526"/>
            <p14:sldId id="527"/>
            <p14:sldId id="528"/>
            <p14:sldId id="529"/>
            <p14:sldId id="530"/>
            <p14:sldId id="5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FEF"/>
    <a:srgbClr val="FF2F92"/>
    <a:srgbClr val="00274C"/>
    <a:srgbClr val="E4E1DF"/>
    <a:srgbClr val="B5B5B5"/>
    <a:srgbClr val="050909"/>
    <a:srgbClr val="FFCB05"/>
    <a:srgbClr val="EA6A20"/>
    <a:srgbClr val="06090A"/>
    <a:srgbClr val="09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0416"/>
    <p:restoredTop sz="80892"/>
  </p:normalViewPr>
  <p:slideViewPr>
    <p:cSldViewPr snapToGrid="0">
      <p:cViewPr varScale="1">
        <p:scale>
          <a:sx n="55" d="100"/>
          <a:sy n="55" d="100"/>
        </p:scale>
        <p:origin x="53" y="158"/>
      </p:cViewPr>
      <p:guideLst>
        <p:guide orient="horz" pos="3216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ox%20Sync\Jolliet\Projects\GLAM%20LCinitiative\Global%20LCIA%20Method%20comparison\Normalization%20inventory\Global%20flow%20inventory%20for%20LCIA%20method%20comparison1b_LIME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Lime DALY/pers-</a:t>
            </a:r>
            <a:r>
              <a:rPr lang="en-US" dirty="0" err="1"/>
              <a:t>yr</a:t>
            </a:r>
            <a:endParaRPr lang="en-US" dirty="0"/>
          </a:p>
        </c:rich>
      </c:tx>
      <c:layout>
        <c:manualLayout>
          <c:xMode val="edge"/>
          <c:yMode val="edge"/>
          <c:x val="0.28340566675675982"/>
          <c:y val="8.1858773674041983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242879791895136"/>
          <c:y val="5.2723886085187792E-2"/>
          <c:w val="0.65727061354684746"/>
          <c:h val="0.50368185900197981"/>
        </c:manualLayout>
      </c:layout>
      <c:lineChart>
        <c:grouping val="standard"/>
        <c:varyColors val="0"/>
        <c:ser>
          <c:idx val="0"/>
          <c:order val="0"/>
          <c:tx>
            <c:strRef>
              <c:f>'summarized correspondance table'!$R$2</c:f>
              <c:strCache>
                <c:ptCount val="1"/>
                <c:pt idx="0">
                  <c:v>DALY/pers-yr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ash"/>
            <c:size val="10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'summarized correspondance table'!$Q$3:$Q$6</c:f>
              <c:strCache>
                <c:ptCount val="4"/>
                <c:pt idx="0">
                  <c:v>Climate change</c:v>
                </c:pt>
                <c:pt idx="1">
                  <c:v>Particulate Matter formation</c:v>
                </c:pt>
                <c:pt idx="2">
                  <c:v>Photochemical oxidants</c:v>
                </c:pt>
                <c:pt idx="3">
                  <c:v>Water consumption</c:v>
                </c:pt>
              </c:strCache>
            </c:strRef>
          </c:cat>
          <c:val>
            <c:numRef>
              <c:f>'summarized correspondance table'!$R$3:$R$6</c:f>
              <c:numCache>
                <c:formatCode>0.00E+00</c:formatCode>
                <c:ptCount val="4"/>
                <c:pt idx="0">
                  <c:v>2.7441086516336735E-3</c:v>
                </c:pt>
                <c:pt idx="1">
                  <c:v>8.2110097134698804E-3</c:v>
                </c:pt>
                <c:pt idx="2">
                  <c:v>2.0254817799588343E-4</c:v>
                </c:pt>
                <c:pt idx="3">
                  <c:v>0.33491023649233026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37-0C42-8229-B8BCFE03F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3471024"/>
        <c:axId val="703466432"/>
      </c:lineChart>
      <c:catAx>
        <c:axId val="703471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466432"/>
        <c:crossesAt val="1.0000000000000005E-8"/>
        <c:auto val="1"/>
        <c:lblAlgn val="ctr"/>
        <c:lblOffset val="100"/>
        <c:noMultiLvlLbl val="0"/>
      </c:catAx>
      <c:valAx>
        <c:axId val="703466432"/>
        <c:scaling>
          <c:logBase val="10"/>
          <c:orientation val="minMax"/>
          <c:max val="1"/>
          <c:min val="1.0000000000000005E-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E+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471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82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0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08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1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81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67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CAF1ABB-E33E-5E45-A6B2-E4A8613CE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21568"/>
            <a:ext cx="14367329" cy="1718216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/>
              <a:t>Overview of LCIA Methods</a:t>
            </a:r>
            <a:r>
              <a:rPr lang="en-US" altLang="en-US" sz="5400" b="1" dirty="0"/>
              <a:t/>
            </a:r>
            <a:br>
              <a:rPr lang="en-US" altLang="en-US" sz="5400" b="1" dirty="0"/>
            </a:br>
            <a:r>
              <a:rPr lang="en-CA" sz="3600" b="1" dirty="0">
                <a:solidFill>
                  <a:schemeClr val="accent5"/>
                </a:solidFill>
              </a:rPr>
              <a:t>Part B Short description of individual methods</a:t>
            </a:r>
            <a:endParaRPr lang="en-US" altLang="en-US" sz="3600" b="1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61631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034FB6-7DA2-0341-BF02-D5369446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fr-FR" altLang="en-US" sz="4000" dirty="0"/>
              <a:t>LCIA  </a:t>
            </a:r>
            <a:r>
              <a:rPr lang="fr-FR" altLang="en-US" dirty="0"/>
              <a:t>Impact 2002+</a:t>
            </a:r>
            <a:endParaRPr lang="en-US" sz="4200" dirty="0">
              <a:solidFill>
                <a:schemeClr val="tx2"/>
              </a:solidFill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2017B66-542E-0741-842A-2F8E0E774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9273" y="7417517"/>
            <a:ext cx="5775435" cy="383946"/>
          </a:xfrm>
          <a:prstGeom prst="roundRect">
            <a:avLst>
              <a:gd name="adj" fmla="val 1249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488" tIns="44450" rIns="90488" bIns="44450" anchor="t"/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e.g. IMPACT 2002+, </a:t>
            </a:r>
            <a:r>
              <a:rPr lang="en-GB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Int J LCA 8 (6), 324-330,</a:t>
            </a:r>
            <a:r>
              <a:rPr lang="en-US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I</a:t>
            </a:r>
            <a:r>
              <a:rPr lang="en-GB" altLang="en-US" sz="1400" b="0" baseline="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nt</a:t>
            </a:r>
            <a:r>
              <a:rPr lang="en-GB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J LCA 9 (6), 394-404</a:t>
            </a:r>
            <a:r>
              <a:rPr lang="en-US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 </a:t>
            </a:r>
            <a:br>
              <a:rPr lang="en-US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</a:br>
            <a:r>
              <a:rPr lang="en-US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</a:t>
            </a:r>
            <a:br>
              <a:rPr lang="en-US" altLang="en-US" sz="1400" b="0" baseline="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</a:br>
            <a:endParaRPr lang="en-US" altLang="en-US" sz="1400" b="0" baseline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CD31F-A0B8-EF4D-ADA3-62FCD562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534" y="1484998"/>
            <a:ext cx="11309826" cy="609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7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1D8A-BBC5-BF40-913A-4A6EF1CB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Original features from IMPACT World+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492AA-98DA-BF48-ABA4-0DBFB9AEF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1" dirty="0"/>
              <a:t>Based on IMPACT 2002 </a:t>
            </a:r>
            <a:r>
              <a:rPr lang="en-US" altLang="en-US" sz="2800" dirty="0"/>
              <a:t>which was the first midpoint-endpoint: </a:t>
            </a:r>
            <a:br>
              <a:rPr lang="en-US" altLang="en-US" sz="2800" dirty="0"/>
            </a:br>
            <a:r>
              <a:rPr lang="en-US" altLang="en-US" sz="2800" i="1" dirty="0"/>
              <a:t>Midpoint (</a:t>
            </a:r>
            <a:r>
              <a:rPr lang="en-US" altLang="en-US" sz="2800" i="1" dirty="0" err="1"/>
              <a:t>kgeq</a:t>
            </a:r>
            <a:r>
              <a:rPr lang="en-US" altLang="en-US" sz="2800" i="1" dirty="0"/>
              <a:t>) and Endpoint (DALY).</a:t>
            </a:r>
          </a:p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chemeClr val="accent6"/>
                </a:solidFill>
              </a:rPr>
              <a:t>Provides factors for </a:t>
            </a:r>
            <a:r>
              <a:rPr lang="en-US" altLang="en-US" sz="2800" dirty="0"/>
              <a:t>each continent and allows to regionally assess </a:t>
            </a:r>
            <a:br>
              <a:rPr lang="en-US" altLang="en-US" sz="2800" dirty="0"/>
            </a:br>
            <a:r>
              <a:rPr lang="en-US" altLang="en-US" sz="2800" dirty="0"/>
              <a:t>any emission/resource use.</a:t>
            </a:r>
          </a:p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dirty="0"/>
              <a:t>The </a:t>
            </a:r>
            <a:r>
              <a:rPr lang="en-US" altLang="en-US" sz="2800" dirty="0" err="1"/>
              <a:t>USEtox</a:t>
            </a:r>
            <a:r>
              <a:rPr lang="en-US" altLang="en-US" sz="2800" dirty="0"/>
              <a:t> model for toxic impacts </a:t>
            </a:r>
            <a:r>
              <a:rPr lang="en-US" altLang="en-US" sz="2800" i="1" dirty="0"/>
              <a:t>(Rosenbaum et al., 2008) </a:t>
            </a:r>
            <a:r>
              <a:rPr lang="en-US" altLang="en-US" sz="2800" dirty="0"/>
              <a:t>and water </a:t>
            </a:r>
            <a:br>
              <a:rPr lang="en-US" altLang="en-US" sz="2800" dirty="0"/>
            </a:br>
            <a:r>
              <a:rPr lang="en-US" altLang="en-US" sz="2800" dirty="0"/>
              <a:t>use impacts are </a:t>
            </a:r>
            <a:r>
              <a:rPr lang="en-US" altLang="en-US" sz="2800" b="1" dirty="0"/>
              <a:t>included for the first time </a:t>
            </a:r>
            <a:r>
              <a:rPr lang="en-US" altLang="en-US" sz="2800" dirty="0"/>
              <a:t>in a full midpoint-damage LCIA method.</a:t>
            </a:r>
          </a:p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dirty="0"/>
              <a:t>Major </a:t>
            </a:r>
            <a:r>
              <a:rPr lang="en-US" altLang="en-US" sz="2800" b="1" dirty="0"/>
              <a:t>modeling improvements </a:t>
            </a:r>
            <a:r>
              <a:rPr lang="en-US" altLang="en-US" sz="2800" dirty="0"/>
              <a:t>for land use, water and mineral resource use </a:t>
            </a:r>
            <a:br>
              <a:rPr lang="en-US" altLang="en-US" sz="2800" dirty="0"/>
            </a:br>
            <a:r>
              <a:rPr lang="en-US" altLang="en-US" sz="2800" dirty="0"/>
              <a:t>with an </a:t>
            </a:r>
            <a:r>
              <a:rPr lang="en-US" altLang="en-US" sz="2800" i="1" dirty="0">
                <a:solidFill>
                  <a:schemeClr val="accent4"/>
                </a:solidFill>
              </a:rPr>
              <a:t>extraction-consumption-competition-adaptation</a:t>
            </a:r>
            <a:r>
              <a:rPr lang="en-US" altLang="en-US" sz="2800" dirty="0"/>
              <a:t> approach.</a:t>
            </a:r>
          </a:p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dirty="0">
                <a:solidFill>
                  <a:schemeClr val="accent3"/>
                </a:solidFill>
              </a:rPr>
              <a:t>Acidification and eutrophication </a:t>
            </a:r>
            <a:r>
              <a:rPr lang="en-US" altLang="en-US" sz="2800" dirty="0"/>
              <a:t>with world atmospheric and hydrological fate models.</a:t>
            </a:r>
          </a:p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dirty="0">
                <a:solidFill>
                  <a:schemeClr val="accent5"/>
                </a:solidFill>
              </a:rPr>
              <a:t>Respiratory effects </a:t>
            </a:r>
            <a:r>
              <a:rPr lang="en-US" altLang="en-US" sz="2800" dirty="0"/>
              <a:t>with new intake fractions and epidemiologically derived factors.</a:t>
            </a:r>
          </a:p>
          <a:p>
            <a:pPr marL="457200" indent="-457200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dirty="0"/>
              <a:t>For damage, </a:t>
            </a:r>
            <a:r>
              <a:rPr lang="en-US" altLang="en-US" sz="2800" b="1" dirty="0"/>
              <a:t>optional reporting </a:t>
            </a:r>
            <a:r>
              <a:rPr lang="en-US" altLang="en-US" sz="2800" dirty="0"/>
              <a:t>on climate change and water use.</a:t>
            </a:r>
          </a:p>
        </p:txBody>
      </p:sp>
    </p:spTree>
    <p:extLst>
      <p:ext uri="{BB962C8B-B14F-4D97-AF65-F5344CB8AC3E}">
        <p14:creationId xmlns:p14="http://schemas.microsoft.com/office/powerpoint/2010/main" val="183323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 err="1"/>
              <a:t>ReCiPe</a:t>
            </a:r>
            <a:r>
              <a:rPr lang="en-US" altLang="en-US" dirty="0"/>
              <a:t> Consistent midpoint – endpoint, GW overvalued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F2D2BA2-615F-7B43-B60A-04B812456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705737" y="4701698"/>
            <a:ext cx="3583634" cy="28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D08BD19A-E2D7-2B47-845A-0E378F4BA1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441902" y="1314422"/>
            <a:ext cx="8263835" cy="6330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29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3135E44-A7D3-2349-B56C-D7120BC6717A}"/>
              </a:ext>
            </a:extLst>
          </p:cNvPr>
          <p:cNvSpPr/>
          <p:nvPr/>
        </p:nvSpPr>
        <p:spPr>
          <a:xfrm>
            <a:off x="11788579" y="2959766"/>
            <a:ext cx="3795291" cy="1924021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C471A1-BB49-2E4C-9578-6B18DA1C85D4}"/>
              </a:ext>
            </a:extLst>
          </p:cNvPr>
          <p:cNvSpPr txBox="1"/>
          <p:nvPr/>
        </p:nvSpPr>
        <p:spPr>
          <a:xfrm>
            <a:off x="11865694" y="293189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A2380C-FD47-0A4D-BA5F-5E6EBCD59150}"/>
              </a:ext>
            </a:extLst>
          </p:cNvPr>
          <p:cNvSpPr/>
          <p:nvPr/>
        </p:nvSpPr>
        <p:spPr>
          <a:xfrm>
            <a:off x="11629553" y="3337454"/>
            <a:ext cx="3755534" cy="1924021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DBF8F4-FE6A-3A43-83AE-D0AD7FB183BA}"/>
              </a:ext>
            </a:extLst>
          </p:cNvPr>
          <p:cNvSpPr txBox="1"/>
          <p:nvPr/>
        </p:nvSpPr>
        <p:spPr>
          <a:xfrm>
            <a:off x="11706668" y="3408972"/>
            <a:ext cx="171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Ozone Depletion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712A3E-84B8-D346-B21F-B5E926B25F88}"/>
              </a:ext>
            </a:extLst>
          </p:cNvPr>
          <p:cNvSpPr/>
          <p:nvPr/>
        </p:nvSpPr>
        <p:spPr>
          <a:xfrm>
            <a:off x="11430770" y="3814532"/>
            <a:ext cx="3755534" cy="1924021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CF4CE0-40B5-704C-84BE-CBA1D159013F}"/>
              </a:ext>
            </a:extLst>
          </p:cNvPr>
          <p:cNvSpPr txBox="1"/>
          <p:nvPr/>
        </p:nvSpPr>
        <p:spPr>
          <a:xfrm>
            <a:off x="11507885" y="3886050"/>
            <a:ext cx="1646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Global Warming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7725C-FCE5-A843-98E7-EF032AAA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TRACI: US-EPA: Official US Midpoint only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4F1F0FA-822A-F844-8137-0EA31A3E87D0}"/>
              </a:ext>
            </a:extLst>
          </p:cNvPr>
          <p:cNvSpPr txBox="1">
            <a:spLocks/>
          </p:cNvSpPr>
          <p:nvPr/>
        </p:nvSpPr>
        <p:spPr>
          <a:xfrm>
            <a:off x="878783" y="1651841"/>
            <a:ext cx="14631828" cy="4832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2800" b="1" dirty="0"/>
              <a:t>TRACI: </a:t>
            </a:r>
            <a:r>
              <a:rPr lang="en-US" altLang="en-US" sz="2800" dirty="0"/>
              <a:t>Tool for Reduction and Assessment of Chemical and Other Environmental Impacts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A0F04-8D7D-AC48-8BCD-4A18FFF1AEDE}"/>
              </a:ext>
            </a:extLst>
          </p:cNvPr>
          <p:cNvSpPr/>
          <p:nvPr/>
        </p:nvSpPr>
        <p:spPr>
          <a:xfrm>
            <a:off x="853382" y="4268922"/>
            <a:ext cx="2363147" cy="2000835"/>
          </a:xfrm>
          <a:prstGeom prst="rect">
            <a:avLst/>
          </a:prstGeom>
          <a:noFill/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5CA474-6710-2749-BFDD-315657F899B1}"/>
              </a:ext>
            </a:extLst>
          </p:cNvPr>
          <p:cNvSpPr txBox="1"/>
          <p:nvPr/>
        </p:nvSpPr>
        <p:spPr>
          <a:xfrm>
            <a:off x="853383" y="4320170"/>
            <a:ext cx="2363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Inventory of Stressors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61802-2E92-F143-9AA2-566B9CC6C796}"/>
              </a:ext>
            </a:extLst>
          </p:cNvPr>
          <p:cNvSpPr txBox="1"/>
          <p:nvPr/>
        </p:nvSpPr>
        <p:spPr>
          <a:xfrm>
            <a:off x="944757" y="4896638"/>
            <a:ext cx="21804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Land Use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Chemical Emissions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Water Use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Fossil Fuel Use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636D70-3750-1E4C-AE9F-B9B079708440}"/>
              </a:ext>
            </a:extLst>
          </p:cNvPr>
          <p:cNvSpPr/>
          <p:nvPr/>
        </p:nvSpPr>
        <p:spPr>
          <a:xfrm>
            <a:off x="3835120" y="3270448"/>
            <a:ext cx="2363147" cy="3816626"/>
          </a:xfrm>
          <a:prstGeom prst="rect">
            <a:avLst/>
          </a:prstGeom>
          <a:noFill/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FB2659-8D6D-2B4E-8D7A-7E9AF26E59E8}"/>
              </a:ext>
            </a:extLst>
          </p:cNvPr>
          <p:cNvSpPr txBox="1"/>
          <p:nvPr/>
        </p:nvSpPr>
        <p:spPr>
          <a:xfrm>
            <a:off x="4034701" y="3321315"/>
            <a:ext cx="1963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Impact Categories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40F55-849D-E94E-9697-3030653ED036}"/>
              </a:ext>
            </a:extLst>
          </p:cNvPr>
          <p:cNvSpPr txBox="1"/>
          <p:nvPr/>
        </p:nvSpPr>
        <p:spPr>
          <a:xfrm>
            <a:off x="4161335" y="3846142"/>
            <a:ext cx="171072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Ozone Depletion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Global Warming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Acidification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Cancer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Noncancer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Criteria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Eutrophication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Smog Formation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Ecotoxicity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Fossil Fuel Use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Land Use</a:t>
            </a:r>
          </a:p>
          <a:p>
            <a:pPr algn="ctr"/>
            <a:r>
              <a:rPr lang="en-US" sz="1600" dirty="0">
                <a:solidFill>
                  <a:schemeClr val="tx2"/>
                </a:solidFill>
              </a:rPr>
              <a:t>Water Use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50CBC882-86BB-2C4B-8847-6C627B221F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64273" y="4767009"/>
            <a:ext cx="3935896" cy="14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13A5B5D-F033-9141-9B04-5298885F38FD}"/>
              </a:ext>
            </a:extLst>
          </p:cNvPr>
          <p:cNvSpPr/>
          <p:nvPr/>
        </p:nvSpPr>
        <p:spPr>
          <a:xfrm>
            <a:off x="6764274" y="4287975"/>
            <a:ext cx="3935896" cy="1924021"/>
          </a:xfrm>
          <a:prstGeom prst="rect">
            <a:avLst/>
          </a:prstGeom>
          <a:noFill/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448863-5653-3745-8F35-F25D3BA62E50}"/>
              </a:ext>
            </a:extLst>
          </p:cNvPr>
          <p:cNvSpPr txBox="1"/>
          <p:nvPr/>
        </p:nvSpPr>
        <p:spPr>
          <a:xfrm>
            <a:off x="6764273" y="4359493"/>
            <a:ext cx="17924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Characterization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8AA25-2223-8D4F-B70C-F08A522D633B}"/>
              </a:ext>
            </a:extLst>
          </p:cNvPr>
          <p:cNvSpPr txBox="1"/>
          <p:nvPr/>
        </p:nvSpPr>
        <p:spPr>
          <a:xfrm>
            <a:off x="8452069" y="4359493"/>
            <a:ext cx="1486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</a:rPr>
              <a:t>(e.g., Cancer)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90E02F-45F3-D64B-86A7-277FFA953613}"/>
              </a:ext>
            </a:extLst>
          </p:cNvPr>
          <p:cNvSpPr/>
          <p:nvPr/>
        </p:nvSpPr>
        <p:spPr>
          <a:xfrm>
            <a:off x="11271744" y="4291610"/>
            <a:ext cx="3723221" cy="1924021"/>
          </a:xfrm>
          <a:prstGeom prst="rect">
            <a:avLst/>
          </a:prstGeom>
          <a:solidFill>
            <a:srgbClr val="DDDFEF"/>
          </a:solidFill>
          <a:ln w="317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E96DBD66-EAF7-D842-8256-38C222217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311502" y="4664766"/>
            <a:ext cx="3578087" cy="1530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C1062E0-9683-1945-9044-A11718F48194}"/>
              </a:ext>
            </a:extLst>
          </p:cNvPr>
          <p:cNvSpPr/>
          <p:nvPr/>
        </p:nvSpPr>
        <p:spPr>
          <a:xfrm>
            <a:off x="11332838" y="4548676"/>
            <a:ext cx="747659" cy="375687"/>
          </a:xfrm>
          <a:prstGeom prst="rect">
            <a:avLst/>
          </a:prstGeom>
          <a:solidFill>
            <a:srgbClr val="DDD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91CE3A-242A-F548-BEB9-24CF1D9EAD03}"/>
              </a:ext>
            </a:extLst>
          </p:cNvPr>
          <p:cNvSpPr txBox="1"/>
          <p:nvPr/>
        </p:nvSpPr>
        <p:spPr>
          <a:xfrm>
            <a:off x="11348859" y="4363128"/>
            <a:ext cx="878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</a:rPr>
              <a:t>Cancer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A6BF7CCB-BEF2-0649-8CD5-BA33AEF5B4D4}"/>
              </a:ext>
            </a:extLst>
          </p:cNvPr>
          <p:cNvSpPr/>
          <p:nvPr/>
        </p:nvSpPr>
        <p:spPr>
          <a:xfrm>
            <a:off x="3276163" y="4960102"/>
            <a:ext cx="758538" cy="68643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4B740AD3-8CE8-1448-9544-914BA99162BE}"/>
              </a:ext>
            </a:extLst>
          </p:cNvPr>
          <p:cNvSpPr/>
          <p:nvPr/>
        </p:nvSpPr>
        <p:spPr>
          <a:xfrm>
            <a:off x="6019363" y="4960102"/>
            <a:ext cx="758538" cy="68643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C773A050-3D65-E847-9E07-B82B9810ED89}"/>
              </a:ext>
            </a:extLst>
          </p:cNvPr>
          <p:cNvSpPr/>
          <p:nvPr/>
        </p:nvSpPr>
        <p:spPr>
          <a:xfrm>
            <a:off x="10670876" y="4960102"/>
            <a:ext cx="758538" cy="68643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4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9">
            <a:extLst>
              <a:ext uri="{FF2B5EF4-FFF2-40B4-BE49-F238E27FC236}">
                <a16:creationId xmlns:a16="http://schemas.microsoft.com/office/drawing/2014/main" id="{A907B8F7-5F50-5C47-9D2D-01F9D9186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7487" y="1650179"/>
            <a:ext cx="4141225" cy="584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1CAE4DF-505E-7C45-BCF2-0FFB7C91CD3D}"/>
              </a:ext>
            </a:extLst>
          </p:cNvPr>
          <p:cNvSpPr/>
          <p:nvPr/>
        </p:nvSpPr>
        <p:spPr>
          <a:xfrm>
            <a:off x="5605670" y="4731310"/>
            <a:ext cx="9839038" cy="764186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D9F58D-1D89-4546-BA28-06C1551F6DC4}"/>
              </a:ext>
            </a:extLst>
          </p:cNvPr>
          <p:cNvSpPr/>
          <p:nvPr/>
        </p:nvSpPr>
        <p:spPr>
          <a:xfrm>
            <a:off x="5605670" y="6381204"/>
            <a:ext cx="9839038" cy="516043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AA1E175-914E-4C41-95D4-EF0CE29BD981}"/>
              </a:ext>
            </a:extLst>
          </p:cNvPr>
          <p:cNvSpPr/>
          <p:nvPr/>
        </p:nvSpPr>
        <p:spPr>
          <a:xfrm>
            <a:off x="5605670" y="3121171"/>
            <a:ext cx="9839038" cy="764186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LCIA guidance – UNEP-SETAC Life Cycle Initiative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BC6BC-7A99-9045-B81C-5AC6DB5C33EC}"/>
              </a:ext>
            </a:extLst>
          </p:cNvPr>
          <p:cNvSpPr/>
          <p:nvPr/>
        </p:nvSpPr>
        <p:spPr>
          <a:xfrm>
            <a:off x="12275251" y="7400500"/>
            <a:ext cx="31694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Frischknecht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Jolliet, 2016 &amp; 2018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BA36A6-EF0D-5543-8D65-ECD56B5A9865}"/>
              </a:ext>
            </a:extLst>
          </p:cNvPr>
          <p:cNvSpPr/>
          <p:nvPr/>
        </p:nvSpPr>
        <p:spPr>
          <a:xfrm>
            <a:off x="5605670" y="1650180"/>
            <a:ext cx="9839038" cy="55630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40">
            <a:extLst>
              <a:ext uri="{FF2B5EF4-FFF2-40B4-BE49-F238E27FC236}">
                <a16:creationId xmlns:a16="http://schemas.microsoft.com/office/drawing/2014/main" id="{80C427FD-580D-E343-B947-BF9DE4711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8" y="1748157"/>
            <a:ext cx="91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dirty="0">
                <a:solidFill>
                  <a:schemeClr val="bg1"/>
                </a:solidFill>
              </a:rPr>
              <a:t>Topic</a:t>
            </a:r>
          </a:p>
        </p:txBody>
      </p:sp>
      <p:sp>
        <p:nvSpPr>
          <p:cNvPr id="16" name="TextBox 40">
            <a:extLst>
              <a:ext uri="{FF2B5EF4-FFF2-40B4-BE49-F238E27FC236}">
                <a16:creationId xmlns:a16="http://schemas.microsoft.com/office/drawing/2014/main" id="{E676C7B8-2ED9-F041-8677-E55CD251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8" y="1748157"/>
            <a:ext cx="27798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dirty="0">
                <a:solidFill>
                  <a:schemeClr val="bg1"/>
                </a:solidFill>
              </a:rPr>
              <a:t>Task Force Leaders</a:t>
            </a:r>
          </a:p>
        </p:txBody>
      </p:sp>
      <p:sp>
        <p:nvSpPr>
          <p:cNvPr id="17" name="TextBox 40">
            <a:extLst>
              <a:ext uri="{FF2B5EF4-FFF2-40B4-BE49-F238E27FC236}">
                <a16:creationId xmlns:a16="http://schemas.microsoft.com/office/drawing/2014/main" id="{57BDB701-6C30-CC44-A8DA-6888CE372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072" y="1748156"/>
            <a:ext cx="2274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dirty="0">
                <a:solidFill>
                  <a:schemeClr val="bg1"/>
                </a:solidFill>
              </a:rPr>
              <a:t>Pellston workshop</a:t>
            </a:r>
          </a:p>
        </p:txBody>
      </p:sp>
      <p:sp>
        <p:nvSpPr>
          <p:cNvPr id="18" name="TextBox 40">
            <a:extLst>
              <a:ext uri="{FF2B5EF4-FFF2-40B4-BE49-F238E27FC236}">
                <a16:creationId xmlns:a16="http://schemas.microsoft.com/office/drawing/2014/main" id="{0971D1BB-963F-AE41-8E60-A091E6B78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7" y="2384262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Greenhouse gas emissions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and climate change impacts</a:t>
            </a:r>
          </a:p>
        </p:txBody>
      </p:sp>
      <p:sp>
        <p:nvSpPr>
          <p:cNvPr id="19" name="TextBox 40">
            <a:extLst>
              <a:ext uri="{FF2B5EF4-FFF2-40B4-BE49-F238E27FC236}">
                <a16:creationId xmlns:a16="http://schemas.microsoft.com/office/drawing/2014/main" id="{4C785079-0D8E-004A-AF7E-9835D0FD2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9" y="2384262"/>
            <a:ext cx="277985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Annie Levasseur, 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Francesco Cherubini</a:t>
            </a: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25706E8A-A76B-5E4C-95AD-7FBE193BB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072" y="2523407"/>
            <a:ext cx="2274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E2224A56-1273-994B-8AF3-C6A1EF482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7" y="3179392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Particulate matter emissions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and respiratory effects</a:t>
            </a:r>
          </a:p>
        </p:txBody>
      </p:sp>
      <p:sp>
        <p:nvSpPr>
          <p:cNvPr id="22" name="TextBox 40">
            <a:extLst>
              <a:ext uri="{FF2B5EF4-FFF2-40B4-BE49-F238E27FC236}">
                <a16:creationId xmlns:a16="http://schemas.microsoft.com/office/drawing/2014/main" id="{9ED0AE0A-3DDB-F140-99B0-DF3D7EEE8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9" y="3179392"/>
            <a:ext cx="32156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Peter </a:t>
            </a:r>
            <a:r>
              <a:rPr lang="en-CA" altLang="en-US" sz="1800" b="0" dirty="0" err="1">
                <a:solidFill>
                  <a:schemeClr val="tx2"/>
                </a:solidFill>
              </a:rPr>
              <a:t>Fantke</a:t>
            </a:r>
            <a:r>
              <a:rPr lang="en-CA" altLang="en-US" sz="1800" b="0" dirty="0">
                <a:solidFill>
                  <a:schemeClr val="tx2"/>
                </a:solidFill>
              </a:rPr>
              <a:t>, Tom Mc Kone, Olivier Jolliet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7397426B-2FEC-5C46-B864-FB95650A9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072" y="3318537"/>
            <a:ext cx="2274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24" name="TextBox 40">
            <a:extLst>
              <a:ext uri="{FF2B5EF4-FFF2-40B4-BE49-F238E27FC236}">
                <a16:creationId xmlns:a16="http://schemas.microsoft.com/office/drawing/2014/main" id="{E6E25DD9-6C95-344A-B233-F31441403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7" y="3974522"/>
            <a:ext cx="36982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Water use related impacts; water scarcity and human health effects</a:t>
            </a:r>
          </a:p>
        </p:txBody>
      </p:sp>
      <p:sp>
        <p:nvSpPr>
          <p:cNvPr id="25" name="TextBox 40">
            <a:extLst>
              <a:ext uri="{FF2B5EF4-FFF2-40B4-BE49-F238E27FC236}">
                <a16:creationId xmlns:a16="http://schemas.microsoft.com/office/drawing/2014/main" id="{1F4489EB-80B8-2D49-B27E-76F9DAB7C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9" y="3974522"/>
            <a:ext cx="277985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Anne-Marie Boulay,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Stephan Pfister</a:t>
            </a: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B7EA1BB9-980D-8347-8A7C-8639468C3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072" y="4153423"/>
            <a:ext cx="2274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27" name="TextBox 40">
            <a:extLst>
              <a:ext uri="{FF2B5EF4-FFF2-40B4-BE49-F238E27FC236}">
                <a16:creationId xmlns:a16="http://schemas.microsoft.com/office/drawing/2014/main" id="{3684F850-F2F8-1944-8E08-2E4973EF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7" y="4769652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Land use related impacts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on biodiversity</a:t>
            </a:r>
          </a:p>
        </p:txBody>
      </p:sp>
      <p:sp>
        <p:nvSpPr>
          <p:cNvPr id="29" name="TextBox 40">
            <a:extLst>
              <a:ext uri="{FF2B5EF4-FFF2-40B4-BE49-F238E27FC236}">
                <a16:creationId xmlns:a16="http://schemas.microsoft.com/office/drawing/2014/main" id="{F14EDD29-301F-7041-9675-D6B9C70C7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9" y="4769652"/>
            <a:ext cx="277985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 err="1">
                <a:solidFill>
                  <a:schemeClr val="tx2"/>
                </a:solidFill>
              </a:rPr>
              <a:t>Asumpcio</a:t>
            </a:r>
            <a:r>
              <a:rPr lang="en-CA" altLang="en-US" sz="1800" b="0" dirty="0">
                <a:solidFill>
                  <a:schemeClr val="tx2"/>
                </a:solidFill>
              </a:rPr>
              <a:t> Anton,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 err="1">
                <a:solidFill>
                  <a:schemeClr val="tx2"/>
                </a:solidFill>
              </a:rPr>
              <a:t>Ottar</a:t>
            </a:r>
            <a:r>
              <a:rPr lang="en-CA" altLang="en-US" sz="1800" b="0" dirty="0">
                <a:solidFill>
                  <a:schemeClr val="tx2"/>
                </a:solidFill>
              </a:rPr>
              <a:t> Michelsen</a:t>
            </a:r>
          </a:p>
        </p:txBody>
      </p:sp>
      <p:sp>
        <p:nvSpPr>
          <p:cNvPr id="30" name="TextBox 40">
            <a:extLst>
              <a:ext uri="{FF2B5EF4-FFF2-40B4-BE49-F238E27FC236}">
                <a16:creationId xmlns:a16="http://schemas.microsoft.com/office/drawing/2014/main" id="{B5EA921D-EC87-1B4E-8AAB-85CD95A25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072" y="4948553"/>
            <a:ext cx="2274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31" name="TextBox 40">
            <a:extLst>
              <a:ext uri="{FF2B5EF4-FFF2-40B4-BE49-F238E27FC236}">
                <a16:creationId xmlns:a16="http://schemas.microsoft.com/office/drawing/2014/main" id="{B69557B7-964E-7644-A6E4-E0CCAB9A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7" y="5604540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Overall framework and 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cross-cutting issues</a:t>
            </a:r>
          </a:p>
        </p:txBody>
      </p:sp>
      <p:sp>
        <p:nvSpPr>
          <p:cNvPr id="32" name="TextBox 40">
            <a:extLst>
              <a:ext uri="{FF2B5EF4-FFF2-40B4-BE49-F238E27FC236}">
                <a16:creationId xmlns:a16="http://schemas.microsoft.com/office/drawing/2014/main" id="{D2AB1812-795A-5D4C-9C33-A1AD2E1F3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9" y="5604540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Francesca </a:t>
            </a:r>
            <a:r>
              <a:rPr lang="en-CA" altLang="en-US" sz="1800" b="0" dirty="0" err="1">
                <a:solidFill>
                  <a:schemeClr val="tx2"/>
                </a:solidFill>
              </a:rPr>
              <a:t>Verones</a:t>
            </a:r>
            <a:r>
              <a:rPr lang="en-CA" altLang="en-US" sz="1800" b="0" dirty="0">
                <a:solidFill>
                  <a:schemeClr val="tx2"/>
                </a:solidFill>
              </a:rPr>
              <a:t>,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Olivier Jolliet, Rolf </a:t>
            </a:r>
            <a:r>
              <a:rPr lang="en-CA" altLang="en-US" sz="1800" b="0" dirty="0" err="1">
                <a:solidFill>
                  <a:schemeClr val="tx2"/>
                </a:solidFill>
              </a:rPr>
              <a:t>Frischknecht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  <p:sp>
        <p:nvSpPr>
          <p:cNvPr id="33" name="TextBox 40">
            <a:extLst>
              <a:ext uri="{FF2B5EF4-FFF2-40B4-BE49-F238E27FC236}">
                <a16:creationId xmlns:a16="http://schemas.microsoft.com/office/drawing/2014/main" id="{1EBBA366-D530-494A-AF8B-BCF9CC4FF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9072" y="5763563"/>
            <a:ext cx="2274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34" name="TextBox 40">
            <a:extLst>
              <a:ext uri="{FF2B5EF4-FFF2-40B4-BE49-F238E27FC236}">
                <a16:creationId xmlns:a16="http://schemas.microsoft.com/office/drawing/2014/main" id="{4FAC9D6F-6F96-C04A-ADC0-3CAED58A9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287" y="6454559"/>
            <a:ext cx="344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Footprint indicators</a:t>
            </a:r>
          </a:p>
        </p:txBody>
      </p:sp>
      <p:sp>
        <p:nvSpPr>
          <p:cNvPr id="35" name="TextBox 40">
            <a:extLst>
              <a:ext uri="{FF2B5EF4-FFF2-40B4-BE49-F238E27FC236}">
                <a16:creationId xmlns:a16="http://schemas.microsoft.com/office/drawing/2014/main" id="{C26E1413-E84D-7243-9064-9C501FD08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3939" y="6454559"/>
            <a:ext cx="27798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Brad </a:t>
            </a:r>
            <a:r>
              <a:rPr lang="en-CA" altLang="en-US" sz="1800" b="0" dirty="0" err="1">
                <a:solidFill>
                  <a:schemeClr val="tx2"/>
                </a:solidFill>
              </a:rPr>
              <a:t>Ridoutt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3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F6776712-F2F6-BC4C-870F-D57220732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86" y="1650178"/>
            <a:ext cx="4141225" cy="5871463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9BB578A-3F9C-354D-A7CE-F3B72C1A8F32}"/>
              </a:ext>
            </a:extLst>
          </p:cNvPr>
          <p:cNvSpPr/>
          <p:nvPr/>
        </p:nvSpPr>
        <p:spPr>
          <a:xfrm>
            <a:off x="5605670" y="4075330"/>
            <a:ext cx="9839038" cy="470667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LCIA guidance – UNEP-SETAC Life Cycle Initiative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BC6BC-7A99-9045-B81C-5AC6DB5C33EC}"/>
              </a:ext>
            </a:extLst>
          </p:cNvPr>
          <p:cNvSpPr/>
          <p:nvPr/>
        </p:nvSpPr>
        <p:spPr>
          <a:xfrm>
            <a:off x="12275251" y="7400500"/>
            <a:ext cx="31694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Frischknecht</a:t>
            </a: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Jolliet, 2016 &amp; 2018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6C0BF7-474E-1F4A-A07A-602699452726}"/>
              </a:ext>
            </a:extLst>
          </p:cNvPr>
          <p:cNvSpPr/>
          <p:nvPr/>
        </p:nvSpPr>
        <p:spPr>
          <a:xfrm>
            <a:off x="5605670" y="6705418"/>
            <a:ext cx="9839038" cy="516043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DA01C5-314D-7949-8D72-292172468EC0}"/>
              </a:ext>
            </a:extLst>
          </p:cNvPr>
          <p:cNvSpPr/>
          <p:nvPr/>
        </p:nvSpPr>
        <p:spPr>
          <a:xfrm>
            <a:off x="5605670" y="3001903"/>
            <a:ext cx="9839038" cy="470667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F82A47-A65C-D047-8F06-5D4A5EB55F28}"/>
              </a:ext>
            </a:extLst>
          </p:cNvPr>
          <p:cNvSpPr/>
          <p:nvPr/>
        </p:nvSpPr>
        <p:spPr>
          <a:xfrm>
            <a:off x="5605670" y="1650180"/>
            <a:ext cx="9839038" cy="55630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40">
            <a:extLst>
              <a:ext uri="{FF2B5EF4-FFF2-40B4-BE49-F238E27FC236}">
                <a16:creationId xmlns:a16="http://schemas.microsoft.com/office/drawing/2014/main" id="{8F33F8EB-D53D-BE43-9283-DAED37B3F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60" y="1748157"/>
            <a:ext cx="91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dirty="0">
                <a:solidFill>
                  <a:schemeClr val="bg1"/>
                </a:solidFill>
              </a:rPr>
              <a:t>Topic</a:t>
            </a:r>
          </a:p>
        </p:txBody>
      </p:sp>
      <p:sp>
        <p:nvSpPr>
          <p:cNvPr id="15" name="TextBox 40">
            <a:extLst>
              <a:ext uri="{FF2B5EF4-FFF2-40B4-BE49-F238E27FC236}">
                <a16:creationId xmlns:a16="http://schemas.microsoft.com/office/drawing/2014/main" id="{232F9E13-2A60-D245-9D6D-E1CF24F3A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49" y="1748157"/>
            <a:ext cx="27798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dirty="0">
                <a:solidFill>
                  <a:schemeClr val="bg1"/>
                </a:solidFill>
              </a:rPr>
              <a:t>Task Force Leaders</a:t>
            </a:r>
          </a:p>
        </p:txBody>
      </p:sp>
      <p:sp>
        <p:nvSpPr>
          <p:cNvPr id="17" name="TextBox 40">
            <a:extLst>
              <a:ext uri="{FF2B5EF4-FFF2-40B4-BE49-F238E27FC236}">
                <a16:creationId xmlns:a16="http://schemas.microsoft.com/office/drawing/2014/main" id="{E69D66DB-D227-2245-8796-C0AAE71EC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2387370"/>
            <a:ext cx="45904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Overall framework and cross-cutting issues</a:t>
            </a:r>
          </a:p>
        </p:txBody>
      </p:sp>
      <p:sp>
        <p:nvSpPr>
          <p:cNvPr id="18" name="TextBox 40">
            <a:extLst>
              <a:ext uri="{FF2B5EF4-FFF2-40B4-BE49-F238E27FC236}">
                <a16:creationId xmlns:a16="http://schemas.microsoft.com/office/drawing/2014/main" id="{9F5E112B-9CB7-3F46-8532-76E8C6165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2245116"/>
            <a:ext cx="39769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Francesca </a:t>
            </a:r>
            <a:r>
              <a:rPr lang="en-CA" altLang="en-US" sz="1800" b="0" dirty="0" err="1">
                <a:solidFill>
                  <a:schemeClr val="tx2"/>
                </a:solidFill>
              </a:rPr>
              <a:t>Verones</a:t>
            </a:r>
            <a:r>
              <a:rPr lang="en-CA" altLang="en-US" sz="1800" b="0" dirty="0">
                <a:solidFill>
                  <a:schemeClr val="tx2"/>
                </a:solidFill>
              </a:rPr>
              <a:t>,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Olivier Jolliet, Rolf </a:t>
            </a:r>
            <a:r>
              <a:rPr lang="en-CA" altLang="en-US" sz="1800" b="0" dirty="0" err="1">
                <a:solidFill>
                  <a:schemeClr val="tx2"/>
                </a:solidFill>
              </a:rPr>
              <a:t>Frischknecht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2FF0F371-93A0-E649-B523-5033F44F5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3060124"/>
            <a:ext cx="344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Acidification &amp; Eutrophication</a:t>
            </a: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A7604CA0-9838-A94C-AD78-7C07A0780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3060124"/>
            <a:ext cx="32156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Andrew Henderson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93C12790-84BE-7E42-8948-D6DE0AB83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3581038"/>
            <a:ext cx="36982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Ecotoxicity</a:t>
            </a:r>
          </a:p>
        </p:txBody>
      </p:sp>
      <p:sp>
        <p:nvSpPr>
          <p:cNvPr id="24" name="TextBox 40">
            <a:extLst>
              <a:ext uri="{FF2B5EF4-FFF2-40B4-BE49-F238E27FC236}">
                <a16:creationId xmlns:a16="http://schemas.microsoft.com/office/drawing/2014/main" id="{C3023B0B-5FCF-F644-B128-ADCFB8889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3581038"/>
            <a:ext cx="36836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Michael </a:t>
            </a:r>
            <a:r>
              <a:rPr lang="en-CA" altLang="en-US" sz="1800" b="0" dirty="0" err="1">
                <a:solidFill>
                  <a:schemeClr val="tx2"/>
                </a:solidFill>
              </a:rPr>
              <a:t>Hauschild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420662B9-0BD0-9540-88AC-8CA7D6DC2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4135170"/>
            <a:ext cx="3675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Human toxicity (including indoor)</a:t>
            </a:r>
          </a:p>
        </p:txBody>
      </p:sp>
      <p:sp>
        <p:nvSpPr>
          <p:cNvPr id="27" name="TextBox 40">
            <a:extLst>
              <a:ext uri="{FF2B5EF4-FFF2-40B4-BE49-F238E27FC236}">
                <a16:creationId xmlns:a16="http://schemas.microsoft.com/office/drawing/2014/main" id="{EAA64CB6-4523-2641-961B-7DDC8FDDD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4135170"/>
            <a:ext cx="344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Tom Mc Kone &amp; Peter </a:t>
            </a:r>
            <a:r>
              <a:rPr lang="en-CA" altLang="en-US" sz="1800" b="0" dirty="0" err="1">
                <a:solidFill>
                  <a:schemeClr val="tx2"/>
                </a:solidFill>
              </a:rPr>
              <a:t>Frantke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  <p:sp>
        <p:nvSpPr>
          <p:cNvPr id="29" name="TextBox 40">
            <a:extLst>
              <a:ext uri="{FF2B5EF4-FFF2-40B4-BE49-F238E27FC236}">
                <a16:creationId xmlns:a16="http://schemas.microsoft.com/office/drawing/2014/main" id="{3B896DEE-FA95-0445-A56D-8EA875157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4653810"/>
            <a:ext cx="344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Ecosystem services, soil quality</a:t>
            </a:r>
          </a:p>
        </p:txBody>
      </p:sp>
      <p:sp>
        <p:nvSpPr>
          <p:cNvPr id="30" name="TextBox 40">
            <a:extLst>
              <a:ext uri="{FF2B5EF4-FFF2-40B4-BE49-F238E27FC236}">
                <a16:creationId xmlns:a16="http://schemas.microsoft.com/office/drawing/2014/main" id="{D8FBF0DA-CB85-804E-B433-FA902FCCE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4653810"/>
            <a:ext cx="344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Tim Grant</a:t>
            </a:r>
          </a:p>
        </p:txBody>
      </p:sp>
      <p:sp>
        <p:nvSpPr>
          <p:cNvPr id="32" name="TextBox 40">
            <a:extLst>
              <a:ext uri="{FF2B5EF4-FFF2-40B4-BE49-F238E27FC236}">
                <a16:creationId xmlns:a16="http://schemas.microsoft.com/office/drawing/2014/main" id="{3BC89213-BB3E-4B4C-A938-53CEE45C0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6778773"/>
            <a:ext cx="3446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Footprint indicators</a:t>
            </a:r>
          </a:p>
        </p:txBody>
      </p:sp>
      <p:sp>
        <p:nvSpPr>
          <p:cNvPr id="33" name="TextBox 40">
            <a:extLst>
              <a:ext uri="{FF2B5EF4-FFF2-40B4-BE49-F238E27FC236}">
                <a16:creationId xmlns:a16="http://schemas.microsoft.com/office/drawing/2014/main" id="{053C5C78-A5F1-5041-BC56-A65FAE19C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6778773"/>
            <a:ext cx="27798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Brad </a:t>
            </a:r>
            <a:r>
              <a:rPr lang="en-CA" altLang="en-US" sz="1800" b="0" dirty="0" err="1">
                <a:solidFill>
                  <a:schemeClr val="tx2"/>
                </a:solidFill>
              </a:rPr>
              <a:t>Ridoutt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  <p:sp>
        <p:nvSpPr>
          <p:cNvPr id="34" name="TextBox 40">
            <a:extLst>
              <a:ext uri="{FF2B5EF4-FFF2-40B4-BE49-F238E27FC236}">
                <a16:creationId xmlns:a16="http://schemas.microsoft.com/office/drawing/2014/main" id="{D9CFA919-28CF-EE45-A1BB-AC6FF532B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30" y="1748157"/>
            <a:ext cx="91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dirty="0">
                <a:solidFill>
                  <a:schemeClr val="bg1"/>
                </a:solidFill>
              </a:rPr>
              <a:t>TF</a:t>
            </a:r>
          </a:p>
        </p:txBody>
      </p:sp>
      <p:sp>
        <p:nvSpPr>
          <p:cNvPr id="35" name="TextBox 40">
            <a:extLst>
              <a:ext uri="{FF2B5EF4-FFF2-40B4-BE49-F238E27FC236}">
                <a16:creationId xmlns:a16="http://schemas.microsoft.com/office/drawing/2014/main" id="{9EC501A6-0FFF-5D44-94B3-2E22669EF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29" y="2387370"/>
            <a:ext cx="3185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6" name="TextBox 40">
            <a:extLst>
              <a:ext uri="{FF2B5EF4-FFF2-40B4-BE49-F238E27FC236}">
                <a16:creationId xmlns:a16="http://schemas.microsoft.com/office/drawing/2014/main" id="{2CCA4F33-C314-A446-92AB-84353A4E4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29" y="3060124"/>
            <a:ext cx="650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2.1</a:t>
            </a: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A9032184-E3FE-A241-8F6E-5679E2A2F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29" y="3581038"/>
            <a:ext cx="650059" cy="37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2.2</a:t>
            </a: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30799F54-B88D-334C-8BCD-69E191A3E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30" y="4135170"/>
            <a:ext cx="298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464EE85C-8794-684F-80E1-F308B036D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29" y="4653810"/>
            <a:ext cx="3185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0401AF7-41A0-6C4B-865E-35809A9D8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29" y="6778772"/>
            <a:ext cx="650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D6A237-6E8C-CC43-8D0E-8A1A5B879AFF}"/>
              </a:ext>
            </a:extLst>
          </p:cNvPr>
          <p:cNvSpPr/>
          <p:nvPr/>
        </p:nvSpPr>
        <p:spPr>
          <a:xfrm>
            <a:off x="5605670" y="5128878"/>
            <a:ext cx="9839038" cy="776638"/>
          </a:xfrm>
          <a:prstGeom prst="rect">
            <a:avLst/>
          </a:prstGeom>
          <a:solidFill>
            <a:schemeClr val="accent4">
              <a:alpha val="1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0">
            <a:extLst>
              <a:ext uri="{FF2B5EF4-FFF2-40B4-BE49-F238E27FC236}">
                <a16:creationId xmlns:a16="http://schemas.microsoft.com/office/drawing/2014/main" id="{D7A8EF45-E1A3-D14C-9D18-0610B1285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5332531"/>
            <a:ext cx="3675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Mineral primary resources</a:t>
            </a:r>
          </a:p>
        </p:txBody>
      </p:sp>
      <p:sp>
        <p:nvSpPr>
          <p:cNvPr id="44" name="TextBox 40">
            <a:extLst>
              <a:ext uri="{FF2B5EF4-FFF2-40B4-BE49-F238E27FC236}">
                <a16:creationId xmlns:a16="http://schemas.microsoft.com/office/drawing/2014/main" id="{1FAFD6D2-8781-8040-86AE-0C96E7C7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5194032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Markus Berger &amp; 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Thomas </a:t>
            </a:r>
            <a:r>
              <a:rPr lang="en-CA" altLang="en-US" sz="1800" b="0" dirty="0" err="1">
                <a:solidFill>
                  <a:schemeClr val="tx2"/>
                </a:solidFill>
              </a:rPr>
              <a:t>Sonderegger</a:t>
            </a:r>
            <a:endParaRPr lang="en-CA" altLang="en-US" sz="1800" b="0" dirty="0">
              <a:solidFill>
                <a:schemeClr val="tx2"/>
              </a:solidFill>
            </a:endParaRPr>
          </a:p>
        </p:txBody>
      </p:sp>
      <p:sp>
        <p:nvSpPr>
          <p:cNvPr id="45" name="TextBox 40">
            <a:extLst>
              <a:ext uri="{FF2B5EF4-FFF2-40B4-BE49-F238E27FC236}">
                <a16:creationId xmlns:a16="http://schemas.microsoft.com/office/drawing/2014/main" id="{2D82F66F-0E2D-D748-9AB6-91751496B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30" y="5332531"/>
            <a:ext cx="298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46" name="TextBox 40">
            <a:extLst>
              <a:ext uri="{FF2B5EF4-FFF2-40B4-BE49-F238E27FC236}">
                <a16:creationId xmlns:a16="http://schemas.microsoft.com/office/drawing/2014/main" id="{A504A6A9-B93C-8D42-A443-10025E60C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9459" y="5991374"/>
            <a:ext cx="36756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Water use ecosystem 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damage indicator</a:t>
            </a:r>
          </a:p>
        </p:txBody>
      </p:sp>
      <p:sp>
        <p:nvSpPr>
          <p:cNvPr id="47" name="TextBox 40">
            <a:extLst>
              <a:ext uri="{FF2B5EF4-FFF2-40B4-BE49-F238E27FC236}">
                <a16:creationId xmlns:a16="http://schemas.microsoft.com/office/drawing/2014/main" id="{84BF8A56-96AC-0446-8963-E4A29AA89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6450" y="5989162"/>
            <a:ext cx="34469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Anne-Marie Boulay &amp;</a:t>
            </a:r>
            <a:br>
              <a:rPr lang="en-CA" altLang="en-US" sz="1800" b="0" dirty="0">
                <a:solidFill>
                  <a:schemeClr val="tx2"/>
                </a:solidFill>
              </a:rPr>
            </a:br>
            <a:r>
              <a:rPr lang="en-CA" altLang="en-US" sz="1800" b="0" dirty="0">
                <a:solidFill>
                  <a:schemeClr val="tx2"/>
                </a:solidFill>
              </a:rPr>
              <a:t>Stephan Pfister</a:t>
            </a:r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5238BA2F-33E6-7D4A-B14F-B93462B5F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4330" y="6127661"/>
            <a:ext cx="298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1800" b="0" dirty="0">
                <a:solidFill>
                  <a:schemeClr val="tx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6763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4E8F-C801-9349-803C-92271C15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AWARE Characterization 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EB56C6-941D-2B4C-AADD-CB7C5FBD6FBD}"/>
                  </a:ext>
                </a:extLst>
              </p:cNvPr>
              <p:cNvSpPr txBox="1"/>
              <p:nvPr/>
            </p:nvSpPr>
            <p:spPr>
              <a:xfrm>
                <a:off x="2649837" y="1584641"/>
                <a:ext cx="6939913" cy="10115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𝐶𝐹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𝐹𝑛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Available</m:t>
                              </m:r>
                              <m: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Water</m:t>
                              </m:r>
                              <m: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Remaining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EB56C6-941D-2B4C-AADD-CB7C5FBD6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37" y="1584641"/>
                <a:ext cx="6939913" cy="1011559"/>
              </a:xfrm>
              <a:prstGeom prst="rect">
                <a:avLst/>
              </a:prstGeom>
              <a:blipFill>
                <a:blip r:embed="rId2"/>
                <a:stretch>
                  <a:fillRect l="-730" t="-1235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4778A68-DBB1-CB4D-BF52-455FD48ADA72}"/>
              </a:ext>
            </a:extLst>
          </p:cNvPr>
          <p:cNvSpPr txBox="1"/>
          <p:nvPr/>
        </p:nvSpPr>
        <p:spPr>
          <a:xfrm>
            <a:off x="1139433" y="2931755"/>
            <a:ext cx="10575758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600"/>
              </a:spcAft>
            </a:pPr>
            <a:r>
              <a:rPr lang="en-US" sz="2400" i="1" dirty="0">
                <a:solidFill>
                  <a:schemeClr val="tx2"/>
                </a:solidFill>
              </a:rPr>
              <a:t>Available Water Remaining = AVAILABILITY – DEMAND = AMD</a:t>
            </a:r>
          </a:p>
          <a:p>
            <a:pPr algn="ctr"/>
            <a:r>
              <a:rPr lang="en-US" sz="2400" b="1" dirty="0">
                <a:solidFill>
                  <a:schemeClr val="tx2"/>
                </a:solidFill>
              </a:rPr>
              <a:t>UNDERLYING ASSUMPTION: </a:t>
            </a:r>
            <a:r>
              <a:rPr lang="en-US" sz="2400" dirty="0">
                <a:solidFill>
                  <a:schemeClr val="tx2"/>
                </a:solidFill>
              </a:rPr>
              <a:t>The more water remaining per area,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the lower the potential to deprive another user.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EC75E-4903-1241-B0A2-D8B7CA2FB4EB}"/>
              </a:ext>
            </a:extLst>
          </p:cNvPr>
          <p:cNvSpPr txBox="1"/>
          <p:nvPr/>
        </p:nvSpPr>
        <p:spPr>
          <a:xfrm>
            <a:off x="1139433" y="6065414"/>
            <a:ext cx="3143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600"/>
              </a:spcAft>
            </a:pPr>
            <a:r>
              <a:rPr lang="en-US" sz="2400" b="1" i="1" dirty="0">
                <a:solidFill>
                  <a:schemeClr val="tx2"/>
                </a:solidFill>
              </a:rPr>
              <a:t>Note:</a:t>
            </a:r>
            <a:r>
              <a:rPr lang="en-US" sz="2400" i="1" dirty="0">
                <a:solidFill>
                  <a:schemeClr val="tx2"/>
                </a:solidFill>
              </a:rPr>
              <a:t> equation valid </a:t>
            </a:r>
            <a:br>
              <a:rPr lang="en-US" sz="2400" i="1" dirty="0">
                <a:solidFill>
                  <a:schemeClr val="tx2"/>
                </a:solidFill>
              </a:rPr>
            </a:br>
            <a:r>
              <a:rPr lang="en-US" sz="2400" i="1" dirty="0">
                <a:solidFill>
                  <a:schemeClr val="tx2"/>
                </a:solidFill>
              </a:rPr>
              <a:t>for CF between</a:t>
            </a:r>
            <a:br>
              <a:rPr lang="en-US" sz="2400" i="1" dirty="0">
                <a:solidFill>
                  <a:schemeClr val="tx2"/>
                </a:solidFill>
              </a:rPr>
            </a:br>
            <a:r>
              <a:rPr lang="en-US" sz="2400" i="1" dirty="0">
                <a:solidFill>
                  <a:schemeClr val="tx2"/>
                </a:solidFill>
              </a:rPr>
              <a:t>cutoffs of 0.1 and 100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196C6D-E93D-6B4C-A4BF-93EAB8366920}"/>
              </a:ext>
            </a:extLst>
          </p:cNvPr>
          <p:cNvSpPr/>
          <p:nvPr/>
        </p:nvSpPr>
        <p:spPr>
          <a:xfrm>
            <a:off x="878784" y="4705133"/>
            <a:ext cx="14678492" cy="2720562"/>
          </a:xfrm>
          <a:prstGeom prst="rect">
            <a:avLst/>
          </a:prstGeom>
          <a:noFill/>
          <a:ln w="381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2CD4C7-9B57-F24F-AB44-74FACF2EC051}"/>
                  </a:ext>
                </a:extLst>
              </p:cNvPr>
              <p:cNvSpPr txBox="1"/>
              <p:nvPr/>
            </p:nvSpPr>
            <p:spPr>
              <a:xfrm>
                <a:off x="1189630" y="5053396"/>
                <a:ext cx="3200683" cy="8059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𝐶𝐹𝑢𝑛𝑖𝑡𝑠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𝑒𝑞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𝑟𝑒𝑔𝑖𝑜𝑛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2CD4C7-9B57-F24F-AB44-74FACF2EC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630" y="5053396"/>
                <a:ext cx="3200683" cy="805926"/>
              </a:xfrm>
              <a:prstGeom prst="rect">
                <a:avLst/>
              </a:prstGeom>
              <a:blipFill>
                <a:blip r:embed="rId3"/>
                <a:stretch>
                  <a:fillRect l="-1581" t="-1538" r="-1186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F5B63F-1235-6D46-8718-B5CE89247C2A}"/>
                  </a:ext>
                </a:extLst>
              </p:cNvPr>
              <p:cNvSpPr txBox="1"/>
              <p:nvPr/>
            </p:nvSpPr>
            <p:spPr>
              <a:xfrm>
                <a:off x="5122497" y="5053396"/>
                <a:ext cx="10039415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𝐴𝑀𝐷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𝑤𝑜𝑟𝑙𝑑𝑎𝑣𝑔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𝐴𝑀𝐷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0.0136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𝑤𝑜𝑟𝑙𝑑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𝑚𝑜𝑛𝑡h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𝐴𝑣𝑎𝑖𝑙𝑎𝑏𝑖𝑙𝑖𝑡𝑦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𝐻𝑢𝑚𝑎𝑛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𝐶𝑜𝑛𝑠𝑢𝑚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𝐸𝑊𝑅</m:t>
                          </m:r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𝑚𝑜𝑛𝑡h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F5B63F-1235-6D46-8718-B5CE89247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497" y="5053396"/>
                <a:ext cx="10039415" cy="806631"/>
              </a:xfrm>
              <a:prstGeom prst="rect">
                <a:avLst/>
              </a:prstGeom>
              <a:blipFill>
                <a:blip r:embed="rId4"/>
                <a:stretch>
                  <a:fillRect l="-126" r="-253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2A6B7025-51E7-E947-81D5-7EECB6677525}"/>
              </a:ext>
            </a:extLst>
          </p:cNvPr>
          <p:cNvSpPr/>
          <p:nvPr/>
        </p:nvSpPr>
        <p:spPr>
          <a:xfrm>
            <a:off x="12725400" y="5481759"/>
            <a:ext cx="914400" cy="402963"/>
          </a:xfrm>
          <a:prstGeom prst="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C40F43-7276-1142-AB8C-830E0E9DBC11}"/>
              </a:ext>
            </a:extLst>
          </p:cNvPr>
          <p:cNvSpPr txBox="1"/>
          <p:nvPr/>
        </p:nvSpPr>
        <p:spPr>
          <a:xfrm>
            <a:off x="8244540" y="6438261"/>
            <a:ext cx="539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600"/>
              </a:spcAft>
            </a:pPr>
            <a:r>
              <a:rPr lang="en-US" sz="2400" b="1" dirty="0">
                <a:solidFill>
                  <a:schemeClr val="accent5"/>
                </a:solidFill>
              </a:rPr>
              <a:t>Environmental Water Requirements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16147E-A623-714A-A01A-5CFC060FA0FC}"/>
              </a:ext>
            </a:extLst>
          </p:cNvPr>
          <p:cNvCxnSpPr/>
          <p:nvPr/>
        </p:nvCxnSpPr>
        <p:spPr>
          <a:xfrm flipV="1">
            <a:off x="12152219" y="5910122"/>
            <a:ext cx="553539" cy="553539"/>
          </a:xfrm>
          <a:prstGeom prst="straightConnector1">
            <a:avLst/>
          </a:prstGeom>
          <a:ln w="38100">
            <a:solidFill>
              <a:schemeClr val="accent5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D0BC13C-845D-3845-BB92-74A05DB05B48}"/>
              </a:ext>
            </a:extLst>
          </p:cNvPr>
          <p:cNvSpPr/>
          <p:nvPr/>
        </p:nvSpPr>
        <p:spPr>
          <a:xfrm>
            <a:off x="12152219" y="1828173"/>
            <a:ext cx="32567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CA" sz="24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CF/100 m</a:t>
            </a:r>
            <a:r>
              <a:rPr lang="en-CA" sz="2400" i="1" baseline="30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CA" sz="24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world eq expresses the water scarcity level in the watershed as a fraction of maximum </a:t>
            </a:r>
            <a:endParaRPr lang="en-US" sz="24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6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A9F1-F429-DC4C-A837-A81DAF1D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AWARE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3" descr="AWARE NON AGRI.JPG">
            <a:extLst>
              <a:ext uri="{FF2B5EF4-FFF2-40B4-BE49-F238E27FC236}">
                <a16:creationId xmlns:a16="http://schemas.microsoft.com/office/drawing/2014/main" id="{10F45997-49A6-7847-8CBB-E7730ADAF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0251" y="1968096"/>
            <a:ext cx="14385922" cy="568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CDC55D-7667-FD43-A52E-AF021D3413A0}"/>
              </a:ext>
            </a:extLst>
          </p:cNvPr>
          <p:cNvSpPr/>
          <p:nvPr/>
        </p:nvSpPr>
        <p:spPr>
          <a:xfrm>
            <a:off x="1070251" y="1328817"/>
            <a:ext cx="142544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A" dirty="0">
                <a:solidFill>
                  <a:schemeClr val="tx2"/>
                </a:solidFill>
              </a:rPr>
              <a:t>Characterization Factors</a:t>
            </a:r>
            <a:r>
              <a:rPr lang="en-US" altLang="en-US" dirty="0">
                <a:solidFill>
                  <a:schemeClr val="tx2"/>
                </a:solidFill>
              </a:rPr>
              <a:t> from 0.01 </a:t>
            </a:r>
            <a:r>
              <a:rPr lang="en-US" altLang="en-US">
                <a:solidFill>
                  <a:schemeClr val="tx2"/>
                </a:solidFill>
              </a:rPr>
              <a:t>to 100 m</a:t>
            </a:r>
            <a:r>
              <a:rPr lang="en-US" altLang="en-US" baseline="30000">
                <a:solidFill>
                  <a:schemeClr val="tx2"/>
                </a:solidFill>
              </a:rPr>
              <a:t>3 </a:t>
            </a:r>
            <a:r>
              <a:rPr lang="en-US" altLang="en-US" baseline="-25000" dirty="0">
                <a:solidFill>
                  <a:schemeClr val="tx2"/>
                </a:solidFill>
              </a:rPr>
              <a:t>average world eq </a:t>
            </a:r>
            <a:r>
              <a:rPr lang="en-US" altLang="en-US" dirty="0">
                <a:solidFill>
                  <a:schemeClr val="tx2"/>
                </a:solidFill>
              </a:rPr>
              <a:t>/ m</a:t>
            </a:r>
            <a:r>
              <a:rPr lang="en-US" altLang="en-US" baseline="30000" dirty="0">
                <a:solidFill>
                  <a:schemeClr val="tx2"/>
                </a:solidFill>
              </a:rPr>
              <a:t>3</a:t>
            </a:r>
            <a:r>
              <a:rPr lang="en-US" altLang="en-US" baseline="-25000" dirty="0">
                <a:solidFill>
                  <a:schemeClr val="tx2"/>
                </a:solidFill>
              </a:rPr>
              <a:t>region r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773156-B4C3-1944-9221-84F8D99978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93306" y="1371601"/>
            <a:ext cx="8126068" cy="626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D1BDC5-8B7B-4546-A366-351EE575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2"/>
                </a:solidFill>
              </a:rPr>
              <a:t>Method comparison </a:t>
            </a:r>
            <a:r>
              <a:rPr lang="en-CA" sz="4000" dirty="0"/>
              <a:t>Worldwide impacts on human health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24CC2-118D-9449-B406-3482347FD44C}"/>
              </a:ext>
            </a:extLst>
          </p:cNvPr>
          <p:cNvSpPr/>
          <p:nvPr/>
        </p:nvSpPr>
        <p:spPr>
          <a:xfrm>
            <a:off x="13450432" y="7400499"/>
            <a:ext cx="20601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Bulle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 2019, + Lime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2D9E9E6-4088-C544-9E48-4984157E48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218276"/>
              </p:ext>
            </p:extLst>
          </p:nvPr>
        </p:nvGraphicFramePr>
        <p:xfrm>
          <a:off x="9248992" y="1619531"/>
          <a:ext cx="3731512" cy="5814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7810D77-8696-F140-9846-157A9110F1AC}"/>
              </a:ext>
            </a:extLst>
          </p:cNvPr>
          <p:cNvSpPr/>
          <p:nvPr/>
        </p:nvSpPr>
        <p:spPr>
          <a:xfrm>
            <a:off x="1057687" y="1331845"/>
            <a:ext cx="492817" cy="337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79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286A-1444-5A42-A1B3-81F6193E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2"/>
                </a:solidFill>
              </a:rPr>
              <a:t>Method comparison </a:t>
            </a:r>
            <a:r>
              <a:rPr lang="en-CA" sz="3600" dirty="0"/>
              <a:t>Ecosystem quality, for world normalization flows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CADAD-AB5A-2D4C-80D8-31FE4F09CE9C}"/>
              </a:ext>
            </a:extLst>
          </p:cNvPr>
          <p:cNvSpPr/>
          <p:nvPr/>
        </p:nvSpPr>
        <p:spPr>
          <a:xfrm>
            <a:off x="13450432" y="7400499"/>
            <a:ext cx="20601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Bulle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 2019, + Lime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02A9CB5-3BEC-2740-80D8-060C611292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7687" y="1371601"/>
            <a:ext cx="8126069" cy="6215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D9D09D-0794-854D-98A1-E6EC43AE0475}"/>
              </a:ext>
            </a:extLst>
          </p:cNvPr>
          <p:cNvSpPr/>
          <p:nvPr/>
        </p:nvSpPr>
        <p:spPr>
          <a:xfrm>
            <a:off x="1057687" y="1331845"/>
            <a:ext cx="492817" cy="337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17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F775-77DF-A442-A868-228891D2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First signs of maturity as a scientific area, still improving rapidly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FCCC-9CD9-3049-88DE-C37D2DCD9737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342900" indent="-342900" eaLnBrk="1" hangingPunct="1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1" dirty="0"/>
              <a:t>In the field of toxicity</a:t>
            </a:r>
            <a:r>
              <a:rPr lang="en-US" altLang="en-US" sz="2800" b="0" dirty="0"/>
              <a:t>, LCIA  is fully part of a collaborative effort with scientists </a:t>
            </a:r>
            <a:br>
              <a:rPr lang="en-US" altLang="en-US" sz="2800" b="0" dirty="0"/>
            </a:br>
            <a:r>
              <a:rPr lang="en-US" altLang="en-US" sz="2800" b="0" dirty="0"/>
              <a:t>from multimedia model, risk assessment, indoor air pollution and LCIA to defined </a:t>
            </a:r>
            <a:br>
              <a:rPr lang="en-US" altLang="en-US" sz="2800" b="0" dirty="0"/>
            </a:br>
            <a:r>
              <a:rPr lang="en-US" altLang="en-US" sz="2800" b="0" dirty="0"/>
              <a:t>intake fraction </a:t>
            </a:r>
            <a:r>
              <a:rPr lang="en-US" altLang="en-US" sz="2800" b="0" i="1" dirty="0"/>
              <a:t>(Bennett et al. 2002).</a:t>
            </a:r>
          </a:p>
          <a:p>
            <a:pPr marL="342900" indent="-342900" eaLnBrk="1" hangingPunct="1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0" dirty="0"/>
              <a:t>Adaptations from risk assessment to the comparative LCIA framework are </a:t>
            </a:r>
            <a:br>
              <a:rPr lang="en-US" altLang="en-US" sz="2800" b="0" dirty="0"/>
            </a:br>
            <a:r>
              <a:rPr lang="en-US" altLang="en-US" sz="2800" b="0" dirty="0"/>
              <a:t>bringing </a:t>
            </a:r>
            <a:r>
              <a:rPr lang="en-US" altLang="en-US" sz="2800" b="0" i="1" dirty="0">
                <a:solidFill>
                  <a:schemeClr val="accent4"/>
                </a:solidFill>
              </a:rPr>
              <a:t>innovative developments </a:t>
            </a:r>
            <a:r>
              <a:rPr lang="en-US" altLang="en-US" sz="2800" b="0" dirty="0"/>
              <a:t>back for comparative risks. </a:t>
            </a:r>
          </a:p>
          <a:p>
            <a:pPr marL="342900" indent="-342900" eaLnBrk="1" hangingPunct="1"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0" dirty="0"/>
              <a:t>LCIA are also published in the </a:t>
            </a:r>
            <a:r>
              <a:rPr lang="en-US" altLang="en-US" sz="2800" b="1" dirty="0"/>
              <a:t>best</a:t>
            </a:r>
            <a:r>
              <a:rPr lang="en-US" altLang="en-US" sz="2800" b="0" dirty="0"/>
              <a:t> environmental journals such as </a:t>
            </a:r>
            <a:br>
              <a:rPr lang="en-US" altLang="en-US" sz="2800" b="0" dirty="0"/>
            </a:br>
            <a:r>
              <a:rPr lang="en-US" altLang="en-US" sz="2800" b="0" dirty="0"/>
              <a:t>Environmental Science and Technology, Environment international.</a:t>
            </a:r>
          </a:p>
          <a:p>
            <a:pPr marL="342900" indent="-342900" eaLnBrk="1" hangingPunct="1"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0" dirty="0"/>
              <a:t>International Journal of LCA, the Journal of Industrial Ecology and the </a:t>
            </a:r>
            <a:br>
              <a:rPr lang="en-US" altLang="en-US" sz="2800" b="0" dirty="0"/>
            </a:br>
            <a:r>
              <a:rPr lang="en-US" altLang="en-US" sz="2800" b="0" dirty="0"/>
              <a:t>Journal of Cleaner Production are now in the Science Citation. </a:t>
            </a:r>
          </a:p>
          <a:p>
            <a:pPr marL="800100" lvl="1" indent="-342900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400" b="1" dirty="0">
                <a:solidFill>
                  <a:schemeClr val="tx2"/>
                </a:solidFill>
              </a:rPr>
              <a:t>2009: </a:t>
            </a:r>
            <a:r>
              <a:rPr lang="en-US" altLang="en-US" sz="2400" b="0" dirty="0">
                <a:solidFill>
                  <a:schemeClr val="tx2"/>
                </a:solidFill>
              </a:rPr>
              <a:t>Int J LCA Index 1.7, </a:t>
            </a:r>
            <a:r>
              <a:rPr lang="en-US" altLang="en-US" sz="2400" b="0" dirty="0">
                <a:solidFill>
                  <a:schemeClr val="accent6"/>
                </a:solidFill>
              </a:rPr>
              <a:t>60 out of 160 </a:t>
            </a:r>
            <a:r>
              <a:rPr lang="en-US" altLang="en-US" sz="2400" b="0" dirty="0">
                <a:solidFill>
                  <a:schemeClr val="tx2"/>
                </a:solidFill>
              </a:rPr>
              <a:t>env. journals. </a:t>
            </a:r>
          </a:p>
          <a:p>
            <a:pPr marL="800100" lvl="1" indent="-342900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400" b="1" dirty="0">
                <a:solidFill>
                  <a:schemeClr val="tx2"/>
                </a:solidFill>
              </a:rPr>
              <a:t>2013: </a:t>
            </a:r>
            <a:r>
              <a:rPr lang="en-US" altLang="en-US" sz="2400" b="0" dirty="0">
                <a:solidFill>
                  <a:schemeClr val="tx2"/>
                </a:solidFill>
              </a:rPr>
              <a:t>Int J LCA Index 2.8, </a:t>
            </a:r>
            <a:r>
              <a:rPr lang="en-US" altLang="en-US" sz="2400" b="0" dirty="0">
                <a:solidFill>
                  <a:schemeClr val="accent6"/>
                </a:solidFill>
              </a:rPr>
              <a:t>48 out of 209 </a:t>
            </a:r>
            <a:r>
              <a:rPr lang="en-US" altLang="en-US" sz="2400" b="0" dirty="0">
                <a:solidFill>
                  <a:schemeClr val="tx2"/>
                </a:solidFill>
              </a:rPr>
              <a:t>env. journals.</a:t>
            </a:r>
          </a:p>
          <a:p>
            <a:pPr marL="800100" lvl="1" indent="-342900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400" b="1" dirty="0">
                <a:solidFill>
                  <a:schemeClr val="tx2"/>
                </a:solidFill>
              </a:rPr>
              <a:t>2019: </a:t>
            </a:r>
            <a:r>
              <a:rPr lang="en-US" altLang="en-US" sz="2400" b="0" dirty="0">
                <a:solidFill>
                  <a:schemeClr val="tx2"/>
                </a:solidFill>
              </a:rPr>
              <a:t>Int J LCA Index 4.3, </a:t>
            </a:r>
            <a:r>
              <a:rPr lang="en-US" altLang="en-US" sz="2400" b="0" dirty="0">
                <a:solidFill>
                  <a:schemeClr val="accent6"/>
                </a:solidFill>
              </a:rPr>
              <a:t>26 out of 350 </a:t>
            </a:r>
            <a:r>
              <a:rPr lang="en-US" altLang="en-US" sz="2400" b="0" dirty="0">
                <a:solidFill>
                  <a:schemeClr val="tx2"/>
                </a:solidFill>
              </a:rPr>
              <a:t>env. journals</a:t>
            </a:r>
          </a:p>
        </p:txBody>
      </p:sp>
    </p:spTree>
    <p:extLst>
      <p:ext uri="{BB962C8B-B14F-4D97-AF65-F5344CB8AC3E}">
        <p14:creationId xmlns:p14="http://schemas.microsoft.com/office/powerpoint/2010/main" val="1741033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fr-FR" altLang="en-US" dirty="0" err="1"/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8A73F84-4337-7244-B2DA-D0CF00258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540136"/>
            <a:ext cx="14630400" cy="618654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At least include main information on effect (</a:t>
            </a:r>
            <a:r>
              <a:rPr lang="en-US" altLang="en-US" dirty="0" err="1"/>
              <a:t>e.g</a:t>
            </a:r>
            <a:r>
              <a:rPr lang="en-US" altLang="en-US" dirty="0"/>
              <a:t> intrinsic toxicity) </a:t>
            </a:r>
            <a:br>
              <a:rPr lang="en-US" altLang="en-US" dirty="0"/>
            </a:br>
            <a:r>
              <a:rPr lang="en-US" altLang="en-US" dirty="0"/>
              <a:t>and fate (</a:t>
            </a:r>
            <a:r>
              <a:rPr lang="en-US" altLang="en-US" dirty="0" err="1"/>
              <a:t>tranport</a:t>
            </a:r>
            <a:r>
              <a:rPr lang="en-US" altLang="en-US" dirty="0"/>
              <a:t>, dilution and degradation).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So far: use several (typically three) impact assessment methods </a:t>
            </a:r>
            <a:br>
              <a:rPr lang="en-US" altLang="en-US" dirty="0"/>
            </a:br>
            <a:r>
              <a:rPr lang="en-US" altLang="en-US" dirty="0"/>
              <a:t>in parallel, e.g. IMPACT World+, </a:t>
            </a:r>
            <a:r>
              <a:rPr lang="en-US" altLang="en-US" dirty="0" err="1"/>
              <a:t>ReCiPe</a:t>
            </a:r>
            <a:r>
              <a:rPr lang="en-US" altLang="en-US" dirty="0"/>
              <a:t>, TRACI, IMPACT2002+, </a:t>
            </a:r>
            <a:br>
              <a:rPr lang="en-US" altLang="en-US" dirty="0"/>
            </a:br>
            <a:r>
              <a:rPr lang="en-US" altLang="en-US" dirty="0"/>
              <a:t>or  LC Impact in coming years.</a:t>
            </a:r>
          </a:p>
        </p:txBody>
      </p:sp>
    </p:spTree>
    <p:extLst>
      <p:ext uri="{BB962C8B-B14F-4D97-AF65-F5344CB8AC3E}">
        <p14:creationId xmlns:p14="http://schemas.microsoft.com/office/powerpoint/2010/main" val="427870511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17992</TotalTime>
  <Words>867</Words>
  <Application>Microsoft Office PowerPoint</Application>
  <PresentationFormat>Custom</PresentationFormat>
  <Paragraphs>124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Arial Bold</vt:lpstr>
      <vt:lpstr>Calibri</vt:lpstr>
      <vt:lpstr>Cambria Math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LCIA  Impact 2002+</vt:lpstr>
      <vt:lpstr>Original features from IMPACT World+</vt:lpstr>
      <vt:lpstr>ReCiPe Consistent midpoint – endpoint, GW overvalued</vt:lpstr>
      <vt:lpstr>TRACI: US-EPA: Official US Midpoint only</vt:lpstr>
      <vt:lpstr>LCIA guidance – UNEP-SETAC Life Cycle Initiative</vt:lpstr>
      <vt:lpstr>LCIA guidance – UNEP-SETAC Life Cycle Initiative</vt:lpstr>
      <vt:lpstr>AWARE Characterization Factor</vt:lpstr>
      <vt:lpstr>AWARE</vt:lpstr>
      <vt:lpstr>Method comparison Worldwide impacts on human health</vt:lpstr>
      <vt:lpstr>Method comparison Ecosystem quality, for world normalization flows</vt:lpstr>
      <vt:lpstr>First signs of maturity as a scientific area, still improving rapidly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652</cp:revision>
  <cp:lastPrinted>2020-03-06T14:51:20Z</cp:lastPrinted>
  <dcterms:created xsi:type="dcterms:W3CDTF">2017-01-17T22:07:36Z</dcterms:created>
  <dcterms:modified xsi:type="dcterms:W3CDTF">2020-11-24T18:15:29Z</dcterms:modified>
  <cp:category/>
</cp:coreProperties>
</file>