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  <p:sldMasterId id="2147483785" r:id="rId2"/>
    <p:sldMasterId id="2147483806" r:id="rId3"/>
    <p:sldMasterId id="2147483808" r:id="rId4"/>
    <p:sldMasterId id="2147483796" r:id="rId5"/>
  </p:sldMasterIdLst>
  <p:notesMasterIdLst>
    <p:notesMasterId r:id="rId12"/>
  </p:notesMasterIdLst>
  <p:handoutMasterIdLst>
    <p:handoutMasterId r:id="rId13"/>
  </p:handoutMasterIdLst>
  <p:sldIdLst>
    <p:sldId id="267" r:id="rId6"/>
    <p:sldId id="523" r:id="rId7"/>
    <p:sldId id="511" r:id="rId8"/>
    <p:sldId id="517" r:id="rId9"/>
    <p:sldId id="532" r:id="rId10"/>
    <p:sldId id="514" r:id="rId11"/>
  </p:sldIdLst>
  <p:sldSz cx="16257588" cy="9144000"/>
  <p:notesSz cx="6858000" cy="9144000"/>
  <p:defaultTextStyle>
    <a:defPPr>
      <a:defRPr lang="en-US"/>
    </a:defPPr>
    <a:lvl1pPr marL="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81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62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43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24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05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86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67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48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slides" id="{C7F91DBA-90A9-5343-8B43-F0D96459C604}">
          <p14:sldIdLst>
            <p14:sldId id="267"/>
            <p14:sldId id="523"/>
            <p14:sldId id="511"/>
            <p14:sldId id="517"/>
            <p14:sldId id="532"/>
            <p14:sldId id="5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FEF"/>
    <a:srgbClr val="FF2F92"/>
    <a:srgbClr val="00274C"/>
    <a:srgbClr val="E4E1DF"/>
    <a:srgbClr val="B5B5B5"/>
    <a:srgbClr val="050909"/>
    <a:srgbClr val="FFCB05"/>
    <a:srgbClr val="EA6A20"/>
    <a:srgbClr val="06090A"/>
    <a:srgbClr val="090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92"/>
    <p:restoredTop sz="84459"/>
  </p:normalViewPr>
  <p:slideViewPr>
    <p:cSldViewPr snapToGrid="0">
      <p:cViewPr varScale="1">
        <p:scale>
          <a:sx n="47" d="100"/>
          <a:sy n="47" d="100"/>
        </p:scale>
        <p:origin x="374" y="53"/>
      </p:cViewPr>
      <p:guideLst>
        <p:guide orient="horz" pos="3216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51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32C488-5493-244C-B1EB-F7CF3662E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D1453-9CD9-5640-A3F8-C0F3421B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23C7-AC5F-3A41-B4CB-88972659BBB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A9942-DAC7-014E-98D2-7E2678599F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CB1E6-A261-2741-AFAE-436A65E0D5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83E3-4C2A-B644-AB75-B8266C44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61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33527-EF9E-5940-92CE-307645268EE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B68-E51C-0443-B8CE-2997CF47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1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37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32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91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76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2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95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4A1462-55F6-494B-8554-951DED06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54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notes (not to be 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81665" y="1301578"/>
            <a:ext cx="13007546" cy="58076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27000">
              <a:srgbClr val="ECECEC"/>
            </a:gs>
            <a:gs pos="80000">
              <a:schemeClr val="bg1"/>
            </a:gs>
            <a:gs pos="2000">
              <a:schemeClr val="bg1">
                <a:lumMod val="50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CAF1ABB-E33E-5E45-A6B2-E4A8613CE8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0"/>
            <a:ext cx="16271545" cy="777602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7674428"/>
            <a:ext cx="16257588" cy="1469571"/>
          </a:xfrm>
          <a:prstGeom prst="rect">
            <a:avLst/>
          </a:prstGeom>
          <a:solidFill>
            <a:srgbClr val="0027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_SchoolPublicHealth_logo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9986" y="8007770"/>
            <a:ext cx="5372640" cy="7675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7623628"/>
            <a:ext cx="16257588" cy="1524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01CEF-1B1A-0A48-82FA-0DF2D06BC503}"/>
              </a:ext>
            </a:extLst>
          </p:cNvPr>
          <p:cNvSpPr/>
          <p:nvPr userDrawn="1"/>
        </p:nvSpPr>
        <p:spPr>
          <a:xfrm>
            <a:off x="0" y="4767944"/>
            <a:ext cx="16257588" cy="2846366"/>
          </a:xfrm>
          <a:prstGeom prst="rect">
            <a:avLst/>
          </a:prstGeom>
          <a:gradFill flip="none" rotWithShape="1">
            <a:gsLst>
              <a:gs pos="100000">
                <a:srgbClr val="587ABC">
                  <a:lumMod val="74000"/>
                  <a:alpha val="55000"/>
                </a:srgbClr>
              </a:gs>
              <a:gs pos="0">
                <a:schemeClr val="bg1">
                  <a:lumMod val="95000"/>
                </a:schemeClr>
              </a:gs>
              <a:gs pos="66000">
                <a:srgbClr val="EEEEEE"/>
              </a:gs>
            </a:gsLst>
            <a:lin ang="1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38555-B398-464F-9B4E-17CD40195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4757918"/>
            <a:ext cx="12192001" cy="28911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0919A-AFA5-E147-95FD-08292D7FF4FB}"/>
              </a:ext>
            </a:extLst>
          </p:cNvPr>
          <p:cNvCxnSpPr>
            <a:cxnSpLocks/>
          </p:cNvCxnSpPr>
          <p:nvPr userDrawn="1"/>
        </p:nvCxnSpPr>
        <p:spPr>
          <a:xfrm>
            <a:off x="0" y="6607960"/>
            <a:ext cx="10140043" cy="0"/>
          </a:xfrm>
          <a:prstGeom prst="line">
            <a:avLst/>
          </a:prstGeom>
          <a:ln w="38100">
            <a:solidFill>
              <a:srgbClr val="0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9A923-5028-2F43-A7E3-007357342122}"/>
              </a:ext>
            </a:extLst>
          </p:cNvPr>
          <p:cNvSpPr/>
          <p:nvPr userDrawn="1"/>
        </p:nvSpPr>
        <p:spPr>
          <a:xfrm>
            <a:off x="0" y="4550950"/>
            <a:ext cx="16257588" cy="224918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14631828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E102-C795-3941-9125-C4D5BBD0193F}"/>
              </a:ext>
            </a:extLst>
          </p:cNvPr>
          <p:cNvSpPr/>
          <p:nvPr userDrawn="1"/>
        </p:nvSpPr>
        <p:spPr>
          <a:xfrm>
            <a:off x="0" y="0"/>
            <a:ext cx="16257588" cy="224918"/>
          </a:xfrm>
          <a:prstGeom prst="rect">
            <a:avLst/>
          </a:prstGeom>
          <a:gradFill>
            <a:gsLst>
              <a:gs pos="63000">
                <a:srgbClr val="00274C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45DA2-7C42-8445-AD00-272875B751FD}"/>
              </a:ext>
            </a:extLst>
          </p:cNvPr>
          <p:cNvCxnSpPr>
            <a:cxnSpLocks/>
          </p:cNvCxnSpPr>
          <p:nvPr userDrawn="1"/>
        </p:nvCxnSpPr>
        <p:spPr>
          <a:xfrm>
            <a:off x="1023582" y="1210794"/>
            <a:ext cx="14343797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E5EF9-7466-AC4A-8B9B-8C26E6EB2668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2D098-25F8-1B47-A897-734EE7598560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E75BEE-68E8-7E41-9537-113B0DA1B9A2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BBCB0-652C-4D4B-9603-135F326E9486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FF513C8-0BD3-FA4B-8D9A-FB9C21E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259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9489860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9489860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5F1F8-1280-884E-8894-968C107F09E4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80828F-C4E5-CD4A-8C1F-761E9B421162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084172" y="1066154"/>
            <a:ext cx="12002531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	Edit Master text styles</a:t>
            </a:r>
          </a:p>
          <a:p>
            <a:pPr lvl="2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CE93A83-2E66-F74F-A5CD-47D28E6C7BC3}"/>
              </a:ext>
            </a:extLst>
          </p:cNvPr>
          <p:cNvSpPr txBox="1">
            <a:spLocks/>
          </p:cNvSpPr>
          <p:nvPr/>
        </p:nvSpPr>
        <p:spPr>
          <a:xfrm>
            <a:off x="440871" y="5021568"/>
            <a:ext cx="14367329" cy="1718216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/>
              <a:t>Overview of LCIA Methods</a:t>
            </a:r>
            <a:r>
              <a:rPr lang="en-US" altLang="en-US" sz="5400" b="1" dirty="0"/>
              <a:t/>
            </a:r>
            <a:br>
              <a:rPr lang="en-US" altLang="en-US" sz="5400" b="1" dirty="0"/>
            </a:br>
            <a:r>
              <a:rPr lang="en-CA" sz="3600" b="1" dirty="0">
                <a:solidFill>
                  <a:schemeClr val="accent5"/>
                </a:solidFill>
              </a:rPr>
              <a:t>Part A Comparison of LCIA method</a:t>
            </a:r>
            <a:endParaRPr lang="en-US" altLang="en-US" sz="3600" b="1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B5F09-AA9C-0C49-A705-E3ECF1BA7055}"/>
              </a:ext>
            </a:extLst>
          </p:cNvPr>
          <p:cNvSpPr txBox="1"/>
          <p:nvPr/>
        </p:nvSpPr>
        <p:spPr>
          <a:xfrm>
            <a:off x="440871" y="6790584"/>
            <a:ext cx="30219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Olivier Jolliet, PhD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536684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CEFAD1-4100-7145-B1FF-6CD0DE93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</p:spPr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03DD346-86B4-E94E-B13B-CE4D549014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783976"/>
            <a:ext cx="14630400" cy="5429624"/>
          </a:xfrm>
        </p:spPr>
        <p:txBody>
          <a:bodyPr>
            <a:normAutofit/>
          </a:bodyPr>
          <a:lstStyle/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Define the latest LCIA framework and work in progress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Identify the characteristics of main LCIA methods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Compare results of different damage level LCIA methods for the global normalization inventory</a:t>
            </a:r>
          </a:p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endParaRPr lang="en-US" dirty="0"/>
          </a:p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endParaRPr lang="en-US" altLang="en-US" dirty="0"/>
          </a:p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077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LCIA framework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393BCF-6705-D040-B0EE-B62171688262}"/>
              </a:ext>
            </a:extLst>
          </p:cNvPr>
          <p:cNvSpPr/>
          <p:nvPr/>
        </p:nvSpPr>
        <p:spPr>
          <a:xfrm>
            <a:off x="812879" y="3128991"/>
            <a:ext cx="312301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chemeClr val="accent3"/>
                </a:solidFill>
              </a:rPr>
              <a:t>Developed impact </a:t>
            </a:r>
            <a:br>
              <a:rPr lang="en-US" altLang="en-US" sz="2800" dirty="0">
                <a:solidFill>
                  <a:schemeClr val="accent3"/>
                </a:solidFill>
              </a:rPr>
            </a:br>
            <a:r>
              <a:rPr lang="en-US" altLang="en-US" sz="2800" dirty="0">
                <a:solidFill>
                  <a:schemeClr val="accent3"/>
                </a:solidFill>
              </a:rPr>
              <a:t>category </a:t>
            </a:r>
            <a:br>
              <a:rPr lang="en-US" altLang="en-US" sz="2800" dirty="0">
                <a:solidFill>
                  <a:schemeClr val="accent3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versus 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accent2"/>
                </a:solidFill>
              </a:rPr>
              <a:t>Ongoing work to </a:t>
            </a:r>
            <a:br>
              <a:rPr lang="en-US" altLang="en-US" sz="2800" dirty="0">
                <a:solidFill>
                  <a:schemeClr val="accent2"/>
                </a:solidFill>
              </a:rPr>
            </a:br>
            <a:r>
              <a:rPr lang="en-US" altLang="en-US" sz="2800" dirty="0">
                <a:solidFill>
                  <a:schemeClr val="accent2"/>
                </a:solidFill>
              </a:rPr>
              <a:t>extend category </a:t>
            </a:r>
            <a:br>
              <a:rPr lang="en-US" altLang="en-US" sz="2800" dirty="0">
                <a:solidFill>
                  <a:schemeClr val="accent2"/>
                </a:solidFill>
              </a:rPr>
            </a:br>
            <a:r>
              <a:rPr lang="en-US" altLang="en-US" sz="2800" dirty="0">
                <a:solidFill>
                  <a:schemeClr val="accent2"/>
                </a:solidFill>
              </a:rPr>
              <a:t>coverage</a:t>
            </a:r>
            <a:endParaRPr lang="en-US" sz="2800" dirty="0">
              <a:solidFill>
                <a:schemeClr val="accent2"/>
              </a:solidFill>
            </a:endParaRPr>
          </a:p>
        </p:txBody>
      </p:sp>
      <p:pic>
        <p:nvPicPr>
          <p:cNvPr id="32" name="Picture 3">
            <a:extLst>
              <a:ext uri="{FF2B5EF4-FFF2-40B4-BE49-F238E27FC236}">
                <a16:creationId xmlns:a16="http://schemas.microsoft.com/office/drawing/2014/main" id="{584572EC-22AA-9548-A443-7F50343E8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89826" y="1362022"/>
            <a:ext cx="11731959" cy="6291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8126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dirty="0"/>
              <a:t>Comparison of LCIA Methods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7" name="Elbow Connector 15">
            <a:extLst>
              <a:ext uri="{FF2B5EF4-FFF2-40B4-BE49-F238E27FC236}">
                <a16:creationId xmlns:a16="http://schemas.microsoft.com/office/drawing/2014/main" id="{103D09D2-5E1B-1948-A03D-214C58825627}"/>
              </a:ext>
            </a:extLst>
          </p:cNvPr>
          <p:cNvCxnSpPr>
            <a:cxnSpLocks noChangeShapeType="1"/>
            <a:stCxn id="9" idx="1"/>
            <a:endCxn id="18" idx="1"/>
          </p:cNvCxnSpPr>
          <p:nvPr/>
        </p:nvCxnSpPr>
        <p:spPr bwMode="auto">
          <a:xfrm rot="10800000" flipH="1" flipV="1">
            <a:off x="2158665" y="2336877"/>
            <a:ext cx="40489" cy="1611597"/>
          </a:xfrm>
          <a:prstGeom prst="bentConnector3">
            <a:avLst>
              <a:gd name="adj1" fmla="val -564598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065D9E-1F00-554F-A148-F6BE2FB53A3D}"/>
              </a:ext>
            </a:extLst>
          </p:cNvPr>
          <p:cNvSpPr txBox="1"/>
          <p:nvPr/>
        </p:nvSpPr>
        <p:spPr>
          <a:xfrm>
            <a:off x="2691128" y="1277089"/>
            <a:ext cx="1850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</a:rPr>
              <a:t>Midpoint type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5D2E890-9443-2240-9FB4-80A263F2A34E}"/>
              </a:ext>
            </a:extLst>
          </p:cNvPr>
          <p:cNvSpPr txBox="1">
            <a:spLocks/>
          </p:cNvSpPr>
          <p:nvPr/>
        </p:nvSpPr>
        <p:spPr>
          <a:xfrm>
            <a:off x="952601" y="7069082"/>
            <a:ext cx="14631831" cy="654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defRPr/>
            </a:pPr>
            <a:r>
              <a:rPr lang="en-US" sz="1600" dirty="0"/>
              <a:t>Adapted from </a:t>
            </a:r>
            <a:r>
              <a:rPr lang="en-US" sz="1600" dirty="0" err="1"/>
              <a:t>Itsubo</a:t>
            </a:r>
            <a:r>
              <a:rPr lang="en-US" sz="1600" dirty="0"/>
              <a:t>, 2013.</a:t>
            </a:r>
            <a:br>
              <a:rPr lang="en-US" sz="1600" dirty="0"/>
            </a:br>
            <a:r>
              <a:rPr lang="en-US" sz="1600" b="1" dirty="0"/>
              <a:t>Geographical scope: No mention =Europe, CH=Switzerland, S=Sweden, J=Japan, US=USA, G=Global 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7C549C-D016-C541-A460-C130175D596F}"/>
              </a:ext>
            </a:extLst>
          </p:cNvPr>
          <p:cNvSpPr txBox="1"/>
          <p:nvPr/>
        </p:nvSpPr>
        <p:spPr>
          <a:xfrm>
            <a:off x="7100642" y="1267771"/>
            <a:ext cx="2933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</a:rPr>
              <a:t>Midpoint-Damage type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46066E-1BDA-E44D-BE89-B63B53E2799C}"/>
              </a:ext>
            </a:extLst>
          </p:cNvPr>
          <p:cNvSpPr txBox="1"/>
          <p:nvPr/>
        </p:nvSpPr>
        <p:spPr>
          <a:xfrm>
            <a:off x="824993" y="1911431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1990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74400-E0B2-154F-87BC-5260E6949710}"/>
              </a:ext>
            </a:extLst>
          </p:cNvPr>
          <p:cNvSpPr txBox="1"/>
          <p:nvPr/>
        </p:nvSpPr>
        <p:spPr>
          <a:xfrm>
            <a:off x="824990" y="3419165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2000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273677-D643-7341-84CA-8AEAAB0700B7}"/>
              </a:ext>
            </a:extLst>
          </p:cNvPr>
          <p:cNvSpPr txBox="1"/>
          <p:nvPr/>
        </p:nvSpPr>
        <p:spPr>
          <a:xfrm>
            <a:off x="824990" y="5007266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2010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7C49DD-40D3-D54F-98B0-5820A8BF3A8F}"/>
              </a:ext>
            </a:extLst>
          </p:cNvPr>
          <p:cNvSpPr txBox="1"/>
          <p:nvPr/>
        </p:nvSpPr>
        <p:spPr>
          <a:xfrm>
            <a:off x="824990" y="6620961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2020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57C490-0774-4248-A737-359C8BD8D2D3}"/>
              </a:ext>
            </a:extLst>
          </p:cNvPr>
          <p:cNvSpPr txBox="1"/>
          <p:nvPr/>
        </p:nvSpPr>
        <p:spPr>
          <a:xfrm>
            <a:off x="12212973" y="1253117"/>
            <a:ext cx="1932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Weighted type</a:t>
            </a:r>
          </a:p>
        </p:txBody>
      </p:sp>
      <p:sp>
        <p:nvSpPr>
          <p:cNvPr id="23" name="Text Box 41">
            <a:extLst>
              <a:ext uri="{FF2B5EF4-FFF2-40B4-BE49-F238E27FC236}">
                <a16:creationId xmlns:a16="http://schemas.microsoft.com/office/drawing/2014/main" id="{5D3C6372-B317-6A44-8825-E0B847BBD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6337" y="1684423"/>
            <a:ext cx="2872688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Eco-scarcity CH 1990</a:t>
            </a:r>
          </a:p>
        </p:txBody>
      </p:sp>
      <p:sp>
        <p:nvSpPr>
          <p:cNvPr id="24" name="Text Box 41">
            <a:extLst>
              <a:ext uri="{FF2B5EF4-FFF2-40B4-BE49-F238E27FC236}">
                <a16:creationId xmlns:a16="http://schemas.microsoft.com/office/drawing/2014/main" id="{FF8A0575-15ED-B548-99FA-5B583DE07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6337" y="2738019"/>
            <a:ext cx="2872688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Eco-scarcity CH 1997</a:t>
            </a:r>
          </a:p>
        </p:txBody>
      </p:sp>
      <p:sp>
        <p:nvSpPr>
          <p:cNvPr id="25" name="Text Box 41">
            <a:extLst>
              <a:ext uri="{FF2B5EF4-FFF2-40B4-BE49-F238E27FC236}">
                <a16:creationId xmlns:a16="http://schemas.microsoft.com/office/drawing/2014/main" id="{3A2C7926-88C4-8C44-9ACC-2173285B2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6337" y="3876695"/>
            <a:ext cx="2872688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Eco-scarcity CH 2006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982016-5FF4-634D-BBB9-9186CDC42D90}"/>
              </a:ext>
            </a:extLst>
          </p:cNvPr>
          <p:cNvSpPr txBox="1"/>
          <p:nvPr/>
        </p:nvSpPr>
        <p:spPr>
          <a:xfrm>
            <a:off x="13690709" y="6444101"/>
            <a:ext cx="18341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Dist. to target</a:t>
            </a:r>
          </a:p>
        </p:txBody>
      </p:sp>
      <p:sp>
        <p:nvSpPr>
          <p:cNvPr id="27" name="Text Box 41">
            <a:extLst>
              <a:ext uri="{FF2B5EF4-FFF2-40B4-BE49-F238E27FC236}">
                <a16:creationId xmlns:a16="http://schemas.microsoft.com/office/drawing/2014/main" id="{75DF9BE3-EED4-8F48-9101-C3CD64EA4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8447" y="2193158"/>
            <a:ext cx="1785258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EPS S 1992</a:t>
            </a:r>
          </a:p>
        </p:txBody>
      </p:sp>
      <p:sp>
        <p:nvSpPr>
          <p:cNvPr id="28" name="Text Box 41">
            <a:extLst>
              <a:ext uri="{FF2B5EF4-FFF2-40B4-BE49-F238E27FC236}">
                <a16:creationId xmlns:a16="http://schemas.microsoft.com/office/drawing/2014/main" id="{A976A554-5F2F-DE46-B8E1-8C01D4B8C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93028" y="3268844"/>
            <a:ext cx="1785258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EPS S 2000</a:t>
            </a:r>
          </a:p>
        </p:txBody>
      </p:sp>
      <p:sp>
        <p:nvSpPr>
          <p:cNvPr id="29" name="Text Box 41">
            <a:extLst>
              <a:ext uri="{FF2B5EF4-FFF2-40B4-BE49-F238E27FC236}">
                <a16:creationId xmlns:a16="http://schemas.microsoft.com/office/drawing/2014/main" id="{814DA190-0308-4A46-B20A-3970570AB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2942" y="2711251"/>
            <a:ext cx="2144991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 err="1">
                <a:solidFill>
                  <a:schemeClr val="bg1"/>
                </a:solidFill>
                <a:cs typeface="Arial" panose="020B0604020202020204" pitchFamily="34" charset="0"/>
              </a:rPr>
              <a:t>Ecoindicator</a:t>
            </a: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 95</a:t>
            </a:r>
          </a:p>
        </p:txBody>
      </p:sp>
      <p:sp>
        <p:nvSpPr>
          <p:cNvPr id="30" name="Text Box 41">
            <a:extLst>
              <a:ext uri="{FF2B5EF4-FFF2-40B4-BE49-F238E27FC236}">
                <a16:creationId xmlns:a16="http://schemas.microsoft.com/office/drawing/2014/main" id="{70AE845E-B2AE-1C42-B2B1-7476CEA85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322" y="3769744"/>
            <a:ext cx="2051346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 err="1">
                <a:solidFill>
                  <a:schemeClr val="bg1"/>
                </a:solidFill>
                <a:cs typeface="Arial" panose="020B0604020202020204" pitchFamily="34" charset="0"/>
              </a:rPr>
              <a:t>Ecoindicator</a:t>
            </a: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 99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86E78E-3723-B84F-8D61-4CF4CB7713D1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11085438" y="3111361"/>
            <a:ext cx="17557" cy="658383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90736D8-C33B-6344-9962-6E508E5D143C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>
            <a:off x="14002681" y="3138129"/>
            <a:ext cx="0" cy="738566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FD02A8-44DA-7749-9BA0-4765676FB2C0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14002681" y="2084533"/>
            <a:ext cx="0" cy="653486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288D23-CE9A-8D4C-B7E4-609EC2D8DFE9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12371076" y="2593268"/>
            <a:ext cx="14581" cy="675576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8F5DFED-5123-2847-A577-ADF54E31E0C8}"/>
              </a:ext>
            </a:extLst>
          </p:cNvPr>
          <p:cNvSpPr txBox="1"/>
          <p:nvPr/>
        </p:nvSpPr>
        <p:spPr>
          <a:xfrm>
            <a:off x="10661808" y="4144559"/>
            <a:ext cx="18341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Dist. to target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4C8B60-340F-CC46-A8EF-80CE713D26A9}"/>
              </a:ext>
            </a:extLst>
          </p:cNvPr>
          <p:cNvSpPr txBox="1"/>
          <p:nvPr/>
        </p:nvSpPr>
        <p:spPr>
          <a:xfrm>
            <a:off x="13290758" y="326997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$</a:t>
            </a:r>
          </a:p>
        </p:txBody>
      </p:sp>
      <p:sp>
        <p:nvSpPr>
          <p:cNvPr id="37" name="Text Box 41">
            <a:extLst>
              <a:ext uri="{FF2B5EF4-FFF2-40B4-BE49-F238E27FC236}">
                <a16:creationId xmlns:a16="http://schemas.microsoft.com/office/drawing/2014/main" id="{C5DA3B8D-A2A2-AE44-A5C4-CCA274791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6337" y="4960338"/>
            <a:ext cx="2872688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Eco-scarcity CH 2013</a:t>
            </a:r>
          </a:p>
        </p:txBody>
      </p:sp>
      <p:sp>
        <p:nvSpPr>
          <p:cNvPr id="38" name="Text Box 41">
            <a:extLst>
              <a:ext uri="{FF2B5EF4-FFF2-40B4-BE49-F238E27FC236}">
                <a16:creationId xmlns:a16="http://schemas.microsoft.com/office/drawing/2014/main" id="{6B1D5436-F3E0-9D44-9B30-6A3EB281B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6337" y="6002302"/>
            <a:ext cx="2872688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Eco-scarcity CH 2018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A9F358-CC5B-7A42-A757-2955265FC565}"/>
              </a:ext>
            </a:extLst>
          </p:cNvPr>
          <p:cNvCxnSpPr/>
          <p:nvPr/>
        </p:nvCxnSpPr>
        <p:spPr>
          <a:xfrm flipH="1">
            <a:off x="2899380" y="4667536"/>
            <a:ext cx="1980" cy="337709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15">
            <a:extLst>
              <a:ext uri="{FF2B5EF4-FFF2-40B4-BE49-F238E27FC236}">
                <a16:creationId xmlns:a16="http://schemas.microsoft.com/office/drawing/2014/main" id="{C1770786-76D6-704C-8BCE-6FE444B2CEDB}"/>
              </a:ext>
            </a:extLst>
          </p:cNvPr>
          <p:cNvCxnSpPr>
            <a:cxnSpLocks noChangeShapeType="1"/>
            <a:stCxn id="22" idx="2"/>
          </p:cNvCxnSpPr>
          <p:nvPr/>
        </p:nvCxnSpPr>
        <p:spPr bwMode="auto">
          <a:xfrm rot="16200000" flipH="1">
            <a:off x="6231551" y="3707912"/>
            <a:ext cx="1950424" cy="2874167"/>
          </a:xfrm>
          <a:prstGeom prst="bentConnector3">
            <a:avLst>
              <a:gd name="adj1" fmla="val 56393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41" name="Text Box 41">
            <a:extLst>
              <a:ext uri="{FF2B5EF4-FFF2-40B4-BE49-F238E27FC236}">
                <a16:creationId xmlns:a16="http://schemas.microsoft.com/office/drawing/2014/main" id="{FE303420-9B4A-8946-A8FF-697AD9400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3177" y="4543626"/>
            <a:ext cx="2144991" cy="400110"/>
          </a:xfrm>
          <a:prstGeom prst="rect">
            <a:avLst/>
          </a:prstGeom>
          <a:solidFill>
            <a:schemeClr val="accent5">
              <a:alpha val="99000"/>
            </a:schemeClr>
          </a:solidFill>
          <a:ln>
            <a:solidFill>
              <a:schemeClr val="accent5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LIME 1  J 2005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614E18-F66E-3641-BC44-2247E7321BDA}"/>
              </a:ext>
            </a:extLst>
          </p:cNvPr>
          <p:cNvCxnSpPr>
            <a:stCxn id="25" idx="2"/>
            <a:endCxn id="37" idx="0"/>
          </p:cNvCxnSpPr>
          <p:nvPr/>
        </p:nvCxnSpPr>
        <p:spPr>
          <a:xfrm>
            <a:off x="14002681" y="4276805"/>
            <a:ext cx="0" cy="683533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77ADDD2-6030-3744-9F41-7282213E47A4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>
            <a:off x="14002681" y="5360448"/>
            <a:ext cx="0" cy="641854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Box 41">
            <a:extLst>
              <a:ext uri="{FF2B5EF4-FFF2-40B4-BE49-F238E27FC236}">
                <a16:creationId xmlns:a16="http://schemas.microsoft.com/office/drawing/2014/main" id="{9E8E4EA1-DA94-104E-B920-1F7021F02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6019" y="4547140"/>
            <a:ext cx="2402498" cy="400110"/>
          </a:xfrm>
          <a:prstGeom prst="rect">
            <a:avLst/>
          </a:prstGeom>
          <a:solidFill>
            <a:schemeClr val="accent5">
              <a:alpha val="99000"/>
            </a:schemeClr>
          </a:solidFill>
          <a:ln>
            <a:solidFill>
              <a:schemeClr val="accent5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ReCiPe 2008</a:t>
            </a:r>
          </a:p>
        </p:txBody>
      </p:sp>
      <p:sp>
        <p:nvSpPr>
          <p:cNvPr id="45" name="Text Box 41">
            <a:extLst>
              <a:ext uri="{FF2B5EF4-FFF2-40B4-BE49-F238E27FC236}">
                <a16:creationId xmlns:a16="http://schemas.microsoft.com/office/drawing/2014/main" id="{EA87A88C-0F06-B84D-949A-690271E4F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3176" y="5257501"/>
            <a:ext cx="2144991" cy="400110"/>
          </a:xfrm>
          <a:prstGeom prst="rect">
            <a:avLst/>
          </a:prstGeom>
          <a:solidFill>
            <a:schemeClr val="accent5">
              <a:alpha val="99000"/>
            </a:schemeClr>
          </a:solidFill>
          <a:ln>
            <a:solidFill>
              <a:schemeClr val="accent5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LIME 2  J 2009</a:t>
            </a:r>
          </a:p>
        </p:txBody>
      </p:sp>
      <p:sp>
        <p:nvSpPr>
          <p:cNvPr id="46" name="Text Box 41">
            <a:extLst>
              <a:ext uri="{FF2B5EF4-FFF2-40B4-BE49-F238E27FC236}">
                <a16:creationId xmlns:a16="http://schemas.microsoft.com/office/drawing/2014/main" id="{23BCAB97-0CE8-2543-91E1-A7106BDEE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3176" y="5930919"/>
            <a:ext cx="2144991" cy="400110"/>
          </a:xfrm>
          <a:prstGeom prst="rect">
            <a:avLst/>
          </a:prstGeom>
          <a:solidFill>
            <a:schemeClr val="accent5">
              <a:alpha val="99000"/>
            </a:schemeClr>
          </a:solidFill>
          <a:ln>
            <a:solidFill>
              <a:schemeClr val="accent5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LIME 3  G 2015</a:t>
            </a:r>
          </a:p>
        </p:txBody>
      </p:sp>
      <p:sp>
        <p:nvSpPr>
          <p:cNvPr id="47" name="Text Box 41">
            <a:extLst>
              <a:ext uri="{FF2B5EF4-FFF2-40B4-BE49-F238E27FC236}">
                <a16:creationId xmlns:a16="http://schemas.microsoft.com/office/drawing/2014/main" id="{4E5FFFA8-2332-AD46-98B2-D94DCAAEB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9354" y="5534596"/>
            <a:ext cx="2403277" cy="400110"/>
          </a:xfrm>
          <a:prstGeom prst="rect">
            <a:avLst/>
          </a:prstGeom>
          <a:solidFill>
            <a:schemeClr val="accent5">
              <a:alpha val="99000"/>
            </a:schemeClr>
          </a:solidFill>
          <a:ln>
            <a:solidFill>
              <a:schemeClr val="accent5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ReCiPe G 2016</a:t>
            </a:r>
          </a:p>
        </p:txBody>
      </p:sp>
      <p:sp>
        <p:nvSpPr>
          <p:cNvPr id="48" name="Text Box 41">
            <a:extLst>
              <a:ext uri="{FF2B5EF4-FFF2-40B4-BE49-F238E27FC236}">
                <a16:creationId xmlns:a16="http://schemas.microsoft.com/office/drawing/2014/main" id="{1834D517-A313-CC49-AF6A-880744281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363" y="3718836"/>
            <a:ext cx="1986407" cy="414657"/>
          </a:xfrm>
          <a:prstGeom prst="rect">
            <a:avLst/>
          </a:prstGeom>
          <a:solidFill>
            <a:schemeClr val="accent5">
              <a:alpha val="99000"/>
            </a:schemeClr>
          </a:solidFill>
          <a:ln>
            <a:solidFill>
              <a:schemeClr val="accent5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IMPACT  2002+</a:t>
            </a:r>
          </a:p>
        </p:txBody>
      </p:sp>
      <p:cxnSp>
        <p:nvCxnSpPr>
          <p:cNvPr id="49" name="Elbow Connector 28">
            <a:extLst>
              <a:ext uri="{FF2B5EF4-FFF2-40B4-BE49-F238E27FC236}">
                <a16:creationId xmlns:a16="http://schemas.microsoft.com/office/drawing/2014/main" id="{6EAA58F6-950A-AE47-B46A-7D4663A54BF7}"/>
              </a:ext>
            </a:extLst>
          </p:cNvPr>
          <p:cNvCxnSpPr>
            <a:cxnSpLocks noChangeShapeType="1"/>
            <a:stCxn id="44" idx="2"/>
            <a:endCxn id="47" idx="0"/>
          </p:cNvCxnSpPr>
          <p:nvPr/>
        </p:nvCxnSpPr>
        <p:spPr bwMode="auto">
          <a:xfrm rot="16200000" flipH="1">
            <a:off x="6775457" y="5239060"/>
            <a:ext cx="587346" cy="3725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EA52205-070F-044F-AB7A-37698A68685F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5756175" y="3338184"/>
            <a:ext cx="13505" cy="431490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 Box 41">
            <a:extLst>
              <a:ext uri="{FF2B5EF4-FFF2-40B4-BE49-F238E27FC236}">
                <a16:creationId xmlns:a16="http://schemas.microsoft.com/office/drawing/2014/main" id="{B12A5E40-46CD-064A-B131-CEB5F7681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897" y="6143222"/>
            <a:ext cx="3562949" cy="400110"/>
          </a:xfrm>
          <a:prstGeom prst="rect">
            <a:avLst/>
          </a:prstGeom>
          <a:solidFill>
            <a:schemeClr val="accent5">
              <a:alpha val="99000"/>
            </a:schemeClr>
          </a:solidFill>
          <a:ln>
            <a:solidFill>
              <a:schemeClr val="accent5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IMPACT WORLD+ G 2019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C487737-F436-4A4A-85DD-9B78D5F9392E}"/>
              </a:ext>
            </a:extLst>
          </p:cNvPr>
          <p:cNvCxnSpPr>
            <a:stCxn id="48" idx="2"/>
          </p:cNvCxnSpPr>
          <p:nvPr/>
        </p:nvCxnSpPr>
        <p:spPr>
          <a:xfrm>
            <a:off x="8725567" y="4133493"/>
            <a:ext cx="27055" cy="1986715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 Box 41">
            <a:extLst>
              <a:ext uri="{FF2B5EF4-FFF2-40B4-BE49-F238E27FC236}">
                <a16:creationId xmlns:a16="http://schemas.microsoft.com/office/drawing/2014/main" id="{3A7C4FA2-C2C4-0148-AF43-3083D669E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731" y="6679844"/>
            <a:ext cx="2457300" cy="400110"/>
          </a:xfrm>
          <a:prstGeom prst="rect">
            <a:avLst/>
          </a:prstGeom>
          <a:solidFill>
            <a:schemeClr val="accent5">
              <a:alpha val="99000"/>
            </a:schemeClr>
          </a:solidFill>
          <a:ln>
            <a:solidFill>
              <a:schemeClr val="accent5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LC IMPACT G 2020</a:t>
            </a:r>
          </a:p>
        </p:txBody>
      </p:sp>
      <p:cxnSp>
        <p:nvCxnSpPr>
          <p:cNvPr id="54" name="Elbow Connector 15">
            <a:extLst>
              <a:ext uri="{FF2B5EF4-FFF2-40B4-BE49-F238E27FC236}">
                <a16:creationId xmlns:a16="http://schemas.microsoft.com/office/drawing/2014/main" id="{A3399106-D1A6-7941-972D-FAD8C3C64C55}"/>
              </a:ext>
            </a:extLst>
          </p:cNvPr>
          <p:cNvCxnSpPr>
            <a:cxnSpLocks noChangeShapeType="1"/>
            <a:stCxn id="47" idx="1"/>
          </p:cNvCxnSpPr>
          <p:nvPr/>
        </p:nvCxnSpPr>
        <p:spPr bwMode="auto">
          <a:xfrm rot="10800000" flipV="1">
            <a:off x="5486400" y="5734650"/>
            <a:ext cx="382954" cy="945193"/>
          </a:xfrm>
          <a:prstGeom prst="bentConnector2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55" name="Elbow Connector 15">
            <a:extLst>
              <a:ext uri="{FF2B5EF4-FFF2-40B4-BE49-F238E27FC236}">
                <a16:creationId xmlns:a16="http://schemas.microsoft.com/office/drawing/2014/main" id="{2E4565E3-37D7-2C45-83E4-6C7F9A0056CB}"/>
              </a:ext>
            </a:extLst>
          </p:cNvPr>
          <p:cNvCxnSpPr>
            <a:cxnSpLocks noChangeShapeType="1"/>
            <a:stCxn id="51" idx="1"/>
          </p:cNvCxnSpPr>
          <p:nvPr/>
        </p:nvCxnSpPr>
        <p:spPr bwMode="auto">
          <a:xfrm rot="10800000" flipV="1">
            <a:off x="5747467" y="6343276"/>
            <a:ext cx="128431" cy="336567"/>
          </a:xfrm>
          <a:prstGeom prst="bentConnector2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F39CB0A-1252-2C45-A6B4-8504C638E9E4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2411460" y="5934822"/>
            <a:ext cx="7751" cy="356502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 Box 41">
            <a:extLst>
              <a:ext uri="{FF2B5EF4-FFF2-40B4-BE49-F238E27FC236}">
                <a16:creationId xmlns:a16="http://schemas.microsoft.com/office/drawing/2014/main" id="{052D6462-3EEA-694A-884F-35804FC58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401" y="6821016"/>
            <a:ext cx="2046652" cy="400110"/>
          </a:xfrm>
          <a:prstGeom prst="rect">
            <a:avLst/>
          </a:prstGeom>
          <a:solidFill>
            <a:schemeClr val="accent5">
              <a:alpha val="99000"/>
            </a:schemeClr>
          </a:solidFill>
          <a:ln>
            <a:solidFill>
              <a:schemeClr val="accent5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ClrTx/>
              <a:buFontTx/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tx1"/>
                </a:solidFill>
              </a:rPr>
              <a:t>GLAM 3 G 2023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F7EE43C-0DBC-2341-90D1-D80791445083}"/>
              </a:ext>
            </a:extLst>
          </p:cNvPr>
          <p:cNvCxnSpPr/>
          <p:nvPr/>
        </p:nvCxnSpPr>
        <p:spPr>
          <a:xfrm flipH="1">
            <a:off x="4093575" y="6580759"/>
            <a:ext cx="1929" cy="230430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7F81040-788E-9446-A958-32A85493D3BB}"/>
              </a:ext>
            </a:extLst>
          </p:cNvPr>
          <p:cNvCxnSpPr/>
          <p:nvPr/>
        </p:nvCxnSpPr>
        <p:spPr>
          <a:xfrm>
            <a:off x="4091184" y="5944107"/>
            <a:ext cx="7158" cy="225508"/>
          </a:xfrm>
          <a:prstGeom prst="straightConnector1">
            <a:avLst/>
          </a:prstGeom>
          <a:ln w="28575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767E3CD-CB13-D045-A572-0BFD7CDB73B1}"/>
              </a:ext>
            </a:extLst>
          </p:cNvPr>
          <p:cNvSpPr txBox="1"/>
          <p:nvPr/>
        </p:nvSpPr>
        <p:spPr>
          <a:xfrm>
            <a:off x="11797237" y="595309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</a:rPr>
              <a:t>$</a:t>
            </a:r>
          </a:p>
        </p:txBody>
      </p:sp>
      <p:sp>
        <p:nvSpPr>
          <p:cNvPr id="8" name="Text Box 41">
            <a:extLst>
              <a:ext uri="{FF2B5EF4-FFF2-40B4-BE49-F238E27FC236}">
                <a16:creationId xmlns:a16="http://schemas.microsoft.com/office/drawing/2014/main" id="{62CD1840-77AB-864E-A9F5-AD5B10EA9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909" y="2728910"/>
            <a:ext cx="2585323" cy="409219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ClrTx/>
              <a:buFontTx/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Nordic guide 1995</a:t>
            </a:r>
          </a:p>
        </p:txBody>
      </p:sp>
      <p:sp>
        <p:nvSpPr>
          <p:cNvPr id="9" name="Text Box 41">
            <a:extLst>
              <a:ext uri="{FF2B5EF4-FFF2-40B4-BE49-F238E27FC236}">
                <a16:creationId xmlns:a16="http://schemas.microsoft.com/office/drawing/2014/main" id="{EB9BB3E3-2AB6-3044-9896-A5FF42EBF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666" y="2136823"/>
            <a:ext cx="2605566" cy="40011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bg1"/>
                </a:solidFill>
                <a:cs typeface="Arial" panose="020B0604020202020204" pitchFamily="34" charset="0"/>
              </a:rPr>
              <a:t>CML LCA guide 1992</a:t>
            </a:r>
          </a:p>
        </p:txBody>
      </p:sp>
      <p:sp>
        <p:nvSpPr>
          <p:cNvPr id="18" name="Text Box 41">
            <a:extLst>
              <a:ext uri="{FF2B5EF4-FFF2-40B4-BE49-F238E27FC236}">
                <a16:creationId xmlns:a16="http://schemas.microsoft.com/office/drawing/2014/main" id="{05688FD1-9F05-184B-ACC7-E00B68F9B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9155" y="3748420"/>
            <a:ext cx="2555830" cy="40011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ClrTx/>
              <a:buFontTx/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CML guide 2002</a:t>
            </a:r>
          </a:p>
        </p:txBody>
      </p:sp>
      <p:sp>
        <p:nvSpPr>
          <p:cNvPr id="19" name="Text Box 41">
            <a:extLst>
              <a:ext uri="{FF2B5EF4-FFF2-40B4-BE49-F238E27FC236}">
                <a16:creationId xmlns:a16="http://schemas.microsoft.com/office/drawing/2014/main" id="{DCE64144-B460-534B-9075-78C4E9AE2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330" y="4276805"/>
            <a:ext cx="2370542" cy="40011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ClrTx/>
              <a:buFontTx/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TRACI 1 US 2003</a:t>
            </a:r>
          </a:p>
        </p:txBody>
      </p:sp>
      <p:sp>
        <p:nvSpPr>
          <p:cNvPr id="20" name="Text Box 41">
            <a:extLst>
              <a:ext uri="{FF2B5EF4-FFF2-40B4-BE49-F238E27FC236}">
                <a16:creationId xmlns:a16="http://schemas.microsoft.com/office/drawing/2014/main" id="{DB82C8A1-130F-E742-93C1-CF3D664FA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0889" y="5019435"/>
            <a:ext cx="2376983" cy="40011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ClrTx/>
              <a:buFontTx/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TRACI 2 US 2011 </a:t>
            </a:r>
          </a:p>
        </p:txBody>
      </p:sp>
      <p:sp>
        <p:nvSpPr>
          <p:cNvPr id="21" name="Text Box 41">
            <a:extLst>
              <a:ext uri="{FF2B5EF4-FFF2-40B4-BE49-F238E27FC236}">
                <a16:creationId xmlns:a16="http://schemas.microsoft.com/office/drawing/2014/main" id="{73CFA426-3F12-4149-852A-99D5BD360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7396" y="2938074"/>
            <a:ext cx="1557557" cy="40011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ClrTx/>
              <a:buFontTx/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EDIP 1997 </a:t>
            </a:r>
          </a:p>
        </p:txBody>
      </p:sp>
      <p:sp>
        <p:nvSpPr>
          <p:cNvPr id="22" name="Text Box 41">
            <a:extLst>
              <a:ext uri="{FF2B5EF4-FFF2-40B4-BE49-F238E27FC236}">
                <a16:creationId xmlns:a16="http://schemas.microsoft.com/office/drawing/2014/main" id="{A0FC4866-A829-B84D-8CFB-041549369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9728" y="3769674"/>
            <a:ext cx="1619903" cy="40011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ClrTx/>
              <a:buFontTx/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EDIP 2003</a:t>
            </a:r>
          </a:p>
        </p:txBody>
      </p:sp>
      <p:sp>
        <p:nvSpPr>
          <p:cNvPr id="56" name="Text Box 41">
            <a:extLst>
              <a:ext uri="{FF2B5EF4-FFF2-40B4-BE49-F238E27FC236}">
                <a16:creationId xmlns:a16="http://schemas.microsoft.com/office/drawing/2014/main" id="{25224770-1770-B549-86C4-402163155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120" y="5534712"/>
            <a:ext cx="1426679" cy="40011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ClrTx/>
              <a:buFontTx/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PEF 2012 </a:t>
            </a:r>
          </a:p>
        </p:txBody>
      </p:sp>
      <p:sp>
        <p:nvSpPr>
          <p:cNvPr id="57" name="Text Box 41">
            <a:extLst>
              <a:ext uri="{FF2B5EF4-FFF2-40B4-BE49-F238E27FC236}">
                <a16:creationId xmlns:a16="http://schemas.microsoft.com/office/drawing/2014/main" id="{7795E712-89B1-9D42-8AD4-0DD1DE21B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871" y="6291324"/>
            <a:ext cx="1426679" cy="40011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ClrTx/>
              <a:buFontTx/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PEF 2019 </a:t>
            </a:r>
          </a:p>
        </p:txBody>
      </p:sp>
      <p:sp>
        <p:nvSpPr>
          <p:cNvPr id="58" name="Text Box 41">
            <a:extLst>
              <a:ext uri="{FF2B5EF4-FFF2-40B4-BE49-F238E27FC236}">
                <a16:creationId xmlns:a16="http://schemas.microsoft.com/office/drawing/2014/main" id="{0FE12ACB-9AAB-8D4D-A265-4C962E940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1796" y="5543997"/>
            <a:ext cx="1809388" cy="40011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ClrTx/>
              <a:buFontTx/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GLAM 1 2016 </a:t>
            </a:r>
          </a:p>
        </p:txBody>
      </p:sp>
      <p:sp>
        <p:nvSpPr>
          <p:cNvPr id="59" name="Text Box 41">
            <a:extLst>
              <a:ext uri="{FF2B5EF4-FFF2-40B4-BE49-F238E27FC236}">
                <a16:creationId xmlns:a16="http://schemas.microsoft.com/office/drawing/2014/main" id="{FA592893-A663-FA46-AE83-2FBAB091E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954" y="6169615"/>
            <a:ext cx="1809388" cy="40011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ClrTx/>
              <a:buFontTx/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GLAM 2 2018 </a:t>
            </a:r>
          </a:p>
        </p:txBody>
      </p:sp>
    </p:spTree>
    <p:extLst>
      <p:ext uri="{BB962C8B-B14F-4D97-AF65-F5344CB8AC3E}">
        <p14:creationId xmlns:p14="http://schemas.microsoft.com/office/powerpoint/2010/main" val="310266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A17976-9A4B-A347-B1BF-B6F50C495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925640"/>
              </p:ext>
            </p:extLst>
          </p:nvPr>
        </p:nvGraphicFramePr>
        <p:xfrm>
          <a:off x="2958438" y="1302398"/>
          <a:ext cx="11688895" cy="6427275"/>
        </p:xfrm>
        <a:graphic>
          <a:graphicData uri="http://schemas.openxmlformats.org/drawingml/2006/table">
            <a:tbl>
              <a:tblPr/>
              <a:tblGrid>
                <a:gridCol w="411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1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36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3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26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00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991529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METHODS: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0785" marR="110785" marT="55392" marB="5539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PEF-footprint</a:t>
                      </a:r>
                    </a:p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JRC, 2018</a:t>
                      </a: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GLAM</a:t>
                      </a:r>
                      <a:b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200" b="1" dirty="0" err="1">
                          <a:latin typeface="Times New Roman"/>
                          <a:ea typeface="Times New Roman"/>
                          <a:cs typeface="Times New Roman"/>
                        </a:rPr>
                        <a:t>LCinitiative</a:t>
                      </a:r>
                      <a:endParaRPr lang="en-US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 err="1">
                          <a:latin typeface="Times New Roman"/>
                          <a:ea typeface="Times New Roman"/>
                          <a:cs typeface="Times New Roman"/>
                        </a:rPr>
                        <a:t>Frischnecht</a:t>
                      </a:r>
                      <a:r>
                        <a:rPr lang="en-US" sz="1200" b="1" baseline="0" dirty="0">
                          <a:latin typeface="Times New Roman"/>
                          <a:ea typeface="Times New Roman"/>
                          <a:cs typeface="Times New Roman"/>
                        </a:rPr>
                        <a:t> &amp; Jolliet 2016/8]</a:t>
                      </a:r>
                      <a:endParaRPr lang="en-US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LC IMPACT [VERONES et al, 2020]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61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level: </a:t>
                      </a: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0785" marR="110785" marT="55392" marB="55392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Midpoint + some damage</a:t>
                      </a: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825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b="1" dirty="0">
                          <a:latin typeface="Times New Roman"/>
                          <a:ea typeface="Times New Roman"/>
                          <a:cs typeface="Times New Roman"/>
                        </a:rPr>
                        <a:t>Normalization and weighting:</a:t>
                      </a: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0785" marR="110785" marT="55392" marB="5539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World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normalization.Weighting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of stepwise</a:t>
                      </a:r>
                    </a:p>
                  </a:txBody>
                  <a:tcPr marL="47993" marR="4799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532">
                <a:tc rowSpan="17">
                  <a:txBody>
                    <a:bodyPr/>
                    <a:lstStyle/>
                    <a:p>
                      <a:pPr marL="71755" marR="71755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Covered midpoint categories</a:t>
                      </a:r>
                    </a:p>
                  </a:txBody>
                  <a:tcPr marL="110785" marR="110785" marT="55392" marB="55392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Climate change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5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Oceanic acidification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Stratospheric ozone depletion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Human health of particulate and toxics 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Indoor &amp; worker impacts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5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Accidents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5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Ionizing radiation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Photo-oxidant formation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5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Acidification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5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Eutrophication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7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Ecotoxicity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Usage of soil and habitat loss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5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Energy use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25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Mineral extraction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7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Usage of water resources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25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Soil quality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648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Usage of biotic resources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3" marR="479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C05AD2-1E3F-B24D-8A3B-F89C17783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588061"/>
              </p:ext>
            </p:extLst>
          </p:nvPr>
        </p:nvGraphicFramePr>
        <p:xfrm>
          <a:off x="1719508" y="1295164"/>
          <a:ext cx="9764681" cy="6441550"/>
        </p:xfrm>
        <a:graphic>
          <a:graphicData uri="http://schemas.openxmlformats.org/drawingml/2006/table">
            <a:tbl>
              <a:tblPr/>
              <a:tblGrid>
                <a:gridCol w="405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6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96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44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93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62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08862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METHODS: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20066" marR="120066" marT="60033" marB="6003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Ecological scarcity [</a:t>
                      </a:r>
                      <a:r>
                        <a:rPr lang="en-US" sz="1200" b="1" cap="small" dirty="0" err="1">
                          <a:latin typeface="Times New Roman"/>
                          <a:ea typeface="Times New Roman"/>
                          <a:cs typeface="Times New Roman"/>
                        </a:rPr>
                        <a:t>Frischknecht</a:t>
                      </a:r>
                      <a:r>
                        <a:rPr lang="en-US" sz="1200" b="1" cap="small" dirty="0">
                          <a:latin typeface="Times New Roman"/>
                          <a:ea typeface="Times New Roman"/>
                          <a:cs typeface="Times New Roman"/>
                        </a:rPr>
                        <a:t> et 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1" dirty="0" err="1">
                          <a:latin typeface="Times New Roman"/>
                          <a:ea typeface="Times New Roman"/>
                          <a:cs typeface="Times New Roman"/>
                        </a:rPr>
                        <a:t>et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  al., 2008 &amp; 2013]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TRACI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200" b="1" cap="small">
                          <a:latin typeface="Times New Roman"/>
                          <a:ea typeface="Times New Roman"/>
                          <a:cs typeface="Times New Roman"/>
                        </a:rPr>
                        <a:t>Bare</a:t>
                      </a: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 et al., 2003]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IMPACT 2002+ [</a:t>
                      </a:r>
                      <a:r>
                        <a:rPr lang="en-US" sz="1200" b="1" cap="small" dirty="0">
                          <a:latin typeface="Times New Roman"/>
                          <a:ea typeface="Times New Roman"/>
                          <a:cs typeface="Times New Roman"/>
                        </a:rPr>
                        <a:t>Jolliet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 et al., 2003]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LIME [</a:t>
                      </a:r>
                      <a:r>
                        <a:rPr lang="en-US" sz="1200" b="1" cap="small">
                          <a:latin typeface="Times New Roman"/>
                          <a:ea typeface="Times New Roman"/>
                          <a:cs typeface="Times New Roman"/>
                        </a:rPr>
                        <a:t>Itsubo</a:t>
                      </a: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 et </a:t>
                      </a:r>
                      <a:r>
                        <a:rPr lang="en-US" sz="1200" b="1" cap="small">
                          <a:latin typeface="Times New Roman"/>
                          <a:ea typeface="Times New Roman"/>
                          <a:cs typeface="Times New Roman"/>
                        </a:rPr>
                        <a:t>Inaba, </a:t>
                      </a: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2003]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ReCiPe [</a:t>
                      </a:r>
                      <a:r>
                        <a:rPr lang="en-US" sz="1200" b="1" cap="small" dirty="0" err="1">
                          <a:latin typeface="Times New Roman"/>
                          <a:ea typeface="Times New Roman"/>
                          <a:cs typeface="Times New Roman"/>
                        </a:rPr>
                        <a:t>Goedkoop</a:t>
                      </a:r>
                      <a:r>
                        <a:rPr lang="en-US" sz="1200" b="1" cap="small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et al., 2008]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IMPACT World+ [BULLE et al, 2019]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578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level: 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20066" marR="120066" marT="60033" marB="60033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Policy objectives</a:t>
                      </a: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</a:t>
                      </a: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796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b="1" dirty="0">
                          <a:latin typeface="Times New Roman"/>
                          <a:ea typeface="Times New Roman"/>
                          <a:cs typeface="Times New Roman"/>
                        </a:rPr>
                        <a:t>Normalization and weighting: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20066" marR="120066" marT="60033" marB="6003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Normalization and weighting</a:t>
                      </a: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Normalization of damage for USA</a:t>
                      </a: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Normalization of damage</a:t>
                      </a:r>
                      <a:b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Weighting up to user</a:t>
                      </a: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Normalization and Japanese weighting</a:t>
                      </a: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Normalization and weighting </a:t>
                      </a:r>
                    </a:p>
                  </a:txBody>
                  <a:tcPr marL="25330" marR="1244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World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normalization.Weighting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of stepwise</a:t>
                      </a:r>
                    </a:p>
                  </a:txBody>
                  <a:tcPr marL="47994" marR="4799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789">
                <a:tc rowSpan="17">
                  <a:txBody>
                    <a:bodyPr/>
                    <a:lstStyle/>
                    <a:p>
                      <a:pPr marL="71755" marR="71755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Covered midpoint categories</a:t>
                      </a:r>
                    </a:p>
                  </a:txBody>
                  <a:tcPr marL="120066" marR="120066" marT="60033" marB="60033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Climate change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7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Oceanic acidification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0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Stratospheric ozone depletion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0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Human health of particulate and toxics 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0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Indoor &amp; worker impacts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 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7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Accidents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7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Ionizing radiation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0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Photo-oxidant formation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07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Acidification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07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Eutrophication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07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Ecotoxicity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50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Usage of soil and habitat loss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07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Energy use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07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Mineral extraction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50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Usage of water resources 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07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Soil quality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620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Usage of biotic resources</a:t>
                      </a: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30" marR="1244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(X)</a:t>
                      </a:r>
                    </a:p>
                  </a:txBody>
                  <a:tcPr marL="47994" marR="4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AEC8D999-191B-4C4B-8434-AA3A4F82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chemeClr val="tx2"/>
                </a:solidFill>
              </a:rPr>
              <a:t>Comparison of recent LCIA methods: damage categories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D80089-999B-4541-9261-3F8A71E74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32784"/>
              </p:ext>
            </p:extLst>
          </p:nvPr>
        </p:nvGraphicFramePr>
        <p:xfrm>
          <a:off x="1719507" y="1295165"/>
          <a:ext cx="9756742" cy="6449999"/>
        </p:xfrm>
        <a:graphic>
          <a:graphicData uri="http://schemas.openxmlformats.org/drawingml/2006/table">
            <a:tbl>
              <a:tblPr/>
              <a:tblGrid>
                <a:gridCol w="405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2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1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90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3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56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08308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METHODS: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0838" marR="90838" marT="45419" marB="45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Ecological scarcity [</a:t>
                      </a:r>
                      <a:r>
                        <a:rPr lang="en-US" sz="1200" b="1" cap="small" dirty="0" err="1">
                          <a:latin typeface="Times New Roman"/>
                          <a:ea typeface="Times New Roman"/>
                          <a:cs typeface="Times New Roman"/>
                        </a:rPr>
                        <a:t>Frischknecht</a:t>
                      </a:r>
                      <a:r>
                        <a:rPr lang="en-US" sz="1200" b="1" cap="small" dirty="0">
                          <a:latin typeface="Times New Roman"/>
                          <a:ea typeface="Times New Roman"/>
                          <a:cs typeface="Times New Roman"/>
                        </a:rPr>
                        <a:t> et 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1" dirty="0" err="1">
                          <a:latin typeface="Times New Roman"/>
                          <a:ea typeface="Times New Roman"/>
                          <a:cs typeface="Times New Roman"/>
                        </a:rPr>
                        <a:t>et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  al., 2008 &amp; 2013]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TRACI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200" b="1" cap="small">
                          <a:latin typeface="Times New Roman"/>
                          <a:ea typeface="Times New Roman"/>
                          <a:cs typeface="Times New Roman"/>
                        </a:rPr>
                        <a:t>Bare</a:t>
                      </a: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 et al., 2003]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IMPACT 2002+ [</a:t>
                      </a:r>
                      <a:r>
                        <a:rPr lang="en-US" sz="1200" b="1" cap="small" dirty="0">
                          <a:latin typeface="Times New Roman"/>
                          <a:ea typeface="Times New Roman"/>
                          <a:cs typeface="Times New Roman"/>
                        </a:rPr>
                        <a:t>Jolliet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 et al., 2003]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LIME [</a:t>
                      </a:r>
                      <a:r>
                        <a:rPr lang="en-US" sz="1200" b="1" cap="small">
                          <a:latin typeface="Times New Roman"/>
                          <a:ea typeface="Times New Roman"/>
                          <a:cs typeface="Times New Roman"/>
                        </a:rPr>
                        <a:t>Itsubo</a:t>
                      </a: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 et </a:t>
                      </a:r>
                      <a:r>
                        <a:rPr lang="en-US" sz="1200" b="1" cap="small">
                          <a:latin typeface="Times New Roman"/>
                          <a:ea typeface="Times New Roman"/>
                          <a:cs typeface="Times New Roman"/>
                        </a:rPr>
                        <a:t>Inaba, </a:t>
                      </a: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2003]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ReCiPe [</a:t>
                      </a:r>
                      <a:r>
                        <a:rPr lang="en-US" sz="1200" b="1" cap="small" dirty="0" err="1">
                          <a:latin typeface="Times New Roman"/>
                          <a:ea typeface="Times New Roman"/>
                          <a:cs typeface="Times New Roman"/>
                        </a:rPr>
                        <a:t>Goedkoop</a:t>
                      </a:r>
                      <a:r>
                        <a:rPr lang="en-US" sz="1200" b="1" cap="small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et al., 2008]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IMPACT World+ [BULLE et al, 2019]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36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level: </a:t>
                      </a: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0838" marR="90838" marT="45419" marB="45419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Policy objectives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307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b="1" dirty="0">
                          <a:latin typeface="Times New Roman"/>
                          <a:ea typeface="Times New Roman"/>
                          <a:cs typeface="Times New Roman"/>
                        </a:rPr>
                        <a:t>Normalization and weighting:</a:t>
                      </a: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0838" marR="90838" marT="45419" marB="45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Normalization and weighting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Normalization of damage for USA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Normalization of damage</a:t>
                      </a:r>
                      <a:b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Weighting up to user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Normalization and Japanese weighting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Normalization and weighting 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World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normalization.Weighting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of stepwise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69">
                <a:tc rowSpan="17">
                  <a:txBody>
                    <a:bodyPr/>
                    <a:lstStyle/>
                    <a:p>
                      <a:pPr marL="71755" marR="71755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Covered midpoint categories</a:t>
                      </a:r>
                    </a:p>
                  </a:txBody>
                  <a:tcPr marL="90838" marR="90838" marT="45419" marB="45419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Climate change 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6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Oceanic acidification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Stratospheric ozone depletion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Human health of particulate and toxics 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Indoor &amp; worker impacts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 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6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Accidents 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6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Ionizing radiation 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Photo-oxidant formation 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06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Acidification 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06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Eutrophication 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06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Ecotoxicity 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Usage of soil and habitat loss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06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Energy use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06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Mineral extraction 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4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Usage of water resources 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06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Soil quality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618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Usage of biotic resources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8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DE8ACF3-2346-4840-81E0-85C3FEC67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082300"/>
              </p:ext>
            </p:extLst>
          </p:nvPr>
        </p:nvGraphicFramePr>
        <p:xfrm>
          <a:off x="2985828" y="2288176"/>
          <a:ext cx="11661505" cy="4172144"/>
        </p:xfrm>
        <a:graphic>
          <a:graphicData uri="http://schemas.openxmlformats.org/drawingml/2006/table">
            <a:tbl>
              <a:tblPr/>
              <a:tblGrid>
                <a:gridCol w="410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4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4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1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1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79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51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99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75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12237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METHODS: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0525" marR="110525" marT="55263" marB="5526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PEF-footprint</a:t>
                      </a:r>
                    </a:p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JRC, 2018</a:t>
                      </a: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GLAM</a:t>
                      </a:r>
                      <a:b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200" b="1" dirty="0" err="1">
                          <a:latin typeface="Times New Roman"/>
                          <a:ea typeface="Times New Roman"/>
                          <a:cs typeface="Times New Roman"/>
                        </a:rPr>
                        <a:t>LCinitiative</a:t>
                      </a:r>
                      <a:endParaRPr lang="en-US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 err="1">
                          <a:latin typeface="Times New Roman"/>
                          <a:ea typeface="Times New Roman"/>
                          <a:cs typeface="Times New Roman"/>
                        </a:rPr>
                        <a:t>Frischnecht</a:t>
                      </a:r>
                      <a:r>
                        <a:rPr lang="en-US" sz="1200" b="1" baseline="0" dirty="0">
                          <a:latin typeface="Times New Roman"/>
                          <a:ea typeface="Times New Roman"/>
                          <a:cs typeface="Times New Roman"/>
                        </a:rPr>
                        <a:t> &amp; Jolliet 2016/8]</a:t>
                      </a:r>
                      <a:endParaRPr lang="en-US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LC IMPACT [VERONES et al, 2020]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19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level: </a:t>
                      </a: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0525" marR="110525" marT="55263" marB="55263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Midpoint + some damage</a:t>
                      </a: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721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b="1" dirty="0">
                          <a:latin typeface="Times New Roman"/>
                          <a:ea typeface="Times New Roman"/>
                          <a:cs typeface="Times New Roman"/>
                        </a:rPr>
                        <a:t>Normalization and weighting:</a:t>
                      </a: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0525" marR="110525" marT="55263" marB="55263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World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normalization.Weighting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of stepwise</a:t>
                      </a:r>
                    </a:p>
                  </a:txBody>
                  <a:tcPr marL="47881" marR="47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010">
                <a:tc rowSpan="6">
                  <a:txBody>
                    <a:bodyPr/>
                    <a:lstStyle/>
                    <a:p>
                      <a:pPr marL="71755" marR="71755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Covered damage categories</a:t>
                      </a:r>
                    </a:p>
                  </a:txBody>
                  <a:tcPr marL="110525" marR="110525" marT="55263" marB="55263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Human health </a:t>
                      </a: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847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Natural biotic </a:t>
                      </a:r>
                      <a:r>
                        <a:rPr lang="en-US" sz="1500" dirty="0" err="1">
                          <a:latin typeface="Times New Roman"/>
                          <a:ea typeface="Times New Roman"/>
                          <a:cs typeface="Times New Roman"/>
                        </a:rPr>
                        <a:t>env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. ecosystems</a:t>
                      </a: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6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Natural abiotic resources</a:t>
                      </a: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56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Natural biotic resources e.g. tuna </a:t>
                      </a: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56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Man-made biotic resources </a:t>
                      </a:r>
                      <a:r>
                        <a:rPr lang="en-US" sz="1500" dirty="0" err="1">
                          <a:latin typeface="Times New Roman"/>
                          <a:ea typeface="Times New Roman"/>
                          <a:cs typeface="Times New Roman"/>
                        </a:rPr>
                        <a:t>e.g.crops</a:t>
                      </a: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4440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Man-made abiotic resources e.g. buildings</a:t>
                      </a: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271" marR="124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881" marR="4788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AEC8D999-191B-4C4B-8434-AA3A4F82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Comparison of recent LCIA methods: damage categories</a:t>
            </a:r>
            <a:endParaRPr lang="en-US" dirty="0">
              <a:solidFill>
                <a:srgbClr val="FF2F92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D9C0007-6316-AB42-AD40-628C05EC3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134456"/>
              </p:ext>
            </p:extLst>
          </p:nvPr>
        </p:nvGraphicFramePr>
        <p:xfrm>
          <a:off x="1719507" y="2288176"/>
          <a:ext cx="9756741" cy="4149112"/>
        </p:xfrm>
        <a:graphic>
          <a:graphicData uri="http://schemas.openxmlformats.org/drawingml/2006/table">
            <a:tbl>
              <a:tblPr/>
              <a:tblGrid>
                <a:gridCol w="405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2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1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9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3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56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08308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METHODS: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0724" marR="110724" marT="55362" marB="5536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Ecological scarcity [</a:t>
                      </a:r>
                      <a:r>
                        <a:rPr lang="en-US" sz="1200" b="1" cap="small" dirty="0" err="1">
                          <a:latin typeface="Times New Roman"/>
                          <a:ea typeface="Times New Roman"/>
                          <a:cs typeface="Times New Roman"/>
                        </a:rPr>
                        <a:t>Frischknecht</a:t>
                      </a:r>
                      <a:r>
                        <a:rPr lang="en-US" sz="1200" b="1" cap="small" dirty="0">
                          <a:latin typeface="Times New Roman"/>
                          <a:ea typeface="Times New Roman"/>
                          <a:cs typeface="Times New Roman"/>
                        </a:rPr>
                        <a:t> et 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1" dirty="0" err="1">
                          <a:latin typeface="Times New Roman"/>
                          <a:ea typeface="Times New Roman"/>
                          <a:cs typeface="Times New Roman"/>
                        </a:rPr>
                        <a:t>et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  al., 2008 &amp; 2013]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TRACI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200" b="1" cap="small">
                          <a:latin typeface="Times New Roman"/>
                          <a:ea typeface="Times New Roman"/>
                          <a:cs typeface="Times New Roman"/>
                        </a:rPr>
                        <a:t>Bare</a:t>
                      </a: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 et al., 2003]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IMPACT 2002+ [</a:t>
                      </a:r>
                      <a:r>
                        <a:rPr lang="en-US" sz="1200" b="1" cap="small" dirty="0">
                          <a:latin typeface="Times New Roman"/>
                          <a:ea typeface="Times New Roman"/>
                          <a:cs typeface="Times New Roman"/>
                        </a:rPr>
                        <a:t>Jolliet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 et al., 2003]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LIME [</a:t>
                      </a:r>
                      <a:r>
                        <a:rPr lang="en-US" sz="1200" b="1" cap="small">
                          <a:latin typeface="Times New Roman"/>
                          <a:ea typeface="Times New Roman"/>
                          <a:cs typeface="Times New Roman"/>
                        </a:rPr>
                        <a:t>Itsubo</a:t>
                      </a: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 et </a:t>
                      </a:r>
                      <a:r>
                        <a:rPr lang="en-US" sz="1200" b="1" cap="small">
                          <a:latin typeface="Times New Roman"/>
                          <a:ea typeface="Times New Roman"/>
                          <a:cs typeface="Times New Roman"/>
                        </a:rPr>
                        <a:t>Inaba, </a:t>
                      </a: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</a:rPr>
                        <a:t>2003]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ReCiPe [</a:t>
                      </a:r>
                      <a:r>
                        <a:rPr lang="en-US" sz="1200" b="1" cap="small" dirty="0" err="1">
                          <a:latin typeface="Times New Roman"/>
                          <a:ea typeface="Times New Roman"/>
                          <a:cs typeface="Times New Roman"/>
                        </a:rPr>
                        <a:t>Goedkoop</a:t>
                      </a:r>
                      <a:r>
                        <a:rPr lang="en-US" sz="1200" b="1" cap="small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et al., 2008]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IMPACT World+ [BULLE et al, 2019]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35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level: </a:t>
                      </a: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0724" marR="110724" marT="55362" marB="55362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Policy objectives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Midpoint &amp; damage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307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b="1" dirty="0">
                          <a:latin typeface="Times New Roman"/>
                          <a:ea typeface="Times New Roman"/>
                          <a:cs typeface="Times New Roman"/>
                        </a:rPr>
                        <a:t>Normalization and weighting:</a:t>
                      </a: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0724" marR="110724" marT="55362" marB="5536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Normalization and weighting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Normalization of damage for USA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Normalization of damage</a:t>
                      </a:r>
                      <a:b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Weighting up to user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Normalization and Japanese weighting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Normalization and weighting </a:t>
                      </a:r>
                    </a:p>
                  </a:txBody>
                  <a:tcPr marL="25316" marR="12436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World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normalization.Weighting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of stepwise</a:t>
                      </a:r>
                    </a:p>
                  </a:txBody>
                  <a:tcPr marL="47967" marR="4796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68">
                <a:tc rowSpan="6">
                  <a:txBody>
                    <a:bodyPr/>
                    <a:lstStyle/>
                    <a:p>
                      <a:pPr marL="71755" marR="71755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Covered damage categories</a:t>
                      </a:r>
                    </a:p>
                  </a:txBody>
                  <a:tcPr marL="110724" marR="110724" marT="55362" marB="55362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Human health 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823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Natural biotic </a:t>
                      </a:r>
                      <a:r>
                        <a:rPr lang="en-US" sz="1500" dirty="0" err="1">
                          <a:latin typeface="Times New Roman"/>
                          <a:ea typeface="Times New Roman"/>
                          <a:cs typeface="Times New Roman"/>
                        </a:rPr>
                        <a:t>env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. ecosystems</a:t>
                      </a:r>
                    </a:p>
                  </a:txBody>
                  <a:tcPr marL="25316" marR="12436" marT="0" marB="0" anchor="ctr"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4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Natural abiotic resources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54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Natural biotic resources e.g. tuna 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54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Man-made biotic resources </a:t>
                      </a:r>
                      <a:r>
                        <a:rPr lang="en-US" sz="1500" dirty="0" err="1">
                          <a:latin typeface="Times New Roman"/>
                          <a:ea typeface="Times New Roman"/>
                          <a:cs typeface="Times New Roman"/>
                        </a:rPr>
                        <a:t>e.g.crops</a:t>
                      </a: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4413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Man-made abiotic resources e.g. buildings</a:t>
                      </a: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316" marR="1243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967" marR="4796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53072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2">
  <a:themeElements>
    <a:clrScheme name="SPH brand colors">
      <a:dk1>
        <a:srgbClr val="00274C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Notes (not to be shown in vide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AI_PPT_Template_2.potx</Template>
  <TotalTime>19021</TotalTime>
  <Words>1057</Words>
  <Application>Microsoft Office PowerPoint</Application>
  <PresentationFormat>Custom</PresentationFormat>
  <Paragraphs>405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Arial Bold</vt:lpstr>
      <vt:lpstr>Calibri</vt:lpstr>
      <vt:lpstr>Courier New</vt:lpstr>
      <vt:lpstr>Times New Roman</vt:lpstr>
      <vt:lpstr>Wingdings</vt:lpstr>
      <vt:lpstr>Title slide option 2</vt:lpstr>
      <vt:lpstr>Content slide (shown in video)</vt:lpstr>
      <vt:lpstr>2_Content slide (shown in video)</vt:lpstr>
      <vt:lpstr>3_Content slide (shown in video)</vt:lpstr>
      <vt:lpstr>Notes (not to be shown in video)</vt:lpstr>
      <vt:lpstr>PowerPoint Presentation</vt:lpstr>
      <vt:lpstr>Learning Objectives</vt:lpstr>
      <vt:lpstr>LCIA framework</vt:lpstr>
      <vt:lpstr>Comparison of LCIA Methods</vt:lpstr>
      <vt:lpstr>Comparison of recent LCIA methods: damage categories</vt:lpstr>
      <vt:lpstr>Comparison of recent LCIA methods: damage categories</vt:lpstr>
    </vt:vector>
  </TitlesOfParts>
  <Manager/>
  <Company>University of Michigan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Scott Mahler</dc:creator>
  <cp:keywords/>
  <dc:description/>
  <cp:lastModifiedBy>Olivier Jolliet</cp:lastModifiedBy>
  <cp:revision>652</cp:revision>
  <cp:lastPrinted>2020-03-06T14:51:20Z</cp:lastPrinted>
  <dcterms:created xsi:type="dcterms:W3CDTF">2017-01-17T22:07:36Z</dcterms:created>
  <dcterms:modified xsi:type="dcterms:W3CDTF">2020-11-24T18:14:10Z</dcterms:modified>
  <cp:category/>
</cp:coreProperties>
</file>