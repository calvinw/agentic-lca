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7" r:id="rId1"/>
    <p:sldMasterId id="2147483785" r:id="rId2"/>
    <p:sldMasterId id="2147483806" r:id="rId3"/>
    <p:sldMasterId id="2147483808" r:id="rId4"/>
    <p:sldMasterId id="2147483796" r:id="rId5"/>
  </p:sldMasterIdLst>
  <p:notesMasterIdLst>
    <p:notesMasterId r:id="rId10"/>
  </p:notesMasterIdLst>
  <p:handoutMasterIdLst>
    <p:handoutMasterId r:id="rId11"/>
  </p:handoutMasterIdLst>
  <p:sldIdLst>
    <p:sldId id="267" r:id="rId6"/>
    <p:sldId id="536" r:id="rId7"/>
    <p:sldId id="553" r:id="rId8"/>
    <p:sldId id="542" r:id="rId9"/>
  </p:sldIdLst>
  <p:sldSz cx="16257588" cy="9144000"/>
  <p:notesSz cx="6858000" cy="9144000"/>
  <p:defaultTextStyle>
    <a:defPPr>
      <a:defRPr lang="en-US"/>
    </a:defPPr>
    <a:lvl1pPr marL="0" algn="l" defTabSz="812810" rtl="0" eaLnBrk="1" latinLnBrk="0" hangingPunct="1">
      <a:defRPr sz="3200" kern="1200">
        <a:solidFill>
          <a:schemeClr val="tx1"/>
        </a:solidFill>
        <a:latin typeface="+mn-lt"/>
        <a:ea typeface="+mn-ea"/>
        <a:cs typeface="+mn-cs"/>
      </a:defRPr>
    </a:lvl1pPr>
    <a:lvl2pPr marL="812810" algn="l" defTabSz="812810" rtl="0" eaLnBrk="1" latinLnBrk="0" hangingPunct="1">
      <a:defRPr sz="3200" kern="1200">
        <a:solidFill>
          <a:schemeClr val="tx1"/>
        </a:solidFill>
        <a:latin typeface="+mn-lt"/>
        <a:ea typeface="+mn-ea"/>
        <a:cs typeface="+mn-cs"/>
      </a:defRPr>
    </a:lvl2pPr>
    <a:lvl3pPr marL="1625620" algn="l" defTabSz="812810" rtl="0" eaLnBrk="1" latinLnBrk="0" hangingPunct="1">
      <a:defRPr sz="3200" kern="1200">
        <a:solidFill>
          <a:schemeClr val="tx1"/>
        </a:solidFill>
        <a:latin typeface="+mn-lt"/>
        <a:ea typeface="+mn-ea"/>
        <a:cs typeface="+mn-cs"/>
      </a:defRPr>
    </a:lvl3pPr>
    <a:lvl4pPr marL="2438430" algn="l" defTabSz="812810" rtl="0" eaLnBrk="1" latinLnBrk="0" hangingPunct="1">
      <a:defRPr sz="3200" kern="1200">
        <a:solidFill>
          <a:schemeClr val="tx1"/>
        </a:solidFill>
        <a:latin typeface="+mn-lt"/>
        <a:ea typeface="+mn-ea"/>
        <a:cs typeface="+mn-cs"/>
      </a:defRPr>
    </a:lvl4pPr>
    <a:lvl5pPr marL="3251241" algn="l" defTabSz="812810" rtl="0" eaLnBrk="1" latinLnBrk="0" hangingPunct="1">
      <a:defRPr sz="3200" kern="1200">
        <a:solidFill>
          <a:schemeClr val="tx1"/>
        </a:solidFill>
        <a:latin typeface="+mn-lt"/>
        <a:ea typeface="+mn-ea"/>
        <a:cs typeface="+mn-cs"/>
      </a:defRPr>
    </a:lvl5pPr>
    <a:lvl6pPr marL="4064051" algn="l" defTabSz="812810" rtl="0" eaLnBrk="1" latinLnBrk="0" hangingPunct="1">
      <a:defRPr sz="3200" kern="1200">
        <a:solidFill>
          <a:schemeClr val="tx1"/>
        </a:solidFill>
        <a:latin typeface="+mn-lt"/>
        <a:ea typeface="+mn-ea"/>
        <a:cs typeface="+mn-cs"/>
      </a:defRPr>
    </a:lvl6pPr>
    <a:lvl7pPr marL="4876861" algn="l" defTabSz="812810" rtl="0" eaLnBrk="1" latinLnBrk="0" hangingPunct="1">
      <a:defRPr sz="3200" kern="1200">
        <a:solidFill>
          <a:schemeClr val="tx1"/>
        </a:solidFill>
        <a:latin typeface="+mn-lt"/>
        <a:ea typeface="+mn-ea"/>
        <a:cs typeface="+mn-cs"/>
      </a:defRPr>
    </a:lvl7pPr>
    <a:lvl8pPr marL="5689671" algn="l" defTabSz="812810" rtl="0" eaLnBrk="1" latinLnBrk="0" hangingPunct="1">
      <a:defRPr sz="3200" kern="1200">
        <a:solidFill>
          <a:schemeClr val="tx1"/>
        </a:solidFill>
        <a:latin typeface="+mn-lt"/>
        <a:ea typeface="+mn-ea"/>
        <a:cs typeface="+mn-cs"/>
      </a:defRPr>
    </a:lvl8pPr>
    <a:lvl9pPr marL="6502481" algn="l" defTabSz="812810" rtl="0" eaLnBrk="1" latinLnBrk="0" hangingPunct="1">
      <a:defRPr sz="32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slides" id="{C7F91DBA-90A9-5343-8B43-F0D96459C604}">
          <p14:sldIdLst>
            <p14:sldId id="267"/>
            <p14:sldId id="536"/>
            <p14:sldId id="553"/>
            <p14:sldId id="542"/>
          </p14:sldIdLst>
        </p14:section>
      </p14:sectionLst>
    </p:ext>
    <p:ext uri="{EFAFB233-063F-42B5-8137-9DF3F51BA10A}">
      <p15:sldGuideLst xmlns:p15="http://schemas.microsoft.com/office/powerpoint/2012/main">
        <p15:guide id="1" orient="horz" pos="3216" userDrawn="1">
          <p15:clr>
            <a:srgbClr val="A4A3A4"/>
          </p15:clr>
        </p15:guide>
        <p15:guide id="2" pos="51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F92"/>
    <a:srgbClr val="00274C"/>
    <a:srgbClr val="E4E1DF"/>
    <a:srgbClr val="B5B5B5"/>
    <a:srgbClr val="050909"/>
    <a:srgbClr val="FFCB05"/>
    <a:srgbClr val="EA6A20"/>
    <a:srgbClr val="06090A"/>
    <a:srgbClr val="090B0B"/>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7422"/>
    <p:restoredTop sz="81005"/>
  </p:normalViewPr>
  <p:slideViewPr>
    <p:cSldViewPr snapToGrid="0">
      <p:cViewPr varScale="1">
        <p:scale>
          <a:sx n="43" d="100"/>
          <a:sy n="43" d="100"/>
        </p:scale>
        <p:origin x="272" y="1440"/>
      </p:cViewPr>
      <p:guideLst>
        <p:guide orient="horz" pos="3216"/>
        <p:guide pos="5120"/>
      </p:guideLst>
    </p:cSldViewPr>
  </p:slideViewPr>
  <p:notesTextViewPr>
    <p:cViewPr>
      <p:scale>
        <a:sx n="114" d="100"/>
        <a:sy n="114" d="100"/>
      </p:scale>
      <p:origin x="0" y="0"/>
    </p:cViewPr>
  </p:notesTextViewPr>
  <p:sorterViewPr>
    <p:cViewPr>
      <p:scale>
        <a:sx n="100" d="100"/>
        <a:sy n="100" d="100"/>
      </p:scale>
      <p:origin x="0" y="0"/>
    </p:cViewPr>
  </p:sorterViewPr>
  <p:notesViewPr>
    <p:cSldViewPr snapToGrid="0">
      <p:cViewPr varScale="1">
        <p:scale>
          <a:sx n="131" d="100"/>
          <a:sy n="131" d="100"/>
        </p:scale>
        <p:origin x="515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32C488-5493-244C-B1EB-F7CF3662E0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AD1453-9CD9-5640-A3F8-C0F3421BFA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5623C7-AC5F-3A41-B4CB-88972659BBB1}" type="datetimeFigureOut">
              <a:rPr lang="en-US" smtClean="0"/>
              <a:t>3/11/21</a:t>
            </a:fld>
            <a:endParaRPr lang="en-US"/>
          </a:p>
        </p:txBody>
      </p:sp>
      <p:sp>
        <p:nvSpPr>
          <p:cNvPr id="4" name="Footer Placeholder 3">
            <a:extLst>
              <a:ext uri="{FF2B5EF4-FFF2-40B4-BE49-F238E27FC236}">
                <a16:creationId xmlns:a16="http://schemas.microsoft.com/office/drawing/2014/main" id="{514A9942-DAC7-014E-98D2-7E2678599F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01CB1E6-A261-2741-AFAE-436A65E0D5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0EC83E3-4C2A-B644-AB75-B8266C440FBE}" type="slidenum">
              <a:rPr lang="en-US" smtClean="0"/>
              <a:t>‹#›</a:t>
            </a:fld>
            <a:endParaRPr lang="en-US"/>
          </a:p>
        </p:txBody>
      </p:sp>
    </p:spTree>
    <p:extLst>
      <p:ext uri="{BB962C8B-B14F-4D97-AF65-F5344CB8AC3E}">
        <p14:creationId xmlns:p14="http://schemas.microsoft.com/office/powerpoint/2010/main" val="3172161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733527-EF9E-5940-92CE-307645268EE1}" type="datetimeFigureOut">
              <a:rPr lang="en-US" smtClean="0"/>
              <a:t>3/11/21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73DB68-E51C-0443-B8CE-2997CF470B35}" type="slidenum">
              <a:rPr lang="en-US" smtClean="0"/>
              <a:t>‹#›</a:t>
            </a:fld>
            <a:endParaRPr lang="en-US"/>
          </a:p>
        </p:txBody>
      </p:sp>
    </p:spTree>
    <p:extLst>
      <p:ext uri="{BB962C8B-B14F-4D97-AF65-F5344CB8AC3E}">
        <p14:creationId xmlns:p14="http://schemas.microsoft.com/office/powerpoint/2010/main" val="720693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Enter lecture title, and subtitle if present, in the text box above. Enter name and credentials on the second line as shown. The slide background graphic for this introduction slide can be replaced with an alternate image more suited to the topic or department (this step will be handled by our graphics team in the production phase).</a:t>
            </a:r>
          </a:p>
        </p:txBody>
      </p:sp>
      <p:sp>
        <p:nvSpPr>
          <p:cNvPr id="4" name="Slide Number Placeholder 3"/>
          <p:cNvSpPr>
            <a:spLocks noGrp="1"/>
          </p:cNvSpPr>
          <p:nvPr>
            <p:ph type="sldNum" sz="quarter" idx="5"/>
          </p:nvPr>
        </p:nvSpPr>
        <p:spPr/>
        <p:txBody>
          <a:bodyPr/>
          <a:lstStyle/>
          <a:p>
            <a:fld id="{C773DB68-E51C-0443-B8CE-2997CF470B35}" type="slidenum">
              <a:rPr lang="en-US" smtClean="0"/>
              <a:t>1</a:t>
            </a:fld>
            <a:endParaRPr lang="en-US"/>
          </a:p>
        </p:txBody>
      </p:sp>
    </p:spTree>
    <p:extLst>
      <p:ext uri="{BB962C8B-B14F-4D97-AF65-F5344CB8AC3E}">
        <p14:creationId xmlns:p14="http://schemas.microsoft.com/office/powerpoint/2010/main" val="589917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eaLnBrk="1" hangingPunct="1">
              <a:spcBef>
                <a:spcPct val="0"/>
              </a:spcBef>
              <a:buClrTx/>
              <a:buFontTx/>
              <a:buNone/>
            </a:pPr>
            <a:endParaRPr lang="en-US" altLang="en-US" sz="1200" dirty="0">
              <a:solidFill>
                <a:schemeClr val="tx1"/>
              </a:solidFill>
            </a:endParaRPr>
          </a:p>
        </p:txBody>
      </p:sp>
      <p:sp>
        <p:nvSpPr>
          <p:cNvPr id="4" name="Slide Number Placeholder 3"/>
          <p:cNvSpPr>
            <a:spLocks noGrp="1"/>
          </p:cNvSpPr>
          <p:nvPr>
            <p:ph type="sldNum" sz="quarter" idx="5"/>
          </p:nvPr>
        </p:nvSpPr>
        <p:spPr/>
        <p:txBody>
          <a:bodyPr/>
          <a:lstStyle/>
          <a:p>
            <a:fld id="{C773DB68-E51C-0443-B8CE-2997CF470B35}" type="slidenum">
              <a:rPr lang="en-US" smtClean="0"/>
              <a:t>2</a:t>
            </a:fld>
            <a:endParaRPr lang="en-US"/>
          </a:p>
        </p:txBody>
      </p:sp>
    </p:spTree>
    <p:extLst>
      <p:ext uri="{BB962C8B-B14F-4D97-AF65-F5344CB8AC3E}">
        <p14:creationId xmlns:p14="http://schemas.microsoft.com/office/powerpoint/2010/main" val="2241105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27259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620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1" name="Text Placeholder 10"/>
          <p:cNvSpPr>
            <a:spLocks noGrp="1"/>
          </p:cNvSpPr>
          <p:nvPr>
            <p:ph type="body" sz="quarter" idx="10"/>
          </p:nvPr>
        </p:nvSpPr>
        <p:spPr>
          <a:xfrm>
            <a:off x="879475" y="1405719"/>
            <a:ext cx="14630400" cy="6373505"/>
          </a:xfrm>
        </p:spPr>
        <p:txBody>
          <a:bodyPr/>
          <a:lstStyle/>
          <a:p>
            <a:pPr lvl="0"/>
            <a:r>
              <a:rPr lang="en-US" dirty="0"/>
              <a:t>Edit Master text styles</a:t>
            </a:r>
          </a:p>
        </p:txBody>
      </p:sp>
    </p:spTree>
    <p:extLst>
      <p:ext uri="{BB962C8B-B14F-4D97-AF65-F5344CB8AC3E}">
        <p14:creationId xmlns:p14="http://schemas.microsoft.com/office/powerpoint/2010/main" val="869590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pPr>
              <a:defRPr/>
            </a:pPr>
            <a:fld id="{A3B33E8A-D9FE-4ADA-A6F9-338849F03302}" type="slidenum">
              <a:rPr lang="en-US" altLang="en-US"/>
              <a:pPr>
                <a:defRPr/>
              </a:pPr>
              <a:t>‹#›</a:t>
            </a:fld>
            <a:endParaRPr lang="en-US" altLang="en-US"/>
          </a:p>
        </p:txBody>
      </p:sp>
      <p:sp>
        <p:nvSpPr>
          <p:cNvPr id="5" name="Rectangle 10"/>
          <p:cNvSpPr>
            <a:spLocks noGrp="1" noChangeArrowheads="1"/>
          </p:cNvSpPr>
          <p:nvPr>
            <p:ph type="ftr" sz="quarter" idx="11"/>
          </p:nvPr>
        </p:nvSpPr>
        <p:spPr>
          <a:ln/>
        </p:spPr>
        <p:txBody>
          <a:bodyPr/>
          <a:lstStyle>
            <a:lvl1pPr>
              <a:defRPr/>
            </a:lvl1pPr>
          </a:lstStyle>
          <a:p>
            <a:pPr>
              <a:defRPr/>
            </a:pPr>
            <a:r>
              <a:rPr lang="en-US"/>
              <a:t>iMod Group – Prof. Olivier Jolliet</a:t>
            </a:r>
          </a:p>
        </p:txBody>
      </p:sp>
    </p:spTree>
    <p:extLst>
      <p:ext uri="{BB962C8B-B14F-4D97-AF65-F5344CB8AC3E}">
        <p14:creationId xmlns:p14="http://schemas.microsoft.com/office/powerpoint/2010/main" val="2026276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B94A1462-55F6-494B-8554-951DED06E28A}"/>
              </a:ext>
            </a:extLst>
          </p:cNvPr>
          <p:cNvSpPr>
            <a:spLocks noGrp="1"/>
          </p:cNvSpPr>
          <p:nvPr>
            <p:ph idx="1"/>
          </p:nvPr>
        </p:nvSpPr>
        <p:spPr>
          <a:xfrm>
            <a:off x="878783" y="386862"/>
            <a:ext cx="14631828" cy="7389165"/>
          </a:xfrm>
          <a:prstGeom prst="rect">
            <a:avLst/>
          </a:prstGeom>
        </p:spPr>
        <p:txBody>
          <a:bodyPr vert="horz" lIns="91440" tIns="45720" rIns="91440" bIns="45720" rtlCol="0">
            <a:normAutofit/>
          </a:bodyPr>
          <a:lstStyle/>
          <a:p>
            <a:pPr lvl="0"/>
            <a:r>
              <a:rPr lang="en-US" dirty="0"/>
              <a:t>Edit Master text styles</a:t>
            </a:r>
          </a:p>
        </p:txBody>
      </p:sp>
    </p:spTree>
    <p:extLst>
      <p:ext uri="{BB962C8B-B14F-4D97-AF65-F5344CB8AC3E}">
        <p14:creationId xmlns:p14="http://schemas.microsoft.com/office/powerpoint/2010/main" val="3604544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1" name="Text Placeholder 10"/>
          <p:cNvSpPr>
            <a:spLocks noGrp="1"/>
          </p:cNvSpPr>
          <p:nvPr>
            <p:ph type="body" sz="quarter" idx="10"/>
          </p:nvPr>
        </p:nvSpPr>
        <p:spPr>
          <a:xfrm>
            <a:off x="879475" y="1405719"/>
            <a:ext cx="14630400" cy="6373505"/>
          </a:xfrm>
        </p:spPr>
        <p:txBody>
          <a:bodyPr/>
          <a:lstStyle/>
          <a:p>
            <a:pPr lvl="0"/>
            <a:r>
              <a:rPr lang="en-US" dirty="0"/>
              <a:t>Edit Master text styles</a:t>
            </a:r>
          </a:p>
        </p:txBody>
      </p:sp>
    </p:spTree>
    <p:extLst>
      <p:ext uri="{BB962C8B-B14F-4D97-AF65-F5344CB8AC3E}">
        <p14:creationId xmlns:p14="http://schemas.microsoft.com/office/powerpoint/2010/main" val="2738806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er notes (not to be shown in video)">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581665" y="1301578"/>
            <a:ext cx="13007546" cy="5807676"/>
          </a:xfrm>
        </p:spPr>
        <p:txBody>
          <a:bodyPr/>
          <a:lstStyle>
            <a:lvl1pPr marL="0" indent="0">
              <a:buNone/>
              <a:defRPr/>
            </a:lvl1pPr>
          </a:lstStyle>
          <a:p>
            <a:pPr lvl="0"/>
            <a:r>
              <a:rPr lang="en-US" dirty="0"/>
              <a:t>Edit Master text styles</a:t>
            </a:r>
          </a:p>
        </p:txBody>
      </p:sp>
    </p:spTree>
    <p:extLst>
      <p:ext uri="{BB962C8B-B14F-4D97-AF65-F5344CB8AC3E}">
        <p14:creationId xmlns:p14="http://schemas.microsoft.com/office/powerpoint/2010/main" val="13474145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27000">
              <a:srgbClr val="ECECEC"/>
            </a:gs>
            <a:gs pos="80000">
              <a:schemeClr val="bg1"/>
            </a:gs>
            <a:gs pos="2000">
              <a:schemeClr val="bg1">
                <a:lumMod val="50000"/>
              </a:schemeClr>
            </a:gs>
          </a:gsLst>
          <a:lin ang="16200000" scaled="0"/>
          <a:tileRect/>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F79A2DE-44A3-E846-BDE0-2432CDF19ED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3957" y="0"/>
            <a:ext cx="16271545" cy="7776028"/>
          </a:xfrm>
          <a:prstGeom prst="rect">
            <a:avLst/>
          </a:prstGeom>
        </p:spPr>
      </p:pic>
      <p:sp>
        <p:nvSpPr>
          <p:cNvPr id="3" name="Rectangle 2"/>
          <p:cNvSpPr/>
          <p:nvPr userDrawn="1"/>
        </p:nvSpPr>
        <p:spPr>
          <a:xfrm>
            <a:off x="0" y="7674428"/>
            <a:ext cx="16257588" cy="1469571"/>
          </a:xfrm>
          <a:prstGeom prst="rect">
            <a:avLst/>
          </a:prstGeom>
          <a:solidFill>
            <a:srgbClr val="00274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descr="M_SchoolPublicHealth_logo_white.png"/>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759986" y="8007770"/>
            <a:ext cx="5372640" cy="767520"/>
          </a:xfrm>
          <a:prstGeom prst="rect">
            <a:avLst/>
          </a:prstGeom>
        </p:spPr>
      </p:pic>
      <p:sp>
        <p:nvSpPr>
          <p:cNvPr id="5" name="Rectangle 4"/>
          <p:cNvSpPr/>
          <p:nvPr userDrawn="1"/>
        </p:nvSpPr>
        <p:spPr>
          <a:xfrm>
            <a:off x="0" y="7623628"/>
            <a:ext cx="16257588" cy="152400"/>
          </a:xfrm>
          <a:prstGeom prst="rect">
            <a:avLst/>
          </a:prstGeom>
          <a:solidFill>
            <a:srgbClr val="FFCB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FA01CEF-1B1A-0A48-82FA-0DF2D06BC503}"/>
              </a:ext>
            </a:extLst>
          </p:cNvPr>
          <p:cNvSpPr/>
          <p:nvPr userDrawn="1"/>
        </p:nvSpPr>
        <p:spPr>
          <a:xfrm>
            <a:off x="0" y="4767944"/>
            <a:ext cx="16257588" cy="2846366"/>
          </a:xfrm>
          <a:prstGeom prst="rect">
            <a:avLst/>
          </a:prstGeom>
          <a:gradFill flip="none" rotWithShape="1">
            <a:gsLst>
              <a:gs pos="100000">
                <a:srgbClr val="587ABC">
                  <a:lumMod val="74000"/>
                  <a:alpha val="55000"/>
                </a:srgbClr>
              </a:gs>
              <a:gs pos="0">
                <a:schemeClr val="bg1">
                  <a:lumMod val="95000"/>
                </a:schemeClr>
              </a:gs>
              <a:gs pos="66000">
                <a:srgbClr val="EEEEEE"/>
              </a:gs>
            </a:gsLst>
            <a:lin ang="1200000" scaled="0"/>
            <a:tileRect/>
          </a:gra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25F38555-B398-464F-9B4E-17CD4019591E}"/>
              </a:ext>
            </a:extLst>
          </p:cNvPr>
          <p:cNvPicPr>
            <a:picLocks noChangeAspect="1"/>
          </p:cNvPicPr>
          <p:nvPr userDrawn="1"/>
        </p:nvPicPr>
        <p:blipFill rotWithShape="1">
          <a:blip r:embed="rId5" cstate="hqprint">
            <a:alphaModFix amt="20000"/>
            <a:extLst>
              <a:ext uri="{28A0092B-C50C-407E-A947-70E740481C1C}">
                <a14:useLocalDpi xmlns:a14="http://schemas.microsoft.com/office/drawing/2010/main"/>
              </a:ext>
            </a:extLst>
          </a:blip>
          <a:srcRect/>
          <a:stretch/>
        </p:blipFill>
        <p:spPr>
          <a:xfrm>
            <a:off x="-13957" y="4757918"/>
            <a:ext cx="12192001" cy="2891110"/>
          </a:xfrm>
          <a:prstGeom prst="rect">
            <a:avLst/>
          </a:prstGeom>
        </p:spPr>
      </p:pic>
      <p:cxnSp>
        <p:nvCxnSpPr>
          <p:cNvPr id="18" name="Straight Connector 17">
            <a:extLst>
              <a:ext uri="{FF2B5EF4-FFF2-40B4-BE49-F238E27FC236}">
                <a16:creationId xmlns:a16="http://schemas.microsoft.com/office/drawing/2014/main" id="{33F0919A-AFA5-E147-95FD-08292D7FF4FB}"/>
              </a:ext>
            </a:extLst>
          </p:cNvPr>
          <p:cNvCxnSpPr>
            <a:cxnSpLocks/>
          </p:cNvCxnSpPr>
          <p:nvPr userDrawn="1"/>
        </p:nvCxnSpPr>
        <p:spPr>
          <a:xfrm>
            <a:off x="0" y="6607960"/>
            <a:ext cx="10140043" cy="0"/>
          </a:xfrm>
          <a:prstGeom prst="line">
            <a:avLst/>
          </a:prstGeom>
          <a:ln w="38100">
            <a:solidFill>
              <a:srgbClr val="00274C"/>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5ED9A923-5028-2F43-A7E3-007357342122}"/>
              </a:ext>
            </a:extLst>
          </p:cNvPr>
          <p:cNvSpPr/>
          <p:nvPr userDrawn="1"/>
        </p:nvSpPr>
        <p:spPr>
          <a:xfrm>
            <a:off x="0" y="4550950"/>
            <a:ext cx="16257588" cy="224918"/>
          </a:xfrm>
          <a:prstGeom prst="rect">
            <a:avLst/>
          </a:prstGeom>
          <a:gradFill>
            <a:gsLst>
              <a:gs pos="63000">
                <a:schemeClr val="bg1"/>
              </a:gs>
              <a:gs pos="0">
                <a:srgbClr val="587ABC"/>
              </a:gs>
            </a:gsLst>
            <a:lin ang="0" scaled="0"/>
          </a:gra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3915076"/>
      </p:ext>
    </p:extLst>
  </p:cSld>
  <p:clrMap bg1="lt1" tx1="dk1" bg2="lt2" tx2="dk2" accent1="accent1" accent2="accent2" accent3="accent3" accent4="accent4" accent5="accent5" accent6="accent6" hlink="hlink" folHlink="folHlink"/>
  <p:sldLayoutIdLst>
    <p:sldLayoutId id="2147483771"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78783" y="1405719"/>
            <a:ext cx="14631828" cy="6370308"/>
          </a:xfrm>
          <a:prstGeom prst="rect">
            <a:avLst/>
          </a:prstGeom>
        </p:spPr>
        <p:txBody>
          <a:bodyPr vert="horz" lIns="91440" tIns="45720" rIns="91440" bIns="45720" rtlCol="0">
            <a:normAutofit/>
          </a:bodyPr>
          <a:lstStyle/>
          <a:p>
            <a:pPr lvl="0"/>
            <a:r>
              <a:rPr lang="en-US" dirty="0"/>
              <a:t>Edit Master text styles</a:t>
            </a:r>
          </a:p>
        </p:txBody>
      </p:sp>
      <p:sp>
        <p:nvSpPr>
          <p:cNvPr id="3" name="Title Placeholder 2"/>
          <p:cNvSpPr>
            <a:spLocks noGrp="1"/>
          </p:cNvSpPr>
          <p:nvPr>
            <p:ph type="title"/>
          </p:nvPr>
        </p:nvSpPr>
        <p:spPr>
          <a:xfrm>
            <a:off x="878783" y="272169"/>
            <a:ext cx="14631828" cy="870385"/>
          </a:xfrm>
          <a:prstGeom prst="rect">
            <a:avLst/>
          </a:prstGeom>
        </p:spPr>
        <p:txBody>
          <a:bodyPr vert="horz" lIns="91440" tIns="45720" rIns="91440" bIns="45720" rtlCol="0" anchor="ctr">
            <a:noAutofit/>
          </a:bodyPr>
          <a:lstStyle/>
          <a:p>
            <a:r>
              <a:rPr lang="en-US" dirty="0"/>
              <a:t>Click to edit Master title style</a:t>
            </a:r>
          </a:p>
        </p:txBody>
      </p:sp>
      <p:sp>
        <p:nvSpPr>
          <p:cNvPr id="10" name="Rectangle 9">
            <a:extLst>
              <a:ext uri="{FF2B5EF4-FFF2-40B4-BE49-F238E27FC236}">
                <a16:creationId xmlns:a16="http://schemas.microsoft.com/office/drawing/2014/main" id="{E0D8E102-C795-3941-9125-C4D5BBD0193F}"/>
              </a:ext>
            </a:extLst>
          </p:cNvPr>
          <p:cNvSpPr/>
          <p:nvPr userDrawn="1"/>
        </p:nvSpPr>
        <p:spPr>
          <a:xfrm>
            <a:off x="0" y="0"/>
            <a:ext cx="16257588" cy="224918"/>
          </a:xfrm>
          <a:prstGeom prst="rect">
            <a:avLst/>
          </a:prstGeom>
          <a:gradFill>
            <a:gsLst>
              <a:gs pos="63000">
                <a:srgbClr val="00274C"/>
              </a:gs>
              <a:gs pos="0">
                <a:srgbClr val="587ABC"/>
              </a:gs>
            </a:gsLst>
            <a:lin ang="0" scaled="0"/>
          </a:gra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9BB45DA2-7C42-8445-AD00-272875B751FD}"/>
              </a:ext>
            </a:extLst>
          </p:cNvPr>
          <p:cNvCxnSpPr>
            <a:cxnSpLocks/>
          </p:cNvCxnSpPr>
          <p:nvPr userDrawn="1"/>
        </p:nvCxnSpPr>
        <p:spPr>
          <a:xfrm>
            <a:off x="1023582" y="1210794"/>
            <a:ext cx="14343797" cy="0"/>
          </a:xfrm>
          <a:prstGeom prst="line">
            <a:avLst/>
          </a:prstGeom>
          <a:ln w="381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BF1E5EF9-7466-AC4A-8B9B-8C26E6EB2668}"/>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50E2D098-25F8-1B47-A897-734EE7598560}"/>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6842840"/>
      </p:ext>
    </p:extLst>
  </p:cSld>
  <p:clrMap bg1="lt1" tx1="dk1" bg2="lt2" tx2="dk2" accent1="accent1" accent2="accent2" accent3="accent3" accent4="accent4" accent5="accent5" accent6="accent6" hlink="hlink" folHlink="folHlink"/>
  <p:sldLayoutIdLst>
    <p:sldLayoutId id="2147483791" r:id="rId1"/>
    <p:sldLayoutId id="2147483810" r:id="rId2"/>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E75BEE-68E8-7E41-9537-113B0DA1B9A2}"/>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AEABBCB0-652C-4D4B-9603-135F326E9486}"/>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
        <p:nvSpPr>
          <p:cNvPr id="6" name="Text Placeholder 1">
            <a:extLst>
              <a:ext uri="{FF2B5EF4-FFF2-40B4-BE49-F238E27FC236}">
                <a16:creationId xmlns:a16="http://schemas.microsoft.com/office/drawing/2014/main" id="{3FF513C8-0BD3-FA4B-8D9A-FB9C21ECBC36}"/>
              </a:ext>
            </a:extLst>
          </p:cNvPr>
          <p:cNvSpPr>
            <a:spLocks noGrp="1"/>
          </p:cNvSpPr>
          <p:nvPr>
            <p:ph type="body" idx="1"/>
          </p:nvPr>
        </p:nvSpPr>
        <p:spPr>
          <a:xfrm>
            <a:off x="878783" y="386862"/>
            <a:ext cx="14631828" cy="7389165"/>
          </a:xfrm>
          <a:prstGeom prst="rect">
            <a:avLst/>
          </a:prstGeom>
        </p:spPr>
        <p:txBody>
          <a:bodyPr vert="horz" lIns="91440" tIns="45720" rIns="91440" bIns="45720" rtlCol="0">
            <a:normAutofit/>
          </a:bodyPr>
          <a:lstStyle/>
          <a:p>
            <a:pPr lvl="0"/>
            <a:r>
              <a:rPr lang="en-US" dirty="0"/>
              <a:t>Edit Master text styles</a:t>
            </a:r>
          </a:p>
        </p:txBody>
      </p:sp>
    </p:spTree>
    <p:extLst>
      <p:ext uri="{BB962C8B-B14F-4D97-AF65-F5344CB8AC3E}">
        <p14:creationId xmlns:p14="http://schemas.microsoft.com/office/powerpoint/2010/main" val="1262599898"/>
      </p:ext>
    </p:extLst>
  </p:cSld>
  <p:clrMap bg1="lt1" tx1="dk1" bg2="lt2" tx2="dk2" accent1="accent1" accent2="accent2" accent3="accent3" accent4="accent4" accent5="accent5" accent6="accent6" hlink="hlink" folHlink="folHlink"/>
  <p:sldLayoutIdLst>
    <p:sldLayoutId id="2147483807" r:id="rId1"/>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78783" y="1405719"/>
            <a:ext cx="9489860" cy="6370308"/>
          </a:xfrm>
          <a:prstGeom prst="rect">
            <a:avLst/>
          </a:prstGeom>
        </p:spPr>
        <p:txBody>
          <a:bodyPr vert="horz" lIns="91440" tIns="45720" rIns="91440" bIns="45720" rtlCol="0">
            <a:normAutofit/>
          </a:bodyPr>
          <a:lstStyle/>
          <a:p>
            <a:pPr lvl="0"/>
            <a:r>
              <a:rPr lang="en-US" dirty="0"/>
              <a:t>Edit Master text styles</a:t>
            </a:r>
          </a:p>
        </p:txBody>
      </p:sp>
      <p:sp>
        <p:nvSpPr>
          <p:cNvPr id="3" name="Title Placeholder 2"/>
          <p:cNvSpPr>
            <a:spLocks noGrp="1"/>
          </p:cNvSpPr>
          <p:nvPr>
            <p:ph type="title"/>
          </p:nvPr>
        </p:nvSpPr>
        <p:spPr>
          <a:xfrm>
            <a:off x="878783" y="272169"/>
            <a:ext cx="9489860" cy="870385"/>
          </a:xfrm>
          <a:prstGeom prst="rect">
            <a:avLst/>
          </a:prstGeom>
        </p:spPr>
        <p:txBody>
          <a:bodyPr vert="horz" lIns="91440" tIns="45720" rIns="91440" bIns="45720" rtlCol="0" anchor="ctr">
            <a:noAutofit/>
          </a:bodyPr>
          <a:lstStyle/>
          <a:p>
            <a:r>
              <a:rPr lang="en-US" dirty="0"/>
              <a:t>Click to edit Master title style</a:t>
            </a:r>
          </a:p>
        </p:txBody>
      </p:sp>
      <p:sp>
        <p:nvSpPr>
          <p:cNvPr id="6" name="Rectangle 5">
            <a:extLst>
              <a:ext uri="{FF2B5EF4-FFF2-40B4-BE49-F238E27FC236}">
                <a16:creationId xmlns:a16="http://schemas.microsoft.com/office/drawing/2014/main" id="{22C5F1F8-1280-884E-8894-968C107F09E4}"/>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1F80828F-C4E5-CD4A-8C1F-761E9B421162}"/>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0462567"/>
      </p:ext>
    </p:extLst>
  </p:cSld>
  <p:clrMap bg1="lt1" tx1="dk1" bg2="lt2" tx2="dk2" accent1="accent1" accent2="accent2" accent3="accent3" accent4="accent4" accent5="accent5" accent6="accent6" hlink="hlink" folHlink="folHlink"/>
  <p:sldLayoutIdLst>
    <p:sldLayoutId id="2147483809" r:id="rId1"/>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ext Placeholder 6"/>
          <p:cNvSpPr>
            <a:spLocks noGrp="1"/>
          </p:cNvSpPr>
          <p:nvPr>
            <p:ph type="body" idx="1"/>
          </p:nvPr>
        </p:nvSpPr>
        <p:spPr>
          <a:xfrm>
            <a:off x="2084172" y="1066154"/>
            <a:ext cx="12002531" cy="5802312"/>
          </a:xfrm>
          <a:prstGeom prst="rect">
            <a:avLst/>
          </a:prstGeom>
        </p:spPr>
        <p:txBody>
          <a:bodyPr vert="horz" lIns="91440" tIns="45720" rIns="91440" bIns="45720" rtlCol="0">
            <a:normAutofit/>
          </a:bodyPr>
          <a:lstStyle/>
          <a:p>
            <a:pPr lvl="0"/>
            <a:r>
              <a:rPr lang="en-US" dirty="0"/>
              <a:t>Edit Master text styles</a:t>
            </a:r>
          </a:p>
          <a:p>
            <a:pPr lvl="1"/>
            <a:r>
              <a:rPr lang="en-US" dirty="0"/>
              <a:t>	Edit Master text styles</a:t>
            </a:r>
          </a:p>
          <a:p>
            <a:pPr lvl="2"/>
            <a:r>
              <a:rPr lang="en-US" dirty="0"/>
              <a:t>Edit Master Text styles</a:t>
            </a:r>
          </a:p>
        </p:txBody>
      </p:sp>
    </p:spTree>
    <p:extLst>
      <p:ext uri="{BB962C8B-B14F-4D97-AF65-F5344CB8AC3E}">
        <p14:creationId xmlns:p14="http://schemas.microsoft.com/office/powerpoint/2010/main" val="1365302262"/>
      </p:ext>
    </p:extLst>
  </p:cSld>
  <p:clrMap bg1="lt1" tx1="dk1" bg2="lt2" tx2="dk2" accent1="accent1" accent2="accent2" accent3="accent3" accent4="accent4" accent5="accent5" accent6="accent6" hlink="hlink" folHlink="folHlink"/>
  <p:sldLayoutIdLst>
    <p:sldLayoutId id="21474837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Courier New" panose="02070309020205020404" pitchFamily="49" charset="0"/>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2000" kern="1200" baseline="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440871" y="4945368"/>
            <a:ext cx="14799129" cy="1718216"/>
          </a:xfrm>
          <a:prstGeom prst="rect">
            <a:avLst/>
          </a:prstGeom>
        </p:spPr>
        <p:txBody>
          <a:bodyPr anchor="t">
            <a:normAutofit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6400" b="1" dirty="0"/>
              <a:t>Life Cycle Inventory</a:t>
            </a:r>
          </a:p>
          <a:p>
            <a:pPr algn="l"/>
            <a:r>
              <a:rPr lang="en-US" altLang="en-US" sz="4600" b="1" dirty="0">
                <a:solidFill>
                  <a:srgbClr val="D86018"/>
                </a:solidFill>
              </a:rPr>
              <a:t>Calculate the aggregated CO2 emission per FU </a:t>
            </a: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3021981" cy="477054"/>
          </a:xfrm>
          <a:prstGeom prst="rect">
            <a:avLst/>
          </a:prstGeom>
          <a:noFill/>
        </p:spPr>
        <p:txBody>
          <a:bodyPr wrap="none" rtlCol="0">
            <a:spAutoFit/>
          </a:bodyPr>
          <a:lstStyle/>
          <a:p>
            <a:r>
              <a:rPr lang="en-US" sz="2500" b="1" dirty="0"/>
              <a:t>Olivier Jolliet</a:t>
            </a:r>
            <a:r>
              <a:rPr lang="en-US" sz="2500" b="1"/>
              <a:t>, PhD</a:t>
            </a:r>
            <a:endParaRPr lang="en-US" sz="2500" dirty="0"/>
          </a:p>
        </p:txBody>
      </p:sp>
    </p:spTree>
    <p:extLst>
      <p:ext uri="{BB962C8B-B14F-4D97-AF65-F5344CB8AC3E}">
        <p14:creationId xmlns:p14="http://schemas.microsoft.com/office/powerpoint/2010/main" val="3536684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5444708" cy="870385"/>
          </a:xfrm>
        </p:spPr>
        <p:txBody>
          <a:bodyPr/>
          <a:lstStyle/>
          <a:p>
            <a:r>
              <a:rPr lang="en-US" altLang="en-US" dirty="0"/>
              <a:t>Building the inventory: stepwise procedure</a:t>
            </a:r>
            <a:endParaRPr lang="en-US" dirty="0">
              <a:solidFill>
                <a:schemeClr val="tx2"/>
              </a:solidFill>
            </a:endParaRPr>
          </a:p>
        </p:txBody>
      </p:sp>
      <p:sp>
        <p:nvSpPr>
          <p:cNvPr id="5" name="Rectangle 3">
            <a:extLst>
              <a:ext uri="{FF2B5EF4-FFF2-40B4-BE49-F238E27FC236}">
                <a16:creationId xmlns:a16="http://schemas.microsoft.com/office/drawing/2014/main" id="{5868F279-55FF-0146-A398-704D27232C0A}"/>
              </a:ext>
            </a:extLst>
          </p:cNvPr>
          <p:cNvSpPr>
            <a:spLocks noChangeArrowheads="1"/>
          </p:cNvSpPr>
          <p:nvPr/>
        </p:nvSpPr>
        <p:spPr bwMode="auto">
          <a:xfrm>
            <a:off x="1989399" y="2052609"/>
            <a:ext cx="11247829" cy="47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indent="0">
              <a:spcBef>
                <a:spcPct val="0"/>
              </a:spcBef>
              <a:spcAft>
                <a:spcPts val="1600"/>
              </a:spcAft>
              <a:buClrTx/>
              <a:buNone/>
            </a:pPr>
            <a:r>
              <a:rPr lang="en-US" altLang="en-US" sz="2400" b="0" i="1" dirty="0">
                <a:solidFill>
                  <a:schemeClr val="accent6"/>
                </a:solidFill>
              </a:rPr>
              <a:t>Find the direct emission and extraction factors </a:t>
            </a:r>
            <a:r>
              <a:rPr lang="en-US" altLang="en-US" sz="2400" b="0" dirty="0">
                <a:solidFill>
                  <a:schemeClr val="tx2"/>
                </a:solidFill>
              </a:rPr>
              <a:t>of each unit process </a:t>
            </a:r>
            <a:br>
              <a:rPr lang="en-US" altLang="en-US" sz="2400" b="0" dirty="0">
                <a:solidFill>
                  <a:schemeClr val="tx2"/>
                </a:solidFill>
              </a:rPr>
            </a:br>
            <a:r>
              <a:rPr lang="en-US" altLang="en-US" sz="2400" b="0" dirty="0">
                <a:solidFill>
                  <a:schemeClr val="tx2"/>
                </a:solidFill>
              </a:rPr>
              <a:t>(UP, </a:t>
            </a:r>
            <a:r>
              <a:rPr lang="en-US" altLang="en-US" sz="2400" b="0" dirty="0" err="1">
                <a:solidFill>
                  <a:schemeClr val="tx2"/>
                </a:solidFill>
              </a:rPr>
              <a:t>e.g</a:t>
            </a:r>
            <a:r>
              <a:rPr lang="en-US" altLang="en-US" sz="2400" b="0" dirty="0">
                <a:solidFill>
                  <a:schemeClr val="tx2"/>
                </a:solidFill>
              </a:rPr>
              <a:t> Al hydroxide), i.e. the direct </a:t>
            </a:r>
            <a:r>
              <a:rPr lang="en-US" altLang="en-US" sz="2400" b="0" dirty="0">
                <a:solidFill>
                  <a:schemeClr val="accent3"/>
                </a:solidFill>
              </a:rPr>
              <a:t>elementary</a:t>
            </a:r>
            <a:r>
              <a:rPr lang="en-US" altLang="en-US" sz="2400" b="0" dirty="0">
                <a:solidFill>
                  <a:schemeClr val="tx2"/>
                </a:solidFill>
              </a:rPr>
              <a:t> </a:t>
            </a:r>
            <a:r>
              <a:rPr lang="en-US" altLang="en-US" sz="2400" b="0" dirty="0">
                <a:solidFill>
                  <a:schemeClr val="accent3"/>
                </a:solidFill>
              </a:rPr>
              <a:t>flows per unit of this UP </a:t>
            </a:r>
            <a:br>
              <a:rPr lang="en-US" altLang="en-US" sz="2400" b="0" dirty="0">
                <a:solidFill>
                  <a:schemeClr val="accent3"/>
                </a:solidFill>
              </a:rPr>
            </a:br>
            <a:r>
              <a:rPr lang="en-US" altLang="en-US" sz="2400" b="0" dirty="0">
                <a:solidFill>
                  <a:schemeClr val="tx2"/>
                </a:solidFill>
              </a:rPr>
              <a:t>(e.g. </a:t>
            </a:r>
            <a:r>
              <a:rPr lang="en-US" altLang="en-US" sz="2400" b="0" dirty="0">
                <a:solidFill>
                  <a:schemeClr val="accent3"/>
                </a:solidFill>
              </a:rPr>
              <a:t>kg</a:t>
            </a:r>
            <a:r>
              <a:rPr lang="en-US" altLang="en-US" sz="2400" b="0" baseline="-25000" dirty="0">
                <a:solidFill>
                  <a:schemeClr val="accent3"/>
                </a:solidFill>
              </a:rPr>
              <a:t>CO2</a:t>
            </a:r>
            <a:r>
              <a:rPr lang="en-US" altLang="en-US" sz="2400" b="0" dirty="0">
                <a:solidFill>
                  <a:schemeClr val="accent3"/>
                </a:solidFill>
              </a:rPr>
              <a:t>/</a:t>
            </a:r>
            <a:r>
              <a:rPr lang="en-US" altLang="en-US" sz="2400" b="0" dirty="0" err="1">
                <a:solidFill>
                  <a:schemeClr val="accent3"/>
                </a:solidFill>
              </a:rPr>
              <a:t>kg</a:t>
            </a:r>
            <a:r>
              <a:rPr lang="en-US" altLang="en-US" sz="2400" b="0" baseline="-25000" dirty="0" err="1">
                <a:solidFill>
                  <a:schemeClr val="accent3"/>
                </a:solidFill>
              </a:rPr>
              <a:t>Al</a:t>
            </a:r>
            <a:r>
              <a:rPr lang="en-US" altLang="en-US" sz="2400" b="0" baseline="-25000" dirty="0">
                <a:solidFill>
                  <a:schemeClr val="accent3"/>
                </a:solidFill>
              </a:rPr>
              <a:t> hydroxide</a:t>
            </a:r>
            <a:r>
              <a:rPr lang="en-US" altLang="en-US" sz="2400" b="0" dirty="0">
                <a:solidFill>
                  <a:schemeClr val="tx2"/>
                </a:solidFill>
              </a:rPr>
              <a:t>):  See next slide</a:t>
            </a:r>
          </a:p>
          <a:p>
            <a:pPr marL="0" indent="0">
              <a:spcBef>
                <a:spcPct val="0"/>
              </a:spcBef>
              <a:spcAft>
                <a:spcPts val="1600"/>
              </a:spcAft>
              <a:buClrTx/>
              <a:buNone/>
            </a:pPr>
            <a:r>
              <a:rPr lang="en-US" altLang="en-US" sz="2400" b="0" i="1" dirty="0">
                <a:solidFill>
                  <a:schemeClr val="accent6"/>
                </a:solidFill>
              </a:rPr>
              <a:t>Identify the amount of each Unit process per FU, </a:t>
            </a:r>
            <a:r>
              <a:rPr lang="en-US" altLang="en-US" sz="2400" b="0" dirty="0" err="1">
                <a:solidFill>
                  <a:schemeClr val="tx2"/>
                </a:solidFill>
              </a:rPr>
              <a:t>i.e</a:t>
            </a:r>
            <a:r>
              <a:rPr lang="en-US" altLang="en-US" sz="2400" b="0" dirty="0">
                <a:solidFill>
                  <a:schemeClr val="tx2"/>
                </a:solidFill>
              </a:rPr>
              <a:t> </a:t>
            </a:r>
            <a:r>
              <a:rPr lang="en-US" altLang="en-US" sz="2400" b="0" dirty="0">
                <a:solidFill>
                  <a:srgbClr val="0070C0"/>
                </a:solidFill>
              </a:rPr>
              <a:t>the </a:t>
            </a:r>
            <a:r>
              <a:rPr lang="en-US" altLang="en-US" sz="2400" b="0" i="1" dirty="0">
                <a:solidFill>
                  <a:srgbClr val="0070C0"/>
                </a:solidFill>
              </a:rPr>
              <a:t>intermediary flow</a:t>
            </a:r>
            <a:r>
              <a:rPr lang="en-US" altLang="en-US" sz="2400" b="0" i="1" dirty="0">
                <a:solidFill>
                  <a:schemeClr val="accent6"/>
                </a:solidFill>
              </a:rPr>
              <a:t> </a:t>
            </a:r>
            <a:br>
              <a:rPr lang="en-US" altLang="en-US" sz="2400" b="0" i="1" dirty="0">
                <a:solidFill>
                  <a:schemeClr val="accent6"/>
                </a:solidFill>
              </a:rPr>
            </a:br>
            <a:r>
              <a:rPr lang="en-US" altLang="en-US" sz="2400" b="0" dirty="0">
                <a:solidFill>
                  <a:schemeClr val="accent4"/>
                </a:solidFill>
              </a:rPr>
              <a:t>per functional unit (FU) </a:t>
            </a:r>
            <a:r>
              <a:rPr lang="en-US" altLang="en-US" sz="2400" b="0" dirty="0">
                <a:solidFill>
                  <a:schemeClr val="tx2"/>
                </a:solidFill>
              </a:rPr>
              <a:t>determined when building the product system </a:t>
            </a:r>
            <a:br>
              <a:rPr lang="en-US" altLang="en-US" sz="2400" b="0" dirty="0">
                <a:solidFill>
                  <a:schemeClr val="tx2"/>
                </a:solidFill>
              </a:rPr>
            </a:br>
            <a:r>
              <a:rPr lang="en-US" altLang="en-US" sz="2400" b="0" dirty="0">
                <a:solidFill>
                  <a:schemeClr val="tx2"/>
                </a:solidFill>
              </a:rPr>
              <a:t>and the process tree (e.g. in </a:t>
            </a:r>
            <a:r>
              <a:rPr lang="en-US" altLang="en-US" sz="2400" b="0" dirty="0" err="1">
                <a:solidFill>
                  <a:schemeClr val="accent4"/>
                </a:solidFill>
                <a:latin typeface="Arial" panose="020B0604020202020204"/>
              </a:rPr>
              <a:t>kg</a:t>
            </a:r>
            <a:r>
              <a:rPr lang="en-US" altLang="en-US" sz="2400" b="0" baseline="-25000" dirty="0" err="1">
                <a:solidFill>
                  <a:schemeClr val="accent4"/>
                </a:solidFill>
                <a:latin typeface="Arial" panose="020B0604020202020204"/>
              </a:rPr>
              <a:t>Al</a:t>
            </a:r>
            <a:r>
              <a:rPr lang="en-US" altLang="en-US" sz="2400" b="0" baseline="-25000" dirty="0">
                <a:solidFill>
                  <a:schemeClr val="accent4"/>
                </a:solidFill>
                <a:latin typeface="Arial" panose="020B0604020202020204"/>
              </a:rPr>
              <a:t> hydroxide</a:t>
            </a:r>
            <a:r>
              <a:rPr lang="en-US" altLang="en-US" sz="2400" b="0" dirty="0">
                <a:solidFill>
                  <a:schemeClr val="accent4"/>
                </a:solidFill>
                <a:latin typeface="Arial" panose="020B0604020202020204"/>
              </a:rPr>
              <a:t>/FU</a:t>
            </a:r>
            <a:r>
              <a:rPr lang="en-US" altLang="en-US" sz="2400" b="0" dirty="0">
                <a:solidFill>
                  <a:srgbClr val="00274C"/>
                </a:solidFill>
                <a:latin typeface="Arial" panose="020B0604020202020204"/>
              </a:rPr>
              <a:t>): see next slide</a:t>
            </a:r>
            <a:endParaRPr lang="en-US" altLang="en-US" sz="2400" b="0" dirty="0">
              <a:solidFill>
                <a:schemeClr val="tx2"/>
              </a:solidFill>
            </a:endParaRPr>
          </a:p>
          <a:p>
            <a:pPr marL="0" indent="0">
              <a:spcBef>
                <a:spcPct val="0"/>
              </a:spcBef>
              <a:spcAft>
                <a:spcPts val="1600"/>
              </a:spcAft>
              <a:buClrTx/>
              <a:buNone/>
            </a:pPr>
            <a:r>
              <a:rPr lang="en-US" altLang="en-US" sz="2400" b="0" dirty="0">
                <a:solidFill>
                  <a:schemeClr val="tx2"/>
                </a:solidFill>
              </a:rPr>
              <a:t>Multiply this </a:t>
            </a:r>
            <a:r>
              <a:rPr lang="en-US" altLang="en-US" sz="2400" b="0" dirty="0">
                <a:solidFill>
                  <a:schemeClr val="accent4"/>
                </a:solidFill>
              </a:rPr>
              <a:t>amount of each UP per FU 			</a:t>
            </a:r>
            <a:r>
              <a:rPr lang="en-US" altLang="en-US" sz="2400" b="0" dirty="0">
                <a:solidFill>
                  <a:schemeClr val="tx2"/>
                </a:solidFill>
              </a:rPr>
              <a:t>(e.g. </a:t>
            </a:r>
            <a:r>
              <a:rPr lang="en-US" altLang="en-US" sz="2400" b="0" dirty="0" err="1">
                <a:solidFill>
                  <a:schemeClr val="accent4"/>
                </a:solidFill>
                <a:latin typeface="Arial" panose="020B0604020202020204"/>
              </a:rPr>
              <a:t>kg</a:t>
            </a:r>
            <a:r>
              <a:rPr lang="en-US" altLang="en-US" sz="2400" b="0" baseline="-25000" dirty="0" err="1">
                <a:solidFill>
                  <a:schemeClr val="accent4"/>
                </a:solidFill>
                <a:latin typeface="Arial" panose="020B0604020202020204"/>
              </a:rPr>
              <a:t>Al</a:t>
            </a:r>
            <a:r>
              <a:rPr lang="en-US" altLang="en-US" sz="2400" b="0" baseline="-25000" dirty="0">
                <a:solidFill>
                  <a:schemeClr val="accent4"/>
                </a:solidFill>
                <a:latin typeface="Arial" panose="020B0604020202020204"/>
              </a:rPr>
              <a:t> hydroxide</a:t>
            </a:r>
            <a:r>
              <a:rPr lang="en-US" altLang="en-US" sz="2400" b="0" dirty="0">
                <a:solidFill>
                  <a:schemeClr val="accent4"/>
                </a:solidFill>
              </a:rPr>
              <a:t>/FU</a:t>
            </a:r>
            <a:r>
              <a:rPr lang="en-US" altLang="en-US" sz="2400" b="0" dirty="0">
                <a:solidFill>
                  <a:schemeClr val="tx2"/>
                </a:solidFill>
              </a:rPr>
              <a:t>) </a:t>
            </a:r>
            <a:br>
              <a:rPr lang="en-US" altLang="en-US" sz="2400" b="0" dirty="0">
                <a:solidFill>
                  <a:schemeClr val="tx2"/>
                </a:solidFill>
              </a:rPr>
            </a:br>
            <a:r>
              <a:rPr lang="en-US" altLang="en-US" sz="2400" b="0" dirty="0">
                <a:solidFill>
                  <a:schemeClr val="tx2"/>
                </a:solidFill>
              </a:rPr>
              <a:t>by the </a:t>
            </a:r>
            <a:r>
              <a:rPr lang="en-US" altLang="en-US" sz="2400" b="0" dirty="0">
                <a:solidFill>
                  <a:schemeClr val="accent3"/>
                </a:solidFill>
              </a:rPr>
              <a:t>direct emission or extraction factors</a:t>
            </a:r>
            <a:r>
              <a:rPr lang="en-US" altLang="en-US" sz="2400" b="0" dirty="0">
                <a:solidFill>
                  <a:schemeClr val="tx2"/>
                </a:solidFill>
              </a:rPr>
              <a:t> </a:t>
            </a:r>
            <a:r>
              <a:rPr lang="en-US" altLang="en-US" sz="2400" b="0" dirty="0">
                <a:solidFill>
                  <a:schemeClr val="accent3"/>
                </a:solidFill>
              </a:rPr>
              <a:t>of this UP 	</a:t>
            </a:r>
            <a:r>
              <a:rPr lang="en-US" altLang="en-US" sz="2400" b="0" dirty="0">
                <a:solidFill>
                  <a:schemeClr val="tx2"/>
                </a:solidFill>
              </a:rPr>
              <a:t>(e.g. </a:t>
            </a:r>
            <a:r>
              <a:rPr lang="en-US" altLang="en-US" sz="2400" b="0" dirty="0">
                <a:solidFill>
                  <a:srgbClr val="ADA400"/>
                </a:solidFill>
                <a:latin typeface="Arial" panose="020B0604020202020204"/>
              </a:rPr>
              <a:t>kg</a:t>
            </a:r>
            <a:r>
              <a:rPr lang="en-US" altLang="en-US" sz="2400" b="0" baseline="-25000" dirty="0">
                <a:solidFill>
                  <a:srgbClr val="ADA400"/>
                </a:solidFill>
                <a:latin typeface="Arial" panose="020B0604020202020204"/>
              </a:rPr>
              <a:t>CO2</a:t>
            </a:r>
            <a:r>
              <a:rPr lang="en-US" altLang="en-US" sz="2400" b="0" dirty="0">
                <a:solidFill>
                  <a:schemeClr val="accent3"/>
                </a:solidFill>
                <a:latin typeface="Arial" panose="020B0604020202020204"/>
              </a:rPr>
              <a:t>/</a:t>
            </a:r>
            <a:r>
              <a:rPr lang="en-US" altLang="en-US" sz="2400" b="0" dirty="0" err="1">
                <a:solidFill>
                  <a:schemeClr val="accent3"/>
                </a:solidFill>
                <a:latin typeface="Arial" panose="020B0604020202020204"/>
              </a:rPr>
              <a:t>kg</a:t>
            </a:r>
            <a:r>
              <a:rPr lang="en-US" altLang="en-US" sz="2400" b="0" baseline="-25000" dirty="0" err="1">
                <a:solidFill>
                  <a:schemeClr val="accent3"/>
                </a:solidFill>
                <a:latin typeface="Arial" panose="020B0604020202020204"/>
              </a:rPr>
              <a:t>Al</a:t>
            </a:r>
            <a:r>
              <a:rPr lang="en-US" altLang="en-US" sz="2400" b="0" baseline="-25000" dirty="0">
                <a:solidFill>
                  <a:schemeClr val="accent3"/>
                </a:solidFill>
                <a:latin typeface="Arial" panose="020B0604020202020204"/>
              </a:rPr>
              <a:t> hydroxide</a:t>
            </a:r>
            <a:r>
              <a:rPr lang="en-US" altLang="en-US" sz="2400" b="0" dirty="0">
                <a:solidFill>
                  <a:srgbClr val="00274C"/>
                </a:solidFill>
                <a:latin typeface="Arial" panose="020B0604020202020204"/>
              </a:rPr>
              <a:t>)</a:t>
            </a:r>
            <a:br>
              <a:rPr lang="en-US" altLang="en-US" sz="2400" b="0" dirty="0">
                <a:solidFill>
                  <a:srgbClr val="00274C"/>
                </a:solidFill>
                <a:latin typeface="Arial" panose="020B0604020202020204"/>
              </a:rPr>
            </a:br>
            <a:r>
              <a:rPr lang="en-US" altLang="en-US" sz="2400" b="0" i="1" dirty="0">
                <a:solidFill>
                  <a:schemeClr val="accent6"/>
                </a:solidFill>
              </a:rPr>
              <a:t>to calculate the elementary flows of each UP per FU 	</a:t>
            </a:r>
            <a:r>
              <a:rPr lang="en-US" altLang="en-US" sz="2400" b="0" dirty="0">
                <a:solidFill>
                  <a:schemeClr val="tx2"/>
                </a:solidFill>
              </a:rPr>
              <a:t>(e.g. </a:t>
            </a:r>
            <a:r>
              <a:rPr lang="en-US" altLang="en-US" sz="2400" b="0" dirty="0">
                <a:solidFill>
                  <a:srgbClr val="ADA400"/>
                </a:solidFill>
                <a:latin typeface="Arial" panose="020B0604020202020204"/>
              </a:rPr>
              <a:t>kg</a:t>
            </a:r>
            <a:r>
              <a:rPr lang="en-US" altLang="en-US" sz="2400" b="0" baseline="-25000" dirty="0">
                <a:solidFill>
                  <a:srgbClr val="ADA400"/>
                </a:solidFill>
                <a:latin typeface="Arial" panose="020B0604020202020204"/>
              </a:rPr>
              <a:t>CO2</a:t>
            </a:r>
            <a:r>
              <a:rPr lang="en-US" altLang="en-US" sz="2400" b="0" dirty="0">
                <a:solidFill>
                  <a:schemeClr val="accent3"/>
                </a:solidFill>
                <a:latin typeface="Arial" panose="020B0604020202020204"/>
              </a:rPr>
              <a:t>/FU</a:t>
            </a:r>
            <a:r>
              <a:rPr lang="en-US" altLang="en-US" sz="2400" b="0" dirty="0">
                <a:solidFill>
                  <a:srgbClr val="00274C"/>
                </a:solidFill>
                <a:latin typeface="Arial" panose="020B0604020202020204"/>
              </a:rPr>
              <a:t>)</a:t>
            </a:r>
            <a:endParaRPr lang="en-US" altLang="en-US" sz="2400" b="0" dirty="0">
              <a:solidFill>
                <a:schemeClr val="tx2"/>
              </a:solidFill>
            </a:endParaRPr>
          </a:p>
          <a:p>
            <a:pPr marL="0" indent="0">
              <a:spcBef>
                <a:spcPct val="0"/>
              </a:spcBef>
              <a:spcAft>
                <a:spcPts val="1600"/>
              </a:spcAft>
              <a:buClrTx/>
              <a:buNone/>
            </a:pPr>
            <a:r>
              <a:rPr lang="en-US" altLang="en-US" sz="2400" b="0" i="1" dirty="0">
                <a:solidFill>
                  <a:schemeClr val="accent6"/>
                </a:solidFill>
              </a:rPr>
              <a:t>Calculate the aggregated inventory flows of the total system per FU </a:t>
            </a:r>
            <a:br>
              <a:rPr lang="en-US" altLang="en-US" sz="2400" b="0" i="1" dirty="0">
                <a:solidFill>
                  <a:schemeClr val="accent6"/>
                </a:solidFill>
              </a:rPr>
            </a:br>
            <a:r>
              <a:rPr lang="en-US" altLang="en-US" sz="2400" b="0" dirty="0">
                <a:solidFill>
                  <a:schemeClr val="tx2"/>
                </a:solidFill>
              </a:rPr>
              <a:t>by summing up all corresponding elementary flows per FU of all UPs.</a:t>
            </a:r>
          </a:p>
        </p:txBody>
      </p:sp>
      <p:sp>
        <p:nvSpPr>
          <p:cNvPr id="6" name="Oval 5">
            <a:extLst>
              <a:ext uri="{FF2B5EF4-FFF2-40B4-BE49-F238E27FC236}">
                <a16:creationId xmlns:a16="http://schemas.microsoft.com/office/drawing/2014/main" id="{BDF4C85C-A7D7-C340-891B-43D37FD69E05}"/>
              </a:ext>
            </a:extLst>
          </p:cNvPr>
          <p:cNvSpPr/>
          <p:nvPr/>
        </p:nvSpPr>
        <p:spPr>
          <a:xfrm>
            <a:off x="984738" y="2211372"/>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1</a:t>
            </a:r>
          </a:p>
        </p:txBody>
      </p:sp>
      <p:sp>
        <p:nvSpPr>
          <p:cNvPr id="25" name="Oval 24">
            <a:extLst>
              <a:ext uri="{FF2B5EF4-FFF2-40B4-BE49-F238E27FC236}">
                <a16:creationId xmlns:a16="http://schemas.microsoft.com/office/drawing/2014/main" id="{1FA92A5C-A173-3640-A4A7-960FB2EF3EBB}"/>
              </a:ext>
            </a:extLst>
          </p:cNvPr>
          <p:cNvSpPr/>
          <p:nvPr/>
        </p:nvSpPr>
        <p:spPr>
          <a:xfrm>
            <a:off x="984738" y="3528053"/>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2</a:t>
            </a:r>
          </a:p>
        </p:txBody>
      </p:sp>
      <p:sp>
        <p:nvSpPr>
          <p:cNvPr id="26" name="Oval 25">
            <a:extLst>
              <a:ext uri="{FF2B5EF4-FFF2-40B4-BE49-F238E27FC236}">
                <a16:creationId xmlns:a16="http://schemas.microsoft.com/office/drawing/2014/main" id="{6286FB70-54AD-7B4C-8B27-B18D59AD7D96}"/>
              </a:ext>
            </a:extLst>
          </p:cNvPr>
          <p:cNvSpPr/>
          <p:nvPr/>
        </p:nvSpPr>
        <p:spPr>
          <a:xfrm>
            <a:off x="984738" y="4800050"/>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3</a:t>
            </a:r>
          </a:p>
        </p:txBody>
      </p:sp>
      <p:sp>
        <p:nvSpPr>
          <p:cNvPr id="27" name="Oval 26">
            <a:extLst>
              <a:ext uri="{FF2B5EF4-FFF2-40B4-BE49-F238E27FC236}">
                <a16:creationId xmlns:a16="http://schemas.microsoft.com/office/drawing/2014/main" id="{18991E85-73FD-134B-9322-077E01D16916}"/>
              </a:ext>
            </a:extLst>
          </p:cNvPr>
          <p:cNvSpPr/>
          <p:nvPr/>
        </p:nvSpPr>
        <p:spPr>
          <a:xfrm>
            <a:off x="984738" y="5989985"/>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4</a:t>
            </a:r>
          </a:p>
        </p:txBody>
      </p:sp>
      <p:sp>
        <p:nvSpPr>
          <p:cNvPr id="32" name="Text Box 41">
            <a:extLst>
              <a:ext uri="{FF2B5EF4-FFF2-40B4-BE49-F238E27FC236}">
                <a16:creationId xmlns:a16="http://schemas.microsoft.com/office/drawing/2014/main" id="{E411E7CA-F40F-8940-A7B9-C54F2857D92A}"/>
              </a:ext>
            </a:extLst>
          </p:cNvPr>
          <p:cNvSpPr txBox="1">
            <a:spLocks noChangeArrowheads="1"/>
          </p:cNvSpPr>
          <p:nvPr/>
        </p:nvSpPr>
        <p:spPr bwMode="auto">
          <a:xfrm>
            <a:off x="12461630" y="1672542"/>
            <a:ext cx="1346747" cy="984885"/>
          </a:xfrm>
          <a:prstGeom prst="rect">
            <a:avLst/>
          </a:prstGeom>
          <a:noFill/>
          <a:ln w="50800">
            <a:solidFill>
              <a:schemeClr val="accent6"/>
            </a:solidFill>
            <a:miter lim="800000"/>
            <a:headEnd/>
            <a:tailEnd/>
          </a:ln>
          <a:effectLst/>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accent6"/>
                </a:solidFill>
                <a:cs typeface="Arial" panose="020B0604020202020204" pitchFamily="34" charset="0"/>
              </a:rPr>
              <a:t>Aluminum </a:t>
            </a:r>
          </a:p>
          <a:p>
            <a:pPr algn="ctr">
              <a:spcBef>
                <a:spcPct val="0"/>
              </a:spcBef>
              <a:buClrTx/>
              <a:buFontTx/>
              <a:buNone/>
            </a:pPr>
            <a:r>
              <a:rPr lang="en-US" altLang="en-US" sz="2000" b="0" dirty="0">
                <a:solidFill>
                  <a:schemeClr val="accent6"/>
                </a:solidFill>
                <a:cs typeface="Arial" panose="020B0604020202020204" pitchFamily="34" charset="0"/>
              </a:rPr>
              <a:t>liquid</a:t>
            </a:r>
            <a:endParaRPr lang="en-US" altLang="en-US" sz="1600" b="0" dirty="0">
              <a:solidFill>
                <a:srgbClr val="000000"/>
              </a:solidFill>
              <a:latin typeface="Times New Roman" panose="02020603050405020304" pitchFamily="18" charset="0"/>
            </a:endParaRPr>
          </a:p>
          <a:p>
            <a:pPr algn="ctr">
              <a:spcBef>
                <a:spcPct val="0"/>
              </a:spcBef>
              <a:buClrTx/>
              <a:buFontTx/>
              <a:buNone/>
            </a:pPr>
            <a:r>
              <a:rPr lang="en-US" altLang="en-US" sz="1800" b="0" dirty="0">
                <a:solidFill>
                  <a:schemeClr val="tx2"/>
                </a:solidFill>
                <a:cs typeface="Arial" panose="020B0604020202020204" pitchFamily="34" charset="0"/>
              </a:rPr>
              <a:t>1 kg</a:t>
            </a:r>
          </a:p>
        </p:txBody>
      </p:sp>
      <p:sp>
        <p:nvSpPr>
          <p:cNvPr id="34" name="Line 35">
            <a:extLst>
              <a:ext uri="{FF2B5EF4-FFF2-40B4-BE49-F238E27FC236}">
                <a16:creationId xmlns:a16="http://schemas.microsoft.com/office/drawing/2014/main" id="{CC8A3D27-DF35-034A-80B7-F2C8AD3FE254}"/>
              </a:ext>
            </a:extLst>
          </p:cNvPr>
          <p:cNvSpPr>
            <a:spLocks noChangeShapeType="1"/>
          </p:cNvSpPr>
          <p:nvPr/>
        </p:nvSpPr>
        <p:spPr bwMode="auto">
          <a:xfrm>
            <a:off x="13622215" y="2657427"/>
            <a:ext cx="0" cy="464772"/>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35" name="Text Box 41">
            <a:extLst>
              <a:ext uri="{FF2B5EF4-FFF2-40B4-BE49-F238E27FC236}">
                <a16:creationId xmlns:a16="http://schemas.microsoft.com/office/drawing/2014/main" id="{E411E7CA-F40F-8940-A7B9-C54F2857D92A}"/>
              </a:ext>
            </a:extLst>
          </p:cNvPr>
          <p:cNvSpPr txBox="1">
            <a:spLocks noChangeArrowheads="1"/>
          </p:cNvSpPr>
          <p:nvPr/>
        </p:nvSpPr>
        <p:spPr bwMode="auto">
          <a:xfrm>
            <a:off x="12461630" y="3527598"/>
            <a:ext cx="1346747" cy="984885"/>
          </a:xfrm>
          <a:prstGeom prst="rect">
            <a:avLst/>
          </a:prstGeom>
          <a:noFill/>
          <a:ln w="50800">
            <a:solidFill>
              <a:schemeClr val="accent6"/>
            </a:solidFill>
            <a:miter lim="800000"/>
            <a:headEnd/>
            <a:tailEnd/>
          </a:ln>
          <a:effectLst/>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accent6"/>
                </a:solidFill>
                <a:cs typeface="Arial" panose="020B0604020202020204" pitchFamily="34" charset="0"/>
              </a:rPr>
              <a:t>Aluminum </a:t>
            </a:r>
          </a:p>
          <a:p>
            <a:pPr algn="ctr">
              <a:spcBef>
                <a:spcPct val="0"/>
              </a:spcBef>
              <a:buClrTx/>
              <a:buFontTx/>
              <a:buNone/>
            </a:pPr>
            <a:r>
              <a:rPr lang="en-US" altLang="en-US" sz="2000" b="0" dirty="0">
                <a:solidFill>
                  <a:schemeClr val="accent6"/>
                </a:solidFill>
                <a:cs typeface="Arial" panose="020B0604020202020204" pitchFamily="34" charset="0"/>
              </a:rPr>
              <a:t>hydroxide</a:t>
            </a:r>
            <a:endParaRPr lang="en-US" altLang="en-US" sz="1600" b="0" dirty="0">
              <a:solidFill>
                <a:srgbClr val="000000"/>
              </a:solidFill>
              <a:latin typeface="Times New Roman" panose="02020603050405020304" pitchFamily="18" charset="0"/>
            </a:endParaRPr>
          </a:p>
          <a:p>
            <a:pPr algn="ctr">
              <a:spcBef>
                <a:spcPct val="0"/>
              </a:spcBef>
              <a:buClrTx/>
              <a:buFontTx/>
              <a:buNone/>
            </a:pPr>
            <a:r>
              <a:rPr lang="en-US" altLang="en-US" sz="1800" b="0" dirty="0">
                <a:solidFill>
                  <a:schemeClr val="accent4"/>
                </a:solidFill>
                <a:cs typeface="Arial" panose="020B0604020202020204" pitchFamily="34" charset="0"/>
              </a:rPr>
              <a:t>2.96 kg/FU</a:t>
            </a:r>
          </a:p>
        </p:txBody>
      </p:sp>
      <p:sp>
        <p:nvSpPr>
          <p:cNvPr id="36" name="Text Box 56">
            <a:extLst>
              <a:ext uri="{FF2B5EF4-FFF2-40B4-BE49-F238E27FC236}">
                <a16:creationId xmlns:a16="http://schemas.microsoft.com/office/drawing/2014/main" id="{6F2420BE-001F-CF4D-82A3-83D7459DCB5D}"/>
              </a:ext>
            </a:extLst>
          </p:cNvPr>
          <p:cNvSpPr txBox="1">
            <a:spLocks noChangeArrowheads="1"/>
          </p:cNvSpPr>
          <p:nvPr/>
        </p:nvSpPr>
        <p:spPr bwMode="auto">
          <a:xfrm>
            <a:off x="13915288" y="4503842"/>
            <a:ext cx="187081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spcBef>
                <a:spcPct val="0"/>
              </a:spcBef>
              <a:buClrTx/>
              <a:buFontTx/>
              <a:buNone/>
              <a:defRPr sz="1600" b="0">
                <a:solidFill>
                  <a:schemeClr val="accent3"/>
                </a:solidFill>
                <a:latin typeface="Arial" panose="020B0604020202020204" pitchFamily="34" charset="0"/>
                <a:cs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r>
              <a:rPr lang="en-US" altLang="fr-FR" dirty="0"/>
              <a:t>CO</a:t>
            </a:r>
            <a:r>
              <a:rPr lang="en-US" altLang="fr-FR" baseline="-25000" dirty="0"/>
              <a:t>2</a:t>
            </a:r>
            <a:r>
              <a:rPr lang="en-US" altLang="fr-FR" dirty="0"/>
              <a:t> emissions</a:t>
            </a:r>
            <a:br>
              <a:rPr lang="en-US" altLang="fr-FR" dirty="0"/>
            </a:br>
            <a:r>
              <a:rPr lang="en-US" altLang="fr-FR" dirty="0"/>
              <a:t>Al hydroxide</a:t>
            </a:r>
          </a:p>
          <a:p>
            <a:r>
              <a:rPr lang="en-US" altLang="en-US" sz="2400" dirty="0">
                <a:solidFill>
                  <a:srgbClr val="ADA400"/>
                </a:solidFill>
                <a:latin typeface="Arial" panose="020B0604020202020204"/>
                <a:cs typeface="+mn-cs"/>
              </a:rPr>
              <a:t>kg</a:t>
            </a:r>
            <a:r>
              <a:rPr lang="en-US" altLang="en-US" sz="2400" baseline="-25000" dirty="0">
                <a:solidFill>
                  <a:srgbClr val="ADA400"/>
                </a:solidFill>
                <a:latin typeface="Arial" panose="020B0604020202020204"/>
                <a:cs typeface="+mn-cs"/>
              </a:rPr>
              <a:t>CO2</a:t>
            </a:r>
            <a:r>
              <a:rPr lang="en-US" altLang="fr-FR" dirty="0"/>
              <a:t>/FU</a:t>
            </a:r>
          </a:p>
        </p:txBody>
      </p:sp>
      <mc:AlternateContent xmlns:mc="http://schemas.openxmlformats.org/markup-compatibility/2006" xmlns:a14="http://schemas.microsoft.com/office/drawing/2010/main">
        <mc:Choice Requires="a14">
          <p:sp>
            <p:nvSpPr>
              <p:cNvPr id="39" name="Text Box 56">
                <a:extLst>
                  <a:ext uri="{FF2B5EF4-FFF2-40B4-BE49-F238E27FC236}">
                    <a16:creationId xmlns:a16="http://schemas.microsoft.com/office/drawing/2014/main" id="{6F2420BE-001F-CF4D-82A3-83D7459DCB5D}"/>
                  </a:ext>
                </a:extLst>
              </p:cNvPr>
              <p:cNvSpPr txBox="1">
                <a:spLocks noChangeArrowheads="1"/>
              </p:cNvSpPr>
              <p:nvPr/>
            </p:nvSpPr>
            <p:spPr bwMode="auto">
              <a:xfrm>
                <a:off x="13915290" y="6367140"/>
                <a:ext cx="1705710" cy="93634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eaLnBrk="1" hangingPunct="1">
                  <a:spcBef>
                    <a:spcPct val="0"/>
                  </a:spcBef>
                  <a:buClrTx/>
                  <a:buFontTx/>
                  <a:buNone/>
                </a:pPr>
                <a:r>
                  <a:rPr lang="en-US" altLang="fr-FR" sz="1600" b="0" dirty="0">
                    <a:solidFill>
                      <a:schemeClr val="accent3"/>
                    </a:solidFill>
                    <a:cs typeface="Arial" panose="020B0604020202020204" pitchFamily="34" charset="0"/>
                  </a:rPr>
                  <a:t>CO</a:t>
                </a:r>
                <a:r>
                  <a:rPr lang="en-US" altLang="fr-FR" sz="1600" b="0" baseline="-25000" dirty="0">
                    <a:solidFill>
                      <a:schemeClr val="accent3"/>
                    </a:solidFill>
                    <a:cs typeface="Arial" panose="020B0604020202020204" pitchFamily="34" charset="0"/>
                  </a:rPr>
                  <a:t>2</a:t>
                </a:r>
                <a:r>
                  <a:rPr lang="en-US" altLang="fr-FR" sz="1600" b="0" dirty="0">
                    <a:solidFill>
                      <a:schemeClr val="accent3"/>
                    </a:solidFill>
                    <a:cs typeface="Arial" panose="020B0604020202020204" pitchFamily="34" charset="0"/>
                  </a:rPr>
                  <a:t> emissions</a:t>
                </a:r>
              </a:p>
              <a:p>
                <a:pPr>
                  <a:spcBef>
                    <a:spcPct val="0"/>
                  </a:spcBef>
                  <a:buClrTx/>
                  <a:buNone/>
                </a:pPr>
                <a14:m>
                  <m:oMathPara xmlns:m="http://schemas.openxmlformats.org/officeDocument/2006/math">
                    <m:oMathParaPr>
                      <m:jc m:val="centerGroup"/>
                    </m:oMathParaPr>
                    <m:oMath xmlns:m="http://schemas.openxmlformats.org/officeDocument/2006/math">
                      <m:nary>
                        <m:naryPr>
                          <m:chr m:val="∑"/>
                          <m:supHide m:val="on"/>
                          <m:ctrlPr>
                            <a:rPr lang="en-US" altLang="fr-FR" sz="1600" b="0" i="1" smtClean="0">
                              <a:solidFill>
                                <a:schemeClr val="accent3"/>
                              </a:solidFill>
                              <a:latin typeface="Cambria Math" panose="02040503050406030204" pitchFamily="18" charset="0"/>
                              <a:cs typeface="Arial" panose="020B0604020202020204" pitchFamily="34" charset="0"/>
                            </a:rPr>
                          </m:ctrlPr>
                        </m:naryPr>
                        <m:sub>
                          <m:r>
                            <m:rPr>
                              <m:brk m:alnAt="7"/>
                            </m:rPr>
                            <a:rPr lang="en-US" altLang="fr-FR" sz="1600" b="0" i="1" smtClean="0">
                              <a:solidFill>
                                <a:schemeClr val="accent3"/>
                              </a:solidFill>
                              <a:latin typeface="Cambria Math" panose="02040503050406030204" pitchFamily="18" charset="0"/>
                              <a:cs typeface="Arial" panose="020B0604020202020204" pitchFamily="34" charset="0"/>
                            </a:rPr>
                            <m:t>𝑎</m:t>
                          </m:r>
                          <m:r>
                            <a:rPr lang="en-US" altLang="fr-FR" sz="1600" b="0" i="1" smtClean="0">
                              <a:solidFill>
                                <a:schemeClr val="accent3"/>
                              </a:solidFill>
                              <a:latin typeface="Cambria Math" panose="02040503050406030204" pitchFamily="18" charset="0"/>
                              <a:cs typeface="Arial" panose="020B0604020202020204" pitchFamily="34" charset="0"/>
                            </a:rPr>
                            <m:t>𝑙𝑙</m:t>
                          </m:r>
                          <m:r>
                            <a:rPr lang="en-US" altLang="fr-FR" sz="1600" b="0" i="1" smtClean="0">
                              <a:solidFill>
                                <a:schemeClr val="accent3"/>
                              </a:solidFill>
                              <a:latin typeface="Cambria Math" panose="02040503050406030204" pitchFamily="18" charset="0"/>
                              <a:cs typeface="Arial" panose="020B0604020202020204" pitchFamily="34" charset="0"/>
                            </a:rPr>
                            <m:t> </m:t>
                          </m:r>
                          <m:r>
                            <a:rPr lang="en-US" altLang="fr-FR" sz="1600" b="0" i="1" smtClean="0">
                              <a:solidFill>
                                <a:schemeClr val="accent3"/>
                              </a:solidFill>
                              <a:latin typeface="Cambria Math" panose="02040503050406030204" pitchFamily="18" charset="0"/>
                              <a:cs typeface="Arial" panose="020B0604020202020204" pitchFamily="34" charset="0"/>
                            </a:rPr>
                            <m:t>𝑈𝑃𝑠</m:t>
                          </m:r>
                        </m:sub>
                        <m:sup/>
                        <m:e>
                          <m:r>
                            <m:rPr>
                              <m:nor/>
                            </m:rPr>
                            <a:rPr lang="en-US" altLang="en-US" sz="2400" b="0" dirty="0">
                              <a:solidFill>
                                <a:srgbClr val="ADA400"/>
                              </a:solidFill>
                              <a:latin typeface="Arial" panose="020B0604020202020204"/>
                            </a:rPr>
                            <m:t>kg</m:t>
                          </m:r>
                          <m:r>
                            <m:rPr>
                              <m:nor/>
                            </m:rPr>
                            <a:rPr lang="en-US" altLang="en-US" sz="2400" b="0" baseline="-25000" dirty="0">
                              <a:solidFill>
                                <a:srgbClr val="ADA400"/>
                              </a:solidFill>
                              <a:latin typeface="Arial" panose="020B0604020202020204"/>
                            </a:rPr>
                            <m:t>CO</m:t>
                          </m:r>
                          <m:r>
                            <m:rPr>
                              <m:nor/>
                            </m:rPr>
                            <a:rPr lang="en-US" altLang="en-US" sz="2400" b="0" baseline="-25000" dirty="0">
                              <a:solidFill>
                                <a:srgbClr val="ADA400"/>
                              </a:solidFill>
                              <a:latin typeface="Arial" panose="020B0604020202020204"/>
                            </a:rPr>
                            <m:t>2</m:t>
                          </m:r>
                          <m:r>
                            <m:rPr>
                              <m:nor/>
                            </m:rPr>
                            <a:rPr lang="en-US" altLang="fr-FR" sz="1600" b="0" dirty="0">
                              <a:solidFill>
                                <a:schemeClr val="accent3"/>
                              </a:solidFill>
                              <a:cs typeface="Arial" panose="020B0604020202020204" pitchFamily="34" charset="0"/>
                            </a:rPr>
                            <m:t>/</m:t>
                          </m:r>
                          <m:r>
                            <m:rPr>
                              <m:nor/>
                            </m:rPr>
                            <a:rPr lang="en-US" altLang="fr-FR" sz="1600" b="0" dirty="0">
                              <a:solidFill>
                                <a:schemeClr val="accent3"/>
                              </a:solidFill>
                              <a:cs typeface="Arial" panose="020B0604020202020204" pitchFamily="34" charset="0"/>
                            </a:rPr>
                            <m:t>FU</m:t>
                          </m:r>
                          <m:r>
                            <m:rPr>
                              <m:nor/>
                            </m:rPr>
                            <a:rPr lang="en-US" altLang="fr-FR" sz="1600" b="0" dirty="0">
                              <a:solidFill>
                                <a:schemeClr val="accent3"/>
                              </a:solidFill>
                              <a:cs typeface="Arial" panose="020B0604020202020204" pitchFamily="34" charset="0"/>
                            </a:rPr>
                            <m:t> </m:t>
                          </m:r>
                        </m:e>
                      </m:nary>
                    </m:oMath>
                  </m:oMathPara>
                </a14:m>
                <a:endParaRPr lang="en-US" altLang="fr-FR" sz="1600" b="0" dirty="0">
                  <a:solidFill>
                    <a:schemeClr val="accent3"/>
                  </a:solidFill>
                  <a:cs typeface="Arial" panose="020B0604020202020204" pitchFamily="34" charset="0"/>
                </a:endParaRPr>
              </a:p>
            </p:txBody>
          </p:sp>
        </mc:Choice>
        <mc:Fallback xmlns="">
          <p:sp>
            <p:nvSpPr>
              <p:cNvPr id="39" name="Text Box 56">
                <a:extLst>
                  <a:ext uri="{FF2B5EF4-FFF2-40B4-BE49-F238E27FC236}">
                    <a16:creationId xmlns:a16="http://schemas.microsoft.com/office/drawing/2014/main" id="{6F2420BE-001F-CF4D-82A3-83D7459DCB5D}"/>
                  </a:ext>
                </a:extLst>
              </p:cNvPr>
              <p:cNvSpPr txBox="1">
                <a:spLocks noRot="1" noChangeAspect="1" noMove="1" noResize="1" noEditPoints="1" noAdjustHandles="1" noChangeArrowheads="1" noChangeShapeType="1" noTextEdit="1"/>
              </p:cNvSpPr>
              <p:nvPr/>
            </p:nvSpPr>
            <p:spPr bwMode="auto">
              <a:xfrm>
                <a:off x="13915290" y="6367140"/>
                <a:ext cx="1705710" cy="936347"/>
              </a:xfrm>
              <a:prstGeom prst="rect">
                <a:avLst/>
              </a:prstGeom>
              <a:blipFill>
                <a:blip r:embed="rId3"/>
                <a:stretch>
                  <a:fillRect l="-2143" t="-194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cxnSp>
        <p:nvCxnSpPr>
          <p:cNvPr id="7" name="Straight Connector 6"/>
          <p:cNvCxnSpPr/>
          <p:nvPr/>
        </p:nvCxnSpPr>
        <p:spPr>
          <a:xfrm>
            <a:off x="13469814" y="6028994"/>
            <a:ext cx="1969477" cy="0"/>
          </a:xfrm>
          <a:prstGeom prst="lin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41" name="Text Box 56">
            <a:extLst>
              <a:ext uri="{FF2B5EF4-FFF2-40B4-BE49-F238E27FC236}">
                <a16:creationId xmlns:a16="http://schemas.microsoft.com/office/drawing/2014/main" id="{6F2420BE-001F-CF4D-82A3-83D7459DCB5D}"/>
              </a:ext>
            </a:extLst>
          </p:cNvPr>
          <p:cNvSpPr txBox="1">
            <a:spLocks noChangeArrowheads="1"/>
          </p:cNvSpPr>
          <p:nvPr/>
        </p:nvSpPr>
        <p:spPr bwMode="auto">
          <a:xfrm rot="5400000">
            <a:off x="13462258" y="5910979"/>
            <a:ext cx="14292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eaLnBrk="1" hangingPunct="1">
              <a:spcBef>
                <a:spcPct val="0"/>
              </a:spcBef>
              <a:buClrTx/>
              <a:buFontTx/>
              <a:buNone/>
            </a:pPr>
            <a:r>
              <a:rPr lang="en-US" altLang="fr-FR" sz="2800" dirty="0">
                <a:solidFill>
                  <a:schemeClr val="accent3"/>
                </a:solidFill>
                <a:cs typeface="Arial" panose="020B0604020202020204" pitchFamily="34" charset="0"/>
              </a:rPr>
              <a:t>…</a:t>
            </a:r>
          </a:p>
        </p:txBody>
      </p:sp>
      <p:sp>
        <p:nvSpPr>
          <p:cNvPr id="42" name="Line 35">
            <a:extLst>
              <a:ext uri="{FF2B5EF4-FFF2-40B4-BE49-F238E27FC236}">
                <a16:creationId xmlns:a16="http://schemas.microsoft.com/office/drawing/2014/main" id="{CC8A3D27-DF35-034A-80B7-F2C8AD3FE254}"/>
              </a:ext>
            </a:extLst>
          </p:cNvPr>
          <p:cNvSpPr>
            <a:spLocks noChangeShapeType="1"/>
          </p:cNvSpPr>
          <p:nvPr/>
        </p:nvSpPr>
        <p:spPr bwMode="auto">
          <a:xfrm>
            <a:off x="13622216" y="4451056"/>
            <a:ext cx="0" cy="464772"/>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526761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E6749-8E30-E645-93C6-C20513A51F69}"/>
              </a:ext>
            </a:extLst>
          </p:cNvPr>
          <p:cNvSpPr>
            <a:spLocks noGrp="1"/>
          </p:cNvSpPr>
          <p:nvPr>
            <p:ph type="title"/>
          </p:nvPr>
        </p:nvSpPr>
        <p:spPr/>
        <p:txBody>
          <a:bodyPr/>
          <a:lstStyle/>
          <a:p>
            <a:r>
              <a:rPr lang="en-US" altLang="en-US" sz="3400" dirty="0">
                <a:solidFill>
                  <a:schemeClr val="tx2"/>
                </a:solidFill>
              </a:rPr>
              <a:t>Calculation of the kg</a:t>
            </a:r>
            <a:r>
              <a:rPr lang="en-US" altLang="en-US" sz="3400" baseline="-25000" dirty="0">
                <a:solidFill>
                  <a:schemeClr val="tx2"/>
                </a:solidFill>
              </a:rPr>
              <a:t>CO2</a:t>
            </a:r>
            <a:r>
              <a:rPr lang="en-US" altLang="en-US" sz="3400" dirty="0">
                <a:solidFill>
                  <a:schemeClr val="tx2"/>
                </a:solidFill>
              </a:rPr>
              <a:t> emitted per </a:t>
            </a:r>
            <a:r>
              <a:rPr lang="en-US" altLang="en-US" sz="3400" dirty="0" err="1">
                <a:solidFill>
                  <a:schemeClr val="tx2"/>
                </a:solidFill>
              </a:rPr>
              <a:t>kg</a:t>
            </a:r>
            <a:r>
              <a:rPr lang="en-US" altLang="en-US" sz="3400" baseline="-25000" dirty="0" err="1">
                <a:solidFill>
                  <a:schemeClr val="tx2"/>
                </a:solidFill>
              </a:rPr>
              <a:t>Al</a:t>
            </a:r>
            <a:r>
              <a:rPr lang="en-US" altLang="en-US" sz="3400" baseline="-25000" dirty="0">
                <a:solidFill>
                  <a:schemeClr val="tx2"/>
                </a:solidFill>
              </a:rPr>
              <a:t> liquid</a:t>
            </a:r>
            <a:endParaRPr lang="en-US" sz="3400" baseline="-25000" dirty="0">
              <a:solidFill>
                <a:schemeClr val="tx2"/>
              </a:solidFill>
            </a:endParaRPr>
          </a:p>
        </p:txBody>
      </p:sp>
      <p:sp>
        <p:nvSpPr>
          <p:cNvPr id="93" name="Rectangle 19">
            <a:extLst>
              <a:ext uri="{FF2B5EF4-FFF2-40B4-BE49-F238E27FC236}">
                <a16:creationId xmlns:a16="http://schemas.microsoft.com/office/drawing/2014/main" id="{95801A3E-2BAC-2B4B-99A9-889BBBC270D4}"/>
              </a:ext>
            </a:extLst>
          </p:cNvPr>
          <p:cNvSpPr>
            <a:spLocks noChangeArrowheads="1"/>
          </p:cNvSpPr>
          <p:nvPr/>
        </p:nvSpPr>
        <p:spPr bwMode="auto">
          <a:xfrm>
            <a:off x="7116282" y="3559052"/>
            <a:ext cx="1657350"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algn="ctr" eaLnBrk="1" fontAlgn="auto" hangingPunct="1">
              <a:spcBef>
                <a:spcPts val="0"/>
              </a:spcBef>
              <a:spcAft>
                <a:spcPts val="0"/>
              </a:spcAft>
              <a:defRPr/>
            </a:pPr>
            <a:r>
              <a:rPr lang="en-US" sz="1600" kern="0" dirty="0">
                <a:solidFill>
                  <a:schemeClr val="tx2"/>
                </a:solidFill>
                <a:latin typeface="Arial" panose="020B0604020202020204" pitchFamily="34" charset="0"/>
                <a:cs typeface="Arial" panose="020B0604020202020204" pitchFamily="34" charset="0"/>
              </a:rPr>
              <a:t>Aluminum oxide</a:t>
            </a:r>
          </a:p>
          <a:p>
            <a:pPr algn="ctr" eaLnBrk="1" fontAlgn="auto" hangingPunct="1">
              <a:spcBef>
                <a:spcPts val="0"/>
              </a:spcBef>
              <a:spcAft>
                <a:spcPts val="0"/>
              </a:spcAft>
              <a:defRPr/>
            </a:pPr>
            <a:endParaRPr lang="en-US" sz="1600" kern="0" dirty="0">
              <a:solidFill>
                <a:schemeClr val="tx2"/>
              </a:solidFill>
              <a:latin typeface="Arial" panose="020B0604020202020204" pitchFamily="34" charset="0"/>
              <a:cs typeface="Arial" panose="020B0604020202020204" pitchFamily="34" charset="0"/>
            </a:endParaRPr>
          </a:p>
          <a:p>
            <a:pPr algn="ctr">
              <a:defRPr/>
            </a:pPr>
            <a:r>
              <a:rPr lang="en-US" sz="1600" kern="0" dirty="0">
                <a:solidFill>
                  <a:schemeClr val="accent4"/>
                </a:solidFill>
                <a:latin typeface="Arial" panose="020B0604020202020204" pitchFamily="34" charset="0"/>
                <a:cs typeface="Arial" panose="020B0604020202020204" pitchFamily="34" charset="0"/>
              </a:rPr>
              <a:t>1.93 kg/FU</a:t>
            </a:r>
          </a:p>
        </p:txBody>
      </p:sp>
      <p:sp>
        <p:nvSpPr>
          <p:cNvPr id="94" name="Rectangle 19">
            <a:extLst>
              <a:ext uri="{FF2B5EF4-FFF2-40B4-BE49-F238E27FC236}">
                <a16:creationId xmlns:a16="http://schemas.microsoft.com/office/drawing/2014/main" id="{8FFDDB33-5239-AF40-BD72-A23B4D53CE32}"/>
              </a:ext>
            </a:extLst>
          </p:cNvPr>
          <p:cNvSpPr>
            <a:spLocks noChangeArrowheads="1"/>
          </p:cNvSpPr>
          <p:nvPr/>
        </p:nvSpPr>
        <p:spPr bwMode="auto">
          <a:xfrm>
            <a:off x="8953019" y="3559052"/>
            <a:ext cx="18716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algn="ctr" eaLnBrk="1" fontAlgn="auto" hangingPunct="1">
              <a:spcBef>
                <a:spcPts val="0"/>
              </a:spcBef>
              <a:spcAft>
                <a:spcPts val="0"/>
              </a:spcAft>
              <a:defRPr/>
            </a:pPr>
            <a:r>
              <a:rPr lang="en-US" sz="1600" kern="0" dirty="0">
                <a:solidFill>
                  <a:schemeClr val="tx2"/>
                </a:solidFill>
                <a:latin typeface="Arial" panose="020B0604020202020204" pitchFamily="34" charset="0"/>
                <a:cs typeface="Arial" panose="020B0604020202020204" pitchFamily="34" charset="0"/>
              </a:rPr>
              <a:t>Anode, aluminum electrolysis</a:t>
            </a:r>
          </a:p>
          <a:p>
            <a:pPr algn="ctr">
              <a:defRPr/>
            </a:pPr>
            <a:r>
              <a:rPr lang="en-US" sz="1600" kern="0" dirty="0">
                <a:solidFill>
                  <a:schemeClr val="accent4"/>
                </a:solidFill>
                <a:latin typeface="Arial" panose="020B0604020202020204" pitchFamily="34" charset="0"/>
                <a:cs typeface="Arial" panose="020B0604020202020204" pitchFamily="34" charset="0"/>
              </a:rPr>
              <a:t>0.449 kg/FU</a:t>
            </a:r>
          </a:p>
        </p:txBody>
      </p:sp>
      <p:sp>
        <p:nvSpPr>
          <p:cNvPr id="95" name="Rectangle 19">
            <a:extLst>
              <a:ext uri="{FF2B5EF4-FFF2-40B4-BE49-F238E27FC236}">
                <a16:creationId xmlns:a16="http://schemas.microsoft.com/office/drawing/2014/main" id="{C1BB0779-61F1-FC4F-88B8-6E2C7BD373BA}"/>
              </a:ext>
            </a:extLst>
          </p:cNvPr>
          <p:cNvSpPr>
            <a:spLocks noChangeArrowheads="1"/>
          </p:cNvSpPr>
          <p:nvPr/>
        </p:nvSpPr>
        <p:spPr bwMode="auto">
          <a:xfrm>
            <a:off x="11372370" y="3559052"/>
            <a:ext cx="2052637" cy="828432"/>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algn="ctr" eaLnBrk="1" fontAlgn="auto" hangingPunct="1">
              <a:spcBef>
                <a:spcPts val="0"/>
              </a:spcBef>
              <a:spcAft>
                <a:spcPts val="0"/>
              </a:spcAft>
              <a:defRPr/>
            </a:pPr>
            <a:r>
              <a:rPr lang="en-US" sz="1600" kern="0" dirty="0">
                <a:solidFill>
                  <a:schemeClr val="tx2"/>
                </a:solidFill>
                <a:latin typeface="Arial" panose="020B0604020202020204" pitchFamily="34" charset="0"/>
                <a:cs typeface="Arial" panose="020B0604020202020204" pitchFamily="34" charset="0"/>
              </a:rPr>
              <a:t>Cathode, aluminum electrolysis</a:t>
            </a:r>
          </a:p>
          <a:p>
            <a:pPr algn="ctr">
              <a:defRPr/>
            </a:pPr>
            <a:r>
              <a:rPr lang="en-US" sz="1600" kern="0" dirty="0">
                <a:solidFill>
                  <a:schemeClr val="accent4"/>
                </a:solidFill>
                <a:latin typeface="Arial" panose="020B0604020202020204" pitchFamily="34" charset="0"/>
                <a:cs typeface="Arial" panose="020B0604020202020204" pitchFamily="34" charset="0"/>
              </a:rPr>
              <a:t>0.0181 kg/FU</a:t>
            </a:r>
          </a:p>
        </p:txBody>
      </p:sp>
      <p:sp>
        <p:nvSpPr>
          <p:cNvPr id="96" name="Rectangle 19">
            <a:extLst>
              <a:ext uri="{FF2B5EF4-FFF2-40B4-BE49-F238E27FC236}">
                <a16:creationId xmlns:a16="http://schemas.microsoft.com/office/drawing/2014/main" id="{CCB90FA9-39EE-F04C-9A26-3C1702750715}"/>
              </a:ext>
            </a:extLst>
          </p:cNvPr>
          <p:cNvSpPr>
            <a:spLocks noChangeArrowheads="1"/>
          </p:cNvSpPr>
          <p:nvPr/>
        </p:nvSpPr>
        <p:spPr bwMode="auto">
          <a:xfrm>
            <a:off x="8413269" y="6421315"/>
            <a:ext cx="16557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algn="ctr" eaLnBrk="1" fontAlgn="auto" hangingPunct="1">
              <a:spcBef>
                <a:spcPts val="0"/>
              </a:spcBef>
              <a:spcAft>
                <a:spcPts val="0"/>
              </a:spcAft>
              <a:defRPr/>
            </a:pPr>
            <a:r>
              <a:rPr lang="en-US" sz="1600" kern="0" dirty="0">
                <a:solidFill>
                  <a:schemeClr val="tx2"/>
                </a:solidFill>
                <a:latin typeface="Arial" panose="020B0604020202020204" pitchFamily="34" charset="0"/>
                <a:cs typeface="Arial" panose="020B0604020202020204" pitchFamily="34" charset="0"/>
              </a:rPr>
              <a:t>Heat, </a:t>
            </a:r>
          </a:p>
          <a:p>
            <a:pPr algn="ctr" eaLnBrk="1" fontAlgn="auto" hangingPunct="1">
              <a:spcBef>
                <a:spcPts val="0"/>
              </a:spcBef>
              <a:spcAft>
                <a:spcPts val="0"/>
              </a:spcAft>
              <a:defRPr/>
            </a:pPr>
            <a:r>
              <a:rPr lang="en-US" sz="1600" kern="0" dirty="0">
                <a:solidFill>
                  <a:schemeClr val="tx2"/>
                </a:solidFill>
                <a:latin typeface="Arial" panose="020B0604020202020204" pitchFamily="34" charset="0"/>
                <a:cs typeface="Arial" panose="020B0604020202020204" pitchFamily="34" charset="0"/>
              </a:rPr>
              <a:t>light fuel oil</a:t>
            </a:r>
          </a:p>
          <a:p>
            <a:pPr algn="ctr">
              <a:defRPr/>
            </a:pPr>
            <a:r>
              <a:rPr lang="en-US" sz="1600" kern="0" dirty="0">
                <a:solidFill>
                  <a:schemeClr val="accent4"/>
                </a:solidFill>
                <a:latin typeface="Arial" panose="020B0604020202020204" pitchFamily="34" charset="0"/>
                <a:cs typeface="Arial" panose="020B0604020202020204" pitchFamily="34" charset="0"/>
              </a:rPr>
              <a:t>14.9 MJ/FU</a:t>
            </a:r>
          </a:p>
        </p:txBody>
      </p:sp>
      <p:sp>
        <p:nvSpPr>
          <p:cNvPr id="97" name="Rectangle 19">
            <a:extLst>
              <a:ext uri="{FF2B5EF4-FFF2-40B4-BE49-F238E27FC236}">
                <a16:creationId xmlns:a16="http://schemas.microsoft.com/office/drawing/2014/main" id="{3022CB08-C5CE-8E47-A457-A19301EA80A9}"/>
              </a:ext>
            </a:extLst>
          </p:cNvPr>
          <p:cNvSpPr>
            <a:spLocks noChangeArrowheads="1"/>
          </p:cNvSpPr>
          <p:nvPr/>
        </p:nvSpPr>
        <p:spPr bwMode="auto">
          <a:xfrm>
            <a:off x="10716732" y="6446594"/>
            <a:ext cx="2058412" cy="828432"/>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algn="ctr" eaLnBrk="1" fontAlgn="auto" hangingPunct="1">
              <a:spcBef>
                <a:spcPts val="0"/>
              </a:spcBef>
              <a:spcAft>
                <a:spcPts val="0"/>
              </a:spcAft>
              <a:defRPr/>
            </a:pPr>
            <a:r>
              <a:rPr lang="en-US" sz="1600" kern="0" dirty="0">
                <a:solidFill>
                  <a:schemeClr val="tx2"/>
                </a:solidFill>
                <a:latin typeface="Arial" panose="020B0604020202020204" pitchFamily="34" charset="0"/>
                <a:cs typeface="Arial" panose="020B0604020202020204" pitchFamily="34" charset="0"/>
              </a:rPr>
              <a:t>Transport, transoceanic freight</a:t>
            </a:r>
          </a:p>
          <a:p>
            <a:pPr algn="ctr">
              <a:defRPr/>
            </a:pPr>
            <a:r>
              <a:rPr lang="en-US" sz="1600" kern="0" dirty="0">
                <a:solidFill>
                  <a:schemeClr val="accent4"/>
                </a:solidFill>
                <a:latin typeface="Arial" panose="020B0604020202020204" pitchFamily="34" charset="0"/>
                <a:cs typeface="Arial" panose="020B0604020202020204" pitchFamily="34" charset="0"/>
              </a:rPr>
              <a:t>34.1 </a:t>
            </a:r>
            <a:r>
              <a:rPr lang="en-US" sz="1600" kern="0" dirty="0" err="1">
                <a:solidFill>
                  <a:schemeClr val="accent4"/>
                </a:solidFill>
                <a:latin typeface="Arial" panose="020B0604020202020204" pitchFamily="34" charset="0"/>
                <a:cs typeface="Arial" panose="020B0604020202020204" pitchFamily="34" charset="0"/>
              </a:rPr>
              <a:t>t∙km</a:t>
            </a:r>
            <a:r>
              <a:rPr lang="en-US" sz="1600" kern="0" dirty="0">
                <a:solidFill>
                  <a:schemeClr val="accent4"/>
                </a:solidFill>
                <a:latin typeface="Arial" panose="020B0604020202020204" pitchFamily="34" charset="0"/>
                <a:cs typeface="Arial" panose="020B0604020202020204" pitchFamily="34" charset="0"/>
              </a:rPr>
              <a:t>/FU</a:t>
            </a:r>
          </a:p>
        </p:txBody>
      </p:sp>
      <p:sp>
        <p:nvSpPr>
          <p:cNvPr id="98" name="Rectangle 19">
            <a:extLst>
              <a:ext uri="{FF2B5EF4-FFF2-40B4-BE49-F238E27FC236}">
                <a16:creationId xmlns:a16="http://schemas.microsoft.com/office/drawing/2014/main" id="{438B3182-2539-D74D-B126-E193AD2E4FD8}"/>
              </a:ext>
            </a:extLst>
          </p:cNvPr>
          <p:cNvSpPr>
            <a:spLocks noChangeArrowheads="1"/>
          </p:cNvSpPr>
          <p:nvPr/>
        </p:nvSpPr>
        <p:spPr bwMode="auto">
          <a:xfrm>
            <a:off x="13559614" y="3559052"/>
            <a:ext cx="16557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algn="ctr" eaLnBrk="1" fontAlgn="auto" hangingPunct="1">
              <a:spcBef>
                <a:spcPts val="0"/>
              </a:spcBef>
              <a:spcAft>
                <a:spcPts val="0"/>
              </a:spcAft>
              <a:defRPr/>
            </a:pPr>
            <a:r>
              <a:rPr lang="en-US" sz="1600" kern="0" dirty="0">
                <a:solidFill>
                  <a:schemeClr val="tx2"/>
                </a:solidFill>
                <a:latin typeface="Arial" panose="020B0604020202020204" pitchFamily="34" charset="0"/>
                <a:cs typeface="Arial" panose="020B0604020202020204" pitchFamily="34" charset="0"/>
              </a:rPr>
              <a:t>Electricity mix</a:t>
            </a:r>
          </a:p>
          <a:p>
            <a:pPr algn="ctr" eaLnBrk="1" fontAlgn="auto" hangingPunct="1">
              <a:spcBef>
                <a:spcPts val="0"/>
              </a:spcBef>
              <a:spcAft>
                <a:spcPts val="0"/>
              </a:spcAft>
              <a:defRPr/>
            </a:pPr>
            <a:endParaRPr lang="en-US" sz="1600" kern="0" dirty="0">
              <a:solidFill>
                <a:schemeClr val="tx2"/>
              </a:solidFill>
              <a:latin typeface="Arial" panose="020B0604020202020204" pitchFamily="34" charset="0"/>
              <a:cs typeface="Arial" panose="020B0604020202020204" pitchFamily="34" charset="0"/>
            </a:endParaRPr>
          </a:p>
          <a:p>
            <a:pPr algn="ctr">
              <a:defRPr/>
            </a:pPr>
            <a:r>
              <a:rPr lang="en-US" sz="1600" kern="0" dirty="0">
                <a:solidFill>
                  <a:schemeClr val="accent4"/>
                </a:solidFill>
                <a:latin typeface="Arial" panose="020B0604020202020204" pitchFamily="34" charset="0"/>
                <a:cs typeface="Arial" panose="020B0604020202020204" pitchFamily="34" charset="0"/>
              </a:rPr>
              <a:t>57.4 MJ/FU</a:t>
            </a:r>
          </a:p>
        </p:txBody>
      </p:sp>
      <p:cxnSp>
        <p:nvCxnSpPr>
          <p:cNvPr id="99" name="Straight Connector 205">
            <a:extLst>
              <a:ext uri="{FF2B5EF4-FFF2-40B4-BE49-F238E27FC236}">
                <a16:creationId xmlns:a16="http://schemas.microsoft.com/office/drawing/2014/main" id="{06D69943-7789-0647-98A1-939020A87596}"/>
              </a:ext>
            </a:extLst>
          </p:cNvPr>
          <p:cNvCxnSpPr>
            <a:cxnSpLocks noChangeShapeType="1"/>
          </p:cNvCxnSpPr>
          <p:nvPr/>
        </p:nvCxnSpPr>
        <p:spPr bwMode="auto">
          <a:xfrm flipV="1">
            <a:off x="14209232" y="3133481"/>
            <a:ext cx="0" cy="433388"/>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00" name="Straight Connector 206">
            <a:extLst>
              <a:ext uri="{FF2B5EF4-FFF2-40B4-BE49-F238E27FC236}">
                <a16:creationId xmlns:a16="http://schemas.microsoft.com/office/drawing/2014/main" id="{2FEC53C3-F3D7-D94B-B82F-A8BD2573E4DF}"/>
              </a:ext>
            </a:extLst>
          </p:cNvPr>
          <p:cNvCxnSpPr>
            <a:cxnSpLocks noChangeShapeType="1"/>
          </p:cNvCxnSpPr>
          <p:nvPr/>
        </p:nvCxnSpPr>
        <p:spPr bwMode="auto">
          <a:xfrm flipH="1">
            <a:off x="11940694" y="3133481"/>
            <a:ext cx="2268538" cy="0"/>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01" name="Straight Arrow Connector 207">
            <a:extLst>
              <a:ext uri="{FF2B5EF4-FFF2-40B4-BE49-F238E27FC236}">
                <a16:creationId xmlns:a16="http://schemas.microsoft.com/office/drawing/2014/main" id="{20CA88C2-BC99-C249-B95F-C18CCD27CFD1}"/>
              </a:ext>
            </a:extLst>
          </p:cNvPr>
          <p:cNvCxnSpPr>
            <a:cxnSpLocks noChangeShapeType="1"/>
          </p:cNvCxnSpPr>
          <p:nvPr/>
        </p:nvCxnSpPr>
        <p:spPr bwMode="auto">
          <a:xfrm flipV="1">
            <a:off x="11940694" y="2954094"/>
            <a:ext cx="0" cy="179387"/>
          </a:xfrm>
          <a:prstGeom prst="straightConnector1">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grpSp>
        <p:nvGrpSpPr>
          <p:cNvPr id="102" name="Group 208">
            <a:extLst>
              <a:ext uri="{FF2B5EF4-FFF2-40B4-BE49-F238E27FC236}">
                <a16:creationId xmlns:a16="http://schemas.microsoft.com/office/drawing/2014/main" id="{34124118-570F-2741-8B19-AAB13495643F}"/>
              </a:ext>
            </a:extLst>
          </p:cNvPr>
          <p:cNvGrpSpPr>
            <a:grpSpLocks/>
          </p:cNvGrpSpPr>
          <p:nvPr/>
        </p:nvGrpSpPr>
        <p:grpSpPr bwMode="auto">
          <a:xfrm>
            <a:off x="11724794" y="2954094"/>
            <a:ext cx="576263" cy="611187"/>
            <a:chOff x="4860032" y="2097192"/>
            <a:chExt cx="972108" cy="611728"/>
          </a:xfrm>
        </p:grpSpPr>
        <p:cxnSp>
          <p:nvCxnSpPr>
            <p:cNvPr id="103" name="Straight Connector 209">
              <a:extLst>
                <a:ext uri="{FF2B5EF4-FFF2-40B4-BE49-F238E27FC236}">
                  <a16:creationId xmlns:a16="http://schemas.microsoft.com/office/drawing/2014/main" id="{11FC6F00-82EF-A349-9B37-7FBBABC909AD}"/>
                </a:ext>
              </a:extLst>
            </p:cNvPr>
            <p:cNvCxnSpPr>
              <a:cxnSpLocks noChangeShapeType="1"/>
            </p:cNvCxnSpPr>
            <p:nvPr/>
          </p:nvCxnSpPr>
          <p:spPr bwMode="auto">
            <a:xfrm flipV="1">
              <a:off x="5832140" y="2492896"/>
              <a:ext cx="0" cy="216024"/>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04" name="Straight Connector 210">
              <a:extLst>
                <a:ext uri="{FF2B5EF4-FFF2-40B4-BE49-F238E27FC236}">
                  <a16:creationId xmlns:a16="http://schemas.microsoft.com/office/drawing/2014/main" id="{7EE9DB23-A6E1-1048-B930-BEB006679FDE}"/>
                </a:ext>
              </a:extLst>
            </p:cNvPr>
            <p:cNvCxnSpPr>
              <a:cxnSpLocks noChangeShapeType="1"/>
            </p:cNvCxnSpPr>
            <p:nvPr/>
          </p:nvCxnSpPr>
          <p:spPr bwMode="auto">
            <a:xfrm flipH="1">
              <a:off x="4860032" y="2492896"/>
              <a:ext cx="972108" cy="0"/>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05" name="Straight Arrow Connector 211">
              <a:extLst>
                <a:ext uri="{FF2B5EF4-FFF2-40B4-BE49-F238E27FC236}">
                  <a16:creationId xmlns:a16="http://schemas.microsoft.com/office/drawing/2014/main" id="{029260E1-D65B-5A46-93F9-42BCD61036F6}"/>
                </a:ext>
              </a:extLst>
            </p:cNvPr>
            <p:cNvCxnSpPr>
              <a:cxnSpLocks noChangeShapeType="1"/>
            </p:cNvCxnSpPr>
            <p:nvPr/>
          </p:nvCxnSpPr>
          <p:spPr bwMode="auto">
            <a:xfrm flipV="1">
              <a:off x="4860032" y="2097192"/>
              <a:ext cx="0" cy="395704"/>
            </a:xfrm>
            <a:prstGeom prst="straightConnector1">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grpSp>
      <p:grpSp>
        <p:nvGrpSpPr>
          <p:cNvPr id="106" name="Group 212">
            <a:extLst>
              <a:ext uri="{FF2B5EF4-FFF2-40B4-BE49-F238E27FC236}">
                <a16:creationId xmlns:a16="http://schemas.microsoft.com/office/drawing/2014/main" id="{3C167CEC-C2C0-3F45-9B2B-092E7E583B5D}"/>
              </a:ext>
            </a:extLst>
          </p:cNvPr>
          <p:cNvGrpSpPr>
            <a:grpSpLocks/>
          </p:cNvGrpSpPr>
          <p:nvPr/>
        </p:nvGrpSpPr>
        <p:grpSpPr bwMode="auto">
          <a:xfrm>
            <a:off x="7908444" y="2954094"/>
            <a:ext cx="2754313" cy="611187"/>
            <a:chOff x="971600" y="2097192"/>
            <a:chExt cx="2988332" cy="611728"/>
          </a:xfrm>
        </p:grpSpPr>
        <p:cxnSp>
          <p:nvCxnSpPr>
            <p:cNvPr id="107" name="Straight Connector 213">
              <a:extLst>
                <a:ext uri="{FF2B5EF4-FFF2-40B4-BE49-F238E27FC236}">
                  <a16:creationId xmlns:a16="http://schemas.microsoft.com/office/drawing/2014/main" id="{5A3C90F1-A690-B444-AFD4-E5F38D5DD3B0}"/>
                </a:ext>
              </a:extLst>
            </p:cNvPr>
            <p:cNvCxnSpPr>
              <a:cxnSpLocks noChangeShapeType="1"/>
            </p:cNvCxnSpPr>
            <p:nvPr/>
          </p:nvCxnSpPr>
          <p:spPr bwMode="auto">
            <a:xfrm flipV="1">
              <a:off x="971600" y="2276872"/>
              <a:ext cx="0" cy="432048"/>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08" name="Straight Connector 214">
              <a:extLst>
                <a:ext uri="{FF2B5EF4-FFF2-40B4-BE49-F238E27FC236}">
                  <a16:creationId xmlns:a16="http://schemas.microsoft.com/office/drawing/2014/main" id="{97676850-8576-FC4F-96A4-2E718065E697}"/>
                </a:ext>
              </a:extLst>
            </p:cNvPr>
            <p:cNvCxnSpPr>
              <a:cxnSpLocks noChangeShapeType="1"/>
            </p:cNvCxnSpPr>
            <p:nvPr/>
          </p:nvCxnSpPr>
          <p:spPr bwMode="auto">
            <a:xfrm flipH="1">
              <a:off x="971600" y="2276872"/>
              <a:ext cx="2988332" cy="0"/>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09" name="Straight Arrow Connector 215">
              <a:extLst>
                <a:ext uri="{FF2B5EF4-FFF2-40B4-BE49-F238E27FC236}">
                  <a16:creationId xmlns:a16="http://schemas.microsoft.com/office/drawing/2014/main" id="{BC643587-F748-1C48-AEFC-31B487538436}"/>
                </a:ext>
              </a:extLst>
            </p:cNvPr>
            <p:cNvCxnSpPr>
              <a:cxnSpLocks noChangeShapeType="1"/>
            </p:cNvCxnSpPr>
            <p:nvPr/>
          </p:nvCxnSpPr>
          <p:spPr bwMode="auto">
            <a:xfrm flipV="1">
              <a:off x="3959932" y="2097192"/>
              <a:ext cx="0" cy="179680"/>
            </a:xfrm>
            <a:prstGeom prst="straightConnector1">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grpSp>
      <p:grpSp>
        <p:nvGrpSpPr>
          <p:cNvPr id="110" name="Group 216">
            <a:extLst>
              <a:ext uri="{FF2B5EF4-FFF2-40B4-BE49-F238E27FC236}">
                <a16:creationId xmlns:a16="http://schemas.microsoft.com/office/drawing/2014/main" id="{9F2CCBB5-75AA-E54F-AD93-E66FCA131CEC}"/>
              </a:ext>
            </a:extLst>
          </p:cNvPr>
          <p:cNvGrpSpPr>
            <a:grpSpLocks/>
          </p:cNvGrpSpPr>
          <p:nvPr/>
        </p:nvGrpSpPr>
        <p:grpSpPr bwMode="auto">
          <a:xfrm>
            <a:off x="10176982" y="2954094"/>
            <a:ext cx="647700" cy="611187"/>
            <a:chOff x="3311860" y="2096852"/>
            <a:chExt cx="972108" cy="612068"/>
          </a:xfrm>
        </p:grpSpPr>
        <p:cxnSp>
          <p:nvCxnSpPr>
            <p:cNvPr id="111" name="Straight Connector 217">
              <a:extLst>
                <a:ext uri="{FF2B5EF4-FFF2-40B4-BE49-F238E27FC236}">
                  <a16:creationId xmlns:a16="http://schemas.microsoft.com/office/drawing/2014/main" id="{370754BD-4B8B-F147-82B1-0F5C40741F4D}"/>
                </a:ext>
              </a:extLst>
            </p:cNvPr>
            <p:cNvCxnSpPr>
              <a:cxnSpLocks noChangeShapeType="1"/>
            </p:cNvCxnSpPr>
            <p:nvPr/>
          </p:nvCxnSpPr>
          <p:spPr bwMode="auto">
            <a:xfrm flipV="1">
              <a:off x="3311860" y="2492896"/>
              <a:ext cx="0" cy="216024"/>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12" name="Straight Connector 218">
              <a:extLst>
                <a:ext uri="{FF2B5EF4-FFF2-40B4-BE49-F238E27FC236}">
                  <a16:creationId xmlns:a16="http://schemas.microsoft.com/office/drawing/2014/main" id="{A99B2FCC-4D4C-9E43-B170-BF64A40FF763}"/>
                </a:ext>
              </a:extLst>
            </p:cNvPr>
            <p:cNvCxnSpPr>
              <a:cxnSpLocks noChangeShapeType="1"/>
            </p:cNvCxnSpPr>
            <p:nvPr/>
          </p:nvCxnSpPr>
          <p:spPr bwMode="auto">
            <a:xfrm flipH="1">
              <a:off x="3311860" y="2492896"/>
              <a:ext cx="972108" cy="0"/>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13" name="Straight Arrow Connector 219">
              <a:extLst>
                <a:ext uri="{FF2B5EF4-FFF2-40B4-BE49-F238E27FC236}">
                  <a16:creationId xmlns:a16="http://schemas.microsoft.com/office/drawing/2014/main" id="{F06F79AB-ECAC-6D46-A726-F28D02795A4B}"/>
                </a:ext>
              </a:extLst>
            </p:cNvPr>
            <p:cNvCxnSpPr>
              <a:cxnSpLocks noChangeShapeType="1"/>
            </p:cNvCxnSpPr>
            <p:nvPr/>
          </p:nvCxnSpPr>
          <p:spPr bwMode="auto">
            <a:xfrm flipV="1">
              <a:off x="4283968" y="2096852"/>
              <a:ext cx="0" cy="395704"/>
            </a:xfrm>
            <a:prstGeom prst="straightConnector1">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grpSp>
      <p:grpSp>
        <p:nvGrpSpPr>
          <p:cNvPr id="114" name="Group 245">
            <a:extLst>
              <a:ext uri="{FF2B5EF4-FFF2-40B4-BE49-F238E27FC236}">
                <a16:creationId xmlns:a16="http://schemas.microsoft.com/office/drawing/2014/main" id="{25293F2B-A6BE-0D43-86F6-9ECAB390F8BA}"/>
              </a:ext>
            </a:extLst>
          </p:cNvPr>
          <p:cNvGrpSpPr>
            <a:grpSpLocks/>
          </p:cNvGrpSpPr>
          <p:nvPr/>
        </p:nvGrpSpPr>
        <p:grpSpPr bwMode="auto">
          <a:xfrm>
            <a:off x="11248544" y="2954094"/>
            <a:ext cx="404813" cy="3492500"/>
            <a:chOff x="4860032" y="2097192"/>
            <a:chExt cx="972108" cy="611728"/>
          </a:xfrm>
        </p:grpSpPr>
        <p:cxnSp>
          <p:nvCxnSpPr>
            <p:cNvPr id="115" name="Straight Connector 246">
              <a:extLst>
                <a:ext uri="{FF2B5EF4-FFF2-40B4-BE49-F238E27FC236}">
                  <a16:creationId xmlns:a16="http://schemas.microsoft.com/office/drawing/2014/main" id="{DB7D1F3D-664B-1147-A081-D23246C244E9}"/>
                </a:ext>
              </a:extLst>
            </p:cNvPr>
            <p:cNvCxnSpPr>
              <a:cxnSpLocks noChangeShapeType="1"/>
            </p:cNvCxnSpPr>
            <p:nvPr/>
          </p:nvCxnSpPr>
          <p:spPr bwMode="auto">
            <a:xfrm flipV="1">
              <a:off x="5832140" y="2492896"/>
              <a:ext cx="0" cy="216024"/>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16" name="Straight Connector 247">
              <a:extLst>
                <a:ext uri="{FF2B5EF4-FFF2-40B4-BE49-F238E27FC236}">
                  <a16:creationId xmlns:a16="http://schemas.microsoft.com/office/drawing/2014/main" id="{6CCFD916-9AFF-2B48-B3CE-3BB80BD5FE7D}"/>
                </a:ext>
              </a:extLst>
            </p:cNvPr>
            <p:cNvCxnSpPr>
              <a:cxnSpLocks noChangeShapeType="1"/>
            </p:cNvCxnSpPr>
            <p:nvPr/>
          </p:nvCxnSpPr>
          <p:spPr bwMode="auto">
            <a:xfrm flipH="1">
              <a:off x="4860032" y="2492896"/>
              <a:ext cx="972108" cy="0"/>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17" name="Straight Arrow Connector 248">
              <a:extLst>
                <a:ext uri="{FF2B5EF4-FFF2-40B4-BE49-F238E27FC236}">
                  <a16:creationId xmlns:a16="http://schemas.microsoft.com/office/drawing/2014/main" id="{8E260161-858B-254F-AC8B-D0CA35FC3523}"/>
                </a:ext>
              </a:extLst>
            </p:cNvPr>
            <p:cNvCxnSpPr>
              <a:cxnSpLocks noChangeShapeType="1"/>
            </p:cNvCxnSpPr>
            <p:nvPr/>
          </p:nvCxnSpPr>
          <p:spPr bwMode="auto">
            <a:xfrm flipV="1">
              <a:off x="4860032" y="2097192"/>
              <a:ext cx="0" cy="395704"/>
            </a:xfrm>
            <a:prstGeom prst="straightConnector1">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grpSp>
      <p:grpSp>
        <p:nvGrpSpPr>
          <p:cNvPr id="118" name="Group 257">
            <a:extLst>
              <a:ext uri="{FF2B5EF4-FFF2-40B4-BE49-F238E27FC236}">
                <a16:creationId xmlns:a16="http://schemas.microsoft.com/office/drawing/2014/main" id="{A2A0490C-F5E8-C042-9BF0-4CAC2B974201}"/>
              </a:ext>
            </a:extLst>
          </p:cNvPr>
          <p:cNvGrpSpPr>
            <a:grpSpLocks/>
          </p:cNvGrpSpPr>
          <p:nvPr/>
        </p:nvGrpSpPr>
        <p:grpSpPr bwMode="auto">
          <a:xfrm>
            <a:off x="9853132" y="2954094"/>
            <a:ext cx="1260475" cy="3498850"/>
            <a:chOff x="3815916" y="2097193"/>
            <a:chExt cx="1260140" cy="3498194"/>
          </a:xfrm>
        </p:grpSpPr>
        <p:cxnSp>
          <p:nvCxnSpPr>
            <p:cNvPr id="119" name="Straight Connector 258">
              <a:extLst>
                <a:ext uri="{FF2B5EF4-FFF2-40B4-BE49-F238E27FC236}">
                  <a16:creationId xmlns:a16="http://schemas.microsoft.com/office/drawing/2014/main" id="{88B38334-B778-3444-93B1-68DBC779BD97}"/>
                </a:ext>
              </a:extLst>
            </p:cNvPr>
            <p:cNvCxnSpPr>
              <a:cxnSpLocks noChangeShapeType="1"/>
            </p:cNvCxnSpPr>
            <p:nvPr/>
          </p:nvCxnSpPr>
          <p:spPr bwMode="auto">
            <a:xfrm flipV="1">
              <a:off x="3815916" y="5409220"/>
              <a:ext cx="0" cy="186167"/>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20" name="Straight Connector 259">
              <a:extLst>
                <a:ext uri="{FF2B5EF4-FFF2-40B4-BE49-F238E27FC236}">
                  <a16:creationId xmlns:a16="http://schemas.microsoft.com/office/drawing/2014/main" id="{543E06D0-248B-D44D-A9FC-DE0F49EB787E}"/>
                </a:ext>
              </a:extLst>
            </p:cNvPr>
            <p:cNvCxnSpPr>
              <a:cxnSpLocks noChangeShapeType="1"/>
            </p:cNvCxnSpPr>
            <p:nvPr/>
          </p:nvCxnSpPr>
          <p:spPr bwMode="auto">
            <a:xfrm flipH="1">
              <a:off x="3815916" y="5409220"/>
              <a:ext cx="1260140" cy="0"/>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21" name="Straight Arrow Connector 260">
              <a:extLst>
                <a:ext uri="{FF2B5EF4-FFF2-40B4-BE49-F238E27FC236}">
                  <a16:creationId xmlns:a16="http://schemas.microsoft.com/office/drawing/2014/main" id="{D62A0FE2-A804-C044-BDAA-1A4390A436CB}"/>
                </a:ext>
              </a:extLst>
            </p:cNvPr>
            <p:cNvCxnSpPr>
              <a:cxnSpLocks noChangeShapeType="1"/>
            </p:cNvCxnSpPr>
            <p:nvPr/>
          </p:nvCxnSpPr>
          <p:spPr bwMode="auto">
            <a:xfrm flipV="1">
              <a:off x="5076056" y="2097193"/>
              <a:ext cx="0" cy="3312027"/>
            </a:xfrm>
            <a:prstGeom prst="straightConnector1">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grpSp>
      <p:sp>
        <p:nvSpPr>
          <p:cNvPr id="133" name="Rectangle 19">
            <a:extLst>
              <a:ext uri="{FF2B5EF4-FFF2-40B4-BE49-F238E27FC236}">
                <a16:creationId xmlns:a16="http://schemas.microsoft.com/office/drawing/2014/main" id="{5F6B774C-6F44-244E-8A58-454D1CDEBB40}"/>
              </a:ext>
            </a:extLst>
          </p:cNvPr>
          <p:cNvSpPr>
            <a:spLocks noChangeArrowheads="1"/>
          </p:cNvSpPr>
          <p:nvPr/>
        </p:nvSpPr>
        <p:spPr bwMode="auto">
          <a:xfrm>
            <a:off x="10537344" y="2125541"/>
            <a:ext cx="1584325" cy="828432"/>
          </a:xfrm>
          <a:prstGeom prst="rect">
            <a:avLst/>
          </a:prstGeom>
          <a:solidFill>
            <a:schemeClr val="accent6">
              <a:alpha val="15000"/>
            </a:schemeClr>
          </a:solidFill>
          <a:ln w="9525">
            <a:noFill/>
            <a:miter lim="800000"/>
            <a:headEnd/>
            <a:tailEnd/>
          </a:ln>
          <a:effectLst/>
        </p:spPr>
        <p:txBody>
          <a:bodyPr lIns="90488" tIns="44450" rIns="90488" bIns="44450" anchor="ctr">
            <a:spAutoFit/>
          </a:bodyPr>
          <a:lstStyle/>
          <a:p>
            <a:pPr algn="ctr" eaLnBrk="1" fontAlgn="auto" hangingPunct="1">
              <a:spcBef>
                <a:spcPts val="0"/>
              </a:spcBef>
              <a:spcAft>
                <a:spcPts val="0"/>
              </a:spcAft>
              <a:defRPr/>
            </a:pPr>
            <a:r>
              <a:rPr lang="en-US" sz="1600" b="1" kern="0" dirty="0">
                <a:solidFill>
                  <a:schemeClr val="accent6"/>
                </a:solidFill>
                <a:latin typeface="Arial" panose="020B0604020202020204" pitchFamily="34" charset="0"/>
                <a:cs typeface="Arial" panose="020B0604020202020204" pitchFamily="34" charset="0"/>
              </a:rPr>
              <a:t>Aluminum, </a:t>
            </a:r>
            <a:r>
              <a:rPr lang="en-US" sz="1600" b="1" kern="0" dirty="0" err="1">
                <a:solidFill>
                  <a:schemeClr val="accent6"/>
                </a:solidFill>
                <a:latin typeface="Arial" panose="020B0604020202020204" pitchFamily="34" charset="0"/>
                <a:cs typeface="Arial" panose="020B0604020202020204" pitchFamily="34" charset="0"/>
              </a:rPr>
              <a:t>primary,liquid</a:t>
            </a:r>
            <a:endParaRPr lang="en-US" sz="1600" b="1" kern="0" dirty="0">
              <a:solidFill>
                <a:schemeClr val="accent6"/>
              </a:solidFill>
              <a:latin typeface="Arial" panose="020B0604020202020204" pitchFamily="34" charset="0"/>
              <a:cs typeface="Arial" panose="020B0604020202020204" pitchFamily="34" charset="0"/>
            </a:endParaRPr>
          </a:p>
          <a:p>
            <a:pPr algn="ctr">
              <a:defRPr/>
            </a:pPr>
            <a:r>
              <a:rPr lang="en-US" sz="1600" kern="0" dirty="0">
                <a:solidFill>
                  <a:schemeClr val="tx2"/>
                </a:solidFill>
                <a:latin typeface="Arial" panose="020B0604020202020204" pitchFamily="34" charset="0"/>
                <a:cs typeface="Arial" panose="020B0604020202020204" pitchFamily="34" charset="0"/>
              </a:rPr>
              <a:t>FU=1 kg</a:t>
            </a:r>
          </a:p>
        </p:txBody>
      </p:sp>
      <p:sp>
        <p:nvSpPr>
          <p:cNvPr id="134" name="Rectangle 19">
            <a:extLst>
              <a:ext uri="{FF2B5EF4-FFF2-40B4-BE49-F238E27FC236}">
                <a16:creationId xmlns:a16="http://schemas.microsoft.com/office/drawing/2014/main" id="{5026C708-C8AA-4547-A023-4C03E667BD0E}"/>
              </a:ext>
            </a:extLst>
          </p:cNvPr>
          <p:cNvSpPr>
            <a:spLocks noChangeArrowheads="1"/>
          </p:cNvSpPr>
          <p:nvPr/>
        </p:nvSpPr>
        <p:spPr bwMode="auto">
          <a:xfrm>
            <a:off x="6349370" y="4970290"/>
            <a:ext cx="1655763"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algn="ctr"/>
            <a:r>
              <a:rPr lang="en-US" sz="1600" kern="0" dirty="0">
                <a:solidFill>
                  <a:schemeClr val="tx2"/>
                </a:solidFill>
                <a:latin typeface="Arial" panose="020B0604020202020204" pitchFamily="34" charset="0"/>
                <a:cs typeface="Arial" panose="020B0604020202020204" pitchFamily="34" charset="0"/>
              </a:rPr>
              <a:t>Aluminum hydroxide</a:t>
            </a:r>
          </a:p>
          <a:p>
            <a:pPr algn="ctr">
              <a:defRPr/>
            </a:pPr>
            <a:r>
              <a:rPr lang="en-US" sz="1600" kern="0" dirty="0">
                <a:solidFill>
                  <a:schemeClr val="accent4"/>
                </a:solidFill>
                <a:latin typeface="Arial" panose="020B0604020202020204" pitchFamily="34" charset="0"/>
                <a:cs typeface="Arial" panose="020B0604020202020204" pitchFamily="34" charset="0"/>
              </a:rPr>
              <a:t>2.96 kg/FU</a:t>
            </a:r>
          </a:p>
        </p:txBody>
      </p:sp>
      <p:grpSp>
        <p:nvGrpSpPr>
          <p:cNvPr id="135" name="Group 222">
            <a:extLst>
              <a:ext uri="{FF2B5EF4-FFF2-40B4-BE49-F238E27FC236}">
                <a16:creationId xmlns:a16="http://schemas.microsoft.com/office/drawing/2014/main" id="{94B673DE-0ABA-5A49-B193-4941BA924682}"/>
              </a:ext>
            </a:extLst>
          </p:cNvPr>
          <p:cNvGrpSpPr>
            <a:grpSpLocks/>
          </p:cNvGrpSpPr>
          <p:nvPr/>
        </p:nvGrpSpPr>
        <p:grpSpPr bwMode="auto">
          <a:xfrm>
            <a:off x="7105020" y="4359102"/>
            <a:ext cx="900113" cy="611188"/>
            <a:chOff x="3311860" y="2096852"/>
            <a:chExt cx="972108" cy="612068"/>
          </a:xfrm>
        </p:grpSpPr>
        <p:cxnSp>
          <p:nvCxnSpPr>
            <p:cNvPr id="136" name="Straight Connector 223">
              <a:extLst>
                <a:ext uri="{FF2B5EF4-FFF2-40B4-BE49-F238E27FC236}">
                  <a16:creationId xmlns:a16="http://schemas.microsoft.com/office/drawing/2014/main" id="{7F7FC5F5-5FE0-2D42-8E65-B2F2D7973210}"/>
                </a:ext>
              </a:extLst>
            </p:cNvPr>
            <p:cNvCxnSpPr>
              <a:cxnSpLocks noChangeShapeType="1"/>
            </p:cNvCxnSpPr>
            <p:nvPr/>
          </p:nvCxnSpPr>
          <p:spPr bwMode="auto">
            <a:xfrm flipV="1">
              <a:off x="3311860" y="2492896"/>
              <a:ext cx="0" cy="216024"/>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37" name="Straight Connector 224">
              <a:extLst>
                <a:ext uri="{FF2B5EF4-FFF2-40B4-BE49-F238E27FC236}">
                  <a16:creationId xmlns:a16="http://schemas.microsoft.com/office/drawing/2014/main" id="{722AD473-7889-5347-AAC7-14C20E9F53EB}"/>
                </a:ext>
              </a:extLst>
            </p:cNvPr>
            <p:cNvCxnSpPr>
              <a:cxnSpLocks noChangeShapeType="1"/>
            </p:cNvCxnSpPr>
            <p:nvPr/>
          </p:nvCxnSpPr>
          <p:spPr bwMode="auto">
            <a:xfrm flipH="1">
              <a:off x="3311860" y="2492896"/>
              <a:ext cx="972108" cy="0"/>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38" name="Straight Arrow Connector 225">
              <a:extLst>
                <a:ext uri="{FF2B5EF4-FFF2-40B4-BE49-F238E27FC236}">
                  <a16:creationId xmlns:a16="http://schemas.microsoft.com/office/drawing/2014/main" id="{845A677A-0AFE-4940-A65F-FADEFB590378}"/>
                </a:ext>
              </a:extLst>
            </p:cNvPr>
            <p:cNvCxnSpPr>
              <a:cxnSpLocks noChangeShapeType="1"/>
            </p:cNvCxnSpPr>
            <p:nvPr/>
          </p:nvCxnSpPr>
          <p:spPr bwMode="auto">
            <a:xfrm flipV="1">
              <a:off x="4283968" y="2096852"/>
              <a:ext cx="0" cy="395704"/>
            </a:xfrm>
            <a:prstGeom prst="straightConnector1">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grpSp>
      <p:grpSp>
        <p:nvGrpSpPr>
          <p:cNvPr id="139" name="Group 249">
            <a:extLst>
              <a:ext uri="{FF2B5EF4-FFF2-40B4-BE49-F238E27FC236}">
                <a16:creationId xmlns:a16="http://schemas.microsoft.com/office/drawing/2014/main" id="{690AEE6A-8DCA-DF4F-A648-180865D57129}"/>
              </a:ext>
            </a:extLst>
          </p:cNvPr>
          <p:cNvGrpSpPr>
            <a:grpSpLocks/>
          </p:cNvGrpSpPr>
          <p:nvPr/>
        </p:nvGrpSpPr>
        <p:grpSpPr bwMode="auto">
          <a:xfrm>
            <a:off x="7393945" y="5798965"/>
            <a:ext cx="1206500" cy="611187"/>
            <a:chOff x="1223628" y="4977172"/>
            <a:chExt cx="1476164" cy="611728"/>
          </a:xfrm>
        </p:grpSpPr>
        <p:cxnSp>
          <p:nvCxnSpPr>
            <p:cNvPr id="140" name="Straight Connector 250">
              <a:extLst>
                <a:ext uri="{FF2B5EF4-FFF2-40B4-BE49-F238E27FC236}">
                  <a16:creationId xmlns:a16="http://schemas.microsoft.com/office/drawing/2014/main" id="{F620DC78-0E16-DB45-A3F7-00BE6DEF11B6}"/>
                </a:ext>
              </a:extLst>
            </p:cNvPr>
            <p:cNvCxnSpPr>
              <a:cxnSpLocks noChangeShapeType="1"/>
            </p:cNvCxnSpPr>
            <p:nvPr/>
          </p:nvCxnSpPr>
          <p:spPr bwMode="auto">
            <a:xfrm flipV="1">
              <a:off x="2699792" y="5409220"/>
              <a:ext cx="0" cy="179680"/>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41" name="Straight Connector 251">
              <a:extLst>
                <a:ext uri="{FF2B5EF4-FFF2-40B4-BE49-F238E27FC236}">
                  <a16:creationId xmlns:a16="http://schemas.microsoft.com/office/drawing/2014/main" id="{BF73BE41-C78F-2149-946A-7F19E31CC433}"/>
                </a:ext>
              </a:extLst>
            </p:cNvPr>
            <p:cNvCxnSpPr>
              <a:cxnSpLocks noChangeShapeType="1"/>
            </p:cNvCxnSpPr>
            <p:nvPr/>
          </p:nvCxnSpPr>
          <p:spPr bwMode="auto">
            <a:xfrm flipH="1">
              <a:off x="1223628" y="5409220"/>
              <a:ext cx="1476164" cy="0"/>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42" name="Straight Arrow Connector 252">
              <a:extLst>
                <a:ext uri="{FF2B5EF4-FFF2-40B4-BE49-F238E27FC236}">
                  <a16:creationId xmlns:a16="http://schemas.microsoft.com/office/drawing/2014/main" id="{459B9F96-85DA-C64E-9316-4D64C3F96CEF}"/>
                </a:ext>
              </a:extLst>
            </p:cNvPr>
            <p:cNvCxnSpPr>
              <a:cxnSpLocks noChangeShapeType="1"/>
            </p:cNvCxnSpPr>
            <p:nvPr/>
          </p:nvCxnSpPr>
          <p:spPr bwMode="auto">
            <a:xfrm flipV="1">
              <a:off x="1223628" y="4977172"/>
              <a:ext cx="0" cy="432048"/>
            </a:xfrm>
            <a:prstGeom prst="straightConnector1">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grpSp>
      <p:grpSp>
        <p:nvGrpSpPr>
          <p:cNvPr id="143" name="Group 253">
            <a:extLst>
              <a:ext uri="{FF2B5EF4-FFF2-40B4-BE49-F238E27FC236}">
                <a16:creationId xmlns:a16="http://schemas.microsoft.com/office/drawing/2014/main" id="{0D643083-71EC-EC44-B142-D9D94FFD5518}"/>
              </a:ext>
            </a:extLst>
          </p:cNvPr>
          <p:cNvGrpSpPr>
            <a:grpSpLocks/>
          </p:cNvGrpSpPr>
          <p:nvPr/>
        </p:nvGrpSpPr>
        <p:grpSpPr bwMode="auto">
          <a:xfrm>
            <a:off x="8328983" y="4380367"/>
            <a:ext cx="396875" cy="2052638"/>
            <a:chOff x="4860032" y="2097192"/>
            <a:chExt cx="972108" cy="611728"/>
          </a:xfrm>
        </p:grpSpPr>
        <p:cxnSp>
          <p:nvCxnSpPr>
            <p:cNvPr id="144" name="Straight Connector 254">
              <a:extLst>
                <a:ext uri="{FF2B5EF4-FFF2-40B4-BE49-F238E27FC236}">
                  <a16:creationId xmlns:a16="http://schemas.microsoft.com/office/drawing/2014/main" id="{A07BF6AC-4913-F04D-91E2-261A93AB9517}"/>
                </a:ext>
              </a:extLst>
            </p:cNvPr>
            <p:cNvCxnSpPr>
              <a:cxnSpLocks noChangeShapeType="1"/>
            </p:cNvCxnSpPr>
            <p:nvPr/>
          </p:nvCxnSpPr>
          <p:spPr bwMode="auto">
            <a:xfrm flipV="1">
              <a:off x="5832140" y="2492896"/>
              <a:ext cx="0" cy="216024"/>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45" name="Straight Connector 255">
              <a:extLst>
                <a:ext uri="{FF2B5EF4-FFF2-40B4-BE49-F238E27FC236}">
                  <a16:creationId xmlns:a16="http://schemas.microsoft.com/office/drawing/2014/main" id="{487959D6-B774-B146-83FD-72C868623A59}"/>
                </a:ext>
              </a:extLst>
            </p:cNvPr>
            <p:cNvCxnSpPr>
              <a:cxnSpLocks noChangeShapeType="1"/>
            </p:cNvCxnSpPr>
            <p:nvPr/>
          </p:nvCxnSpPr>
          <p:spPr bwMode="auto">
            <a:xfrm flipH="1">
              <a:off x="4860032" y="2492896"/>
              <a:ext cx="972108" cy="0"/>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46" name="Straight Arrow Connector 256">
              <a:extLst>
                <a:ext uri="{FF2B5EF4-FFF2-40B4-BE49-F238E27FC236}">
                  <a16:creationId xmlns:a16="http://schemas.microsoft.com/office/drawing/2014/main" id="{383F7207-9E47-6544-ADB1-02022AB93FA2}"/>
                </a:ext>
              </a:extLst>
            </p:cNvPr>
            <p:cNvCxnSpPr>
              <a:cxnSpLocks noChangeShapeType="1"/>
            </p:cNvCxnSpPr>
            <p:nvPr/>
          </p:nvCxnSpPr>
          <p:spPr bwMode="auto">
            <a:xfrm flipV="1">
              <a:off x="4860032" y="2097192"/>
              <a:ext cx="0" cy="395704"/>
            </a:xfrm>
            <a:prstGeom prst="straightConnector1">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grpSp>
      <p:grpSp>
        <p:nvGrpSpPr>
          <p:cNvPr id="152" name="Group 241">
            <a:extLst>
              <a:ext uri="{FF2B5EF4-FFF2-40B4-BE49-F238E27FC236}">
                <a16:creationId xmlns:a16="http://schemas.microsoft.com/office/drawing/2014/main" id="{6619EBCB-8E2C-0846-949B-7A67C14E533A}"/>
              </a:ext>
            </a:extLst>
          </p:cNvPr>
          <p:cNvGrpSpPr>
            <a:grpSpLocks/>
          </p:cNvGrpSpPr>
          <p:nvPr/>
        </p:nvGrpSpPr>
        <p:grpSpPr bwMode="auto">
          <a:xfrm>
            <a:off x="7647150" y="5820230"/>
            <a:ext cx="3779837" cy="612775"/>
            <a:chOff x="1475656" y="4977512"/>
            <a:chExt cx="3600400" cy="611728"/>
          </a:xfrm>
        </p:grpSpPr>
        <p:cxnSp>
          <p:nvCxnSpPr>
            <p:cNvPr id="153" name="Straight Connector 242">
              <a:extLst>
                <a:ext uri="{FF2B5EF4-FFF2-40B4-BE49-F238E27FC236}">
                  <a16:creationId xmlns:a16="http://schemas.microsoft.com/office/drawing/2014/main" id="{003BF269-4C03-2448-8925-4810772128D9}"/>
                </a:ext>
              </a:extLst>
            </p:cNvPr>
            <p:cNvCxnSpPr>
              <a:cxnSpLocks noChangeShapeType="1"/>
            </p:cNvCxnSpPr>
            <p:nvPr/>
          </p:nvCxnSpPr>
          <p:spPr bwMode="auto">
            <a:xfrm flipV="1">
              <a:off x="5076056" y="5265204"/>
              <a:ext cx="0" cy="324036"/>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54" name="Straight Connector 243">
              <a:extLst>
                <a:ext uri="{FF2B5EF4-FFF2-40B4-BE49-F238E27FC236}">
                  <a16:creationId xmlns:a16="http://schemas.microsoft.com/office/drawing/2014/main" id="{B163FFB9-E523-B546-A2D7-C5C6D1D6B399}"/>
                </a:ext>
              </a:extLst>
            </p:cNvPr>
            <p:cNvCxnSpPr>
              <a:cxnSpLocks noChangeShapeType="1"/>
            </p:cNvCxnSpPr>
            <p:nvPr/>
          </p:nvCxnSpPr>
          <p:spPr bwMode="auto">
            <a:xfrm flipH="1">
              <a:off x="1475656" y="5265204"/>
              <a:ext cx="3600400" cy="0"/>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55" name="Straight Arrow Connector 244">
              <a:extLst>
                <a:ext uri="{FF2B5EF4-FFF2-40B4-BE49-F238E27FC236}">
                  <a16:creationId xmlns:a16="http://schemas.microsoft.com/office/drawing/2014/main" id="{E8A30771-3E6C-BA4E-B758-2121FD37CBBB}"/>
                </a:ext>
              </a:extLst>
            </p:cNvPr>
            <p:cNvCxnSpPr>
              <a:cxnSpLocks noChangeShapeType="1"/>
            </p:cNvCxnSpPr>
            <p:nvPr/>
          </p:nvCxnSpPr>
          <p:spPr bwMode="auto">
            <a:xfrm flipV="1">
              <a:off x="1475656" y="4977512"/>
              <a:ext cx="0" cy="287692"/>
            </a:xfrm>
            <a:prstGeom prst="straightConnector1">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grpSp>
      <p:sp>
        <p:nvSpPr>
          <p:cNvPr id="168" name="Rectangle 19">
            <a:extLst>
              <a:ext uri="{FF2B5EF4-FFF2-40B4-BE49-F238E27FC236}">
                <a16:creationId xmlns:a16="http://schemas.microsoft.com/office/drawing/2014/main" id="{B278718F-2F6A-8A46-8CFA-EDC6DAF4D412}"/>
              </a:ext>
            </a:extLst>
          </p:cNvPr>
          <p:cNvSpPr>
            <a:spLocks noChangeArrowheads="1"/>
          </p:cNvSpPr>
          <p:nvPr/>
        </p:nvSpPr>
        <p:spPr bwMode="auto">
          <a:xfrm>
            <a:off x="6352935" y="6446351"/>
            <a:ext cx="1657350" cy="828432"/>
          </a:xfrm>
          <a:prstGeom prst="rect">
            <a:avLst/>
          </a:prstGeom>
          <a:solidFill>
            <a:schemeClr val="bg2">
              <a:lumMod val="75000"/>
              <a:alpha val="39000"/>
            </a:schemeClr>
          </a:solidFill>
          <a:ln w="9525">
            <a:noFill/>
            <a:miter lim="800000"/>
            <a:headEnd/>
            <a:tailEnd/>
          </a:ln>
          <a:effectLst/>
        </p:spPr>
        <p:txBody>
          <a:bodyPr lIns="90488" tIns="44450" rIns="90488" bIns="44450" anchor="ctr">
            <a:spAutoFit/>
          </a:bodyPr>
          <a:lstStyle/>
          <a:p>
            <a:pPr algn="ctr"/>
            <a:r>
              <a:rPr lang="en-US" sz="1600" kern="0" dirty="0">
                <a:solidFill>
                  <a:schemeClr val="tx2"/>
                </a:solidFill>
                <a:latin typeface="Arial" panose="020B0604020202020204" pitchFamily="34" charset="0"/>
                <a:cs typeface="Arial" panose="020B0604020202020204" pitchFamily="34" charset="0"/>
              </a:rPr>
              <a:t>Bauxite</a:t>
            </a:r>
          </a:p>
          <a:p>
            <a:pPr algn="ctr"/>
            <a:endParaRPr lang="en-US" sz="1600" kern="0" dirty="0">
              <a:solidFill>
                <a:schemeClr val="tx2"/>
              </a:solidFill>
              <a:latin typeface="Arial" panose="020B0604020202020204" pitchFamily="34" charset="0"/>
              <a:cs typeface="Arial" panose="020B0604020202020204" pitchFamily="34" charset="0"/>
            </a:endParaRPr>
          </a:p>
          <a:p>
            <a:pPr algn="ctr">
              <a:defRPr/>
            </a:pPr>
            <a:r>
              <a:rPr lang="en-US" sz="1600" kern="0" dirty="0">
                <a:solidFill>
                  <a:schemeClr val="accent4"/>
                </a:solidFill>
                <a:latin typeface="Arial" panose="020B0604020202020204" pitchFamily="34" charset="0"/>
                <a:cs typeface="Arial" panose="020B0604020202020204" pitchFamily="34" charset="0"/>
              </a:rPr>
              <a:t>4.14 kg/FU</a:t>
            </a:r>
          </a:p>
        </p:txBody>
      </p:sp>
      <p:cxnSp>
        <p:nvCxnSpPr>
          <p:cNvPr id="169" name="Straight Connector 221">
            <a:extLst>
              <a:ext uri="{FF2B5EF4-FFF2-40B4-BE49-F238E27FC236}">
                <a16:creationId xmlns:a16="http://schemas.microsoft.com/office/drawing/2014/main" id="{D919100D-9ACE-CA44-8EB7-218DEDE7EF3D}"/>
              </a:ext>
            </a:extLst>
          </p:cNvPr>
          <p:cNvCxnSpPr>
            <a:cxnSpLocks noChangeShapeType="1"/>
          </p:cNvCxnSpPr>
          <p:nvPr/>
        </p:nvCxnSpPr>
        <p:spPr bwMode="auto">
          <a:xfrm flipV="1">
            <a:off x="7204634" y="5833576"/>
            <a:ext cx="0" cy="619125"/>
          </a:xfrm>
          <a:prstGeom prst="line">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sp>
        <p:nvSpPr>
          <p:cNvPr id="177" name="TextBox 1">
            <a:extLst>
              <a:ext uri="{FF2B5EF4-FFF2-40B4-BE49-F238E27FC236}">
                <a16:creationId xmlns:a16="http://schemas.microsoft.com/office/drawing/2014/main" id="{A98A37F1-B075-084D-9F72-DECDF3701773}"/>
              </a:ext>
            </a:extLst>
          </p:cNvPr>
          <p:cNvSpPr txBox="1">
            <a:spLocks noChangeArrowheads="1"/>
          </p:cNvSpPr>
          <p:nvPr/>
        </p:nvSpPr>
        <p:spPr bwMode="auto">
          <a:xfrm>
            <a:off x="343277" y="1371377"/>
            <a:ext cx="950985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2400" dirty="0">
                <a:solidFill>
                  <a:schemeClr val="tx2"/>
                </a:solidFill>
              </a:rPr>
              <a:t>Q2 Combine intermediary flows per FU with direct emissions to </a:t>
            </a:r>
            <a:br>
              <a:rPr lang="en-US" altLang="en-US" sz="2400" dirty="0">
                <a:solidFill>
                  <a:schemeClr val="tx2"/>
                </a:solidFill>
              </a:rPr>
            </a:br>
            <a:r>
              <a:rPr lang="en-US" altLang="en-US" sz="2400" b="0" dirty="0">
                <a:solidFill>
                  <a:schemeClr val="tx2"/>
                </a:solidFill>
              </a:rPr>
              <a:t>1) Calculate the emissions of kg carbon dioxide per FU </a:t>
            </a:r>
            <a:br>
              <a:rPr lang="en-US" altLang="en-US" sz="2400" b="0" dirty="0">
                <a:solidFill>
                  <a:schemeClr val="tx2"/>
                </a:solidFill>
              </a:rPr>
            </a:br>
            <a:r>
              <a:rPr lang="en-US" altLang="en-US" sz="2400" b="0" dirty="0">
                <a:solidFill>
                  <a:schemeClr val="tx2"/>
                </a:solidFill>
              </a:rPr>
              <a:t>for each process and the total aggregated emissions per FU</a:t>
            </a:r>
          </a:p>
          <a:p>
            <a:pPr>
              <a:spcBef>
                <a:spcPct val="0"/>
              </a:spcBef>
              <a:buClrTx/>
              <a:buFontTx/>
              <a:buNone/>
            </a:pPr>
            <a:r>
              <a:rPr lang="en-US" altLang="en-US" sz="2400" b="0" dirty="0">
                <a:solidFill>
                  <a:schemeClr val="tx2"/>
                </a:solidFill>
              </a:rPr>
              <a:t>2) Identify the two processes contributing most to the total ?</a:t>
            </a:r>
          </a:p>
          <a:p>
            <a:pPr>
              <a:spcBef>
                <a:spcPct val="0"/>
              </a:spcBef>
              <a:buClrTx/>
              <a:buFontTx/>
              <a:buNone/>
            </a:pPr>
            <a:r>
              <a:rPr lang="en-US" altLang="en-US" sz="2400" b="0" dirty="0">
                <a:solidFill>
                  <a:schemeClr val="tx2"/>
                </a:solidFill>
              </a:rPr>
              <a:t>3) Compare the total emission per FU with the </a:t>
            </a:r>
          </a:p>
          <a:p>
            <a:pPr>
              <a:spcBef>
                <a:spcPct val="0"/>
              </a:spcBef>
              <a:buClrTx/>
              <a:buFontTx/>
              <a:buNone/>
            </a:pPr>
            <a:r>
              <a:rPr lang="en-US" altLang="en-US" sz="2400" b="0" dirty="0">
                <a:solidFill>
                  <a:schemeClr val="tx2"/>
                </a:solidFill>
              </a:rPr>
              <a:t>aggregated CO2 emission per FU (slide 4)</a:t>
            </a:r>
          </a:p>
        </p:txBody>
      </p:sp>
      <p:sp>
        <p:nvSpPr>
          <p:cNvPr id="88" name="Line 35">
            <a:extLst>
              <a:ext uri="{FF2B5EF4-FFF2-40B4-BE49-F238E27FC236}">
                <a16:creationId xmlns:a16="http://schemas.microsoft.com/office/drawing/2014/main" id="{CC8A3D27-DF35-034A-80B7-F2C8AD3FE254}"/>
              </a:ext>
            </a:extLst>
          </p:cNvPr>
          <p:cNvSpPr>
            <a:spLocks noChangeShapeType="1"/>
          </p:cNvSpPr>
          <p:nvPr/>
        </p:nvSpPr>
        <p:spPr bwMode="auto">
          <a:xfrm>
            <a:off x="9693466" y="7274783"/>
            <a:ext cx="0" cy="464772"/>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89" name="Line 35">
            <a:extLst>
              <a:ext uri="{FF2B5EF4-FFF2-40B4-BE49-F238E27FC236}">
                <a16:creationId xmlns:a16="http://schemas.microsoft.com/office/drawing/2014/main" id="{CC8A3D27-DF35-034A-80B7-F2C8AD3FE254}"/>
              </a:ext>
            </a:extLst>
          </p:cNvPr>
          <p:cNvSpPr>
            <a:spLocks noChangeShapeType="1"/>
          </p:cNvSpPr>
          <p:nvPr/>
        </p:nvSpPr>
        <p:spPr bwMode="auto">
          <a:xfrm>
            <a:off x="12319551" y="7274783"/>
            <a:ext cx="0" cy="464772"/>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90" name="Line 35">
            <a:extLst>
              <a:ext uri="{FF2B5EF4-FFF2-40B4-BE49-F238E27FC236}">
                <a16:creationId xmlns:a16="http://schemas.microsoft.com/office/drawing/2014/main" id="{CC8A3D27-DF35-034A-80B7-F2C8AD3FE254}"/>
              </a:ext>
            </a:extLst>
          </p:cNvPr>
          <p:cNvSpPr>
            <a:spLocks noChangeShapeType="1"/>
          </p:cNvSpPr>
          <p:nvPr/>
        </p:nvSpPr>
        <p:spPr bwMode="auto">
          <a:xfrm>
            <a:off x="14659758" y="7238584"/>
            <a:ext cx="0" cy="464772"/>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92" name="Line 35">
            <a:extLst>
              <a:ext uri="{FF2B5EF4-FFF2-40B4-BE49-F238E27FC236}">
                <a16:creationId xmlns:a16="http://schemas.microsoft.com/office/drawing/2014/main" id="{CC8A3D27-DF35-034A-80B7-F2C8AD3FE254}"/>
              </a:ext>
            </a:extLst>
          </p:cNvPr>
          <p:cNvSpPr>
            <a:spLocks noChangeShapeType="1"/>
          </p:cNvSpPr>
          <p:nvPr/>
        </p:nvSpPr>
        <p:spPr bwMode="auto">
          <a:xfrm>
            <a:off x="14044595" y="4403478"/>
            <a:ext cx="0" cy="464772"/>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32" name="Line 35">
            <a:extLst>
              <a:ext uri="{FF2B5EF4-FFF2-40B4-BE49-F238E27FC236}">
                <a16:creationId xmlns:a16="http://schemas.microsoft.com/office/drawing/2014/main" id="{CC8A3D27-DF35-034A-80B7-F2C8AD3FE254}"/>
              </a:ext>
            </a:extLst>
          </p:cNvPr>
          <p:cNvSpPr>
            <a:spLocks noChangeShapeType="1"/>
          </p:cNvSpPr>
          <p:nvPr/>
        </p:nvSpPr>
        <p:spPr bwMode="auto">
          <a:xfrm>
            <a:off x="9216952" y="4355316"/>
            <a:ext cx="0" cy="464772"/>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72" name="Rectangle 171"/>
          <p:cNvSpPr/>
          <p:nvPr/>
        </p:nvSpPr>
        <p:spPr>
          <a:xfrm>
            <a:off x="4382603" y="4961716"/>
            <a:ext cx="1877437" cy="338554"/>
          </a:xfrm>
          <a:prstGeom prst="rect">
            <a:avLst/>
          </a:prstGeom>
        </p:spPr>
        <p:txBody>
          <a:bodyPr wrap="none">
            <a:spAutoFit/>
          </a:bodyPr>
          <a:lstStyle/>
          <a:p>
            <a:r>
              <a:rPr lang="en-US" altLang="fr-FR" sz="1600" dirty="0">
                <a:solidFill>
                  <a:schemeClr val="accent3"/>
                </a:solidFill>
                <a:cs typeface="Arial" panose="020B0604020202020204" pitchFamily="34" charset="0"/>
              </a:rPr>
              <a:t>0 </a:t>
            </a:r>
            <a:r>
              <a:rPr lang="en-US" altLang="fr-FR" sz="1600" dirty="0">
                <a:solidFill>
                  <a:srgbClr val="ADA400"/>
                </a:solidFill>
                <a:cs typeface="Arial" panose="020B0604020202020204" pitchFamily="34" charset="0"/>
              </a:rPr>
              <a:t>kg</a:t>
            </a:r>
            <a:r>
              <a:rPr lang="en-US" altLang="fr-FR" sz="1600" baseline="-25000" dirty="0">
                <a:solidFill>
                  <a:srgbClr val="ADA400"/>
                </a:solidFill>
                <a:cs typeface="Arial" panose="020B0604020202020204" pitchFamily="34" charset="0"/>
              </a:rPr>
              <a:t>CO2</a:t>
            </a:r>
            <a:r>
              <a:rPr lang="en-US" altLang="fr-FR" sz="1600" dirty="0">
                <a:solidFill>
                  <a:schemeClr val="accent3"/>
                </a:solidFill>
                <a:cs typeface="Arial" panose="020B0604020202020204" pitchFamily="34" charset="0"/>
              </a:rPr>
              <a:t>/</a:t>
            </a:r>
            <a:r>
              <a:rPr lang="en-US" altLang="en-US" sz="1600" dirty="0" err="1">
                <a:solidFill>
                  <a:schemeClr val="accent3"/>
                </a:solidFill>
              </a:rPr>
              <a:t>kg</a:t>
            </a:r>
            <a:r>
              <a:rPr lang="en-US" altLang="en-US" sz="1600" baseline="-25000" dirty="0" err="1">
                <a:solidFill>
                  <a:schemeClr val="accent3"/>
                </a:solidFill>
              </a:rPr>
              <a:t>Al</a:t>
            </a:r>
            <a:r>
              <a:rPr lang="en-US" altLang="en-US" sz="1600" baseline="-25000" dirty="0">
                <a:solidFill>
                  <a:schemeClr val="accent3"/>
                </a:solidFill>
              </a:rPr>
              <a:t> hydroxide</a:t>
            </a:r>
            <a:endParaRPr lang="en-US" sz="1600" dirty="0">
              <a:solidFill>
                <a:schemeClr val="accent3"/>
              </a:solidFill>
            </a:endParaRPr>
          </a:p>
        </p:txBody>
      </p:sp>
      <p:sp>
        <p:nvSpPr>
          <p:cNvPr id="173" name="Rectangle 172"/>
          <p:cNvSpPr/>
          <p:nvPr/>
        </p:nvSpPr>
        <p:spPr>
          <a:xfrm>
            <a:off x="4366638" y="7211784"/>
            <a:ext cx="2012089" cy="338554"/>
          </a:xfrm>
          <a:prstGeom prst="rect">
            <a:avLst/>
          </a:prstGeom>
        </p:spPr>
        <p:txBody>
          <a:bodyPr wrap="none">
            <a:spAutoFit/>
          </a:bodyPr>
          <a:lstStyle/>
          <a:p>
            <a:r>
              <a:rPr lang="en-US" altLang="fr-FR" sz="1600" dirty="0">
                <a:solidFill>
                  <a:schemeClr val="accent3"/>
                </a:solidFill>
                <a:cs typeface="Arial" panose="020B0604020202020204" pitchFamily="34" charset="0"/>
              </a:rPr>
              <a:t>0.005 </a:t>
            </a:r>
            <a:r>
              <a:rPr lang="en-US" altLang="fr-FR" sz="1600" dirty="0">
                <a:solidFill>
                  <a:srgbClr val="ADA400"/>
                </a:solidFill>
                <a:cs typeface="Arial" panose="020B0604020202020204" pitchFamily="34" charset="0"/>
              </a:rPr>
              <a:t>kg</a:t>
            </a:r>
            <a:r>
              <a:rPr lang="en-US" altLang="fr-FR" sz="1600" baseline="-25000" dirty="0">
                <a:solidFill>
                  <a:srgbClr val="ADA400"/>
                </a:solidFill>
                <a:cs typeface="Arial" panose="020B0604020202020204" pitchFamily="34" charset="0"/>
              </a:rPr>
              <a:t>CO2</a:t>
            </a:r>
            <a:r>
              <a:rPr lang="en-US" altLang="fr-FR" sz="1600" dirty="0">
                <a:solidFill>
                  <a:schemeClr val="accent3"/>
                </a:solidFill>
                <a:cs typeface="Arial" panose="020B0604020202020204" pitchFamily="34" charset="0"/>
              </a:rPr>
              <a:t>/</a:t>
            </a:r>
            <a:r>
              <a:rPr lang="en-US" altLang="en-US" sz="1600" dirty="0" err="1">
                <a:solidFill>
                  <a:schemeClr val="accent3"/>
                </a:solidFill>
              </a:rPr>
              <a:t>kg</a:t>
            </a:r>
            <a:r>
              <a:rPr lang="en-US" altLang="en-US" sz="1600" baseline="-25000" dirty="0" err="1">
                <a:solidFill>
                  <a:schemeClr val="accent3"/>
                </a:solidFill>
              </a:rPr>
              <a:t>Bauxite</a:t>
            </a:r>
            <a:endParaRPr lang="en-US" sz="1600" dirty="0"/>
          </a:p>
        </p:txBody>
      </p:sp>
      <p:sp>
        <p:nvSpPr>
          <p:cNvPr id="174" name="Rectangle 173"/>
          <p:cNvSpPr/>
          <p:nvPr/>
        </p:nvSpPr>
        <p:spPr>
          <a:xfrm>
            <a:off x="10563982" y="7356077"/>
            <a:ext cx="1710725" cy="338554"/>
          </a:xfrm>
          <a:prstGeom prst="rect">
            <a:avLst/>
          </a:prstGeom>
        </p:spPr>
        <p:txBody>
          <a:bodyPr wrap="none">
            <a:spAutoFit/>
          </a:bodyPr>
          <a:lstStyle/>
          <a:p>
            <a:r>
              <a:rPr lang="en-US" altLang="fr-FR" sz="1600" dirty="0">
                <a:solidFill>
                  <a:schemeClr val="accent3"/>
                </a:solidFill>
                <a:cs typeface="Arial" panose="020B0604020202020204" pitchFamily="34" charset="0"/>
              </a:rPr>
              <a:t>0.010 </a:t>
            </a:r>
            <a:r>
              <a:rPr lang="en-US" altLang="fr-FR" sz="1600" dirty="0">
                <a:solidFill>
                  <a:srgbClr val="ADA400"/>
                </a:solidFill>
                <a:cs typeface="Arial" panose="020B0604020202020204" pitchFamily="34" charset="0"/>
              </a:rPr>
              <a:t>kg</a:t>
            </a:r>
            <a:r>
              <a:rPr lang="en-US" altLang="fr-FR" sz="1600" baseline="-25000" dirty="0">
                <a:solidFill>
                  <a:srgbClr val="ADA400"/>
                </a:solidFill>
                <a:cs typeface="Arial" panose="020B0604020202020204" pitchFamily="34" charset="0"/>
              </a:rPr>
              <a:t>CO2</a:t>
            </a:r>
            <a:r>
              <a:rPr lang="en-US" altLang="en-US" sz="1600" dirty="0">
                <a:solidFill>
                  <a:srgbClr val="ADA400"/>
                </a:solidFill>
              </a:rPr>
              <a:t>/t</a:t>
            </a:r>
            <a:r>
              <a:rPr lang="en-US" altLang="en-US" sz="1600" dirty="0">
                <a:solidFill>
                  <a:schemeClr val="accent3"/>
                </a:solidFill>
              </a:rPr>
              <a:t>-km</a:t>
            </a:r>
            <a:endParaRPr lang="en-US" sz="1600" dirty="0"/>
          </a:p>
        </p:txBody>
      </p:sp>
      <p:sp>
        <p:nvSpPr>
          <p:cNvPr id="175" name="Rectangle 174"/>
          <p:cNvSpPr/>
          <p:nvPr/>
        </p:nvSpPr>
        <p:spPr>
          <a:xfrm>
            <a:off x="12859346" y="7356077"/>
            <a:ext cx="1710725" cy="338554"/>
          </a:xfrm>
          <a:prstGeom prst="rect">
            <a:avLst/>
          </a:prstGeom>
        </p:spPr>
        <p:txBody>
          <a:bodyPr wrap="none">
            <a:spAutoFit/>
          </a:bodyPr>
          <a:lstStyle/>
          <a:p>
            <a:r>
              <a:rPr lang="en-US" altLang="fr-FR" sz="1600" dirty="0">
                <a:solidFill>
                  <a:schemeClr val="accent3"/>
                </a:solidFill>
                <a:cs typeface="Arial" panose="020B0604020202020204" pitchFamily="34" charset="0"/>
              </a:rPr>
              <a:t>0.094 </a:t>
            </a:r>
            <a:r>
              <a:rPr lang="en-US" altLang="fr-FR" sz="1600" dirty="0">
                <a:solidFill>
                  <a:srgbClr val="ADA400"/>
                </a:solidFill>
                <a:cs typeface="Arial" panose="020B0604020202020204" pitchFamily="34" charset="0"/>
              </a:rPr>
              <a:t>kg</a:t>
            </a:r>
            <a:r>
              <a:rPr lang="en-US" altLang="fr-FR" sz="1600" baseline="-25000" dirty="0">
                <a:solidFill>
                  <a:srgbClr val="ADA400"/>
                </a:solidFill>
                <a:cs typeface="Arial" panose="020B0604020202020204" pitchFamily="34" charset="0"/>
              </a:rPr>
              <a:t>CO2</a:t>
            </a:r>
            <a:r>
              <a:rPr lang="en-US" altLang="fr-FR" sz="1600" dirty="0">
                <a:solidFill>
                  <a:schemeClr val="accent3"/>
                </a:solidFill>
                <a:cs typeface="Arial" panose="020B0604020202020204" pitchFamily="34" charset="0"/>
              </a:rPr>
              <a:t>/</a:t>
            </a:r>
            <a:r>
              <a:rPr lang="en-US" altLang="en-US" sz="1600" dirty="0">
                <a:solidFill>
                  <a:schemeClr val="accent3"/>
                </a:solidFill>
              </a:rPr>
              <a:t>t-km</a:t>
            </a:r>
            <a:endParaRPr lang="en-US" sz="1600" dirty="0"/>
          </a:p>
        </p:txBody>
      </p:sp>
      <p:sp>
        <p:nvSpPr>
          <p:cNvPr id="176" name="Rectangle 175"/>
          <p:cNvSpPr/>
          <p:nvPr/>
        </p:nvSpPr>
        <p:spPr>
          <a:xfrm>
            <a:off x="14135930" y="4558693"/>
            <a:ext cx="1584088" cy="338554"/>
          </a:xfrm>
          <a:prstGeom prst="rect">
            <a:avLst/>
          </a:prstGeom>
        </p:spPr>
        <p:txBody>
          <a:bodyPr wrap="none">
            <a:spAutoFit/>
          </a:bodyPr>
          <a:lstStyle/>
          <a:p>
            <a:r>
              <a:rPr lang="en-US" altLang="fr-FR" sz="1600" dirty="0">
                <a:solidFill>
                  <a:schemeClr val="accent3"/>
                </a:solidFill>
                <a:cs typeface="Arial" panose="020B0604020202020204" pitchFamily="34" charset="0"/>
              </a:rPr>
              <a:t>0.098 </a:t>
            </a:r>
            <a:r>
              <a:rPr lang="en-US" altLang="fr-FR" sz="1600" dirty="0">
                <a:solidFill>
                  <a:srgbClr val="ADA400"/>
                </a:solidFill>
                <a:cs typeface="Arial" panose="020B0604020202020204" pitchFamily="34" charset="0"/>
              </a:rPr>
              <a:t>kg</a:t>
            </a:r>
            <a:r>
              <a:rPr lang="en-US" altLang="fr-FR" sz="1600" baseline="-25000" dirty="0">
                <a:solidFill>
                  <a:srgbClr val="ADA400"/>
                </a:solidFill>
                <a:cs typeface="Arial" panose="020B0604020202020204" pitchFamily="34" charset="0"/>
              </a:rPr>
              <a:t>CO2</a:t>
            </a:r>
            <a:r>
              <a:rPr lang="en-US" altLang="fr-FR" sz="1600" dirty="0">
                <a:solidFill>
                  <a:schemeClr val="accent3"/>
                </a:solidFill>
                <a:cs typeface="Arial" panose="020B0604020202020204" pitchFamily="34" charset="0"/>
              </a:rPr>
              <a:t>/</a:t>
            </a:r>
            <a:r>
              <a:rPr lang="en-US" altLang="en-US" sz="1600" dirty="0">
                <a:solidFill>
                  <a:schemeClr val="accent3"/>
                </a:solidFill>
              </a:rPr>
              <a:t>MJ</a:t>
            </a:r>
            <a:endParaRPr lang="en-US" sz="1600" dirty="0"/>
          </a:p>
        </p:txBody>
      </p:sp>
      <p:sp>
        <p:nvSpPr>
          <p:cNvPr id="178" name="Rectangle 177"/>
          <p:cNvSpPr/>
          <p:nvPr/>
        </p:nvSpPr>
        <p:spPr>
          <a:xfrm>
            <a:off x="9216952" y="4517203"/>
            <a:ext cx="1903085" cy="338554"/>
          </a:xfrm>
          <a:prstGeom prst="rect">
            <a:avLst/>
          </a:prstGeom>
        </p:spPr>
        <p:txBody>
          <a:bodyPr wrap="none">
            <a:spAutoFit/>
          </a:bodyPr>
          <a:lstStyle/>
          <a:p>
            <a:r>
              <a:rPr lang="en-US" altLang="fr-FR" sz="1600" dirty="0">
                <a:solidFill>
                  <a:schemeClr val="accent3"/>
                </a:solidFill>
                <a:cs typeface="Arial" panose="020B0604020202020204" pitchFamily="34" charset="0"/>
              </a:rPr>
              <a:t>0.935 kg</a:t>
            </a:r>
            <a:r>
              <a:rPr lang="en-US" altLang="fr-FR" sz="1600" baseline="-25000" dirty="0">
                <a:solidFill>
                  <a:schemeClr val="accent3"/>
                </a:solidFill>
                <a:cs typeface="Arial" panose="020B0604020202020204" pitchFamily="34" charset="0"/>
              </a:rPr>
              <a:t>CO2</a:t>
            </a:r>
            <a:r>
              <a:rPr lang="en-US" altLang="fr-FR" sz="1600" dirty="0">
                <a:solidFill>
                  <a:schemeClr val="accent3"/>
                </a:solidFill>
                <a:cs typeface="Arial" panose="020B0604020202020204" pitchFamily="34" charset="0"/>
              </a:rPr>
              <a:t>/</a:t>
            </a:r>
            <a:r>
              <a:rPr lang="en-US" altLang="en-US" sz="1600" dirty="0" err="1">
                <a:solidFill>
                  <a:schemeClr val="accent3"/>
                </a:solidFill>
              </a:rPr>
              <a:t>kg</a:t>
            </a:r>
            <a:r>
              <a:rPr lang="en-US" altLang="en-US" sz="1600" baseline="-25000" dirty="0" err="1">
                <a:solidFill>
                  <a:schemeClr val="accent3"/>
                </a:solidFill>
              </a:rPr>
              <a:t>anode</a:t>
            </a:r>
            <a:endParaRPr lang="en-US" sz="1600" dirty="0"/>
          </a:p>
        </p:txBody>
      </p:sp>
      <p:sp>
        <p:nvSpPr>
          <p:cNvPr id="179" name="Rectangle 178"/>
          <p:cNvSpPr/>
          <p:nvPr/>
        </p:nvSpPr>
        <p:spPr>
          <a:xfrm>
            <a:off x="8600445" y="2418828"/>
            <a:ext cx="1890261" cy="338554"/>
          </a:xfrm>
          <a:prstGeom prst="rect">
            <a:avLst/>
          </a:prstGeom>
        </p:spPr>
        <p:txBody>
          <a:bodyPr wrap="none">
            <a:spAutoFit/>
          </a:bodyPr>
          <a:lstStyle/>
          <a:p>
            <a:r>
              <a:rPr lang="en-US" altLang="fr-FR" sz="1600" dirty="0">
                <a:solidFill>
                  <a:schemeClr val="accent3"/>
                </a:solidFill>
                <a:cs typeface="Arial" panose="020B0604020202020204" pitchFamily="34" charset="0"/>
              </a:rPr>
              <a:t>1.50 </a:t>
            </a:r>
            <a:r>
              <a:rPr lang="en-US" altLang="fr-FR" sz="1600" dirty="0">
                <a:solidFill>
                  <a:srgbClr val="ADA400"/>
                </a:solidFill>
                <a:cs typeface="Arial" panose="020B0604020202020204" pitchFamily="34" charset="0"/>
              </a:rPr>
              <a:t>kg</a:t>
            </a:r>
            <a:r>
              <a:rPr lang="en-US" altLang="fr-FR" sz="1600" baseline="-25000" dirty="0">
                <a:solidFill>
                  <a:srgbClr val="ADA400"/>
                </a:solidFill>
                <a:cs typeface="Arial" panose="020B0604020202020204" pitchFamily="34" charset="0"/>
              </a:rPr>
              <a:t>CO2</a:t>
            </a:r>
            <a:r>
              <a:rPr lang="en-US" altLang="fr-FR" sz="1600" dirty="0">
                <a:solidFill>
                  <a:schemeClr val="accent3"/>
                </a:solidFill>
                <a:cs typeface="Arial" panose="020B0604020202020204" pitchFamily="34" charset="0"/>
              </a:rPr>
              <a:t>/</a:t>
            </a:r>
            <a:r>
              <a:rPr lang="en-US" altLang="en-US" sz="1600" dirty="0" err="1">
                <a:solidFill>
                  <a:schemeClr val="accent3"/>
                </a:solidFill>
              </a:rPr>
              <a:t>kg</a:t>
            </a:r>
            <a:r>
              <a:rPr lang="en-US" altLang="en-US" sz="1600" baseline="-25000" dirty="0" err="1">
                <a:solidFill>
                  <a:schemeClr val="accent3"/>
                </a:solidFill>
              </a:rPr>
              <a:t>Al</a:t>
            </a:r>
            <a:r>
              <a:rPr lang="en-US" altLang="en-US" sz="1600" baseline="-25000" dirty="0">
                <a:solidFill>
                  <a:schemeClr val="accent3"/>
                </a:solidFill>
              </a:rPr>
              <a:t> liquid</a:t>
            </a:r>
            <a:endParaRPr lang="en-US" sz="1600" dirty="0"/>
          </a:p>
        </p:txBody>
      </p:sp>
      <p:sp>
        <p:nvSpPr>
          <p:cNvPr id="180" name="Text Box 60">
            <a:extLst>
              <a:ext uri="{FF2B5EF4-FFF2-40B4-BE49-F238E27FC236}">
                <a16:creationId xmlns:a16="http://schemas.microsoft.com/office/drawing/2014/main" id="{968D007A-425D-0749-9A0A-764DD2694C8E}"/>
              </a:ext>
            </a:extLst>
          </p:cNvPr>
          <p:cNvSpPr txBox="1">
            <a:spLocks noChangeArrowheads="1"/>
          </p:cNvSpPr>
          <p:nvPr/>
        </p:nvSpPr>
        <p:spPr bwMode="auto">
          <a:xfrm>
            <a:off x="4552614" y="3794121"/>
            <a:ext cx="359183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lvl="0">
              <a:spcBef>
                <a:spcPts val="0"/>
              </a:spcBef>
              <a:buClrTx/>
              <a:buNone/>
            </a:pPr>
            <a:r>
              <a:rPr lang="en-US" altLang="fr-FR" sz="1600" b="0" dirty="0">
                <a:solidFill>
                  <a:srgbClr val="ADA400"/>
                </a:solidFill>
                <a:latin typeface="Arial" panose="020B0604020202020204"/>
                <a:cs typeface="Arial" panose="020B0604020202020204" pitchFamily="34" charset="0"/>
              </a:rPr>
              <a:t>0 kg</a:t>
            </a:r>
            <a:r>
              <a:rPr lang="en-US" altLang="fr-FR" sz="1600" b="0" baseline="-25000" dirty="0">
                <a:solidFill>
                  <a:srgbClr val="ADA400"/>
                </a:solidFill>
                <a:latin typeface="Arial" panose="020B0604020202020204"/>
                <a:cs typeface="Arial" panose="020B0604020202020204" pitchFamily="34" charset="0"/>
              </a:rPr>
              <a:t>CO2</a:t>
            </a:r>
            <a:r>
              <a:rPr lang="en-US" altLang="fr-FR" sz="1600" b="0" dirty="0">
                <a:solidFill>
                  <a:srgbClr val="ADA400"/>
                </a:solidFill>
                <a:latin typeface="Arial" panose="020B0604020202020204"/>
                <a:cs typeface="Arial" panose="020B0604020202020204" pitchFamily="34" charset="0"/>
              </a:rPr>
              <a:t>/</a:t>
            </a:r>
            <a:r>
              <a:rPr lang="en-US" altLang="en-US" sz="1600" b="0" dirty="0" err="1">
                <a:solidFill>
                  <a:srgbClr val="ADA400"/>
                </a:solidFill>
                <a:latin typeface="Arial" panose="020B0604020202020204"/>
              </a:rPr>
              <a:t>kg</a:t>
            </a:r>
            <a:r>
              <a:rPr lang="en-US" altLang="en-US" sz="1600" b="0" baseline="-25000" dirty="0" err="1">
                <a:solidFill>
                  <a:srgbClr val="ADA400"/>
                </a:solidFill>
                <a:latin typeface="Arial" panose="020B0604020202020204"/>
              </a:rPr>
              <a:t>Al</a:t>
            </a:r>
            <a:r>
              <a:rPr lang="en-US" altLang="en-US" sz="1600" b="0" baseline="-25000" dirty="0">
                <a:solidFill>
                  <a:srgbClr val="ADA400"/>
                </a:solidFill>
                <a:latin typeface="Arial" panose="020B0604020202020204"/>
              </a:rPr>
              <a:t> oxide</a:t>
            </a:r>
            <a:endParaRPr lang="en-US" sz="1600" b="0" dirty="0">
              <a:solidFill>
                <a:srgbClr val="000000"/>
              </a:solidFill>
              <a:latin typeface="Arial" panose="020B0604020202020204"/>
            </a:endParaRPr>
          </a:p>
        </p:txBody>
      </p:sp>
      <p:sp>
        <p:nvSpPr>
          <p:cNvPr id="181" name="Line 35">
            <a:extLst>
              <a:ext uri="{FF2B5EF4-FFF2-40B4-BE49-F238E27FC236}">
                <a16:creationId xmlns:a16="http://schemas.microsoft.com/office/drawing/2014/main" id="{B420AEAB-CBC8-774A-8B7B-A79984BA3851}"/>
              </a:ext>
            </a:extLst>
          </p:cNvPr>
          <p:cNvSpPr>
            <a:spLocks noChangeShapeType="1"/>
          </p:cNvSpPr>
          <p:nvPr/>
        </p:nvSpPr>
        <p:spPr bwMode="auto">
          <a:xfrm rot="5400000">
            <a:off x="10301418" y="2099483"/>
            <a:ext cx="0" cy="464772"/>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82" name="Line 35">
            <a:extLst>
              <a:ext uri="{FF2B5EF4-FFF2-40B4-BE49-F238E27FC236}">
                <a16:creationId xmlns:a16="http://schemas.microsoft.com/office/drawing/2014/main" id="{CC8A3D27-DF35-034A-80B7-F2C8AD3FE254}"/>
              </a:ext>
            </a:extLst>
          </p:cNvPr>
          <p:cNvSpPr>
            <a:spLocks noChangeShapeType="1"/>
          </p:cNvSpPr>
          <p:nvPr/>
        </p:nvSpPr>
        <p:spPr bwMode="auto">
          <a:xfrm>
            <a:off x="11725690" y="4380367"/>
            <a:ext cx="0" cy="464772"/>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83" name="Rectangle 182"/>
          <p:cNvSpPr/>
          <p:nvPr/>
        </p:nvSpPr>
        <p:spPr>
          <a:xfrm>
            <a:off x="11740695" y="4554589"/>
            <a:ext cx="1903085" cy="338554"/>
          </a:xfrm>
          <a:prstGeom prst="rect">
            <a:avLst/>
          </a:prstGeom>
        </p:spPr>
        <p:txBody>
          <a:bodyPr wrap="none">
            <a:spAutoFit/>
          </a:bodyPr>
          <a:lstStyle/>
          <a:p>
            <a:r>
              <a:rPr lang="en-US" altLang="fr-FR" sz="1600" dirty="0">
                <a:solidFill>
                  <a:schemeClr val="accent3"/>
                </a:solidFill>
                <a:cs typeface="Arial" panose="020B0604020202020204" pitchFamily="34" charset="0"/>
              </a:rPr>
              <a:t>0.901 </a:t>
            </a:r>
            <a:r>
              <a:rPr lang="en-US" altLang="fr-FR" sz="1600" dirty="0">
                <a:solidFill>
                  <a:srgbClr val="ADA400"/>
                </a:solidFill>
                <a:cs typeface="Arial" panose="020B0604020202020204" pitchFamily="34" charset="0"/>
              </a:rPr>
              <a:t>kg</a:t>
            </a:r>
            <a:r>
              <a:rPr lang="en-US" altLang="fr-FR" sz="1600" baseline="-25000" dirty="0">
                <a:solidFill>
                  <a:srgbClr val="ADA400"/>
                </a:solidFill>
                <a:cs typeface="Arial" panose="020B0604020202020204" pitchFamily="34" charset="0"/>
              </a:rPr>
              <a:t>CO2</a:t>
            </a:r>
            <a:r>
              <a:rPr lang="en-US" altLang="fr-FR" sz="1600" dirty="0">
                <a:solidFill>
                  <a:schemeClr val="accent3"/>
                </a:solidFill>
                <a:cs typeface="Arial" panose="020B0604020202020204" pitchFamily="34" charset="0"/>
              </a:rPr>
              <a:t>/</a:t>
            </a:r>
            <a:r>
              <a:rPr lang="en-US" altLang="en-US" sz="1600" dirty="0" err="1">
                <a:solidFill>
                  <a:schemeClr val="accent3"/>
                </a:solidFill>
              </a:rPr>
              <a:t>kg</a:t>
            </a:r>
            <a:r>
              <a:rPr lang="en-US" altLang="en-US" sz="1600" baseline="-25000" dirty="0" err="1">
                <a:solidFill>
                  <a:schemeClr val="accent3"/>
                </a:solidFill>
              </a:rPr>
              <a:t>anode</a:t>
            </a:r>
            <a:endParaRPr lang="en-US" sz="1600" dirty="0"/>
          </a:p>
        </p:txBody>
      </p:sp>
      <p:sp>
        <p:nvSpPr>
          <p:cNvPr id="184" name="Line 35">
            <a:extLst>
              <a:ext uri="{FF2B5EF4-FFF2-40B4-BE49-F238E27FC236}">
                <a16:creationId xmlns:a16="http://schemas.microsoft.com/office/drawing/2014/main" id="{B420AEAB-CBC8-774A-8B7B-A79984BA3851}"/>
              </a:ext>
            </a:extLst>
          </p:cNvPr>
          <p:cNvSpPr>
            <a:spLocks noChangeShapeType="1"/>
          </p:cNvSpPr>
          <p:nvPr/>
        </p:nvSpPr>
        <p:spPr bwMode="auto">
          <a:xfrm rot="5400000">
            <a:off x="6885334" y="3971918"/>
            <a:ext cx="0" cy="464772"/>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85" name="Line 35">
            <a:extLst>
              <a:ext uri="{FF2B5EF4-FFF2-40B4-BE49-F238E27FC236}">
                <a16:creationId xmlns:a16="http://schemas.microsoft.com/office/drawing/2014/main" id="{B420AEAB-CBC8-774A-8B7B-A79984BA3851}"/>
              </a:ext>
            </a:extLst>
          </p:cNvPr>
          <p:cNvSpPr>
            <a:spLocks noChangeShapeType="1"/>
          </p:cNvSpPr>
          <p:nvPr/>
        </p:nvSpPr>
        <p:spPr bwMode="auto">
          <a:xfrm rot="5400000">
            <a:off x="6116984" y="5261589"/>
            <a:ext cx="0" cy="464772"/>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87" name="Line 35">
            <a:extLst>
              <a:ext uri="{FF2B5EF4-FFF2-40B4-BE49-F238E27FC236}">
                <a16:creationId xmlns:a16="http://schemas.microsoft.com/office/drawing/2014/main" id="{B420AEAB-CBC8-774A-8B7B-A79984BA3851}"/>
              </a:ext>
            </a:extLst>
          </p:cNvPr>
          <p:cNvSpPr>
            <a:spLocks noChangeShapeType="1"/>
          </p:cNvSpPr>
          <p:nvPr/>
        </p:nvSpPr>
        <p:spPr bwMode="auto">
          <a:xfrm rot="5400000">
            <a:off x="6116984" y="6785589"/>
            <a:ext cx="0" cy="464772"/>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88" name="Rectangle 187"/>
          <p:cNvSpPr/>
          <p:nvPr/>
        </p:nvSpPr>
        <p:spPr>
          <a:xfrm>
            <a:off x="7922882" y="7356077"/>
            <a:ext cx="1662635" cy="338554"/>
          </a:xfrm>
          <a:prstGeom prst="rect">
            <a:avLst/>
          </a:prstGeom>
        </p:spPr>
        <p:txBody>
          <a:bodyPr wrap="none">
            <a:spAutoFit/>
          </a:bodyPr>
          <a:lstStyle/>
          <a:p>
            <a:r>
              <a:rPr lang="en-US" altLang="fr-FR" sz="1600" dirty="0">
                <a:solidFill>
                  <a:schemeClr val="accent3"/>
                </a:solidFill>
                <a:cs typeface="Arial" panose="020B0604020202020204" pitchFamily="34" charset="0"/>
              </a:rPr>
              <a:t>0.090 </a:t>
            </a:r>
            <a:r>
              <a:rPr lang="en-US" altLang="fr-FR" sz="1600" dirty="0">
                <a:solidFill>
                  <a:srgbClr val="ADA400"/>
                </a:solidFill>
                <a:cs typeface="Arial" panose="020B0604020202020204" pitchFamily="34" charset="0"/>
              </a:rPr>
              <a:t>kg</a:t>
            </a:r>
            <a:r>
              <a:rPr lang="en-US" altLang="fr-FR" sz="1600" baseline="-25000" dirty="0">
                <a:solidFill>
                  <a:srgbClr val="ADA400"/>
                </a:solidFill>
                <a:cs typeface="Arial" panose="020B0604020202020204" pitchFamily="34" charset="0"/>
              </a:rPr>
              <a:t>CO2</a:t>
            </a:r>
            <a:r>
              <a:rPr lang="en-US" altLang="en-US" sz="1600" dirty="0">
                <a:solidFill>
                  <a:srgbClr val="ADA400"/>
                </a:solidFill>
              </a:rPr>
              <a:t>/</a:t>
            </a:r>
            <a:r>
              <a:rPr lang="en-US" altLang="en-US" sz="1600" dirty="0" err="1">
                <a:solidFill>
                  <a:srgbClr val="ADA400"/>
                </a:solidFill>
              </a:rPr>
              <a:t>kg</a:t>
            </a:r>
            <a:r>
              <a:rPr lang="en-US" altLang="en-US" sz="1600" baseline="-25000" dirty="0" err="1">
                <a:solidFill>
                  <a:srgbClr val="ADA400"/>
                </a:solidFill>
              </a:rPr>
              <a:t>oil</a:t>
            </a:r>
            <a:endParaRPr lang="en-US" sz="1600" dirty="0"/>
          </a:p>
        </p:txBody>
      </p:sp>
      <p:cxnSp>
        <p:nvCxnSpPr>
          <p:cNvPr id="194" name="Straight Connector 234">
            <a:extLst>
              <a:ext uri="{FF2B5EF4-FFF2-40B4-BE49-F238E27FC236}">
                <a16:creationId xmlns:a16="http://schemas.microsoft.com/office/drawing/2014/main" id="{CCE6BB87-3A7E-7B46-A489-7D2A54FBD307}"/>
              </a:ext>
            </a:extLst>
          </p:cNvPr>
          <p:cNvCxnSpPr>
            <a:cxnSpLocks noChangeShapeType="1"/>
          </p:cNvCxnSpPr>
          <p:nvPr/>
        </p:nvCxnSpPr>
        <p:spPr bwMode="auto">
          <a:xfrm flipV="1">
            <a:off x="13747120" y="5940934"/>
            <a:ext cx="0" cy="492125"/>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95" name="Straight Connector 235">
            <a:extLst>
              <a:ext uri="{FF2B5EF4-FFF2-40B4-BE49-F238E27FC236}">
                <a16:creationId xmlns:a16="http://schemas.microsoft.com/office/drawing/2014/main" id="{68D9750A-3829-3F40-816B-F6135695C95B}"/>
              </a:ext>
            </a:extLst>
          </p:cNvPr>
          <p:cNvCxnSpPr>
            <a:cxnSpLocks noChangeShapeType="1"/>
          </p:cNvCxnSpPr>
          <p:nvPr/>
        </p:nvCxnSpPr>
        <p:spPr bwMode="auto">
          <a:xfrm flipH="1">
            <a:off x="7789233" y="5940934"/>
            <a:ext cx="5957887" cy="0"/>
          </a:xfrm>
          <a:prstGeom prst="line">
            <a:avLst/>
          </a:prstGeom>
          <a:noFill/>
          <a:ln w="25400" algn="ctr">
            <a:solidFill>
              <a:schemeClr val="accent4"/>
            </a:solidFill>
            <a:round/>
            <a:headEnd/>
            <a:tailEnd/>
          </a:ln>
          <a:extLst>
            <a:ext uri="{909E8E84-426E-40DD-AFC4-6F175D3DCCD1}">
              <a14:hiddenFill xmlns:a14="http://schemas.microsoft.com/office/drawing/2010/main">
                <a:noFill/>
              </a14:hiddenFill>
            </a:ext>
          </a:extLst>
        </p:spPr>
      </p:cxnSp>
      <p:cxnSp>
        <p:nvCxnSpPr>
          <p:cNvPr id="196" name="Straight Arrow Connector 236">
            <a:extLst>
              <a:ext uri="{FF2B5EF4-FFF2-40B4-BE49-F238E27FC236}">
                <a16:creationId xmlns:a16="http://schemas.microsoft.com/office/drawing/2014/main" id="{2E83AB13-A204-8247-89E8-00DAA98654A8}"/>
              </a:ext>
            </a:extLst>
          </p:cNvPr>
          <p:cNvCxnSpPr>
            <a:cxnSpLocks noChangeShapeType="1"/>
          </p:cNvCxnSpPr>
          <p:nvPr/>
        </p:nvCxnSpPr>
        <p:spPr bwMode="auto">
          <a:xfrm flipV="1">
            <a:off x="7789233" y="5802783"/>
            <a:ext cx="0" cy="127000"/>
          </a:xfrm>
          <a:prstGeom prst="straightConnector1">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sp>
        <p:nvSpPr>
          <p:cNvPr id="197" name="Rectangle 19">
            <a:extLst>
              <a:ext uri="{FF2B5EF4-FFF2-40B4-BE49-F238E27FC236}">
                <a16:creationId xmlns:a16="http://schemas.microsoft.com/office/drawing/2014/main" id="{3022CB08-C5CE-8E47-A457-A19301EA80A9}"/>
              </a:ext>
            </a:extLst>
          </p:cNvPr>
          <p:cNvSpPr>
            <a:spLocks noChangeArrowheads="1"/>
          </p:cNvSpPr>
          <p:nvPr/>
        </p:nvSpPr>
        <p:spPr bwMode="auto">
          <a:xfrm>
            <a:off x="13108814" y="6438411"/>
            <a:ext cx="2058412" cy="828432"/>
          </a:xfrm>
          <a:prstGeom prst="rect">
            <a:avLst/>
          </a:prstGeom>
          <a:solidFill>
            <a:schemeClr val="bg2">
              <a:lumMod val="75000"/>
              <a:alpha val="39000"/>
            </a:schemeClr>
          </a:solidFill>
          <a:ln w="9525">
            <a:noFill/>
            <a:miter lim="800000"/>
            <a:headEnd/>
            <a:tailEnd/>
          </a:ln>
          <a:effectLst/>
        </p:spPr>
        <p:txBody>
          <a:bodyPr wrap="square" lIns="90488" tIns="44450" rIns="90488" bIns="44450" anchor="ctr">
            <a:spAutoFit/>
          </a:bodyPr>
          <a:lstStyle/>
          <a:p>
            <a:pPr algn="ctr" eaLnBrk="1" fontAlgn="auto" hangingPunct="1">
              <a:spcBef>
                <a:spcPts val="0"/>
              </a:spcBef>
              <a:spcAft>
                <a:spcPts val="0"/>
              </a:spcAft>
              <a:defRPr/>
            </a:pPr>
            <a:r>
              <a:rPr lang="en-US" sz="1600" kern="0" dirty="0">
                <a:solidFill>
                  <a:schemeClr val="tx2"/>
                </a:solidFill>
                <a:latin typeface="Arial" panose="020B0604020202020204" pitchFamily="34" charset="0"/>
                <a:cs typeface="Arial" panose="020B0604020202020204" pitchFamily="34" charset="0"/>
              </a:rPr>
              <a:t>Transport</a:t>
            </a:r>
            <a:br>
              <a:rPr lang="en-US" sz="1600" kern="0" dirty="0">
                <a:solidFill>
                  <a:schemeClr val="tx2"/>
                </a:solidFill>
                <a:latin typeface="Arial" panose="020B0604020202020204" pitchFamily="34" charset="0"/>
                <a:cs typeface="Arial" panose="020B0604020202020204" pitchFamily="34" charset="0"/>
              </a:rPr>
            </a:br>
            <a:r>
              <a:rPr lang="en-US" sz="1600" kern="0" dirty="0">
                <a:solidFill>
                  <a:schemeClr val="tx2"/>
                </a:solidFill>
                <a:latin typeface="Arial" panose="020B0604020202020204" pitchFamily="34" charset="0"/>
                <a:cs typeface="Arial" panose="020B0604020202020204" pitchFamily="34" charset="0"/>
              </a:rPr>
              <a:t>truck</a:t>
            </a:r>
          </a:p>
          <a:p>
            <a:pPr algn="ctr">
              <a:defRPr/>
            </a:pPr>
            <a:r>
              <a:rPr lang="en-US" sz="1600" kern="0" dirty="0">
                <a:solidFill>
                  <a:schemeClr val="accent4"/>
                </a:solidFill>
                <a:latin typeface="Arial" panose="020B0604020202020204" pitchFamily="34" charset="0"/>
                <a:cs typeface="Arial" panose="020B0604020202020204" pitchFamily="34" charset="0"/>
              </a:rPr>
              <a:t>1.21 </a:t>
            </a:r>
            <a:r>
              <a:rPr lang="en-US" sz="1600" kern="0" dirty="0" err="1">
                <a:solidFill>
                  <a:schemeClr val="accent4"/>
                </a:solidFill>
                <a:latin typeface="Arial" panose="020B0604020202020204" pitchFamily="34" charset="0"/>
                <a:cs typeface="Arial" panose="020B0604020202020204" pitchFamily="34" charset="0"/>
              </a:rPr>
              <a:t>t∙km</a:t>
            </a:r>
            <a:r>
              <a:rPr lang="en-US" sz="1600" kern="0" dirty="0">
                <a:solidFill>
                  <a:schemeClr val="accent4"/>
                </a:solidFill>
                <a:latin typeface="Arial" panose="020B0604020202020204" pitchFamily="34" charset="0"/>
                <a:cs typeface="Arial" panose="020B0604020202020204" pitchFamily="34" charset="0"/>
              </a:rPr>
              <a:t>/FU</a:t>
            </a:r>
          </a:p>
        </p:txBody>
      </p:sp>
      <p:cxnSp>
        <p:nvCxnSpPr>
          <p:cNvPr id="198" name="Straight Connector 221">
            <a:extLst>
              <a:ext uri="{FF2B5EF4-FFF2-40B4-BE49-F238E27FC236}">
                <a16:creationId xmlns:a16="http://schemas.microsoft.com/office/drawing/2014/main" id="{D919100D-9ACE-CA44-8EB7-218DEDE7EF3D}"/>
              </a:ext>
            </a:extLst>
          </p:cNvPr>
          <p:cNvCxnSpPr>
            <a:cxnSpLocks noChangeShapeType="1"/>
          </p:cNvCxnSpPr>
          <p:nvPr/>
        </p:nvCxnSpPr>
        <p:spPr bwMode="auto">
          <a:xfrm flipH="1" flipV="1">
            <a:off x="9071534" y="4380368"/>
            <a:ext cx="8966" cy="2040947"/>
          </a:xfrm>
          <a:prstGeom prst="line">
            <a:avLst/>
          </a:prstGeom>
          <a:noFill/>
          <a:ln w="25400" algn="ctr">
            <a:solidFill>
              <a:schemeClr val="accent4"/>
            </a:solidFill>
            <a:round/>
            <a:headEnd/>
            <a:tailEnd type="arrow" w="med" len="med"/>
          </a:ln>
          <a:extLst>
            <a:ext uri="{909E8E84-426E-40DD-AFC4-6F175D3DCCD1}">
              <a14:hiddenFill xmlns:a14="http://schemas.microsoft.com/office/drawing/2010/main">
                <a:noFill/>
              </a14:hiddenFill>
            </a:ext>
          </a:extLst>
        </p:spPr>
      </p:cxnSp>
      <p:sp>
        <p:nvSpPr>
          <p:cNvPr id="199" name="Oval 198">
            <a:extLst>
              <a:ext uri="{FF2B5EF4-FFF2-40B4-BE49-F238E27FC236}">
                <a16:creationId xmlns:a16="http://schemas.microsoft.com/office/drawing/2014/main" id="{6286FB70-54AD-7B4C-8B27-B18D59AD7D96}"/>
              </a:ext>
            </a:extLst>
          </p:cNvPr>
          <p:cNvSpPr/>
          <p:nvPr/>
        </p:nvSpPr>
        <p:spPr>
          <a:xfrm>
            <a:off x="0" y="434925"/>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3</a:t>
            </a:r>
          </a:p>
        </p:txBody>
      </p:sp>
    </p:spTree>
    <p:extLst>
      <p:ext uri="{BB962C8B-B14F-4D97-AF65-F5344CB8AC3E}">
        <p14:creationId xmlns:p14="http://schemas.microsoft.com/office/powerpoint/2010/main" val="1860156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r>
              <a:rPr lang="en-US" altLang="en-US" sz="4000" dirty="0"/>
              <a:t>Aggregated inventory: aluminum primary liquid</a:t>
            </a:r>
          </a:p>
        </p:txBody>
      </p:sp>
      <p:sp>
        <p:nvSpPr>
          <p:cNvPr id="2" name="Rectangle 1"/>
          <p:cNvSpPr/>
          <p:nvPr/>
        </p:nvSpPr>
        <p:spPr>
          <a:xfrm>
            <a:off x="1586473" y="6699094"/>
            <a:ext cx="13216447" cy="954107"/>
          </a:xfrm>
          <a:prstGeom prst="rect">
            <a:avLst/>
          </a:prstGeom>
        </p:spPr>
        <p:txBody>
          <a:bodyPr wrap="square">
            <a:spAutoFit/>
          </a:bodyPr>
          <a:lstStyle/>
          <a:p>
            <a:pPr algn="ctr"/>
            <a:r>
              <a:rPr lang="en-US" sz="2800" dirty="0">
                <a:solidFill>
                  <a:schemeClr val="tx2"/>
                </a:solidFill>
              </a:rPr>
              <a:t>These are </a:t>
            </a:r>
            <a:r>
              <a:rPr lang="en-US" sz="2800" b="1" dirty="0">
                <a:solidFill>
                  <a:schemeClr val="accent3"/>
                </a:solidFill>
              </a:rPr>
              <a:t>ALL </a:t>
            </a:r>
            <a:r>
              <a:rPr lang="en-US" sz="2800" dirty="0">
                <a:solidFill>
                  <a:schemeClr val="accent3"/>
                </a:solidFill>
              </a:rPr>
              <a:t>elementary flows </a:t>
            </a:r>
            <a:r>
              <a:rPr lang="en-US" sz="2800" dirty="0">
                <a:solidFill>
                  <a:schemeClr val="tx2"/>
                </a:solidFill>
              </a:rPr>
              <a:t>since by definition the </a:t>
            </a:r>
            <a:r>
              <a:rPr lang="en-US" sz="2800" dirty="0">
                <a:solidFill>
                  <a:schemeClr val="accent5"/>
                </a:solidFill>
              </a:rPr>
              <a:t>aggregated</a:t>
            </a:r>
            <a:r>
              <a:rPr lang="en-US" sz="2800" dirty="0">
                <a:solidFill>
                  <a:schemeClr val="accent3"/>
                </a:solidFill>
              </a:rPr>
              <a:t> inventory </a:t>
            </a:r>
            <a:r>
              <a:rPr lang="en-US" sz="2800" dirty="0">
                <a:solidFill>
                  <a:schemeClr val="tx2"/>
                </a:solidFill>
              </a:rPr>
              <a:t>is the sum of </a:t>
            </a:r>
            <a:r>
              <a:rPr lang="en-US" sz="2800" dirty="0">
                <a:solidFill>
                  <a:schemeClr val="accent3"/>
                </a:solidFill>
              </a:rPr>
              <a:t>all elementary flows per FU </a:t>
            </a:r>
            <a:r>
              <a:rPr lang="en-US" sz="2800" dirty="0">
                <a:solidFill>
                  <a:schemeClr val="tx2"/>
                </a:solidFill>
              </a:rPr>
              <a:t>of all unit processes</a:t>
            </a:r>
          </a:p>
        </p:txBody>
      </p:sp>
      <p:sp>
        <p:nvSpPr>
          <p:cNvPr id="62" name="Text Box 41">
            <a:extLst>
              <a:ext uri="{FF2B5EF4-FFF2-40B4-BE49-F238E27FC236}">
                <a16:creationId xmlns:a16="http://schemas.microsoft.com/office/drawing/2014/main" id="{95BF2285-A8C0-8446-A232-5F885917EF0E}"/>
              </a:ext>
            </a:extLst>
          </p:cNvPr>
          <p:cNvSpPr txBox="1">
            <a:spLocks noChangeArrowheads="1"/>
          </p:cNvSpPr>
          <p:nvPr/>
        </p:nvSpPr>
        <p:spPr bwMode="auto">
          <a:xfrm>
            <a:off x="7244556" y="1487315"/>
            <a:ext cx="1768475" cy="4924425"/>
          </a:xfrm>
          <a:prstGeom prst="rect">
            <a:avLst/>
          </a:prstGeom>
          <a:noFill/>
          <a:ln w="50800">
            <a:solidFill>
              <a:schemeClr val="accent6"/>
            </a:solidFill>
            <a:miter lim="800000"/>
            <a:headEnd/>
            <a:tailEnd/>
          </a:ln>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endParaRPr lang="en-US" altLang="en-US" sz="2000" dirty="0">
              <a:solidFill>
                <a:schemeClr val="accent6"/>
              </a:solidFill>
              <a:cs typeface="Arial" panose="020B0604020202020204" pitchFamily="34" charset="0"/>
            </a:endParaRPr>
          </a:p>
          <a:p>
            <a:pPr algn="ctr">
              <a:spcBef>
                <a:spcPct val="0"/>
              </a:spcBef>
              <a:buClrTx/>
              <a:buFontTx/>
              <a:buNone/>
            </a:pPr>
            <a:r>
              <a:rPr lang="en-US" altLang="en-US" sz="2000" dirty="0">
                <a:solidFill>
                  <a:schemeClr val="accent6"/>
                </a:solidFill>
                <a:cs typeface="Arial" panose="020B0604020202020204" pitchFamily="34" charset="0"/>
              </a:rPr>
              <a:t>Aluminum, </a:t>
            </a:r>
          </a:p>
          <a:p>
            <a:pPr algn="ctr">
              <a:spcBef>
                <a:spcPct val="0"/>
              </a:spcBef>
              <a:buClrTx/>
              <a:buFontTx/>
              <a:buNone/>
            </a:pPr>
            <a:r>
              <a:rPr lang="en-US" altLang="en-US" sz="2000" dirty="0">
                <a:solidFill>
                  <a:schemeClr val="accent6"/>
                </a:solidFill>
                <a:cs typeface="Arial" panose="020B0604020202020204" pitchFamily="34" charset="0"/>
              </a:rPr>
              <a:t>primary, </a:t>
            </a:r>
          </a:p>
          <a:p>
            <a:pPr algn="ctr">
              <a:spcBef>
                <a:spcPct val="0"/>
              </a:spcBef>
              <a:buClrTx/>
              <a:buFontTx/>
              <a:buNone/>
            </a:pPr>
            <a:r>
              <a:rPr lang="en-US" altLang="en-US" sz="2000" dirty="0">
                <a:solidFill>
                  <a:schemeClr val="accent6"/>
                </a:solidFill>
                <a:cs typeface="Arial" panose="020B0604020202020204" pitchFamily="34" charset="0"/>
              </a:rPr>
              <a:t>liquid</a:t>
            </a: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r>
              <a:rPr lang="en-US" altLang="en-US" sz="1800" dirty="0">
                <a:solidFill>
                  <a:schemeClr val="tx2"/>
                </a:solidFill>
                <a:cs typeface="Arial" panose="020B0604020202020204" pitchFamily="34" charset="0"/>
              </a:rPr>
              <a:t>1 kg</a:t>
            </a:r>
          </a:p>
          <a:p>
            <a:pPr algn="ctr">
              <a:spcBef>
                <a:spcPct val="0"/>
              </a:spcBef>
              <a:buClrTx/>
              <a:buFontTx/>
              <a:buNone/>
            </a:pPr>
            <a:endParaRPr lang="en-US" altLang="en-US" sz="1800" dirty="0">
              <a:solidFill>
                <a:schemeClr val="tx2"/>
              </a:solidFill>
              <a:cs typeface="Arial" panose="020B0604020202020204" pitchFamily="34" charset="0"/>
            </a:endParaRPr>
          </a:p>
          <a:p>
            <a:pPr algn="ctr">
              <a:spcBef>
                <a:spcPct val="0"/>
              </a:spcBef>
              <a:buClrTx/>
              <a:buFontTx/>
              <a:buNone/>
            </a:pPr>
            <a:endParaRPr lang="en-US" altLang="en-US" sz="1800" dirty="0">
              <a:solidFill>
                <a:schemeClr val="tx2"/>
              </a:solidFill>
              <a:cs typeface="Arial" panose="020B0604020202020204" pitchFamily="34" charset="0"/>
            </a:endParaRPr>
          </a:p>
          <a:p>
            <a:pPr algn="ctr">
              <a:spcBef>
                <a:spcPct val="0"/>
              </a:spcBef>
              <a:buClrTx/>
              <a:buFontTx/>
              <a:buNone/>
            </a:pPr>
            <a:endParaRPr lang="en-US" altLang="en-US" sz="1800" dirty="0">
              <a:solidFill>
                <a:schemeClr val="tx2"/>
              </a:solidFill>
              <a:cs typeface="Arial" panose="020B0604020202020204" pitchFamily="34" charset="0"/>
            </a:endParaRPr>
          </a:p>
          <a:p>
            <a:pPr algn="ctr">
              <a:spcBef>
                <a:spcPct val="0"/>
              </a:spcBef>
              <a:buClrTx/>
              <a:buFontTx/>
              <a:buNone/>
            </a:pPr>
            <a:endParaRPr lang="en-US" altLang="en-US" sz="1800" dirty="0">
              <a:solidFill>
                <a:schemeClr val="tx2"/>
              </a:solidFill>
              <a:cs typeface="Arial" panose="020B0604020202020204" pitchFamily="34"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p:txBody>
      </p:sp>
      <p:sp>
        <p:nvSpPr>
          <p:cNvPr id="63" name="Line 53">
            <a:extLst>
              <a:ext uri="{FF2B5EF4-FFF2-40B4-BE49-F238E27FC236}">
                <a16:creationId xmlns:a16="http://schemas.microsoft.com/office/drawing/2014/main" id="{34E31798-52FA-D243-AB13-F7B8BCDABBD7}"/>
              </a:ext>
            </a:extLst>
          </p:cNvPr>
          <p:cNvSpPr>
            <a:spLocks noChangeShapeType="1"/>
          </p:cNvSpPr>
          <p:nvPr/>
        </p:nvSpPr>
        <p:spPr bwMode="auto">
          <a:xfrm>
            <a:off x="9055895" y="5048102"/>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64" name="Text Box 54">
            <a:extLst>
              <a:ext uri="{FF2B5EF4-FFF2-40B4-BE49-F238E27FC236}">
                <a16:creationId xmlns:a16="http://schemas.microsoft.com/office/drawing/2014/main" id="{5B0F4106-B1FF-EC4A-8F61-C7CA069619EA}"/>
              </a:ext>
            </a:extLst>
          </p:cNvPr>
          <p:cNvSpPr txBox="1">
            <a:spLocks noChangeArrowheads="1"/>
          </p:cNvSpPr>
          <p:nvPr/>
        </p:nvSpPr>
        <p:spPr bwMode="auto">
          <a:xfrm>
            <a:off x="9491272" y="4863142"/>
            <a:ext cx="442322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Methane, biogenic 51.7 mg</a:t>
            </a:r>
          </a:p>
        </p:txBody>
      </p:sp>
      <p:sp>
        <p:nvSpPr>
          <p:cNvPr id="65" name="Line 56">
            <a:extLst>
              <a:ext uri="{FF2B5EF4-FFF2-40B4-BE49-F238E27FC236}">
                <a16:creationId xmlns:a16="http://schemas.microsoft.com/office/drawing/2014/main" id="{00402967-4DA8-C247-B989-181F6F64D44B}"/>
              </a:ext>
            </a:extLst>
          </p:cNvPr>
          <p:cNvSpPr>
            <a:spLocks noChangeShapeType="1"/>
          </p:cNvSpPr>
          <p:nvPr/>
        </p:nvSpPr>
        <p:spPr bwMode="auto">
          <a:xfrm>
            <a:off x="6841330" y="4166252"/>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66" name="Line 57">
            <a:extLst>
              <a:ext uri="{FF2B5EF4-FFF2-40B4-BE49-F238E27FC236}">
                <a16:creationId xmlns:a16="http://schemas.microsoft.com/office/drawing/2014/main" id="{D607FD61-6D22-154B-9F4D-8AF4C85083DD}"/>
              </a:ext>
            </a:extLst>
          </p:cNvPr>
          <p:cNvSpPr>
            <a:spLocks noChangeShapeType="1"/>
          </p:cNvSpPr>
          <p:nvPr/>
        </p:nvSpPr>
        <p:spPr bwMode="auto">
          <a:xfrm>
            <a:off x="6841330" y="3721748"/>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67" name="Line 58">
            <a:extLst>
              <a:ext uri="{FF2B5EF4-FFF2-40B4-BE49-F238E27FC236}">
                <a16:creationId xmlns:a16="http://schemas.microsoft.com/office/drawing/2014/main" id="{C8BB0E7B-358B-8B4F-B43E-0621D3240222}"/>
              </a:ext>
            </a:extLst>
          </p:cNvPr>
          <p:cNvSpPr>
            <a:spLocks noChangeShapeType="1"/>
          </p:cNvSpPr>
          <p:nvPr/>
        </p:nvSpPr>
        <p:spPr bwMode="auto">
          <a:xfrm>
            <a:off x="6841330" y="4911253"/>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68" name="Line 57">
            <a:extLst>
              <a:ext uri="{FF2B5EF4-FFF2-40B4-BE49-F238E27FC236}">
                <a16:creationId xmlns:a16="http://schemas.microsoft.com/office/drawing/2014/main" id="{B4685134-C49A-1945-842D-4A9A27161BE4}"/>
              </a:ext>
            </a:extLst>
          </p:cNvPr>
          <p:cNvSpPr>
            <a:spLocks noChangeShapeType="1"/>
          </p:cNvSpPr>
          <p:nvPr/>
        </p:nvSpPr>
        <p:spPr bwMode="auto">
          <a:xfrm>
            <a:off x="6855617" y="3262958"/>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69" name="Text Box 59">
            <a:extLst>
              <a:ext uri="{FF2B5EF4-FFF2-40B4-BE49-F238E27FC236}">
                <a16:creationId xmlns:a16="http://schemas.microsoft.com/office/drawing/2014/main" id="{81DED3B9-9D44-8D41-A53C-09D82E5F3C16}"/>
              </a:ext>
            </a:extLst>
          </p:cNvPr>
          <p:cNvSpPr txBox="1">
            <a:spLocks noChangeArrowheads="1"/>
          </p:cNvSpPr>
          <p:nvPr/>
        </p:nvSpPr>
        <p:spPr bwMode="auto">
          <a:xfrm>
            <a:off x="2839101" y="3096701"/>
            <a:ext cx="40046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dirty="0">
                <a:solidFill>
                  <a:schemeClr val="accent3"/>
                </a:solidFill>
                <a:cs typeface="Arial" panose="020B0604020202020204" pitchFamily="34" charset="0"/>
              </a:rPr>
              <a:t>Crude oil in ground 1.18 kg</a:t>
            </a:r>
          </a:p>
        </p:txBody>
      </p:sp>
      <p:sp>
        <p:nvSpPr>
          <p:cNvPr id="70" name="Line 57">
            <a:extLst>
              <a:ext uri="{FF2B5EF4-FFF2-40B4-BE49-F238E27FC236}">
                <a16:creationId xmlns:a16="http://schemas.microsoft.com/office/drawing/2014/main" id="{A2E2A1ED-0F39-FC4E-A90A-6E6FFC77228E}"/>
              </a:ext>
            </a:extLst>
          </p:cNvPr>
          <p:cNvSpPr>
            <a:spLocks noChangeShapeType="1"/>
          </p:cNvSpPr>
          <p:nvPr/>
        </p:nvSpPr>
        <p:spPr bwMode="auto">
          <a:xfrm>
            <a:off x="6841330" y="2000305"/>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dirty="0"/>
          </a:p>
        </p:txBody>
      </p:sp>
      <p:sp>
        <p:nvSpPr>
          <p:cNvPr id="71" name="Text Box 59">
            <a:extLst>
              <a:ext uri="{FF2B5EF4-FFF2-40B4-BE49-F238E27FC236}">
                <a16:creationId xmlns:a16="http://schemas.microsoft.com/office/drawing/2014/main" id="{B7B9925E-9F8C-9947-9DDC-696FC7CFDFEB}"/>
              </a:ext>
            </a:extLst>
          </p:cNvPr>
          <p:cNvSpPr txBox="1">
            <a:spLocks noChangeArrowheads="1"/>
          </p:cNvSpPr>
          <p:nvPr/>
        </p:nvSpPr>
        <p:spPr bwMode="auto">
          <a:xfrm>
            <a:off x="3715669" y="1784405"/>
            <a:ext cx="31280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dirty="0">
                <a:solidFill>
                  <a:schemeClr val="accent3"/>
                </a:solidFill>
                <a:cs typeface="Arial" panose="020B0604020202020204" pitchFamily="34" charset="0"/>
              </a:rPr>
              <a:t>Natural gas in ground 525 dm</a:t>
            </a:r>
            <a:r>
              <a:rPr lang="en-US" altLang="en-US" sz="1600" b="0" baseline="30000" dirty="0">
                <a:solidFill>
                  <a:schemeClr val="accent3"/>
                </a:solidFill>
                <a:cs typeface="Arial" panose="020B0604020202020204" pitchFamily="34" charset="0"/>
              </a:rPr>
              <a:t>3</a:t>
            </a:r>
          </a:p>
        </p:txBody>
      </p:sp>
      <p:sp>
        <p:nvSpPr>
          <p:cNvPr id="72" name="Line 57">
            <a:extLst>
              <a:ext uri="{FF2B5EF4-FFF2-40B4-BE49-F238E27FC236}">
                <a16:creationId xmlns:a16="http://schemas.microsoft.com/office/drawing/2014/main" id="{DEB983EA-1E06-D94B-AED5-6D8FDFC75ACF}"/>
              </a:ext>
            </a:extLst>
          </p:cNvPr>
          <p:cNvSpPr>
            <a:spLocks noChangeShapeType="1"/>
          </p:cNvSpPr>
          <p:nvPr/>
        </p:nvSpPr>
        <p:spPr bwMode="auto">
          <a:xfrm>
            <a:off x="6841330" y="2431106"/>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73" name="Text Box 59">
            <a:extLst>
              <a:ext uri="{FF2B5EF4-FFF2-40B4-BE49-F238E27FC236}">
                <a16:creationId xmlns:a16="http://schemas.microsoft.com/office/drawing/2014/main" id="{3D6DBEC9-715E-C74B-90DC-B6BAE064261A}"/>
              </a:ext>
            </a:extLst>
          </p:cNvPr>
          <p:cNvSpPr txBox="1">
            <a:spLocks noChangeArrowheads="1"/>
          </p:cNvSpPr>
          <p:nvPr/>
        </p:nvSpPr>
        <p:spPr bwMode="auto">
          <a:xfrm>
            <a:off x="2946414" y="2221837"/>
            <a:ext cx="38973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dirty="0">
                <a:solidFill>
                  <a:schemeClr val="accent3"/>
                </a:solidFill>
                <a:cs typeface="Arial" panose="020B0604020202020204" pitchFamily="34" charset="0"/>
              </a:rPr>
              <a:t>Brown coal in ground 1.20 kg </a:t>
            </a:r>
          </a:p>
        </p:txBody>
      </p:sp>
      <p:sp>
        <p:nvSpPr>
          <p:cNvPr id="74" name="Line 57">
            <a:extLst>
              <a:ext uri="{FF2B5EF4-FFF2-40B4-BE49-F238E27FC236}">
                <a16:creationId xmlns:a16="http://schemas.microsoft.com/office/drawing/2014/main" id="{873364EE-68FB-B94A-9412-D865F235C2A2}"/>
              </a:ext>
            </a:extLst>
          </p:cNvPr>
          <p:cNvSpPr>
            <a:spLocks noChangeShapeType="1"/>
          </p:cNvSpPr>
          <p:nvPr/>
        </p:nvSpPr>
        <p:spPr bwMode="auto">
          <a:xfrm>
            <a:off x="6858792" y="2864494"/>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75" name="Line 53">
            <a:extLst>
              <a:ext uri="{FF2B5EF4-FFF2-40B4-BE49-F238E27FC236}">
                <a16:creationId xmlns:a16="http://schemas.microsoft.com/office/drawing/2014/main" id="{A79B2A22-1C9F-354D-BB05-4C9E15EAF19A}"/>
              </a:ext>
            </a:extLst>
          </p:cNvPr>
          <p:cNvSpPr>
            <a:spLocks noChangeShapeType="1"/>
          </p:cNvSpPr>
          <p:nvPr/>
        </p:nvSpPr>
        <p:spPr bwMode="auto">
          <a:xfrm>
            <a:off x="9067007" y="5370175"/>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76" name="Text Box 54">
            <a:extLst>
              <a:ext uri="{FF2B5EF4-FFF2-40B4-BE49-F238E27FC236}">
                <a16:creationId xmlns:a16="http://schemas.microsoft.com/office/drawing/2014/main" id="{27297C70-FAEC-DB4B-B0BE-5F485F5355FA}"/>
              </a:ext>
            </a:extLst>
          </p:cNvPr>
          <p:cNvSpPr txBox="1">
            <a:spLocks noChangeArrowheads="1"/>
          </p:cNvSpPr>
          <p:nvPr/>
        </p:nvSpPr>
        <p:spPr bwMode="auto">
          <a:xfrm>
            <a:off x="9491272" y="5214609"/>
            <a:ext cx="46039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Nitrogen oxides 19.6 g</a:t>
            </a:r>
          </a:p>
        </p:txBody>
      </p:sp>
      <p:sp>
        <p:nvSpPr>
          <p:cNvPr id="77" name="Line 56">
            <a:extLst>
              <a:ext uri="{FF2B5EF4-FFF2-40B4-BE49-F238E27FC236}">
                <a16:creationId xmlns:a16="http://schemas.microsoft.com/office/drawing/2014/main" id="{127A268F-F5F7-8440-8ED2-F5FAC21C4F0E}"/>
              </a:ext>
            </a:extLst>
          </p:cNvPr>
          <p:cNvSpPr>
            <a:spLocks noChangeShapeType="1"/>
          </p:cNvSpPr>
          <p:nvPr/>
        </p:nvSpPr>
        <p:spPr bwMode="auto">
          <a:xfrm>
            <a:off x="9067007" y="4653505"/>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78" name="Line 57">
            <a:extLst>
              <a:ext uri="{FF2B5EF4-FFF2-40B4-BE49-F238E27FC236}">
                <a16:creationId xmlns:a16="http://schemas.microsoft.com/office/drawing/2014/main" id="{35E02431-43BA-1F48-94CC-103E672CB5C2}"/>
              </a:ext>
            </a:extLst>
          </p:cNvPr>
          <p:cNvSpPr>
            <a:spLocks noChangeShapeType="1"/>
          </p:cNvSpPr>
          <p:nvPr/>
        </p:nvSpPr>
        <p:spPr bwMode="auto">
          <a:xfrm>
            <a:off x="9073357" y="3273590"/>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79" name="Line 57">
            <a:extLst>
              <a:ext uri="{FF2B5EF4-FFF2-40B4-BE49-F238E27FC236}">
                <a16:creationId xmlns:a16="http://schemas.microsoft.com/office/drawing/2014/main" id="{C3B25583-81D6-124B-94CA-16572926F579}"/>
              </a:ext>
            </a:extLst>
          </p:cNvPr>
          <p:cNvSpPr>
            <a:spLocks noChangeShapeType="1"/>
          </p:cNvSpPr>
          <p:nvPr/>
        </p:nvSpPr>
        <p:spPr bwMode="auto">
          <a:xfrm>
            <a:off x="9073357" y="2930247"/>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80" name="Line 57">
            <a:extLst>
              <a:ext uri="{FF2B5EF4-FFF2-40B4-BE49-F238E27FC236}">
                <a16:creationId xmlns:a16="http://schemas.microsoft.com/office/drawing/2014/main" id="{A054CFE4-CC5E-B041-908D-CFCB1642ABBC}"/>
              </a:ext>
            </a:extLst>
          </p:cNvPr>
          <p:cNvSpPr>
            <a:spLocks noChangeShapeType="1"/>
          </p:cNvSpPr>
          <p:nvPr/>
        </p:nvSpPr>
        <p:spPr bwMode="auto">
          <a:xfrm>
            <a:off x="9067007" y="1900218"/>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81" name="Line 57">
            <a:extLst>
              <a:ext uri="{FF2B5EF4-FFF2-40B4-BE49-F238E27FC236}">
                <a16:creationId xmlns:a16="http://schemas.microsoft.com/office/drawing/2014/main" id="{1CA06A34-8086-6A44-BD40-70DC29C03DC7}"/>
              </a:ext>
            </a:extLst>
          </p:cNvPr>
          <p:cNvSpPr>
            <a:spLocks noChangeShapeType="1"/>
          </p:cNvSpPr>
          <p:nvPr/>
        </p:nvSpPr>
        <p:spPr bwMode="auto">
          <a:xfrm>
            <a:off x="9067007" y="2243561"/>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82" name="Line 57">
            <a:extLst>
              <a:ext uri="{FF2B5EF4-FFF2-40B4-BE49-F238E27FC236}">
                <a16:creationId xmlns:a16="http://schemas.microsoft.com/office/drawing/2014/main" id="{0DCD30F9-8516-8C4A-AE9D-FFD1D2B6E1E0}"/>
              </a:ext>
            </a:extLst>
          </p:cNvPr>
          <p:cNvSpPr>
            <a:spLocks noChangeShapeType="1"/>
          </p:cNvSpPr>
          <p:nvPr/>
        </p:nvSpPr>
        <p:spPr bwMode="auto">
          <a:xfrm>
            <a:off x="9052720" y="2586904"/>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83" name="Text Box 59">
            <a:extLst>
              <a:ext uri="{FF2B5EF4-FFF2-40B4-BE49-F238E27FC236}">
                <a16:creationId xmlns:a16="http://schemas.microsoft.com/office/drawing/2014/main" id="{72AA96FC-354B-2F4E-9A67-461C9D576810}"/>
              </a:ext>
            </a:extLst>
          </p:cNvPr>
          <p:cNvSpPr txBox="1">
            <a:spLocks noChangeArrowheads="1"/>
          </p:cNvSpPr>
          <p:nvPr/>
        </p:nvSpPr>
        <p:spPr bwMode="auto">
          <a:xfrm>
            <a:off x="9491272" y="3091078"/>
            <a:ext cx="34895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Carbon monoxide, biogenic 91.8 g</a:t>
            </a:r>
          </a:p>
        </p:txBody>
      </p:sp>
      <p:sp>
        <p:nvSpPr>
          <p:cNvPr id="84" name="Text Box 60">
            <a:extLst>
              <a:ext uri="{FF2B5EF4-FFF2-40B4-BE49-F238E27FC236}">
                <a16:creationId xmlns:a16="http://schemas.microsoft.com/office/drawing/2014/main" id="{1F31970C-142C-7842-8A66-37A07F67039E}"/>
              </a:ext>
            </a:extLst>
          </p:cNvPr>
          <p:cNvSpPr txBox="1">
            <a:spLocks noChangeArrowheads="1"/>
          </p:cNvSpPr>
          <p:nvPr/>
        </p:nvSpPr>
        <p:spPr bwMode="auto">
          <a:xfrm>
            <a:off x="9448007" y="1341404"/>
            <a:ext cx="46039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Heat, waste 66.6 MJ</a:t>
            </a:r>
            <a:endParaRPr lang="en-US" altLang="en-US" sz="1600" b="0" baseline="30000" dirty="0">
              <a:solidFill>
                <a:schemeClr val="accent3"/>
              </a:solidFill>
              <a:cs typeface="Arial" panose="020B0604020202020204" pitchFamily="34" charset="0"/>
            </a:endParaRPr>
          </a:p>
        </p:txBody>
      </p:sp>
      <p:sp>
        <p:nvSpPr>
          <p:cNvPr id="85" name="Text Box 59">
            <a:extLst>
              <a:ext uri="{FF2B5EF4-FFF2-40B4-BE49-F238E27FC236}">
                <a16:creationId xmlns:a16="http://schemas.microsoft.com/office/drawing/2014/main" id="{3E13EAC7-4277-6841-B93E-4C135BA80898}"/>
              </a:ext>
            </a:extLst>
          </p:cNvPr>
          <p:cNvSpPr txBox="1">
            <a:spLocks noChangeArrowheads="1"/>
          </p:cNvSpPr>
          <p:nvPr/>
        </p:nvSpPr>
        <p:spPr bwMode="auto">
          <a:xfrm>
            <a:off x="9491272" y="2760970"/>
            <a:ext cx="30506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Carbon dioxide, fossil 9.40 kg</a:t>
            </a:r>
          </a:p>
        </p:txBody>
      </p:sp>
      <p:sp>
        <p:nvSpPr>
          <p:cNvPr id="86" name="Text Box 59">
            <a:extLst>
              <a:ext uri="{FF2B5EF4-FFF2-40B4-BE49-F238E27FC236}">
                <a16:creationId xmlns:a16="http://schemas.microsoft.com/office/drawing/2014/main" id="{F5ECB826-1248-FA4E-8E6C-C0518697949B}"/>
              </a:ext>
            </a:extLst>
          </p:cNvPr>
          <p:cNvSpPr txBox="1">
            <a:spLocks noChangeArrowheads="1"/>
          </p:cNvSpPr>
          <p:nvPr/>
        </p:nvSpPr>
        <p:spPr bwMode="auto">
          <a:xfrm>
            <a:off x="9491272" y="1712894"/>
            <a:ext cx="30506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Arsenic 1.88 mg</a:t>
            </a:r>
          </a:p>
        </p:txBody>
      </p:sp>
      <p:sp>
        <p:nvSpPr>
          <p:cNvPr id="87" name="Text Box 59">
            <a:extLst>
              <a:ext uri="{FF2B5EF4-FFF2-40B4-BE49-F238E27FC236}">
                <a16:creationId xmlns:a16="http://schemas.microsoft.com/office/drawing/2014/main" id="{17727255-5844-134E-979D-8F4CBDF4D003}"/>
              </a:ext>
            </a:extLst>
          </p:cNvPr>
          <p:cNvSpPr txBox="1">
            <a:spLocks noChangeArrowheads="1"/>
          </p:cNvSpPr>
          <p:nvPr/>
        </p:nvSpPr>
        <p:spPr bwMode="auto">
          <a:xfrm>
            <a:off x="9491272" y="2053438"/>
            <a:ext cx="34895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Arsenic, ion 44.0 mg</a:t>
            </a:r>
          </a:p>
        </p:txBody>
      </p:sp>
      <p:sp>
        <p:nvSpPr>
          <p:cNvPr id="88" name="Text Box 59">
            <a:extLst>
              <a:ext uri="{FF2B5EF4-FFF2-40B4-BE49-F238E27FC236}">
                <a16:creationId xmlns:a16="http://schemas.microsoft.com/office/drawing/2014/main" id="{479671E9-0450-7B4D-B10E-CF417C3D0AE2}"/>
              </a:ext>
            </a:extLst>
          </p:cNvPr>
          <p:cNvSpPr txBox="1">
            <a:spLocks noChangeArrowheads="1"/>
          </p:cNvSpPr>
          <p:nvPr/>
        </p:nvSpPr>
        <p:spPr bwMode="auto">
          <a:xfrm>
            <a:off x="9491272" y="2416140"/>
            <a:ext cx="4025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Benzo[a]pyrene 2.74 mg</a:t>
            </a:r>
          </a:p>
        </p:txBody>
      </p:sp>
      <p:sp>
        <p:nvSpPr>
          <p:cNvPr id="89" name="Line 56">
            <a:extLst>
              <a:ext uri="{FF2B5EF4-FFF2-40B4-BE49-F238E27FC236}">
                <a16:creationId xmlns:a16="http://schemas.microsoft.com/office/drawing/2014/main" id="{45CCA929-8670-244D-9892-9607C5009870}"/>
              </a:ext>
            </a:extLst>
          </p:cNvPr>
          <p:cNvSpPr>
            <a:spLocks noChangeShapeType="1"/>
          </p:cNvSpPr>
          <p:nvPr/>
        </p:nvSpPr>
        <p:spPr bwMode="auto">
          <a:xfrm>
            <a:off x="9067007" y="3616933"/>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90" name="Text Box 60">
            <a:extLst>
              <a:ext uri="{FF2B5EF4-FFF2-40B4-BE49-F238E27FC236}">
                <a16:creationId xmlns:a16="http://schemas.microsoft.com/office/drawing/2014/main" id="{1963573A-8660-834E-AFAF-61DA19B86315}"/>
              </a:ext>
            </a:extLst>
          </p:cNvPr>
          <p:cNvSpPr txBox="1">
            <a:spLocks noChangeArrowheads="1"/>
          </p:cNvSpPr>
          <p:nvPr/>
        </p:nvSpPr>
        <p:spPr bwMode="auto">
          <a:xfrm>
            <a:off x="9491272" y="3432746"/>
            <a:ext cx="17447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CFC-14 252 mg</a:t>
            </a:r>
            <a:endParaRPr lang="en-US" altLang="en-US" sz="1600" b="0" baseline="30000" dirty="0">
              <a:solidFill>
                <a:schemeClr val="accent3"/>
              </a:solidFill>
              <a:cs typeface="Arial" panose="020B0604020202020204" pitchFamily="34" charset="0"/>
            </a:endParaRPr>
          </a:p>
        </p:txBody>
      </p:sp>
      <p:sp>
        <p:nvSpPr>
          <p:cNvPr id="91" name="Line 56">
            <a:extLst>
              <a:ext uri="{FF2B5EF4-FFF2-40B4-BE49-F238E27FC236}">
                <a16:creationId xmlns:a16="http://schemas.microsoft.com/office/drawing/2014/main" id="{5958F852-1B3F-F84F-B451-C04E7AD24E46}"/>
              </a:ext>
            </a:extLst>
          </p:cNvPr>
          <p:cNvSpPr>
            <a:spLocks noChangeShapeType="1"/>
          </p:cNvSpPr>
          <p:nvPr/>
        </p:nvSpPr>
        <p:spPr bwMode="auto">
          <a:xfrm>
            <a:off x="9081295" y="3960276"/>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92" name="Text Box 60">
            <a:extLst>
              <a:ext uri="{FF2B5EF4-FFF2-40B4-BE49-F238E27FC236}">
                <a16:creationId xmlns:a16="http://schemas.microsoft.com/office/drawing/2014/main" id="{E5BB7F3A-6D7E-B24B-B0CE-8466EF195DED}"/>
              </a:ext>
            </a:extLst>
          </p:cNvPr>
          <p:cNvSpPr txBox="1">
            <a:spLocks noChangeArrowheads="1"/>
          </p:cNvSpPr>
          <p:nvPr/>
        </p:nvSpPr>
        <p:spPr bwMode="auto">
          <a:xfrm>
            <a:off x="9491272" y="3782079"/>
            <a:ext cx="32120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Dioxins 1.74 ng</a:t>
            </a:r>
            <a:endParaRPr lang="en-US" altLang="en-US" sz="1600" b="0" baseline="30000" dirty="0">
              <a:solidFill>
                <a:schemeClr val="accent3"/>
              </a:solidFill>
              <a:cs typeface="Arial" panose="020B0604020202020204" pitchFamily="34" charset="0"/>
            </a:endParaRPr>
          </a:p>
        </p:txBody>
      </p:sp>
      <p:sp>
        <p:nvSpPr>
          <p:cNvPr id="93" name="Line 56">
            <a:extLst>
              <a:ext uri="{FF2B5EF4-FFF2-40B4-BE49-F238E27FC236}">
                <a16:creationId xmlns:a16="http://schemas.microsoft.com/office/drawing/2014/main" id="{4DEF87BB-C8B4-4145-ABA8-DE23308ED85F}"/>
              </a:ext>
            </a:extLst>
          </p:cNvPr>
          <p:cNvSpPr>
            <a:spLocks noChangeShapeType="1"/>
          </p:cNvSpPr>
          <p:nvPr/>
        </p:nvSpPr>
        <p:spPr bwMode="auto">
          <a:xfrm>
            <a:off x="9081295" y="4303619"/>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94" name="Text Box 60">
            <a:extLst>
              <a:ext uri="{FF2B5EF4-FFF2-40B4-BE49-F238E27FC236}">
                <a16:creationId xmlns:a16="http://schemas.microsoft.com/office/drawing/2014/main" id="{1792E6C0-B87C-D640-864E-8A429B166698}"/>
              </a:ext>
            </a:extLst>
          </p:cNvPr>
          <p:cNvSpPr txBox="1">
            <a:spLocks noChangeArrowheads="1"/>
          </p:cNvSpPr>
          <p:nvPr/>
        </p:nvSpPr>
        <p:spPr bwMode="auto">
          <a:xfrm>
            <a:off x="9491272" y="4133792"/>
            <a:ext cx="24783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HFC-116 28.2 mg</a:t>
            </a:r>
            <a:endParaRPr lang="en-US" altLang="en-US" sz="1600" b="0" baseline="30000" dirty="0">
              <a:solidFill>
                <a:schemeClr val="accent3"/>
              </a:solidFill>
              <a:cs typeface="Arial" panose="020B0604020202020204" pitchFamily="34" charset="0"/>
            </a:endParaRPr>
          </a:p>
        </p:txBody>
      </p:sp>
      <p:pic>
        <p:nvPicPr>
          <p:cNvPr id="95" name="Picture 48">
            <a:extLst>
              <a:ext uri="{FF2B5EF4-FFF2-40B4-BE49-F238E27FC236}">
                <a16:creationId xmlns:a16="http://schemas.microsoft.com/office/drawing/2014/main" id="{04E3D824-320E-0240-83EC-A2856E13B0BE}"/>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479506" y="3882877"/>
            <a:ext cx="1309687" cy="11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 name="Text Box 60">
            <a:extLst>
              <a:ext uri="{FF2B5EF4-FFF2-40B4-BE49-F238E27FC236}">
                <a16:creationId xmlns:a16="http://schemas.microsoft.com/office/drawing/2014/main" id="{6017A572-5419-D34F-A08B-A0D8BB6198F8}"/>
              </a:ext>
            </a:extLst>
          </p:cNvPr>
          <p:cNvSpPr txBox="1">
            <a:spLocks noChangeArrowheads="1"/>
          </p:cNvSpPr>
          <p:nvPr/>
        </p:nvSpPr>
        <p:spPr bwMode="auto">
          <a:xfrm>
            <a:off x="9491272" y="4495300"/>
            <a:ext cx="28850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Hydrogen fluoride 676 mg</a:t>
            </a:r>
            <a:endParaRPr lang="en-US" altLang="en-US" sz="1600" b="0" baseline="30000" dirty="0">
              <a:solidFill>
                <a:schemeClr val="accent3"/>
              </a:solidFill>
              <a:cs typeface="Arial" panose="020B0604020202020204" pitchFamily="34" charset="0"/>
            </a:endParaRPr>
          </a:p>
        </p:txBody>
      </p:sp>
      <p:sp>
        <p:nvSpPr>
          <p:cNvPr id="97" name="Line 57">
            <a:extLst>
              <a:ext uri="{FF2B5EF4-FFF2-40B4-BE49-F238E27FC236}">
                <a16:creationId xmlns:a16="http://schemas.microsoft.com/office/drawing/2014/main" id="{D5F02171-9408-814C-9A0D-DBF8184069E7}"/>
              </a:ext>
            </a:extLst>
          </p:cNvPr>
          <p:cNvSpPr>
            <a:spLocks noChangeShapeType="1"/>
          </p:cNvSpPr>
          <p:nvPr/>
        </p:nvSpPr>
        <p:spPr bwMode="auto">
          <a:xfrm>
            <a:off x="9067007" y="5749204"/>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98" name="Line 57">
            <a:extLst>
              <a:ext uri="{FF2B5EF4-FFF2-40B4-BE49-F238E27FC236}">
                <a16:creationId xmlns:a16="http://schemas.microsoft.com/office/drawing/2014/main" id="{0AFD67FC-C227-8949-A0DC-6672B043CD78}"/>
              </a:ext>
            </a:extLst>
          </p:cNvPr>
          <p:cNvSpPr>
            <a:spLocks noChangeShapeType="1"/>
          </p:cNvSpPr>
          <p:nvPr/>
        </p:nvSpPr>
        <p:spPr bwMode="auto">
          <a:xfrm>
            <a:off x="9067007" y="6071282"/>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99" name="Line 57">
            <a:extLst>
              <a:ext uri="{FF2B5EF4-FFF2-40B4-BE49-F238E27FC236}">
                <a16:creationId xmlns:a16="http://schemas.microsoft.com/office/drawing/2014/main" id="{D053CBD0-5938-9A4B-A503-77DC63CA52B9}"/>
              </a:ext>
            </a:extLst>
          </p:cNvPr>
          <p:cNvSpPr>
            <a:spLocks noChangeShapeType="1"/>
          </p:cNvSpPr>
          <p:nvPr/>
        </p:nvSpPr>
        <p:spPr bwMode="auto">
          <a:xfrm>
            <a:off x="9052720" y="6393360"/>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00" name="Text Box 59">
            <a:extLst>
              <a:ext uri="{FF2B5EF4-FFF2-40B4-BE49-F238E27FC236}">
                <a16:creationId xmlns:a16="http://schemas.microsoft.com/office/drawing/2014/main" id="{07A55BF5-120C-EA43-9DCB-312A68454858}"/>
              </a:ext>
            </a:extLst>
          </p:cNvPr>
          <p:cNvSpPr txBox="1">
            <a:spLocks noChangeArrowheads="1"/>
          </p:cNvSpPr>
          <p:nvPr/>
        </p:nvSpPr>
        <p:spPr bwMode="auto">
          <a:xfrm>
            <a:off x="9491272" y="5561880"/>
            <a:ext cx="30506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PAH 88.7 mg</a:t>
            </a:r>
          </a:p>
        </p:txBody>
      </p:sp>
      <mc:AlternateContent xmlns:mc="http://schemas.openxmlformats.org/markup-compatibility/2006" xmlns:a14="http://schemas.microsoft.com/office/drawing/2010/main">
        <mc:Choice Requires="a14">
          <p:sp>
            <p:nvSpPr>
              <p:cNvPr id="101" name="Text Box 59">
                <a:extLst>
                  <a:ext uri="{FF2B5EF4-FFF2-40B4-BE49-F238E27FC236}">
                    <a16:creationId xmlns:a16="http://schemas.microsoft.com/office/drawing/2014/main" id="{A0939B35-2D84-EE4C-9CD3-FBE36172B2EC}"/>
                  </a:ext>
                </a:extLst>
              </p:cNvPr>
              <p:cNvSpPr txBox="1">
                <a:spLocks noChangeArrowheads="1"/>
              </p:cNvSpPr>
              <p:nvPr/>
            </p:nvSpPr>
            <p:spPr bwMode="auto">
              <a:xfrm>
                <a:off x="9491272" y="5902424"/>
                <a:ext cx="3489527" cy="33855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Particulates, ,2.5</a:t>
                </a:r>
                <a14:m>
                  <m:oMath xmlns:m="http://schemas.openxmlformats.org/officeDocument/2006/math">
                    <m:r>
                      <a:rPr lang="en-US" altLang="en-US" sz="1600" b="0" i="1" smtClean="0">
                        <a:solidFill>
                          <a:schemeClr val="accent3"/>
                        </a:solidFill>
                        <a:latin typeface="Cambria Math" panose="02040503050406030204" pitchFamily="18" charset="0"/>
                        <a:ea typeface="Cambria Math" panose="02040503050406030204" pitchFamily="18" charset="0"/>
                        <a:cs typeface="Arial" panose="020B0604020202020204" pitchFamily="34" charset="0"/>
                      </a:rPr>
                      <m:t>𝜇</m:t>
                    </m:r>
                  </m:oMath>
                </a14:m>
                <a:r>
                  <a:rPr lang="en-US" altLang="en-US" sz="1600" b="0" dirty="0">
                    <a:solidFill>
                      <a:schemeClr val="accent3"/>
                    </a:solidFill>
                    <a:cs typeface="Arial" panose="020B0604020202020204" pitchFamily="34" charset="0"/>
                  </a:rPr>
                  <a:t>m 4.95 g</a:t>
                </a:r>
              </a:p>
            </p:txBody>
          </p:sp>
        </mc:Choice>
        <mc:Fallback xmlns="">
          <p:sp>
            <p:nvSpPr>
              <p:cNvPr id="101" name="Text Box 59">
                <a:extLst>
                  <a:ext uri="{FF2B5EF4-FFF2-40B4-BE49-F238E27FC236}">
                    <a16:creationId xmlns:a16="http://schemas.microsoft.com/office/drawing/2014/main" id="{A0939B35-2D84-EE4C-9CD3-FBE36172B2EC}"/>
                  </a:ext>
                </a:extLst>
              </p:cNvPr>
              <p:cNvSpPr txBox="1">
                <a:spLocks noRot="1" noChangeAspect="1" noMove="1" noResize="1" noEditPoints="1" noAdjustHandles="1" noChangeArrowheads="1" noChangeShapeType="1" noTextEdit="1"/>
              </p:cNvSpPr>
              <p:nvPr/>
            </p:nvSpPr>
            <p:spPr bwMode="auto">
              <a:xfrm>
                <a:off x="9491272" y="5902424"/>
                <a:ext cx="3489527" cy="338554"/>
              </a:xfrm>
              <a:prstGeom prst="rect">
                <a:avLst/>
              </a:prstGeom>
              <a:blipFill>
                <a:blip r:embed="rId4"/>
                <a:stretch>
                  <a:fillRect l="-725" t="-3704" b="-2592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2" name="Text Box 59">
            <a:extLst>
              <a:ext uri="{FF2B5EF4-FFF2-40B4-BE49-F238E27FC236}">
                <a16:creationId xmlns:a16="http://schemas.microsoft.com/office/drawing/2014/main" id="{77DB9BFA-C105-DB46-AF95-63CEE1F51D99}"/>
              </a:ext>
            </a:extLst>
          </p:cNvPr>
          <p:cNvSpPr txBox="1">
            <a:spLocks noChangeArrowheads="1"/>
          </p:cNvSpPr>
          <p:nvPr/>
        </p:nvSpPr>
        <p:spPr bwMode="auto">
          <a:xfrm>
            <a:off x="9491272" y="6222596"/>
            <a:ext cx="4025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Sulfur dioxide 38.0 g</a:t>
            </a:r>
          </a:p>
        </p:txBody>
      </p:sp>
      <p:sp>
        <p:nvSpPr>
          <p:cNvPr id="103" name="Text Box 59">
            <a:extLst>
              <a:ext uri="{FF2B5EF4-FFF2-40B4-BE49-F238E27FC236}">
                <a16:creationId xmlns:a16="http://schemas.microsoft.com/office/drawing/2014/main" id="{0CFE35D7-BF24-1E42-B871-799778091BEF}"/>
              </a:ext>
            </a:extLst>
          </p:cNvPr>
          <p:cNvSpPr txBox="1">
            <a:spLocks noChangeArrowheads="1"/>
          </p:cNvSpPr>
          <p:nvPr/>
        </p:nvSpPr>
        <p:spPr bwMode="auto">
          <a:xfrm>
            <a:off x="2327567" y="3534133"/>
            <a:ext cx="45161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dirty="0">
                <a:solidFill>
                  <a:schemeClr val="accent3"/>
                </a:solidFill>
                <a:cs typeface="Arial" panose="020B0604020202020204" pitchFamily="34" charset="0"/>
              </a:rPr>
              <a:t>Uranium in ground 58.3 mg</a:t>
            </a:r>
          </a:p>
        </p:txBody>
      </p:sp>
      <p:sp>
        <p:nvSpPr>
          <p:cNvPr id="104" name="Text Box 60">
            <a:extLst>
              <a:ext uri="{FF2B5EF4-FFF2-40B4-BE49-F238E27FC236}">
                <a16:creationId xmlns:a16="http://schemas.microsoft.com/office/drawing/2014/main" id="{4023F160-3690-8045-934B-B450FC919408}"/>
              </a:ext>
            </a:extLst>
          </p:cNvPr>
          <p:cNvSpPr txBox="1">
            <a:spLocks noChangeArrowheads="1"/>
          </p:cNvSpPr>
          <p:nvPr/>
        </p:nvSpPr>
        <p:spPr bwMode="auto">
          <a:xfrm>
            <a:off x="878783" y="3917470"/>
            <a:ext cx="596493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dirty="0">
                <a:solidFill>
                  <a:schemeClr val="accent3"/>
                </a:solidFill>
                <a:cs typeface="Arial" panose="020B0604020202020204" pitchFamily="34" charset="0"/>
              </a:rPr>
              <a:t>Aluminum in ground, </a:t>
            </a:r>
            <a:br>
              <a:rPr lang="en-US" altLang="en-US" sz="1600" b="0" dirty="0">
                <a:solidFill>
                  <a:schemeClr val="accent3"/>
                </a:solidFill>
                <a:cs typeface="Arial" panose="020B0604020202020204" pitchFamily="34" charset="0"/>
              </a:rPr>
            </a:br>
            <a:r>
              <a:rPr lang="en-US" altLang="en-US" sz="1600" b="0" dirty="0">
                <a:solidFill>
                  <a:schemeClr val="accent3"/>
                </a:solidFill>
                <a:cs typeface="Arial" panose="020B0604020202020204" pitchFamily="34" charset="0"/>
              </a:rPr>
              <a:t>24% in bauxite, 11% in crude ore 1.16 kg</a:t>
            </a:r>
            <a:endParaRPr lang="en-US" altLang="en-US" sz="1600" b="0" baseline="30000" dirty="0">
              <a:solidFill>
                <a:schemeClr val="accent3"/>
              </a:solidFill>
              <a:cs typeface="Arial" panose="020B0604020202020204" pitchFamily="34" charset="0"/>
            </a:endParaRPr>
          </a:p>
        </p:txBody>
      </p:sp>
      <p:sp>
        <p:nvSpPr>
          <p:cNvPr id="105" name="Text Box 61">
            <a:extLst>
              <a:ext uri="{FF2B5EF4-FFF2-40B4-BE49-F238E27FC236}">
                <a16:creationId xmlns:a16="http://schemas.microsoft.com/office/drawing/2014/main" id="{CBE1CB2E-BF14-574D-8E73-2E8C31ABB147}"/>
              </a:ext>
            </a:extLst>
          </p:cNvPr>
          <p:cNvSpPr txBox="1">
            <a:spLocks noChangeArrowheads="1"/>
          </p:cNvSpPr>
          <p:nvPr/>
        </p:nvSpPr>
        <p:spPr bwMode="auto">
          <a:xfrm>
            <a:off x="2613739" y="4750772"/>
            <a:ext cx="42299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dirty="0">
                <a:solidFill>
                  <a:schemeClr val="accent3"/>
                </a:solidFill>
                <a:cs typeface="Arial" panose="020B0604020202020204" pitchFamily="34" charset="0"/>
              </a:rPr>
              <a:t>Occupation, forest, intensive 0.101 m2a</a:t>
            </a:r>
          </a:p>
        </p:txBody>
      </p:sp>
      <p:sp>
        <p:nvSpPr>
          <p:cNvPr id="106" name="Line 57">
            <a:extLst>
              <a:ext uri="{FF2B5EF4-FFF2-40B4-BE49-F238E27FC236}">
                <a16:creationId xmlns:a16="http://schemas.microsoft.com/office/drawing/2014/main" id="{21601D6D-760E-3446-98EF-92F155C76171}"/>
              </a:ext>
            </a:extLst>
          </p:cNvPr>
          <p:cNvSpPr>
            <a:spLocks noChangeShapeType="1"/>
          </p:cNvSpPr>
          <p:nvPr/>
        </p:nvSpPr>
        <p:spPr bwMode="auto">
          <a:xfrm>
            <a:off x="9067007" y="1496182"/>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3" name="Rectangle 2">
            <a:extLst>
              <a:ext uri="{FF2B5EF4-FFF2-40B4-BE49-F238E27FC236}">
                <a16:creationId xmlns:a16="http://schemas.microsoft.com/office/drawing/2014/main" id="{048E7585-9834-5E43-BC2D-E23BE727D6B1}"/>
              </a:ext>
            </a:extLst>
          </p:cNvPr>
          <p:cNvSpPr/>
          <p:nvPr/>
        </p:nvSpPr>
        <p:spPr>
          <a:xfrm>
            <a:off x="1190847" y="6699094"/>
            <a:ext cx="14034976" cy="950400"/>
          </a:xfrm>
          <a:prstGeom prst="rect">
            <a:avLst/>
          </a:prstGeom>
          <a:noFill/>
          <a:ln w="317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Text Box 59">
            <a:extLst>
              <a:ext uri="{FF2B5EF4-FFF2-40B4-BE49-F238E27FC236}">
                <a16:creationId xmlns:a16="http://schemas.microsoft.com/office/drawing/2014/main" id="{C6D53145-01D1-4541-A804-C5F7527660BE}"/>
              </a:ext>
            </a:extLst>
          </p:cNvPr>
          <p:cNvSpPr txBox="1">
            <a:spLocks noChangeArrowheads="1"/>
          </p:cNvSpPr>
          <p:nvPr/>
        </p:nvSpPr>
        <p:spPr bwMode="auto">
          <a:xfrm>
            <a:off x="2598650" y="2708708"/>
            <a:ext cx="42299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r">
              <a:spcBef>
                <a:spcPct val="0"/>
              </a:spcBef>
              <a:buClrTx/>
              <a:buFontTx/>
              <a:buNone/>
              <a:defRPr sz="1600" b="0">
                <a:solidFill>
                  <a:schemeClr val="accent3"/>
                </a:solidFill>
                <a:latin typeface="Arial" panose="020B0604020202020204" pitchFamily="34" charset="0"/>
                <a:cs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r>
              <a:rPr lang="en-US" altLang="en-US" dirty="0"/>
              <a:t>Hard coal in ground 2.01 kg</a:t>
            </a:r>
          </a:p>
        </p:txBody>
      </p:sp>
      <p:sp>
        <p:nvSpPr>
          <p:cNvPr id="51" name="Oval 50">
            <a:extLst>
              <a:ext uri="{FF2B5EF4-FFF2-40B4-BE49-F238E27FC236}">
                <a16:creationId xmlns:a16="http://schemas.microsoft.com/office/drawing/2014/main" id="{18991E85-73FD-134B-9322-077E01D16916}"/>
              </a:ext>
            </a:extLst>
          </p:cNvPr>
          <p:cNvSpPr/>
          <p:nvPr/>
        </p:nvSpPr>
        <p:spPr>
          <a:xfrm>
            <a:off x="966656" y="1507561"/>
            <a:ext cx="707629" cy="707629"/>
          </a:xfrm>
          <a:prstGeom prst="ellipse">
            <a:avLst/>
          </a:prstGeom>
          <a:solidFill>
            <a:schemeClr val="accent6"/>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4</a:t>
            </a:r>
          </a:p>
        </p:txBody>
      </p:sp>
    </p:spTree>
    <p:extLst>
      <p:ext uri="{BB962C8B-B14F-4D97-AF65-F5344CB8AC3E}">
        <p14:creationId xmlns:p14="http://schemas.microsoft.com/office/powerpoint/2010/main" val="22953309"/>
      </p:ext>
    </p:extLst>
  </p:cSld>
  <p:clrMapOvr>
    <a:masterClrMapping/>
  </p:clrMapOvr>
</p:sld>
</file>

<file path=ppt/theme/theme1.xml><?xml version="1.0" encoding="utf-8"?>
<a:theme xmlns:a="http://schemas.openxmlformats.org/drawingml/2006/main" name="Title slide option 2">
  <a:themeElements>
    <a:clrScheme name="SPH brand colors">
      <a:dk1>
        <a:srgbClr val="00274C"/>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Notes (not to be shown in vide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AI_PPT_Template_2.potx</Template>
  <TotalTime>18026</TotalTime>
  <Words>651</Words>
  <Application>Microsoft Macintosh PowerPoint</Application>
  <PresentationFormat>Custom</PresentationFormat>
  <Paragraphs>109</Paragraphs>
  <Slides>4</Slides>
  <Notes>3</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4</vt:i4>
      </vt:variant>
    </vt:vector>
  </HeadingPairs>
  <TitlesOfParts>
    <vt:vector size="15" baseType="lpstr">
      <vt:lpstr>Arial</vt:lpstr>
      <vt:lpstr>Calibri</vt:lpstr>
      <vt:lpstr>Cambria Math</vt:lpstr>
      <vt:lpstr>Courier New</vt:lpstr>
      <vt:lpstr>Times New Roman</vt:lpstr>
      <vt:lpstr>Wingdings</vt:lpstr>
      <vt:lpstr>Title slide option 2</vt:lpstr>
      <vt:lpstr>Content slide (shown in video)</vt:lpstr>
      <vt:lpstr>2_Content slide (shown in video)</vt:lpstr>
      <vt:lpstr>3_Content slide (shown in video)</vt:lpstr>
      <vt:lpstr>Notes (not to be shown in video)</vt:lpstr>
      <vt:lpstr>PowerPoint Presentation</vt:lpstr>
      <vt:lpstr>Building the inventory: stepwise procedure</vt:lpstr>
      <vt:lpstr>Calculation of the kgCO2 emitted per kgAl liquid</vt:lpstr>
      <vt:lpstr>Aggregated inventory: aluminum primary liquid</vt:lpstr>
    </vt:vector>
  </TitlesOfParts>
  <Manager/>
  <Company>University of Michigan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Scott Mahler</dc:creator>
  <cp:keywords/>
  <dc:description/>
  <cp:lastModifiedBy>Rosen, Monica</cp:lastModifiedBy>
  <cp:revision>771</cp:revision>
  <cp:lastPrinted>2020-03-06T14:51:20Z</cp:lastPrinted>
  <dcterms:created xsi:type="dcterms:W3CDTF">2017-01-17T22:07:36Z</dcterms:created>
  <dcterms:modified xsi:type="dcterms:W3CDTF">2021-03-11T20:19:42Z</dcterms:modified>
  <cp:category/>
</cp:coreProperties>
</file>