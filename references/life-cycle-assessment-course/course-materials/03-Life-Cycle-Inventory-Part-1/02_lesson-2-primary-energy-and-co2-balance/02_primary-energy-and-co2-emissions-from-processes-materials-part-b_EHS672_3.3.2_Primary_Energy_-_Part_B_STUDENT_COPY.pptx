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2"/>
  </p:notesMasterIdLst>
  <p:handoutMasterIdLst>
    <p:handoutMasterId r:id="rId13"/>
  </p:handoutMasterIdLst>
  <p:sldIdLst>
    <p:sldId id="534" r:id="rId6"/>
    <p:sldId id="520" r:id="rId7"/>
    <p:sldId id="531" r:id="rId8"/>
    <p:sldId id="532" r:id="rId9"/>
    <p:sldId id="533" r:id="rId10"/>
    <p:sldId id="524" r:id="rId11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34"/>
            <p14:sldId id="520"/>
            <p14:sldId id="531"/>
            <p14:sldId id="532"/>
            <p14:sldId id="533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3"/>
    <p:restoredTop sz="80947"/>
  </p:normalViewPr>
  <p:slideViewPr>
    <p:cSldViewPr snapToGrid="0">
      <p:cViewPr varScale="1">
        <p:scale>
          <a:sx n="45" d="100"/>
          <a:sy n="45" d="100"/>
        </p:scale>
        <p:origin x="653" y="43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90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3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5347769" cy="128249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b="1" dirty="0"/>
              <a:t>Primary energy and CO</a:t>
            </a:r>
            <a:r>
              <a:rPr lang="en-US" altLang="en-US" sz="3600" b="1" baseline="-25000" dirty="0"/>
              <a:t>2</a:t>
            </a:r>
            <a:r>
              <a:rPr lang="en-US" altLang="en-US" sz="3600" b="1" dirty="0"/>
              <a:t> emissions from processes &amp; materials: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>
                <a:solidFill>
                  <a:schemeClr val="accent5"/>
                </a:solidFill>
              </a:rPr>
              <a:t>Part B Data for processes and materials</a:t>
            </a:r>
            <a:endParaRPr lang="en-US" altLang="en-US" sz="36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754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35128C8-0CF8-8F42-99D4-29669AF8AC9C}"/>
              </a:ext>
            </a:extLst>
          </p:cNvPr>
          <p:cNvSpPr/>
          <p:nvPr/>
        </p:nvSpPr>
        <p:spPr>
          <a:xfrm>
            <a:off x="812880" y="5698627"/>
            <a:ext cx="292389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050E9-5B67-B348-A440-AB7B586FB37B}"/>
              </a:ext>
            </a:extLst>
          </p:cNvPr>
          <p:cNvSpPr/>
          <p:nvPr/>
        </p:nvSpPr>
        <p:spPr>
          <a:xfrm>
            <a:off x="812880" y="2319997"/>
            <a:ext cx="292389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sz="3600" dirty="0"/>
              <a:t>Non-renewable primary energy and CO</a:t>
            </a:r>
            <a:r>
              <a:rPr lang="en-US" altLang="en-US" sz="3600" baseline="-25000" dirty="0"/>
              <a:t>2 </a:t>
            </a:r>
            <a:r>
              <a:rPr lang="en-US" altLang="en-US" sz="3600" dirty="0"/>
              <a:t>aggregated inventory flows </a:t>
            </a:r>
            <a:endParaRPr lang="en-US" sz="3600" dirty="0">
              <a:solidFill>
                <a:schemeClr val="tx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63AEFA-A32E-414C-9CA9-B1A7F44B05B5}"/>
              </a:ext>
            </a:extLst>
          </p:cNvPr>
          <p:cNvCxnSpPr/>
          <p:nvPr/>
        </p:nvCxnSpPr>
        <p:spPr>
          <a:xfrm>
            <a:off x="3736773" y="2178423"/>
            <a:ext cx="1170793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48D50B-B123-2042-B276-4B9412A319D5}"/>
              </a:ext>
            </a:extLst>
          </p:cNvPr>
          <p:cNvCxnSpPr/>
          <p:nvPr/>
        </p:nvCxnSpPr>
        <p:spPr>
          <a:xfrm>
            <a:off x="3736773" y="5504540"/>
            <a:ext cx="1170793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">
            <a:extLst>
              <a:ext uri="{FF2B5EF4-FFF2-40B4-BE49-F238E27FC236}">
                <a16:creationId xmlns:a16="http://schemas.microsoft.com/office/drawing/2014/main" id="{B0956D12-F131-2143-9B47-9DB156B09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822" y="1430234"/>
            <a:ext cx="27494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Non-renewable primary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energy (MJ per unit)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D5C2423-0CF3-B143-8259-254796A51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648" y="5716645"/>
            <a:ext cx="1249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BE004841-E66B-0343-B081-E29AF9D2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7616" y="1430234"/>
            <a:ext cx="11416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gCO</a:t>
            </a:r>
            <a:r>
              <a:rPr lang="en-GB" altLang="en-US" sz="1800" baseline="-25000" dirty="0">
                <a:solidFill>
                  <a:schemeClr val="tx2"/>
                </a:solidFill>
              </a:rPr>
              <a:t>2</a:t>
            </a:r>
            <a:r>
              <a:rPr lang="en-GB" altLang="en-US" sz="1800" dirty="0">
                <a:solidFill>
                  <a:schemeClr val="tx2"/>
                </a:solidFill>
              </a:rPr>
              <a:t>/MJ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ratio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FA295BFE-126B-A142-9E7D-BA2C6477C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3946" y="1430234"/>
            <a:ext cx="15183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CO</a:t>
            </a:r>
            <a:r>
              <a:rPr lang="en-GB" altLang="en-US" sz="1800" baseline="-25000" dirty="0">
                <a:solidFill>
                  <a:schemeClr val="tx2"/>
                </a:solidFill>
              </a:rPr>
              <a:t>2</a:t>
            </a:r>
            <a:r>
              <a:rPr lang="en-GB" altLang="en-US" sz="1800" dirty="0">
                <a:solidFill>
                  <a:schemeClr val="tx2"/>
                </a:solidFill>
              </a:rPr>
              <a:t/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(kg per unit)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D91051A-3420-AD49-81AD-C140C2DE4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66" y="2344634"/>
            <a:ext cx="4434856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kWh electricity (Europe)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kWh electricity (USA)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kWh electricity (Japan) 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kWh electricity (Switzerland)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kWh electricity (China)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1L gasoline (no combustion)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1L gasoline (with combustion)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light oil (42.7 MJ final)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C2BD0CF-925F-AF4C-9926-AA825E9F8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66" y="5699356"/>
            <a:ext cx="5878616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1,000 km kg transport 16-32 ton Lorry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</a:t>
            </a:r>
            <a:r>
              <a:rPr lang="en-GB" altLang="en-US" sz="1800" b="0" dirty="0" err="1">
                <a:solidFill>
                  <a:schemeClr val="tx2"/>
                </a:solidFill>
              </a:rPr>
              <a:t>pers</a:t>
            </a:r>
            <a:r>
              <a:rPr lang="en-GB" altLang="en-US" sz="1800" b="0" dirty="0">
                <a:solidFill>
                  <a:schemeClr val="tx2"/>
                </a:solidFill>
              </a:rPr>
              <a:t> • km by train (Intercity)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</a:t>
            </a:r>
            <a:r>
              <a:rPr lang="en-GB" altLang="en-US" sz="1800" b="0" dirty="0" err="1">
                <a:solidFill>
                  <a:schemeClr val="tx2"/>
                </a:solidFill>
              </a:rPr>
              <a:t>pers</a:t>
            </a:r>
            <a:r>
              <a:rPr lang="en-GB" altLang="en-US" sz="1800" b="0" dirty="0">
                <a:solidFill>
                  <a:schemeClr val="tx2"/>
                </a:solidFill>
              </a:rPr>
              <a:t> • km by plane (Intercontinental)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</a:t>
            </a:r>
            <a:r>
              <a:rPr lang="en-GB" altLang="en-US" sz="1800" b="0" dirty="0" err="1">
                <a:solidFill>
                  <a:schemeClr val="tx2"/>
                </a:solidFill>
              </a:rPr>
              <a:t>pers</a:t>
            </a:r>
            <a:r>
              <a:rPr lang="en-GB" altLang="en-US" sz="1800" b="0" dirty="0">
                <a:solidFill>
                  <a:schemeClr val="tx2"/>
                </a:solidFill>
              </a:rPr>
              <a:t> • km by car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658AF0A0-C9DA-4A43-9A9C-4A4E4D6A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2319997"/>
            <a:ext cx="19159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bg1"/>
                </a:solidFill>
              </a:rPr>
              <a:t>Energy Carriers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CF007169-4E42-944C-A213-3D6C4E57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2376" y="2344634"/>
            <a:ext cx="895870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10.5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12.1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11.5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7.9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10.4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42.9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42.9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56.8</a:t>
            </a: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D490C430-D860-1741-8DF5-A26E2312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2376" y="5699356"/>
            <a:ext cx="89587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2.6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0.98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3.28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3.0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6C12D69D-FF2B-CE46-835A-5B3079DCF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6788" y="2344634"/>
            <a:ext cx="895870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0.49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0.71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0.53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0.11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0.98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0.49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2.88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3.71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7A19A1F2-F0A7-0C4C-9701-2610DC1DC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6724" y="2344634"/>
            <a:ext cx="667310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47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94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11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65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2D09FD15-C033-284C-9DBE-519FD303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6788" y="5699356"/>
            <a:ext cx="89587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0.17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9197564E-11B5-6F49-B62D-85AE26538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2061" y="5718348"/>
            <a:ext cx="89587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60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76345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37B219C-177C-2348-B57A-A5DBFCBA6898}"/>
              </a:ext>
            </a:extLst>
          </p:cNvPr>
          <p:cNvSpPr/>
          <p:nvPr/>
        </p:nvSpPr>
        <p:spPr>
          <a:xfrm>
            <a:off x="812880" y="6487160"/>
            <a:ext cx="292389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B451E6-3D21-304C-88A9-CE9D00C18ABA}"/>
              </a:ext>
            </a:extLst>
          </p:cNvPr>
          <p:cNvSpPr/>
          <p:nvPr/>
        </p:nvSpPr>
        <p:spPr>
          <a:xfrm>
            <a:off x="812880" y="5526265"/>
            <a:ext cx="292389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5A5CDF-C05D-5F4C-A73E-9C1CAC313B69}"/>
              </a:ext>
            </a:extLst>
          </p:cNvPr>
          <p:cNvSpPr/>
          <p:nvPr/>
        </p:nvSpPr>
        <p:spPr>
          <a:xfrm>
            <a:off x="812880" y="2095087"/>
            <a:ext cx="292389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21D3B-11C1-094C-BA45-77000CB5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Non-renewable primary energy and CO</a:t>
            </a:r>
            <a:r>
              <a:rPr lang="en-US" altLang="en-US" sz="3600" baseline="-25000" dirty="0"/>
              <a:t>2 </a:t>
            </a:r>
            <a:r>
              <a:rPr lang="en-US" altLang="en-US" sz="3600" dirty="0"/>
              <a:t>Aggregated inventory flows </a:t>
            </a:r>
            <a:endParaRPr lang="en-US" sz="3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D528EF-313D-464F-AD38-A434898B94AA}"/>
              </a:ext>
            </a:extLst>
          </p:cNvPr>
          <p:cNvCxnSpPr/>
          <p:nvPr/>
        </p:nvCxnSpPr>
        <p:spPr>
          <a:xfrm>
            <a:off x="3736773" y="2000007"/>
            <a:ext cx="1170793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8C12A2FB-8BB9-7946-91C9-7F9BD702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822" y="1251818"/>
            <a:ext cx="27494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Non-renewable primary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energy (MJ per unit)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3D4D13EB-9983-6642-86A0-9F9532C39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7616" y="1251818"/>
            <a:ext cx="11416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gCO</a:t>
            </a:r>
            <a:r>
              <a:rPr lang="en-GB" altLang="en-US" sz="1800" baseline="-25000" dirty="0">
                <a:solidFill>
                  <a:schemeClr val="tx2"/>
                </a:solidFill>
              </a:rPr>
              <a:t>2</a:t>
            </a:r>
            <a:r>
              <a:rPr lang="en-GB" altLang="en-US" sz="1800" dirty="0">
                <a:solidFill>
                  <a:schemeClr val="tx2"/>
                </a:solidFill>
              </a:rPr>
              <a:t>/MJ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ratio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45AB3338-FCF1-4E4D-9D41-7762D227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3946" y="1251818"/>
            <a:ext cx="15183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CO</a:t>
            </a:r>
            <a:r>
              <a:rPr lang="en-GB" altLang="en-US" sz="1800" baseline="-25000" dirty="0">
                <a:solidFill>
                  <a:schemeClr val="tx2"/>
                </a:solidFill>
              </a:rPr>
              <a:t>2</a:t>
            </a:r>
            <a:r>
              <a:rPr lang="en-GB" altLang="en-US" sz="1800" dirty="0">
                <a:solidFill>
                  <a:schemeClr val="tx2"/>
                </a:solidFill>
              </a:rPr>
              <a:t/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(kg per unit)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961731F-4BBF-7947-9BAD-71DFDD0D1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66" y="2110800"/>
            <a:ext cx="4434856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m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3</a:t>
            </a:r>
            <a:r>
              <a:rPr lang="en-GB" altLang="en-US" sz="1800" b="0" dirty="0">
                <a:solidFill>
                  <a:schemeClr val="tx2"/>
                </a:solidFill>
              </a:rPr>
              <a:t> concrete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m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3</a:t>
            </a:r>
            <a:r>
              <a:rPr lang="en-GB" altLang="en-US" sz="1800" b="0" dirty="0">
                <a:solidFill>
                  <a:schemeClr val="tx2"/>
                </a:solidFill>
              </a:rPr>
              <a:t> water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steel, low alloy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copper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primary aluminium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recycled aluminium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gold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paper newsprint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glass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polyethylene HDPEs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50A7D097-D393-374A-9B54-FC7D60903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33" y="2110079"/>
            <a:ext cx="11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bg1"/>
                </a:solidFill>
              </a:rPr>
              <a:t>Materials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ACED4899-0875-E74E-A4E0-BA1DDAE1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6459" y="2087420"/>
            <a:ext cx="1050346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1,381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5.55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27.4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31.2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160.4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22.4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269,000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24.3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11.5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76.4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ED48F132-51DB-364A-BD1E-8F1534D7A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423" y="2071861"/>
            <a:ext cx="89587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257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0.30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1.63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1.86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9.55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1.32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16,500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1.22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0.63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1.56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46C7CACF-2D2D-7D4E-8897-2A4D21AB9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6724" y="2110800"/>
            <a:ext cx="66731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186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54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59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59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61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50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55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A72B25-E19A-3941-AE93-0D97C01EF026}"/>
              </a:ext>
            </a:extLst>
          </p:cNvPr>
          <p:cNvCxnSpPr/>
          <p:nvPr/>
        </p:nvCxnSpPr>
        <p:spPr>
          <a:xfrm>
            <a:off x="3736773" y="5415317"/>
            <a:ext cx="1170793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6">
            <a:extLst>
              <a:ext uri="{FF2B5EF4-FFF2-40B4-BE49-F238E27FC236}">
                <a16:creationId xmlns:a16="http://schemas.microsoft.com/office/drawing/2014/main" id="{50451D3A-2BB4-EE4A-8945-FC0A88A71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66" y="5526110"/>
            <a:ext cx="4434856" cy="69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plastic film extrusion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injection moulding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20E620CF-22E3-D04D-A0B4-B59AA49C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846" y="5518815"/>
            <a:ext cx="23519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bg1"/>
                </a:solidFill>
              </a:rPr>
              <a:t>Material processing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DB7072-65F8-6A49-9D8A-B7BA31303A51}"/>
              </a:ext>
            </a:extLst>
          </p:cNvPr>
          <p:cNvCxnSpPr/>
          <p:nvPr/>
        </p:nvCxnSpPr>
        <p:spPr>
          <a:xfrm>
            <a:off x="3736773" y="6329717"/>
            <a:ext cx="1170793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6">
            <a:extLst>
              <a:ext uri="{FF2B5EF4-FFF2-40B4-BE49-F238E27FC236}">
                <a16:creationId xmlns:a16="http://schemas.microsoft.com/office/drawing/2014/main" id="{33D1CBC7-2667-AF45-895C-503E9AEC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66" y="6440510"/>
            <a:ext cx="4434856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landfilled steel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landfilled aluminium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incinerated municipal solid waste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 kg incinerated polyethylene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9D04F3D9-E616-E04B-A5A8-1B98BABCE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416" y="6495207"/>
            <a:ext cx="13003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bg1"/>
                </a:solidFill>
              </a:rPr>
              <a:t>End of life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47E47CCC-FF91-DD4D-87B5-E67B65310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9961" y="5498819"/>
            <a:ext cx="881882" cy="69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9.25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27.1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893BE6AD-8D12-3642-84FE-7EEB57C61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0385" y="5498819"/>
            <a:ext cx="881882" cy="69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0.50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1.24</a:t>
            </a: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194ACAE8-5B1B-F149-877E-89F63ECED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466" y="5529014"/>
            <a:ext cx="881882" cy="69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54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46</a:t>
            </a: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605E9497-1101-034F-8B4C-BCF78691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4337" y="6413219"/>
            <a:ext cx="887506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0.197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0.521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0.43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0.22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07DD2AA6-BDA8-554B-9A2C-6D4E9A25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7274" y="6413219"/>
            <a:ext cx="1315232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0.00657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0.02010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0.50</a:t>
            </a:r>
          </a:p>
          <a:p>
            <a:pPr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2.99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8B0B6596-6E79-7B43-A15D-4D52D6E53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3418" y="6411759"/>
            <a:ext cx="1315232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33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39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1,161</a:t>
            </a:r>
          </a:p>
          <a:p>
            <a:pPr algn="r">
              <a:spcBef>
                <a:spcPct val="0"/>
              </a:spcBef>
              <a:spcAft>
                <a:spcPts val="4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13,606</a:t>
            </a:r>
          </a:p>
        </p:txBody>
      </p:sp>
    </p:spTree>
    <p:extLst>
      <p:ext uri="{BB962C8B-B14F-4D97-AF65-F5344CB8AC3E}">
        <p14:creationId xmlns:p14="http://schemas.microsoft.com/office/powerpoint/2010/main" val="46485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CD0A-04D1-884F-A68D-B38E24EE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Metals cumulative energy demand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2CD705A-25BD-584A-B467-F23FFE6C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6164" y="1363253"/>
            <a:ext cx="9805259" cy="61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C2B8E1-35F0-E94F-B7C4-A9958D9E10FD}"/>
              </a:ext>
            </a:extLst>
          </p:cNvPr>
          <p:cNvSpPr/>
          <p:nvPr/>
        </p:nvSpPr>
        <p:spPr>
          <a:xfrm>
            <a:off x="13623556" y="6968771"/>
            <a:ext cx="18870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Nuss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Eckelman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b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2014 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Plos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one)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4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FCBD-5601-4C46-9A59-830234CC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Metals carbon footprint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2B835-F388-7A42-BB49-1DE6A6B09540}"/>
              </a:ext>
            </a:extLst>
          </p:cNvPr>
          <p:cNvSpPr/>
          <p:nvPr/>
        </p:nvSpPr>
        <p:spPr>
          <a:xfrm>
            <a:off x="13623556" y="6968771"/>
            <a:ext cx="18870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Nuss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Eckelman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b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2014 </a:t>
            </a:r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Plos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one)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ACD1C-C7F2-C947-B9A1-1A425574D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29155" y="1370013"/>
            <a:ext cx="10399278" cy="6121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528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783975"/>
            <a:ext cx="14630400" cy="5810193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The ratio between final energy and primary energy defines the </a:t>
            </a:r>
            <a:br>
              <a:rPr lang="en-US" altLang="en-US" dirty="0"/>
            </a:br>
            <a:r>
              <a:rPr lang="en-US" altLang="en-US" i="1" dirty="0"/>
              <a:t>energy efficiency </a:t>
            </a:r>
            <a:r>
              <a:rPr lang="en-US" altLang="en-US" dirty="0"/>
              <a:t>of the supply chain.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A part of the primary energy is </a:t>
            </a:r>
            <a:r>
              <a:rPr lang="en-US" altLang="en-US" i="1" dirty="0"/>
              <a:t>nonrenewable</a:t>
            </a:r>
            <a:r>
              <a:rPr lang="en-US" altLang="en-US" dirty="0"/>
              <a:t>, which means that </a:t>
            </a:r>
            <a:br>
              <a:rPr lang="en-US" altLang="en-US" dirty="0"/>
            </a:br>
            <a:r>
              <a:rPr lang="en-US" altLang="en-US" dirty="0"/>
              <a:t>the basic resource of this energy is non-replaceable or is replaced </a:t>
            </a:r>
            <a:br>
              <a:rPr lang="en-US" altLang="en-US" dirty="0"/>
            </a:br>
            <a:r>
              <a:rPr lang="en-US" altLang="en-US" dirty="0"/>
              <a:t>very slowly through natural processes 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There are large differences of several orders of magnitude </a:t>
            </a:r>
            <a:br>
              <a:rPr lang="en-US" altLang="en-US" dirty="0"/>
            </a:br>
            <a:r>
              <a:rPr lang="en-US" altLang="en-US" dirty="0"/>
              <a:t>between the energy and the CO2 emission per kg of different materials. </a:t>
            </a:r>
            <a:br>
              <a:rPr lang="en-US" altLang="en-US" dirty="0"/>
            </a:br>
            <a:r>
              <a:rPr lang="en-US" altLang="en-US" dirty="0"/>
              <a:t>These cannot be directly compared. </a:t>
            </a:r>
          </a:p>
        </p:txBody>
      </p:sp>
    </p:spTree>
    <p:extLst>
      <p:ext uri="{BB962C8B-B14F-4D97-AF65-F5344CB8AC3E}">
        <p14:creationId xmlns:p14="http://schemas.microsoft.com/office/powerpoint/2010/main" val="34161379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17247</TotalTime>
  <Words>426</Words>
  <Application>Microsoft Office PowerPoint</Application>
  <PresentationFormat>Custom</PresentationFormat>
  <Paragraphs>138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Non-renewable primary energy and CO2 aggregated inventory flows </vt:lpstr>
      <vt:lpstr>Non-renewable primary energy and CO2 Aggregated inventory flows </vt:lpstr>
      <vt:lpstr>Metals cumulative energy demand</vt:lpstr>
      <vt:lpstr>Metals carbon footprint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731</cp:revision>
  <cp:lastPrinted>2020-08-20T17:37:33Z</cp:lastPrinted>
  <dcterms:created xsi:type="dcterms:W3CDTF">2017-01-17T22:07:36Z</dcterms:created>
  <dcterms:modified xsi:type="dcterms:W3CDTF">2020-11-24T17:31:37Z</dcterms:modified>
  <cp:category/>
</cp:coreProperties>
</file>