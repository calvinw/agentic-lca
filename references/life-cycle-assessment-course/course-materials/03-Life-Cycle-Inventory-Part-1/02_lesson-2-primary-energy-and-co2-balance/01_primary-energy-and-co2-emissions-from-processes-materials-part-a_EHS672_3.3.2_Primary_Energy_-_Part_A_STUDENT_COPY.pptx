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3"/>
  </p:notesMasterIdLst>
  <p:handoutMasterIdLst>
    <p:handoutMasterId r:id="rId14"/>
  </p:handoutMasterIdLst>
  <p:sldIdLst>
    <p:sldId id="267" r:id="rId6"/>
    <p:sldId id="531" r:id="rId7"/>
    <p:sldId id="527" r:id="rId8"/>
    <p:sldId id="521" r:id="rId9"/>
    <p:sldId id="519" r:id="rId10"/>
    <p:sldId id="517" r:id="rId11"/>
    <p:sldId id="522" r:id="rId12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267"/>
            <p14:sldId id="531"/>
            <p14:sldId id="527"/>
            <p14:sldId id="521"/>
            <p14:sldId id="519"/>
            <p14:sldId id="517"/>
            <p14:sldId id="5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56"/>
    <p:restoredTop sz="80958"/>
  </p:normalViewPr>
  <p:slideViewPr>
    <p:cSldViewPr snapToGrid="0">
      <p:cViewPr varScale="1">
        <p:scale>
          <a:sx n="45" d="100"/>
          <a:sy n="45" d="100"/>
        </p:scale>
        <p:origin x="557" y="43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9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4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3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32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2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4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5347769" cy="128249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b="1" dirty="0"/>
              <a:t>Primary energy and CO</a:t>
            </a:r>
            <a:r>
              <a:rPr lang="en-US" altLang="en-US" sz="3600" b="1" baseline="-25000" dirty="0"/>
              <a:t>2</a:t>
            </a:r>
            <a:r>
              <a:rPr lang="en-US" altLang="en-US" sz="3600" b="1" dirty="0"/>
              <a:t> emissions from processes &amp; materials: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>
                <a:solidFill>
                  <a:schemeClr val="accent5"/>
                </a:solidFill>
              </a:rPr>
              <a:t>Part A Primary, final and useful energy</a:t>
            </a:r>
            <a:endParaRPr lang="en-US" altLang="en-US" sz="36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3668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C63FD6C-8B55-0A4A-A3F9-421E18D7D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96325"/>
            <a:ext cx="14630400" cy="61838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Define primary, final and useful energy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Compare aggregated primary energy and CO2 for various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materials and processes</a:t>
            </a:r>
          </a:p>
        </p:txBody>
      </p:sp>
    </p:spTree>
    <p:extLst>
      <p:ext uri="{BB962C8B-B14F-4D97-AF65-F5344CB8AC3E}">
        <p14:creationId xmlns:p14="http://schemas.microsoft.com/office/powerpoint/2010/main" val="310095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Primary energy definition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836A29-3779-2548-872B-0FF7F3C861C2}"/>
              </a:ext>
            </a:extLst>
          </p:cNvPr>
          <p:cNvSpPr txBox="1">
            <a:spLocks/>
          </p:cNvSpPr>
          <p:nvPr/>
        </p:nvSpPr>
        <p:spPr>
          <a:xfrm>
            <a:off x="4114380" y="1834784"/>
            <a:ext cx="10400552" cy="5294172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en-US" altLang="en-US" b="1" dirty="0">
                <a:solidFill>
                  <a:schemeClr val="accent5"/>
                </a:solidFill>
              </a:rPr>
              <a:t>Primary energy </a:t>
            </a:r>
            <a:r>
              <a:rPr lang="en-US" altLang="en-US" dirty="0">
                <a:solidFill>
                  <a:schemeClr val="tx2"/>
                </a:solidFill>
              </a:rPr>
              <a:t>is defined as the energy contained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in the energy carriers at the point of extraction from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the environment, including the upstream energy usage for extraction, preparation, and distribution.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en-US" altLang="en-US" dirty="0">
                <a:solidFill>
                  <a:schemeClr val="tx2"/>
                </a:solidFill>
              </a:rPr>
              <a:t>The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chemeClr val="accent4"/>
                </a:solidFill>
              </a:rPr>
              <a:t>final energy is the energy </a:t>
            </a:r>
            <a:r>
              <a:rPr lang="en-US" altLang="en-US" dirty="0">
                <a:solidFill>
                  <a:schemeClr val="tx2"/>
                </a:solidFill>
              </a:rPr>
              <a:t>purchased by the consumer and delivered to him. 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en-US" altLang="en-US" dirty="0">
                <a:solidFill>
                  <a:schemeClr val="tx2"/>
                </a:solidFill>
              </a:rPr>
              <a:t>The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chemeClr val="accent3"/>
                </a:solidFill>
              </a:rPr>
              <a:t>useful energy </a:t>
            </a:r>
            <a:r>
              <a:rPr lang="en-US" altLang="en-US" dirty="0">
                <a:solidFill>
                  <a:schemeClr val="tx2"/>
                </a:solidFill>
              </a:rPr>
              <a:t>is the portion of final energy which is actually available after final conversion to the consumer for the respective use.</a:t>
            </a:r>
          </a:p>
        </p:txBody>
      </p:sp>
      <p:pic>
        <p:nvPicPr>
          <p:cNvPr id="4" name="Picture 3" descr="A picture containing person, person, hand, holding&#10;&#10;Description automatically generated">
            <a:extLst>
              <a:ext uri="{FF2B5EF4-FFF2-40B4-BE49-F238E27FC236}">
                <a16:creationId xmlns:a16="http://schemas.microsoft.com/office/drawing/2014/main" id="{EAF23C36-0101-7244-A51F-F29E3357DB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948" y="1605618"/>
            <a:ext cx="2685990" cy="1789978"/>
          </a:xfrm>
          <a:prstGeom prst="rect">
            <a:avLst/>
          </a:prstGeom>
        </p:spPr>
      </p:pic>
      <p:pic>
        <p:nvPicPr>
          <p:cNvPr id="8" name="Picture 7" descr="A picture containing outdoor, blue, track, train&#10;&#10;Description automatically generated">
            <a:extLst>
              <a:ext uri="{FF2B5EF4-FFF2-40B4-BE49-F238E27FC236}">
                <a16:creationId xmlns:a16="http://schemas.microsoft.com/office/drawing/2014/main" id="{A0EC6303-9407-D042-91C9-C10C1A402D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949" y="3583206"/>
            <a:ext cx="2697612" cy="1789978"/>
          </a:xfrm>
          <a:prstGeom prst="rect">
            <a:avLst/>
          </a:prstGeom>
        </p:spPr>
      </p:pic>
      <p:pic>
        <p:nvPicPr>
          <p:cNvPr id="10" name="Picture 9" descr="A lamp on a table&#10;&#10;Description automatically generated">
            <a:extLst>
              <a:ext uri="{FF2B5EF4-FFF2-40B4-BE49-F238E27FC236}">
                <a16:creationId xmlns:a16="http://schemas.microsoft.com/office/drawing/2014/main" id="{F13FE720-D3C2-AA4A-8AA6-8F41FC9268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948" y="5560794"/>
            <a:ext cx="2684966" cy="17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9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Energy: definitions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CDC2C9FB-3E92-C440-A117-60208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75" y="7328917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Efficiency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0AC5B503-1754-8246-AEB2-853A7DEDB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977" y="7149616"/>
            <a:ext cx="19220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Extraction and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preparation</a:t>
            </a:r>
            <a:endParaRPr lang="en-GB" altLang="en-US" sz="1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 descr="A bright light in a dark room&#10;&#10;Description automatically generated">
            <a:extLst>
              <a:ext uri="{FF2B5EF4-FFF2-40B4-BE49-F238E27FC236}">
                <a16:creationId xmlns:a16="http://schemas.microsoft.com/office/drawing/2014/main" id="{0687A622-DFBA-754C-9DF2-AA581FE8D0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8404" y="1646744"/>
            <a:ext cx="1444566" cy="1414913"/>
          </a:xfrm>
          <a:prstGeom prst="ellipse">
            <a:avLst/>
          </a:prstGeom>
          <a:ln w="38100">
            <a:solidFill>
              <a:schemeClr val="accent3"/>
            </a:solidFill>
          </a:ln>
        </p:spPr>
      </p:pic>
      <p:pic>
        <p:nvPicPr>
          <p:cNvPr id="10" name="Picture 9" descr="A picture containing sitting, clock, parking, monitor&#10;&#10;Description automatically generated">
            <a:extLst>
              <a:ext uri="{FF2B5EF4-FFF2-40B4-BE49-F238E27FC236}">
                <a16:creationId xmlns:a16="http://schemas.microsoft.com/office/drawing/2014/main" id="{6CF916D3-30D9-0046-A7DC-DA3185ED57C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64961" y="1644267"/>
            <a:ext cx="1444567" cy="1417390"/>
          </a:xfrm>
          <a:prstGeom prst="ellipse">
            <a:avLst/>
          </a:prstGeom>
          <a:ln w="38100">
            <a:solidFill>
              <a:schemeClr val="accent4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A7E74-CA2E-E94F-B1B3-42CA45D27649}"/>
              </a:ext>
            </a:extLst>
          </p:cNvPr>
          <p:cNvGrpSpPr/>
          <p:nvPr/>
        </p:nvGrpSpPr>
        <p:grpSpPr>
          <a:xfrm>
            <a:off x="3830373" y="1619643"/>
            <a:ext cx="1464847" cy="1464847"/>
            <a:chOff x="10778594" y="4424238"/>
            <a:chExt cx="2911157" cy="291115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AC94B10-3C23-CF4E-8506-8BC1827AB604}"/>
                </a:ext>
              </a:extLst>
            </p:cNvPr>
            <p:cNvSpPr/>
            <p:nvPr/>
          </p:nvSpPr>
          <p:spPr>
            <a:xfrm>
              <a:off x="10778594" y="4424238"/>
              <a:ext cx="2911157" cy="29111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close up of a rock&#10;&#10;Description automatically generated">
              <a:extLst>
                <a:ext uri="{FF2B5EF4-FFF2-40B4-BE49-F238E27FC236}">
                  <a16:creationId xmlns:a16="http://schemas.microsoft.com/office/drawing/2014/main" id="{703665E3-C915-774A-922E-B33EE1B125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170781" y="4957011"/>
              <a:ext cx="2174909" cy="1753103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4D352AE-0F2A-3844-B22B-1FFABCA6619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51590" y="6435336"/>
            <a:ext cx="1701420" cy="741645"/>
          </a:xfrm>
          <a:prstGeom prst="rect">
            <a:avLst/>
          </a:prstGeom>
        </p:spPr>
      </p:pic>
      <p:sp>
        <p:nvSpPr>
          <p:cNvPr id="36" name="Rectangle 3">
            <a:extLst>
              <a:ext uri="{FF2B5EF4-FFF2-40B4-BE49-F238E27FC236}">
                <a16:creationId xmlns:a16="http://schemas.microsoft.com/office/drawing/2014/main" id="{247D8A18-FA3F-6246-866A-578377B01024}"/>
              </a:ext>
            </a:extLst>
          </p:cNvPr>
          <p:cNvSpPr txBox="1">
            <a:spLocks noChangeArrowheads="1"/>
          </p:cNvSpPr>
          <p:nvPr/>
        </p:nvSpPr>
        <p:spPr>
          <a:xfrm>
            <a:off x="2339791" y="3311098"/>
            <a:ext cx="4451302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5"/>
                </a:solidFill>
              </a:rPr>
              <a:t>Primary energy</a:t>
            </a:r>
            <a:r>
              <a:rPr lang="en-GB" altLang="en-US" sz="2800" dirty="0"/>
              <a:t>	</a:t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including extraction and preparation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DB109046-F8D2-1E42-92F1-5169B7E6AF01}"/>
              </a:ext>
            </a:extLst>
          </p:cNvPr>
          <p:cNvSpPr txBox="1">
            <a:spLocks noChangeArrowheads="1"/>
          </p:cNvSpPr>
          <p:nvPr/>
        </p:nvSpPr>
        <p:spPr>
          <a:xfrm>
            <a:off x="7137705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4"/>
                </a:solidFill>
              </a:rPr>
              <a:t>Final energy</a:t>
            </a:r>
            <a:br>
              <a:rPr lang="en-GB" altLang="en-US" sz="2800" b="1" dirty="0">
                <a:solidFill>
                  <a:schemeClr val="accent4"/>
                </a:solidFill>
              </a:rPr>
            </a:br>
            <a:r>
              <a:rPr lang="en-GB" altLang="en-US" sz="2000" dirty="0">
                <a:solidFill>
                  <a:schemeClr val="tx2"/>
                </a:solidFill>
              </a:rPr>
              <a:t>= bought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E35E036F-FD12-CB48-876A-BDD137455771}"/>
              </a:ext>
            </a:extLst>
          </p:cNvPr>
          <p:cNvSpPr txBox="1">
            <a:spLocks noChangeArrowheads="1"/>
          </p:cNvSpPr>
          <p:nvPr/>
        </p:nvSpPr>
        <p:spPr>
          <a:xfrm>
            <a:off x="11805956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3"/>
                </a:solidFill>
              </a:rPr>
              <a:t>Useful energy</a:t>
            </a:r>
            <a:r>
              <a:rPr lang="en-GB" altLang="en-US" sz="2800" dirty="0"/>
              <a:t/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used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41EF6782-3C7A-7C44-8AD1-E8F5377153EB}"/>
              </a:ext>
            </a:extLst>
          </p:cNvPr>
          <p:cNvSpPr txBox="1">
            <a:spLocks noChangeArrowheads="1"/>
          </p:cNvSpPr>
          <p:nvPr/>
        </p:nvSpPr>
        <p:spPr>
          <a:xfrm>
            <a:off x="1451724" y="4476542"/>
            <a:ext cx="888066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Gas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9F55CE91-6332-2A4C-A2DE-0B287EABA3ED}"/>
              </a:ext>
            </a:extLst>
          </p:cNvPr>
          <p:cNvSpPr txBox="1">
            <a:spLocks noChangeArrowheads="1"/>
          </p:cNvSpPr>
          <p:nvPr/>
        </p:nvSpPr>
        <p:spPr>
          <a:xfrm>
            <a:off x="382576" y="5310261"/>
            <a:ext cx="1957214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Electricity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83A4101-4E40-7A47-B8B3-A27DC84622D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1553" y="6435336"/>
            <a:ext cx="1701420" cy="7416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8D9B62-D3C4-6346-8344-3FD5656FD698}"/>
              </a:ext>
            </a:extLst>
          </p:cNvPr>
          <p:cNvSpPr/>
          <p:nvPr/>
        </p:nvSpPr>
        <p:spPr>
          <a:xfrm>
            <a:off x="3410476" y="4369135"/>
            <a:ext cx="2358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tx2"/>
                </a:solidFill>
              </a:rPr>
              <a:t>         MJ prim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68A424-010E-094F-BD2F-AD0B13F72765}"/>
              </a:ext>
            </a:extLst>
          </p:cNvPr>
          <p:cNvSpPr/>
          <p:nvPr/>
        </p:nvSpPr>
        <p:spPr>
          <a:xfrm>
            <a:off x="8125471" y="4369135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800777-6777-D948-AE0C-57C8881ACA37}"/>
              </a:ext>
            </a:extLst>
          </p:cNvPr>
          <p:cNvSpPr/>
          <p:nvPr/>
        </p:nvSpPr>
        <p:spPr>
          <a:xfrm>
            <a:off x="12538963" y="4369135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tx2"/>
                </a:solidFill>
              </a:rPr>
              <a:t>        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50AE39-C22E-2640-AD13-0C66BD7EE8FE}"/>
              </a:ext>
            </a:extLst>
          </p:cNvPr>
          <p:cNvSpPr/>
          <p:nvPr/>
        </p:nvSpPr>
        <p:spPr>
          <a:xfrm>
            <a:off x="8125471" y="5122170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 </a:t>
            </a:r>
            <a:r>
              <a:rPr lang="en-GB" altLang="en-US" sz="2800" dirty="0">
                <a:solidFill>
                  <a:schemeClr val="tx2"/>
                </a:solidFill>
              </a:rPr>
              <a:t>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F82880-F7A7-5A46-AD3F-545FCC0983ED}"/>
              </a:ext>
            </a:extLst>
          </p:cNvPr>
          <p:cNvSpPr/>
          <p:nvPr/>
        </p:nvSpPr>
        <p:spPr>
          <a:xfrm>
            <a:off x="13338862" y="5122170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tx2"/>
                </a:solidFill>
              </a:rPr>
              <a:t>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8D9B62-D3C4-6346-8344-3FD5656FD698}"/>
              </a:ext>
            </a:extLst>
          </p:cNvPr>
          <p:cNvSpPr/>
          <p:nvPr/>
        </p:nvSpPr>
        <p:spPr>
          <a:xfrm>
            <a:off x="3424907" y="5116682"/>
            <a:ext cx="2358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tx2"/>
                </a:solidFill>
              </a:rPr>
              <a:t>         MJ prim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93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Energy: definitions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7815F81E-BECC-FB41-97B9-431F9CCB6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75" y="7328917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Efficiency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48B26CE7-E25F-484F-85CD-62B5E4A15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977" y="7149616"/>
            <a:ext cx="19220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Extraction and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preparation</a:t>
            </a:r>
            <a:endParaRPr lang="en-GB" altLang="en-US" sz="1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5" name="Picture 24" descr="A bright light in a dark room&#10;&#10;Description automatically generated">
            <a:extLst>
              <a:ext uri="{FF2B5EF4-FFF2-40B4-BE49-F238E27FC236}">
                <a16:creationId xmlns:a16="http://schemas.microsoft.com/office/drawing/2014/main" id="{84D7ECB9-EDDF-C34D-B362-E32CBC02F3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8404" y="1646744"/>
            <a:ext cx="1444566" cy="1414913"/>
          </a:xfrm>
          <a:prstGeom prst="ellipse">
            <a:avLst/>
          </a:prstGeom>
          <a:ln w="38100">
            <a:solidFill>
              <a:schemeClr val="accent3"/>
            </a:solidFill>
          </a:ln>
        </p:spPr>
      </p:pic>
      <p:pic>
        <p:nvPicPr>
          <p:cNvPr id="26" name="Picture 25" descr="A picture containing sitting, clock, parking, monitor&#10;&#10;Description automatically generated">
            <a:extLst>
              <a:ext uri="{FF2B5EF4-FFF2-40B4-BE49-F238E27FC236}">
                <a16:creationId xmlns:a16="http://schemas.microsoft.com/office/drawing/2014/main" id="{6D400C47-C611-374D-AD3D-23A036CFAB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64961" y="1644267"/>
            <a:ext cx="1444567" cy="1417390"/>
          </a:xfrm>
          <a:prstGeom prst="ellipse">
            <a:avLst/>
          </a:prstGeom>
          <a:ln w="38100">
            <a:solidFill>
              <a:schemeClr val="accent4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89E77AB-8359-0544-873B-7145C1952B91}"/>
              </a:ext>
            </a:extLst>
          </p:cNvPr>
          <p:cNvGrpSpPr/>
          <p:nvPr/>
        </p:nvGrpSpPr>
        <p:grpSpPr>
          <a:xfrm>
            <a:off x="3830373" y="1619643"/>
            <a:ext cx="1464847" cy="1464847"/>
            <a:chOff x="10778594" y="4424238"/>
            <a:chExt cx="2911157" cy="2911157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631FDDC-DE06-6D41-B96F-70ADE8B531E6}"/>
                </a:ext>
              </a:extLst>
            </p:cNvPr>
            <p:cNvSpPr/>
            <p:nvPr/>
          </p:nvSpPr>
          <p:spPr>
            <a:xfrm>
              <a:off x="10778594" y="4424238"/>
              <a:ext cx="2911157" cy="29111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 descr="A close up of a rock&#10;&#10;Description automatically generated">
              <a:extLst>
                <a:ext uri="{FF2B5EF4-FFF2-40B4-BE49-F238E27FC236}">
                  <a16:creationId xmlns:a16="http://schemas.microsoft.com/office/drawing/2014/main" id="{42C67173-7BF3-FD4E-84F6-432F2C863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170781" y="4957011"/>
              <a:ext cx="2174909" cy="1753103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49A17472-BC66-6742-9C6F-FFBF4C7AC35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51590" y="6435336"/>
            <a:ext cx="1701420" cy="741645"/>
          </a:xfrm>
          <a:prstGeom prst="rect">
            <a:avLst/>
          </a:prstGeom>
        </p:spPr>
      </p:pic>
      <p:sp>
        <p:nvSpPr>
          <p:cNvPr id="32" name="Rectangle 3">
            <a:extLst>
              <a:ext uri="{FF2B5EF4-FFF2-40B4-BE49-F238E27FC236}">
                <a16:creationId xmlns:a16="http://schemas.microsoft.com/office/drawing/2014/main" id="{753F9151-6D6E-B949-B87D-4FD5D2DC6D39}"/>
              </a:ext>
            </a:extLst>
          </p:cNvPr>
          <p:cNvSpPr txBox="1">
            <a:spLocks noChangeArrowheads="1"/>
          </p:cNvSpPr>
          <p:nvPr/>
        </p:nvSpPr>
        <p:spPr>
          <a:xfrm>
            <a:off x="7137705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4"/>
                </a:solidFill>
              </a:rPr>
              <a:t>Final energy</a:t>
            </a:r>
            <a:br>
              <a:rPr lang="en-GB" altLang="en-US" sz="2800" b="1" dirty="0">
                <a:solidFill>
                  <a:schemeClr val="accent4"/>
                </a:solidFill>
              </a:rPr>
            </a:br>
            <a:r>
              <a:rPr lang="en-GB" altLang="en-US" sz="2000" dirty="0">
                <a:solidFill>
                  <a:schemeClr val="tx2"/>
                </a:solidFill>
              </a:rPr>
              <a:t>= bought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85277F7-F12D-F74D-8C89-ABEA3A25105B}"/>
              </a:ext>
            </a:extLst>
          </p:cNvPr>
          <p:cNvSpPr txBox="1">
            <a:spLocks noChangeArrowheads="1"/>
          </p:cNvSpPr>
          <p:nvPr/>
        </p:nvSpPr>
        <p:spPr>
          <a:xfrm>
            <a:off x="11805956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3"/>
                </a:solidFill>
              </a:rPr>
              <a:t>Useful energy</a:t>
            </a:r>
            <a:r>
              <a:rPr lang="en-GB" altLang="en-US" sz="2800" dirty="0"/>
              <a:t/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used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BD3871ED-BC0C-C645-810C-43E1C8EC6B8F}"/>
              </a:ext>
            </a:extLst>
          </p:cNvPr>
          <p:cNvSpPr txBox="1">
            <a:spLocks noChangeArrowheads="1"/>
          </p:cNvSpPr>
          <p:nvPr/>
        </p:nvSpPr>
        <p:spPr>
          <a:xfrm>
            <a:off x="1451724" y="4476542"/>
            <a:ext cx="888066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Gas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DB2449D-DDC5-0944-8334-0B06EC3339E7}"/>
              </a:ext>
            </a:extLst>
          </p:cNvPr>
          <p:cNvSpPr txBox="1">
            <a:spLocks noChangeArrowheads="1"/>
          </p:cNvSpPr>
          <p:nvPr/>
        </p:nvSpPr>
        <p:spPr>
          <a:xfrm>
            <a:off x="382576" y="5310261"/>
            <a:ext cx="1957214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Electricity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A616BF8-8FA1-284F-96AD-579ACCC4AA3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1553" y="6435336"/>
            <a:ext cx="1701420" cy="74164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9F0478F-CBBD-254B-87E5-B4D64577A2C8}"/>
              </a:ext>
            </a:extLst>
          </p:cNvPr>
          <p:cNvSpPr/>
          <p:nvPr/>
        </p:nvSpPr>
        <p:spPr>
          <a:xfrm>
            <a:off x="3410476" y="4369135"/>
            <a:ext cx="226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5"/>
                </a:solidFill>
              </a:rPr>
              <a:t>1.25</a:t>
            </a:r>
            <a:r>
              <a:rPr lang="en-GB" altLang="en-US" sz="2800" dirty="0">
                <a:solidFill>
                  <a:schemeClr val="tx2"/>
                </a:solidFill>
              </a:rPr>
              <a:t> MJ prim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7A0A34-52C8-FB48-9958-0F490B3DC5EB}"/>
              </a:ext>
            </a:extLst>
          </p:cNvPr>
          <p:cNvSpPr/>
          <p:nvPr/>
        </p:nvSpPr>
        <p:spPr>
          <a:xfrm>
            <a:off x="8125471" y="4369135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82BF62-1353-2940-BAE8-9F2A9F395FAC}"/>
              </a:ext>
            </a:extLst>
          </p:cNvPr>
          <p:cNvSpPr/>
          <p:nvPr/>
        </p:nvSpPr>
        <p:spPr>
          <a:xfrm>
            <a:off x="12538963" y="4369135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0.95</a:t>
            </a:r>
            <a:r>
              <a:rPr lang="en-GB" altLang="en-US" sz="2800" dirty="0">
                <a:solidFill>
                  <a:schemeClr val="tx2"/>
                </a:solidFill>
              </a:rPr>
              <a:t> 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4ECB00-9C13-7D46-B3C4-6F93298B2E84}"/>
              </a:ext>
            </a:extLst>
          </p:cNvPr>
          <p:cNvSpPr/>
          <p:nvPr/>
        </p:nvSpPr>
        <p:spPr>
          <a:xfrm>
            <a:off x="8125471" y="5122170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8C572A-8F65-8C48-AAC3-0FB5243BD71D}"/>
              </a:ext>
            </a:extLst>
          </p:cNvPr>
          <p:cNvSpPr/>
          <p:nvPr/>
        </p:nvSpPr>
        <p:spPr>
          <a:xfrm>
            <a:off x="12800253" y="5122170"/>
            <a:ext cx="20233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4B483C-0825-4B4D-9D0A-D5C73B936D9D}"/>
              </a:ext>
            </a:extLst>
          </p:cNvPr>
          <p:cNvSpPr/>
          <p:nvPr/>
        </p:nvSpPr>
        <p:spPr>
          <a:xfrm>
            <a:off x="8125471" y="5606264"/>
            <a:ext cx="4309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kWh final </a:t>
            </a:r>
            <a:r>
              <a:rPr lang="en-GB" altLang="en-US" sz="2800" dirty="0">
                <a:solidFill>
                  <a:schemeClr val="accent4"/>
                </a:solidFill>
              </a:rPr>
              <a:t>= 3.6 </a:t>
            </a:r>
            <a:r>
              <a:rPr lang="en-GB" altLang="en-US" sz="2800" dirty="0">
                <a:solidFill>
                  <a:schemeClr val="tx2"/>
                </a:solidFill>
              </a:rPr>
              <a:t>MJ final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7951A9-6062-1841-B3F7-5E44AD4D53E0}"/>
              </a:ext>
            </a:extLst>
          </p:cNvPr>
          <p:cNvSpPr/>
          <p:nvPr/>
        </p:nvSpPr>
        <p:spPr>
          <a:xfrm>
            <a:off x="12800253" y="5606264"/>
            <a:ext cx="22621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kWh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325784-213F-4A40-89CD-3C714CD2551B}"/>
              </a:ext>
            </a:extLst>
          </p:cNvPr>
          <p:cNvSpPr/>
          <p:nvPr/>
        </p:nvSpPr>
        <p:spPr>
          <a:xfrm>
            <a:off x="3553471" y="512217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5"/>
                </a:solidFill>
              </a:rPr>
              <a:t>3.4</a:t>
            </a:r>
            <a:r>
              <a:rPr lang="en-GB" altLang="en-US" sz="2800" dirty="0">
                <a:solidFill>
                  <a:schemeClr val="tx2"/>
                </a:solidFill>
              </a:rPr>
              <a:t> MJ prim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247D8A18-FA3F-6246-866A-578377B01024}"/>
              </a:ext>
            </a:extLst>
          </p:cNvPr>
          <p:cNvSpPr txBox="1">
            <a:spLocks noChangeArrowheads="1"/>
          </p:cNvSpPr>
          <p:nvPr/>
        </p:nvSpPr>
        <p:spPr>
          <a:xfrm>
            <a:off x="2339791" y="3311098"/>
            <a:ext cx="4451302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5"/>
                </a:solidFill>
              </a:rPr>
              <a:t>Primary energy</a:t>
            </a:r>
            <a:r>
              <a:rPr lang="en-GB" altLang="en-US" sz="2800" dirty="0"/>
              <a:t>	</a:t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including extraction and preparation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0798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Energy: definitions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0FC4614-92B7-8347-825F-C156BE184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75" y="7328917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Efficiency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1AE85AD1-05B6-1444-8CB7-13B70C9D9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977" y="7149616"/>
            <a:ext cx="19220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Extraction and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>
                <a:solidFill>
                  <a:schemeClr val="tx2"/>
                </a:solidFill>
              </a:rPr>
              <a:t>preparation</a:t>
            </a:r>
            <a:endParaRPr lang="en-GB" altLang="en-US" sz="1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6" name="Picture 15" descr="A bright light in a dark room&#10;&#10;Description automatically generated">
            <a:extLst>
              <a:ext uri="{FF2B5EF4-FFF2-40B4-BE49-F238E27FC236}">
                <a16:creationId xmlns:a16="http://schemas.microsoft.com/office/drawing/2014/main" id="{9BD69237-1911-9D44-B07E-DF6021BDB0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8404" y="1646744"/>
            <a:ext cx="1444566" cy="1414913"/>
          </a:xfrm>
          <a:prstGeom prst="ellipse">
            <a:avLst/>
          </a:prstGeom>
          <a:ln w="38100">
            <a:solidFill>
              <a:schemeClr val="accent3"/>
            </a:solidFill>
          </a:ln>
        </p:spPr>
      </p:pic>
      <p:pic>
        <p:nvPicPr>
          <p:cNvPr id="17" name="Picture 16" descr="A picture containing sitting, clock, parking, monitor&#10;&#10;Description automatically generated">
            <a:extLst>
              <a:ext uri="{FF2B5EF4-FFF2-40B4-BE49-F238E27FC236}">
                <a16:creationId xmlns:a16="http://schemas.microsoft.com/office/drawing/2014/main" id="{C8316205-B987-B14C-AE85-055F1C26C3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64961" y="1644267"/>
            <a:ext cx="1444567" cy="1417390"/>
          </a:xfrm>
          <a:prstGeom prst="ellipse">
            <a:avLst/>
          </a:prstGeom>
          <a:ln w="38100">
            <a:solidFill>
              <a:schemeClr val="accent4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CD05870-C77C-914C-8B3E-BC92E4895D85}"/>
              </a:ext>
            </a:extLst>
          </p:cNvPr>
          <p:cNvGrpSpPr/>
          <p:nvPr/>
        </p:nvGrpSpPr>
        <p:grpSpPr>
          <a:xfrm>
            <a:off x="3830373" y="1619643"/>
            <a:ext cx="1464847" cy="1464847"/>
            <a:chOff x="10778594" y="4424238"/>
            <a:chExt cx="2911157" cy="291115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1781A7-5750-4145-95FC-42FC90A195A7}"/>
                </a:ext>
              </a:extLst>
            </p:cNvPr>
            <p:cNvSpPr/>
            <p:nvPr/>
          </p:nvSpPr>
          <p:spPr>
            <a:xfrm>
              <a:off x="10778594" y="4424238"/>
              <a:ext cx="2911157" cy="29111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close up of a rock&#10;&#10;Description automatically generated">
              <a:extLst>
                <a:ext uri="{FF2B5EF4-FFF2-40B4-BE49-F238E27FC236}">
                  <a16:creationId xmlns:a16="http://schemas.microsoft.com/office/drawing/2014/main" id="{DC82D232-12AC-2944-9496-783DF2F100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170781" y="4957011"/>
              <a:ext cx="2174909" cy="1753103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BD153B5-4F76-B54E-83A0-D52F7308859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51590" y="6435336"/>
            <a:ext cx="1701420" cy="741645"/>
          </a:xfrm>
          <a:prstGeom prst="rect">
            <a:avLst/>
          </a:prstGeom>
        </p:spPr>
      </p:pic>
      <p:sp>
        <p:nvSpPr>
          <p:cNvPr id="23" name="Rectangle 3">
            <a:extLst>
              <a:ext uri="{FF2B5EF4-FFF2-40B4-BE49-F238E27FC236}">
                <a16:creationId xmlns:a16="http://schemas.microsoft.com/office/drawing/2014/main" id="{601FBDEF-342D-A84D-A8B7-424395A57EA7}"/>
              </a:ext>
            </a:extLst>
          </p:cNvPr>
          <p:cNvSpPr txBox="1">
            <a:spLocks noChangeArrowheads="1"/>
          </p:cNvSpPr>
          <p:nvPr/>
        </p:nvSpPr>
        <p:spPr>
          <a:xfrm>
            <a:off x="7137705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4"/>
                </a:solidFill>
              </a:rPr>
              <a:t>Final energy</a:t>
            </a:r>
            <a:br>
              <a:rPr lang="en-GB" altLang="en-US" sz="2800" b="1" dirty="0">
                <a:solidFill>
                  <a:schemeClr val="accent4"/>
                </a:solidFill>
              </a:rPr>
            </a:br>
            <a:r>
              <a:rPr lang="en-GB" altLang="en-US" sz="2000" dirty="0">
                <a:solidFill>
                  <a:schemeClr val="tx2"/>
                </a:solidFill>
              </a:rPr>
              <a:t>= bought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1FE2762-F74F-8B40-BF89-940A7063198B}"/>
              </a:ext>
            </a:extLst>
          </p:cNvPr>
          <p:cNvSpPr txBox="1">
            <a:spLocks noChangeArrowheads="1"/>
          </p:cNvSpPr>
          <p:nvPr/>
        </p:nvSpPr>
        <p:spPr>
          <a:xfrm>
            <a:off x="11805956" y="3311098"/>
            <a:ext cx="3913885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3"/>
                </a:solidFill>
              </a:rPr>
              <a:t>Useful energy</a:t>
            </a:r>
            <a:r>
              <a:rPr lang="en-GB" altLang="en-US" sz="2800" dirty="0"/>
              <a:t/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used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0AA05D07-C03B-2042-84A0-5DD8A032C593}"/>
              </a:ext>
            </a:extLst>
          </p:cNvPr>
          <p:cNvSpPr txBox="1">
            <a:spLocks noChangeArrowheads="1"/>
          </p:cNvSpPr>
          <p:nvPr/>
        </p:nvSpPr>
        <p:spPr>
          <a:xfrm>
            <a:off x="1451724" y="4476542"/>
            <a:ext cx="888066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Gas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7029EDF-125B-EA48-B16A-52A887202812}"/>
              </a:ext>
            </a:extLst>
          </p:cNvPr>
          <p:cNvSpPr txBox="1">
            <a:spLocks noChangeArrowheads="1"/>
          </p:cNvSpPr>
          <p:nvPr/>
        </p:nvSpPr>
        <p:spPr>
          <a:xfrm>
            <a:off x="382576" y="5310261"/>
            <a:ext cx="1957214" cy="53193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r">
              <a:buFontTx/>
              <a:buNone/>
              <a:defRPr/>
            </a:pPr>
            <a:r>
              <a:rPr lang="en-GB" altLang="en-US" sz="2400" b="1" dirty="0">
                <a:solidFill>
                  <a:schemeClr val="tx2"/>
                </a:solidFill>
              </a:rPr>
              <a:t>Electricity</a:t>
            </a:r>
            <a:endParaRPr lang="en-GB" altLang="en-US" sz="2400" dirty="0">
              <a:solidFill>
                <a:schemeClr val="tx2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F4F8EA5-0A81-F744-AC05-21207498F98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1553" y="6435336"/>
            <a:ext cx="1701420" cy="74164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014B34A-D516-B14A-8135-24940E70FE51}"/>
              </a:ext>
            </a:extLst>
          </p:cNvPr>
          <p:cNvSpPr/>
          <p:nvPr/>
        </p:nvSpPr>
        <p:spPr>
          <a:xfrm>
            <a:off x="3410476" y="4369135"/>
            <a:ext cx="226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5"/>
                </a:solidFill>
              </a:rPr>
              <a:t>1.25</a:t>
            </a:r>
            <a:r>
              <a:rPr lang="en-GB" altLang="en-US" sz="2800" dirty="0">
                <a:solidFill>
                  <a:schemeClr val="tx2"/>
                </a:solidFill>
              </a:rPr>
              <a:t> MJ prim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C4F88F-BEAC-DC44-8190-B6B04C7B3854}"/>
              </a:ext>
            </a:extLst>
          </p:cNvPr>
          <p:cNvSpPr/>
          <p:nvPr/>
        </p:nvSpPr>
        <p:spPr>
          <a:xfrm>
            <a:off x="8125471" y="4369135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B4B1D3-29CB-1444-83D7-5C259B4D151F}"/>
              </a:ext>
            </a:extLst>
          </p:cNvPr>
          <p:cNvSpPr/>
          <p:nvPr/>
        </p:nvSpPr>
        <p:spPr>
          <a:xfrm>
            <a:off x="12538963" y="4369135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0.95</a:t>
            </a:r>
            <a:r>
              <a:rPr lang="en-GB" altLang="en-US" sz="2800" dirty="0">
                <a:solidFill>
                  <a:schemeClr val="tx2"/>
                </a:solidFill>
              </a:rPr>
              <a:t> 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C1C043-167E-D247-B6E4-32AEA6CA45D9}"/>
              </a:ext>
            </a:extLst>
          </p:cNvPr>
          <p:cNvSpPr/>
          <p:nvPr/>
        </p:nvSpPr>
        <p:spPr>
          <a:xfrm>
            <a:off x="8125471" y="5122170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40BA00-307D-8C41-B119-1FBDD067B370}"/>
              </a:ext>
            </a:extLst>
          </p:cNvPr>
          <p:cNvSpPr/>
          <p:nvPr/>
        </p:nvSpPr>
        <p:spPr>
          <a:xfrm>
            <a:off x="12800253" y="5122170"/>
            <a:ext cx="20233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MJ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A0E60E-77F6-1540-A53F-778B61A1EFDD}"/>
              </a:ext>
            </a:extLst>
          </p:cNvPr>
          <p:cNvSpPr/>
          <p:nvPr/>
        </p:nvSpPr>
        <p:spPr>
          <a:xfrm>
            <a:off x="8125471" y="5606264"/>
            <a:ext cx="42098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4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kWh final = </a:t>
            </a:r>
            <a:r>
              <a:rPr lang="en-GB" altLang="en-US" sz="2800" dirty="0">
                <a:solidFill>
                  <a:schemeClr val="accent4"/>
                </a:solidFill>
              </a:rPr>
              <a:t>3.6</a:t>
            </a:r>
            <a:r>
              <a:rPr lang="en-GB" altLang="en-US" sz="2800" dirty="0">
                <a:solidFill>
                  <a:schemeClr val="tx2"/>
                </a:solidFill>
              </a:rPr>
              <a:t> MJ final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AA70D0-E769-A346-A4C9-727BAF3184A8}"/>
              </a:ext>
            </a:extLst>
          </p:cNvPr>
          <p:cNvSpPr/>
          <p:nvPr/>
        </p:nvSpPr>
        <p:spPr>
          <a:xfrm>
            <a:off x="12800253" y="5606264"/>
            <a:ext cx="22621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3"/>
                </a:solidFill>
              </a:rPr>
              <a:t>1</a:t>
            </a:r>
            <a:r>
              <a:rPr lang="en-GB" altLang="en-US" sz="2800" dirty="0">
                <a:solidFill>
                  <a:schemeClr val="tx2"/>
                </a:solidFill>
              </a:rPr>
              <a:t> kWh useful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44C4FF-1926-C34C-8718-1426F09F178A}"/>
              </a:ext>
            </a:extLst>
          </p:cNvPr>
          <p:cNvSpPr/>
          <p:nvPr/>
        </p:nvSpPr>
        <p:spPr>
          <a:xfrm>
            <a:off x="3553471" y="512217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5"/>
                </a:solidFill>
              </a:rPr>
              <a:t>3.4 </a:t>
            </a:r>
            <a:r>
              <a:rPr lang="en-GB" altLang="en-US" sz="2800" dirty="0">
                <a:solidFill>
                  <a:schemeClr val="tx2"/>
                </a:solidFill>
              </a:rPr>
              <a:t>MJ prim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4B41C-2E12-4745-9BAC-DDB89BDD5AF3}"/>
              </a:ext>
            </a:extLst>
          </p:cNvPr>
          <p:cNvSpPr/>
          <p:nvPr/>
        </p:nvSpPr>
        <p:spPr>
          <a:xfrm>
            <a:off x="3353096" y="5606264"/>
            <a:ext cx="226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dirty="0">
                <a:solidFill>
                  <a:schemeClr val="accent5"/>
                </a:solidFill>
              </a:rPr>
              <a:t>12.1</a:t>
            </a:r>
            <a:r>
              <a:rPr lang="en-GB" altLang="en-US" sz="2800" dirty="0">
                <a:solidFill>
                  <a:schemeClr val="tx2"/>
                </a:solidFill>
              </a:rPr>
              <a:t> MJ prim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247D8A18-FA3F-6246-866A-578377B01024}"/>
              </a:ext>
            </a:extLst>
          </p:cNvPr>
          <p:cNvSpPr txBox="1">
            <a:spLocks noChangeArrowheads="1"/>
          </p:cNvSpPr>
          <p:nvPr/>
        </p:nvSpPr>
        <p:spPr>
          <a:xfrm>
            <a:off x="2339791" y="3311098"/>
            <a:ext cx="4451302" cy="8703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-1588" algn="ctr">
              <a:buFontTx/>
              <a:buNone/>
              <a:defRPr/>
            </a:pPr>
            <a:r>
              <a:rPr lang="en-GB" altLang="en-US" sz="2800" b="1" dirty="0">
                <a:solidFill>
                  <a:schemeClr val="accent5"/>
                </a:solidFill>
              </a:rPr>
              <a:t>Primary energy</a:t>
            </a:r>
            <a:r>
              <a:rPr lang="en-GB" altLang="en-US" sz="2800" dirty="0"/>
              <a:t>	</a:t>
            </a:r>
            <a:br>
              <a:rPr lang="en-GB" altLang="en-US" sz="2800" dirty="0"/>
            </a:br>
            <a:r>
              <a:rPr lang="en-GB" altLang="en-US" sz="2000" dirty="0">
                <a:solidFill>
                  <a:schemeClr val="tx2"/>
                </a:solidFill>
              </a:rPr>
              <a:t>= including extraction and preparation</a:t>
            </a:r>
          </a:p>
          <a:p>
            <a:pPr marL="1588" indent="-1588">
              <a:buFontTx/>
              <a:buNone/>
              <a:defRPr/>
            </a:pPr>
            <a:endParaRPr lang="en-GB" altLang="en-US" sz="2000" dirty="0">
              <a:solidFill>
                <a:schemeClr val="tx2"/>
              </a:solidFill>
            </a:endParaRPr>
          </a:p>
          <a:p>
            <a:pPr marL="1588" indent="-1588">
              <a:buFontTx/>
              <a:buNone/>
              <a:defRPr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0266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From ores </a:t>
            </a:r>
            <a:r>
              <a:rPr lang="en-US" altLang="en-US" dirty="0">
                <a:solidFill>
                  <a:schemeClr val="tx2"/>
                </a:solidFill>
                <a:sym typeface="Wingdings" pitchFamily="2" charset="2"/>
              </a:rPr>
              <a:t>to primary energy: </a:t>
            </a:r>
            <a:r>
              <a:rPr lang="en-US" altLang="en-US" dirty="0">
                <a:solidFill>
                  <a:schemeClr val="tx2"/>
                </a:solidFill>
              </a:rPr>
              <a:t>Net calorific values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23D89207-2CAB-2C47-BD6E-F7CFB971C3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07" t="3592" r="7004" b="41623"/>
          <a:stretch/>
        </p:blipFill>
        <p:spPr>
          <a:xfrm>
            <a:off x="4096651" y="2055514"/>
            <a:ext cx="8168817" cy="5602621"/>
          </a:xfrm>
          <a:prstGeom prst="rect">
            <a:avLst/>
          </a:prstGeom>
          <a:noFill/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807BADF-DC97-2A40-8D5C-C2419E2C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9876" y="7364039"/>
            <a:ext cx="2194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Ecoinvent</a:t>
            </a:r>
            <a:r>
              <a:rPr lang="en-US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D751D-DAB8-F94C-9FCC-316D4FAF554B}"/>
              </a:ext>
            </a:extLst>
          </p:cNvPr>
          <p:cNvSpPr txBox="1"/>
          <p:nvPr/>
        </p:nvSpPr>
        <p:spPr>
          <a:xfrm>
            <a:off x="4351517" y="1485865"/>
            <a:ext cx="765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Density, gross and net calorific value of energy carriers</a:t>
            </a:r>
          </a:p>
        </p:txBody>
      </p:sp>
    </p:spTree>
    <p:extLst>
      <p:ext uri="{BB962C8B-B14F-4D97-AF65-F5344CB8AC3E}">
        <p14:creationId xmlns:p14="http://schemas.microsoft.com/office/powerpoint/2010/main" val="239838663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17373</TotalTime>
  <Words>313</Words>
  <Application>Microsoft Office PowerPoint</Application>
  <PresentationFormat>Custom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Arial Bold</vt:lpstr>
      <vt:lpstr>Calibri</vt:lpstr>
      <vt:lpstr>Courier New</vt:lpstr>
      <vt:lpstr>Times New Roman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Primary energy definition</vt:lpstr>
      <vt:lpstr>Energy: definitions</vt:lpstr>
      <vt:lpstr>Energy: definitions</vt:lpstr>
      <vt:lpstr>Energy: definitions</vt:lpstr>
      <vt:lpstr>From ores to primary energy: Net calorific values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734</cp:revision>
  <cp:lastPrinted>2020-08-20T17:37:33Z</cp:lastPrinted>
  <dcterms:created xsi:type="dcterms:W3CDTF">2017-01-17T22:07:36Z</dcterms:created>
  <dcterms:modified xsi:type="dcterms:W3CDTF">2020-11-24T17:30:44Z</dcterms:modified>
  <cp:category/>
</cp:coreProperties>
</file>