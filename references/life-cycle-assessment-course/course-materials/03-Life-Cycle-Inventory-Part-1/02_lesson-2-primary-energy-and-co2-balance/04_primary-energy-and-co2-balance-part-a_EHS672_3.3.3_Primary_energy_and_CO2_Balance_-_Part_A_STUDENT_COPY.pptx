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  <p:sldMasterId id="2147483785" r:id="rId2"/>
    <p:sldMasterId id="2147483806" r:id="rId3"/>
    <p:sldMasterId id="2147483808" r:id="rId4"/>
    <p:sldMasterId id="2147483796" r:id="rId5"/>
  </p:sldMasterIdLst>
  <p:notesMasterIdLst>
    <p:notesMasterId r:id="rId13"/>
  </p:notesMasterIdLst>
  <p:handoutMasterIdLst>
    <p:handoutMasterId r:id="rId14"/>
  </p:handoutMasterIdLst>
  <p:sldIdLst>
    <p:sldId id="267" r:id="rId6"/>
    <p:sldId id="531" r:id="rId7"/>
    <p:sldId id="527" r:id="rId8"/>
    <p:sldId id="532" r:id="rId9"/>
    <p:sldId id="519" r:id="rId10"/>
    <p:sldId id="533" r:id="rId11"/>
    <p:sldId id="517" r:id="rId12"/>
  </p:sldIdLst>
  <p:sldSz cx="16257588" cy="9144000"/>
  <p:notesSz cx="6858000" cy="9144000"/>
  <p:defaultTextStyle>
    <a:defPPr>
      <a:defRPr lang="en-US"/>
    </a:defPPr>
    <a:lvl1pPr marL="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81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62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43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24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405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686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8967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248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slides" id="{C7F91DBA-90A9-5343-8B43-F0D96459C604}">
          <p14:sldIdLst>
            <p14:sldId id="267"/>
            <p14:sldId id="531"/>
            <p14:sldId id="527"/>
            <p14:sldId id="532"/>
            <p14:sldId id="519"/>
            <p14:sldId id="533"/>
            <p14:sldId id="5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16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0274C"/>
    <a:srgbClr val="E4E1DF"/>
    <a:srgbClr val="B5B5B5"/>
    <a:srgbClr val="050909"/>
    <a:srgbClr val="FFCB05"/>
    <a:srgbClr val="EA6A20"/>
    <a:srgbClr val="06090A"/>
    <a:srgbClr val="090B0B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24"/>
    <p:restoredTop sz="80952"/>
  </p:normalViewPr>
  <p:slideViewPr>
    <p:cSldViewPr snapToGrid="0">
      <p:cViewPr varScale="1">
        <p:scale>
          <a:sx n="77" d="100"/>
          <a:sy n="77" d="100"/>
        </p:scale>
        <p:origin x="712" y="176"/>
      </p:cViewPr>
      <p:guideLst>
        <p:guide orient="horz" pos="3216"/>
        <p:guide pos="512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51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32C488-5493-244C-B1EB-F7CF3662E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AD1453-9CD9-5640-A3F8-C0F3421BFA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623C7-AC5F-3A41-B4CB-88972659BBB1}" type="datetimeFigureOut">
              <a:rPr lang="en-US" smtClean="0"/>
              <a:t>11/5/21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A9942-DAC7-014E-98D2-7E2678599F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CB1E6-A261-2741-AFAE-436A65E0D5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C83E3-4C2A-B644-AB75-B8266C440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61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33527-EF9E-5940-92CE-307645268EE1}" type="datetimeFigureOut">
              <a:rPr lang="en-US" smtClean="0"/>
              <a:t>11/5/21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3DB68-E51C-0443-B8CE-2997CF470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9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17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92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4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557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32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32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62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959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94A1462-55F6-494B-8554-951DED06E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454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notes (not to be 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581665" y="1301578"/>
            <a:ext cx="13007546" cy="58076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741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27000">
              <a:srgbClr val="ECECEC"/>
            </a:gs>
            <a:gs pos="80000">
              <a:schemeClr val="bg1"/>
            </a:gs>
            <a:gs pos="2000">
              <a:schemeClr val="bg1">
                <a:lumMod val="50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F79A2DE-44A3-E846-BDE0-2432CDF19E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0"/>
            <a:ext cx="16271545" cy="777602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7674428"/>
            <a:ext cx="16257588" cy="1469571"/>
          </a:xfrm>
          <a:prstGeom prst="rect">
            <a:avLst/>
          </a:prstGeom>
          <a:solidFill>
            <a:srgbClr val="0027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_SchoolPublicHealth_logo_white.png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9986" y="8007770"/>
            <a:ext cx="5372640" cy="76752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7623628"/>
            <a:ext cx="16257588" cy="15240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A01CEF-1B1A-0A48-82FA-0DF2D06BC503}"/>
              </a:ext>
            </a:extLst>
          </p:cNvPr>
          <p:cNvSpPr/>
          <p:nvPr userDrawn="1"/>
        </p:nvSpPr>
        <p:spPr>
          <a:xfrm>
            <a:off x="0" y="4767944"/>
            <a:ext cx="16257588" cy="2846366"/>
          </a:xfrm>
          <a:prstGeom prst="rect">
            <a:avLst/>
          </a:prstGeom>
          <a:gradFill flip="none" rotWithShape="1">
            <a:gsLst>
              <a:gs pos="100000">
                <a:srgbClr val="587ABC">
                  <a:lumMod val="74000"/>
                  <a:alpha val="55000"/>
                </a:srgbClr>
              </a:gs>
              <a:gs pos="0">
                <a:schemeClr val="bg1">
                  <a:lumMod val="95000"/>
                </a:schemeClr>
              </a:gs>
              <a:gs pos="66000">
                <a:srgbClr val="EEEEEE"/>
              </a:gs>
            </a:gsLst>
            <a:lin ang="12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F38555-B398-464F-9B4E-17CD401959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4757918"/>
            <a:ext cx="12192001" cy="289111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F0919A-AFA5-E147-95FD-08292D7FF4FB}"/>
              </a:ext>
            </a:extLst>
          </p:cNvPr>
          <p:cNvCxnSpPr>
            <a:cxnSpLocks/>
          </p:cNvCxnSpPr>
          <p:nvPr userDrawn="1"/>
        </p:nvCxnSpPr>
        <p:spPr>
          <a:xfrm>
            <a:off x="0" y="6607960"/>
            <a:ext cx="10140043" cy="0"/>
          </a:xfrm>
          <a:prstGeom prst="line">
            <a:avLst/>
          </a:prstGeom>
          <a:ln w="38100">
            <a:solidFill>
              <a:srgbClr val="0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ED9A923-5028-2F43-A7E3-007357342122}"/>
              </a:ext>
            </a:extLst>
          </p:cNvPr>
          <p:cNvSpPr/>
          <p:nvPr userDrawn="1"/>
        </p:nvSpPr>
        <p:spPr>
          <a:xfrm>
            <a:off x="0" y="4550950"/>
            <a:ext cx="16257588" cy="224918"/>
          </a:xfrm>
          <a:prstGeom prst="rect">
            <a:avLst/>
          </a:prstGeom>
          <a:gradFill>
            <a:gsLst>
              <a:gs pos="63000">
                <a:schemeClr val="bg1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1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14631828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14631828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8E102-C795-3941-9125-C4D5BBD0193F}"/>
              </a:ext>
            </a:extLst>
          </p:cNvPr>
          <p:cNvSpPr/>
          <p:nvPr userDrawn="1"/>
        </p:nvSpPr>
        <p:spPr>
          <a:xfrm>
            <a:off x="0" y="0"/>
            <a:ext cx="16257588" cy="224918"/>
          </a:xfrm>
          <a:prstGeom prst="rect">
            <a:avLst/>
          </a:prstGeom>
          <a:gradFill>
            <a:gsLst>
              <a:gs pos="63000">
                <a:srgbClr val="00274C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45DA2-7C42-8445-AD00-272875B751FD}"/>
              </a:ext>
            </a:extLst>
          </p:cNvPr>
          <p:cNvCxnSpPr>
            <a:cxnSpLocks/>
          </p:cNvCxnSpPr>
          <p:nvPr userDrawn="1"/>
        </p:nvCxnSpPr>
        <p:spPr>
          <a:xfrm>
            <a:off x="1023582" y="1210794"/>
            <a:ext cx="14343797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E5EF9-7466-AC4A-8B9B-8C26E6EB2668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2D098-25F8-1B47-A897-734EE7598560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84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E75BEE-68E8-7E41-9537-113B0DA1B9A2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ABBCB0-652C-4D4B-9603-135F326E9486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FF513C8-0BD3-FA4B-8D9A-FB9C21ECB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259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9489860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9489860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5F1F8-1280-884E-8894-968C107F09E4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80828F-C4E5-CD4A-8C1F-761E9B421162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46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084172" y="1066154"/>
            <a:ext cx="12002531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	Edit Master text styles</a:t>
            </a:r>
          </a:p>
          <a:p>
            <a:pPr lvl="2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None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DCE93A83-2E66-F74F-A5CD-47D28E6C7BC3}"/>
              </a:ext>
            </a:extLst>
          </p:cNvPr>
          <p:cNvSpPr txBox="1">
            <a:spLocks/>
          </p:cNvSpPr>
          <p:nvPr/>
        </p:nvSpPr>
        <p:spPr>
          <a:xfrm>
            <a:off x="440871" y="5058674"/>
            <a:ext cx="14799129" cy="1282491"/>
          </a:xfrm>
          <a:prstGeom prst="rect">
            <a:avLst/>
          </a:prstGeom>
        </p:spPr>
        <p:txBody>
          <a:bodyPr anchor="t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5400" b="1"/>
              <a:t>Primary Energy </a:t>
            </a:r>
            <a:r>
              <a:rPr lang="en-US" altLang="en-US" sz="5400" b="1" dirty="0"/>
              <a:t>and CO</a:t>
            </a:r>
            <a:r>
              <a:rPr lang="en-US" altLang="en-US" sz="5400" b="1" baseline="-25000" dirty="0"/>
              <a:t>2</a:t>
            </a:r>
            <a:r>
              <a:rPr lang="en-US" altLang="en-US" sz="5400" b="1" dirty="0"/>
              <a:t> Balance </a:t>
            </a:r>
            <a:br>
              <a:rPr lang="en-US" sz="2800" b="1" dirty="0"/>
            </a:br>
            <a:r>
              <a:rPr lang="en-US" altLang="en-US" sz="3900" b="1" dirty="0">
                <a:solidFill>
                  <a:schemeClr val="accent5"/>
                </a:solidFill>
              </a:rPr>
              <a:t>Part A Stepwise procedure</a:t>
            </a:r>
            <a:endParaRPr lang="en-US" altLang="en-US" sz="3900" b="1" kern="0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B5F09-AA9C-0C49-A705-E3ECF1BA7055}"/>
              </a:ext>
            </a:extLst>
          </p:cNvPr>
          <p:cNvSpPr txBox="1"/>
          <p:nvPr/>
        </p:nvSpPr>
        <p:spPr>
          <a:xfrm>
            <a:off x="440871" y="6790584"/>
            <a:ext cx="302198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Olivier Jolliet, PhD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536684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Learning Objectives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C63FD6C-8B55-0A4A-A3F9-421E18D7D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0211" y="1596325"/>
            <a:ext cx="14630400" cy="6183824"/>
          </a:xfrm>
        </p:spPr>
        <p:txBody>
          <a:bodyPr>
            <a:normAutofit/>
          </a:bodyPr>
          <a:lstStyle/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/>
              <a:t>Establish the primary energy and CO</a:t>
            </a:r>
            <a:r>
              <a:rPr lang="en-US" altLang="en-US" baseline="-25000" dirty="0"/>
              <a:t>2</a:t>
            </a:r>
            <a:r>
              <a:rPr lang="en-US" altLang="en-US" dirty="0"/>
              <a:t> balance of a </a:t>
            </a:r>
            <a:br>
              <a:rPr lang="en-US" altLang="en-US" dirty="0"/>
            </a:br>
            <a:r>
              <a:rPr lang="en-US" altLang="en-US" dirty="0"/>
              <a:t>product system</a:t>
            </a:r>
          </a:p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/>
              <a:t>Check consistency of inventory data using the </a:t>
            </a:r>
            <a:br>
              <a:rPr lang="en-US" altLang="en-US" dirty="0"/>
            </a:br>
            <a:r>
              <a:rPr lang="en-US" altLang="en-US" dirty="0"/>
              <a:t>gCO</a:t>
            </a:r>
            <a:r>
              <a:rPr lang="en-US" altLang="en-US" baseline="-25000" dirty="0"/>
              <a:t>2</a:t>
            </a:r>
            <a:r>
              <a:rPr lang="en-US" altLang="en-US" dirty="0"/>
              <a:t>/MJ primary energy</a:t>
            </a:r>
          </a:p>
        </p:txBody>
      </p:sp>
    </p:spTree>
    <p:extLst>
      <p:ext uri="{BB962C8B-B14F-4D97-AF65-F5344CB8AC3E}">
        <p14:creationId xmlns:p14="http://schemas.microsoft.com/office/powerpoint/2010/main" val="1887470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Process tree – illuminating with incandescent bulbs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Text Box 41">
            <a:extLst>
              <a:ext uri="{FF2B5EF4-FFF2-40B4-BE49-F238E27FC236}">
                <a16:creationId xmlns:a16="http://schemas.microsoft.com/office/drawing/2014/main" id="{F377E57B-1945-B642-B6CA-6659F2948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9850" y="5537355"/>
            <a:ext cx="2327275" cy="707886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Paper packaging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50g to recycling</a:t>
            </a:r>
          </a:p>
        </p:txBody>
      </p:sp>
      <p:sp>
        <p:nvSpPr>
          <p:cNvPr id="6" name="Text Box 41">
            <a:extLst>
              <a:ext uri="{FF2B5EF4-FFF2-40B4-BE49-F238E27FC236}">
                <a16:creationId xmlns:a16="http://schemas.microsoft.com/office/drawing/2014/main" id="{087829F3-8F4B-B940-A5D6-416C4D335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8425" y="3533330"/>
            <a:ext cx="2298700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Aluminum to landfill 75g</a:t>
            </a:r>
          </a:p>
        </p:txBody>
      </p:sp>
      <p:sp>
        <p:nvSpPr>
          <p:cNvPr id="7" name="Text Box 41">
            <a:extLst>
              <a:ext uri="{FF2B5EF4-FFF2-40B4-BE49-F238E27FC236}">
                <a16:creationId xmlns:a16="http://schemas.microsoft.com/office/drawing/2014/main" id="{1A9F746E-58DA-2044-A34B-40AB87925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9850" y="2523880"/>
            <a:ext cx="2327275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Glass to landfill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100g</a:t>
            </a:r>
          </a:p>
        </p:txBody>
      </p:sp>
      <p:sp>
        <p:nvSpPr>
          <p:cNvPr id="8" name="Text Box 41">
            <a:extLst>
              <a:ext uri="{FF2B5EF4-FFF2-40B4-BE49-F238E27FC236}">
                <a16:creationId xmlns:a16="http://schemas.microsoft.com/office/drawing/2014/main" id="{EC1A742F-62F0-3C42-B4A6-B60D3FF70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8424" y="4530480"/>
            <a:ext cx="2327275" cy="707886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Tungsten to landfill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3.5g</a:t>
            </a:r>
          </a:p>
        </p:txBody>
      </p:sp>
      <p:sp>
        <p:nvSpPr>
          <p:cNvPr id="9" name="Text Box 41">
            <a:extLst>
              <a:ext uri="{FF2B5EF4-FFF2-40B4-BE49-F238E27FC236}">
                <a16:creationId xmlns:a16="http://schemas.microsoft.com/office/drawing/2014/main" id="{6D1692DB-DEAA-7845-BC72-F80DFD7A4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4978" y="3845897"/>
            <a:ext cx="1920873" cy="1015663"/>
          </a:xfrm>
          <a:prstGeom prst="rect">
            <a:avLst/>
          </a:prstGeom>
          <a:solidFill>
            <a:schemeClr val="accent6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Illumination</a:t>
            </a:r>
          </a:p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800 lumen </a:t>
            </a:r>
          </a:p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During 5000 h </a:t>
            </a:r>
          </a:p>
        </p:txBody>
      </p:sp>
      <p:sp>
        <p:nvSpPr>
          <p:cNvPr id="10" name="Text Box 41">
            <a:extLst>
              <a:ext uri="{FF2B5EF4-FFF2-40B4-BE49-F238E27FC236}">
                <a16:creationId xmlns:a16="http://schemas.microsoft.com/office/drawing/2014/main" id="{B78AEC22-F9B1-9E4B-8DED-D24B5BCBD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228" y="5571510"/>
            <a:ext cx="2082800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Electricity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300 kWh</a:t>
            </a:r>
          </a:p>
        </p:txBody>
      </p:sp>
      <p:sp>
        <p:nvSpPr>
          <p:cNvPr id="11" name="Text Box 41">
            <a:extLst>
              <a:ext uri="{FF2B5EF4-FFF2-40B4-BE49-F238E27FC236}">
                <a16:creationId xmlns:a16="http://schemas.microsoft.com/office/drawing/2014/main" id="{F49915F0-8D34-D343-9143-665602EC2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5892" y="3987185"/>
            <a:ext cx="2082800" cy="707886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5 Incandescent bulbs</a:t>
            </a:r>
          </a:p>
        </p:txBody>
      </p:sp>
      <p:cxnSp>
        <p:nvCxnSpPr>
          <p:cNvPr id="12" name="Elbow Connector 10">
            <a:extLst>
              <a:ext uri="{FF2B5EF4-FFF2-40B4-BE49-F238E27FC236}">
                <a16:creationId xmlns:a16="http://schemas.microsoft.com/office/drawing/2014/main" id="{26B12E4D-9A3C-A049-9EA9-7FB596D4AEA1}"/>
              </a:ext>
            </a:extLst>
          </p:cNvPr>
          <p:cNvCxnSpPr>
            <a:cxnSpLocks noChangeShapeType="1"/>
            <a:stCxn id="10" idx="3"/>
            <a:endCxn id="9" idx="1"/>
          </p:cNvCxnSpPr>
          <p:nvPr/>
        </p:nvCxnSpPr>
        <p:spPr bwMode="auto">
          <a:xfrm flipV="1">
            <a:off x="9189028" y="4353729"/>
            <a:ext cx="615950" cy="1571794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15" name="Text Box 41">
            <a:extLst>
              <a:ext uri="{FF2B5EF4-FFF2-40B4-BE49-F238E27FC236}">
                <a16:creationId xmlns:a16="http://schemas.microsoft.com/office/drawing/2014/main" id="{295BCF1A-3DC3-334D-8C3C-B634ADF35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228" y="2501285"/>
            <a:ext cx="2082800" cy="1015663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Transportation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Truck 3200 km            </a:t>
            </a:r>
          </a:p>
          <a:p>
            <a:pPr algn="ctr">
              <a:spcBef>
                <a:spcPct val="0"/>
              </a:spcBef>
              <a:buClr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731 </a:t>
            </a:r>
            <a:r>
              <a:rPr lang="en-US" altLang="en-US" sz="2000" b="0" dirty="0" err="1">
                <a:solidFill>
                  <a:schemeClr val="tx2"/>
                </a:solidFill>
                <a:cs typeface="Arial" panose="020B0604020202020204" pitchFamily="34" charset="0"/>
              </a:rPr>
              <a:t>kg∙km</a:t>
            </a: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6" name="Text Box 41">
            <a:extLst>
              <a:ext uri="{FF2B5EF4-FFF2-40B4-BE49-F238E27FC236}">
                <a16:creationId xmlns:a16="http://schemas.microsoft.com/office/drawing/2014/main" id="{211A8949-260E-FC48-A03F-296C7F6ED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228" y="3901460"/>
            <a:ext cx="2082800" cy="1323439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Transportation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Oceanic freight 10,000 km</a:t>
            </a:r>
          </a:p>
          <a:p>
            <a:pPr algn="ctr">
              <a:spcBef>
                <a:spcPct val="0"/>
              </a:spcBef>
              <a:buClr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2,285 </a:t>
            </a:r>
            <a:r>
              <a:rPr lang="en-US" altLang="en-US" sz="2000" b="0" dirty="0" err="1">
                <a:solidFill>
                  <a:schemeClr val="tx2"/>
                </a:solidFill>
                <a:cs typeface="Arial" panose="020B0604020202020204" pitchFamily="34" charset="0"/>
              </a:rPr>
              <a:t>kg∙km</a:t>
            </a: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cxnSp>
        <p:nvCxnSpPr>
          <p:cNvPr id="17" name="Straight Arrow Connector 13">
            <a:extLst>
              <a:ext uri="{FF2B5EF4-FFF2-40B4-BE49-F238E27FC236}">
                <a16:creationId xmlns:a16="http://schemas.microsoft.com/office/drawing/2014/main" id="{1E3FDC07-12B1-3642-A3B7-94EC75A619B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88691" y="4341128"/>
            <a:ext cx="617537" cy="0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18" name="Straight Arrow Connector 14">
            <a:extLst>
              <a:ext uri="{FF2B5EF4-FFF2-40B4-BE49-F238E27FC236}">
                <a16:creationId xmlns:a16="http://schemas.microsoft.com/office/drawing/2014/main" id="{98F7EBA7-D43D-EE4C-95F1-9B85C1381054}"/>
              </a:ext>
            </a:extLst>
          </p:cNvPr>
          <p:cNvCxnSpPr>
            <a:cxnSpLocks noChangeShapeType="1"/>
            <a:stCxn id="16" idx="0"/>
            <a:endCxn id="15" idx="2"/>
          </p:cNvCxnSpPr>
          <p:nvPr/>
        </p:nvCxnSpPr>
        <p:spPr bwMode="auto">
          <a:xfrm flipV="1">
            <a:off x="8147628" y="3516948"/>
            <a:ext cx="0" cy="384512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19" name="Elbow Connector 15">
            <a:extLst>
              <a:ext uri="{FF2B5EF4-FFF2-40B4-BE49-F238E27FC236}">
                <a16:creationId xmlns:a16="http://schemas.microsoft.com/office/drawing/2014/main" id="{CB3F4174-29C5-F547-83A7-A0BEE977F22F}"/>
              </a:ext>
            </a:extLst>
          </p:cNvPr>
          <p:cNvCxnSpPr>
            <a:cxnSpLocks noChangeShapeType="1"/>
            <a:stCxn id="15" idx="3"/>
            <a:endCxn id="9" idx="0"/>
          </p:cNvCxnSpPr>
          <p:nvPr/>
        </p:nvCxnSpPr>
        <p:spPr bwMode="auto">
          <a:xfrm>
            <a:off x="9189028" y="3009117"/>
            <a:ext cx="1576387" cy="836780"/>
          </a:xfrm>
          <a:prstGeom prst="bentConnector2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20" name="Text Box 41">
            <a:extLst>
              <a:ext uri="{FF2B5EF4-FFF2-40B4-BE49-F238E27FC236}">
                <a16:creationId xmlns:a16="http://schemas.microsoft.com/office/drawing/2014/main" id="{34B61945-E4F5-B443-BB27-E1891D9C3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3198" y="5291357"/>
            <a:ext cx="1711325" cy="1016000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Paper packaging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50g</a:t>
            </a:r>
          </a:p>
        </p:txBody>
      </p:sp>
      <p:sp>
        <p:nvSpPr>
          <p:cNvPr id="21" name="Text Box 41">
            <a:extLst>
              <a:ext uri="{FF2B5EF4-FFF2-40B4-BE49-F238E27FC236}">
                <a16:creationId xmlns:a16="http://schemas.microsoft.com/office/drawing/2014/main" id="{E832019C-6E7A-714D-806C-997F8A3EB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634" y="4096304"/>
            <a:ext cx="1940362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Aluminum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75g</a:t>
            </a:r>
          </a:p>
        </p:txBody>
      </p:sp>
      <p:sp>
        <p:nvSpPr>
          <p:cNvPr id="22" name="Text Box 41">
            <a:extLst>
              <a:ext uri="{FF2B5EF4-FFF2-40B4-BE49-F238E27FC236}">
                <a16:creationId xmlns:a16="http://schemas.microsoft.com/office/drawing/2014/main" id="{25A22018-B973-0848-B277-059985512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633" y="3182740"/>
            <a:ext cx="1910200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Glass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100g</a:t>
            </a:r>
          </a:p>
        </p:txBody>
      </p:sp>
      <p:sp>
        <p:nvSpPr>
          <p:cNvPr id="23" name="Text Box 41">
            <a:extLst>
              <a:ext uri="{FF2B5EF4-FFF2-40B4-BE49-F238E27FC236}">
                <a16:creationId xmlns:a16="http://schemas.microsoft.com/office/drawing/2014/main" id="{5CD310FC-5C14-424D-B013-E5F3B2CE9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633" y="5164858"/>
            <a:ext cx="1910200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Tungsten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3.5g</a:t>
            </a:r>
          </a:p>
        </p:txBody>
      </p:sp>
      <p:cxnSp>
        <p:nvCxnSpPr>
          <p:cNvPr id="24" name="Straight Arrow Connector 22">
            <a:extLst>
              <a:ext uri="{FF2B5EF4-FFF2-40B4-BE49-F238E27FC236}">
                <a16:creationId xmlns:a16="http://schemas.microsoft.com/office/drawing/2014/main" id="{D214BF1B-E46C-B74D-B380-F002DA13641C}"/>
              </a:ext>
            </a:extLst>
          </p:cNvPr>
          <p:cNvCxnSpPr>
            <a:cxnSpLocks noChangeShapeType="1"/>
            <a:stCxn id="20" idx="0"/>
          </p:cNvCxnSpPr>
          <p:nvPr/>
        </p:nvCxnSpPr>
        <p:spPr bwMode="auto">
          <a:xfrm flipV="1">
            <a:off x="5568861" y="4695071"/>
            <a:ext cx="0" cy="596286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</p:spPr>
      </p:cxnSp>
      <p:cxnSp>
        <p:nvCxnSpPr>
          <p:cNvPr id="25" name="Elbow Connector 28">
            <a:extLst>
              <a:ext uri="{FF2B5EF4-FFF2-40B4-BE49-F238E27FC236}">
                <a16:creationId xmlns:a16="http://schemas.microsoft.com/office/drawing/2014/main" id="{C411D5CB-16FF-C442-9FAD-C2DC66F0CF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93833" y="3349186"/>
            <a:ext cx="898525" cy="1131719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26" name="Straight Arrow Connector 39">
            <a:extLst>
              <a:ext uri="{FF2B5EF4-FFF2-40B4-BE49-F238E27FC236}">
                <a16:creationId xmlns:a16="http://schemas.microsoft.com/office/drawing/2014/main" id="{AEA70670-39A7-5C46-9DB7-5E506766AB79}"/>
              </a:ext>
            </a:extLst>
          </p:cNvPr>
          <p:cNvCxnSpPr>
            <a:cxnSpLocks noChangeShapeType="1"/>
            <a:stCxn id="9" idx="3"/>
          </p:cNvCxnSpPr>
          <p:nvPr/>
        </p:nvCxnSpPr>
        <p:spPr bwMode="auto">
          <a:xfrm>
            <a:off x="11725851" y="4353729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  <a:effectLst/>
        </p:spPr>
      </p:cxnSp>
      <p:sp>
        <p:nvSpPr>
          <p:cNvPr id="27" name="Text Box 41">
            <a:extLst>
              <a:ext uri="{FF2B5EF4-FFF2-40B4-BE49-F238E27FC236}">
                <a16:creationId xmlns:a16="http://schemas.microsoft.com/office/drawing/2014/main" id="{69235A51-1B1C-534D-8E25-00F03ED90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633" y="6056951"/>
            <a:ext cx="1910200" cy="707886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Energy</a:t>
            </a:r>
          </a:p>
          <a:p>
            <a:pPr algn="ctr">
              <a:spcBef>
                <a:spcPct val="0"/>
              </a:spcBef>
              <a:buClr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1.9 </a:t>
            </a:r>
            <a:r>
              <a:rPr lang="en-US" altLang="en-US" sz="2000" b="0" dirty="0" err="1">
                <a:solidFill>
                  <a:schemeClr val="tx2"/>
                </a:solidFill>
                <a:cs typeface="Arial" panose="020B0604020202020204" pitchFamily="34" charset="0"/>
              </a:rPr>
              <a:t>MJprimary</a:t>
            </a: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cxnSp>
        <p:nvCxnSpPr>
          <p:cNvPr id="28" name="Elbow Connector 45">
            <a:extLst>
              <a:ext uri="{FF2B5EF4-FFF2-40B4-BE49-F238E27FC236}">
                <a16:creationId xmlns:a16="http://schemas.microsoft.com/office/drawing/2014/main" id="{198091C9-C305-9047-9FD9-3D4E8AF9EBD4}"/>
              </a:ext>
            </a:extLst>
          </p:cNvPr>
          <p:cNvCxnSpPr>
            <a:cxnSpLocks noChangeShapeType="1"/>
            <a:stCxn id="27" idx="3"/>
          </p:cNvCxnSpPr>
          <p:nvPr/>
        </p:nvCxnSpPr>
        <p:spPr bwMode="auto">
          <a:xfrm flipV="1">
            <a:off x="3493833" y="4494960"/>
            <a:ext cx="454184" cy="1915934"/>
          </a:xfrm>
          <a:prstGeom prst="bentConnector2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</p:spPr>
      </p:cxnSp>
      <p:cxnSp>
        <p:nvCxnSpPr>
          <p:cNvPr id="29" name="Straight Arrow Connector 39">
            <a:extLst>
              <a:ext uri="{FF2B5EF4-FFF2-40B4-BE49-F238E27FC236}">
                <a16:creationId xmlns:a16="http://schemas.microsoft.com/office/drawing/2014/main" id="{A40B9C22-AAFD-1646-9E4C-AEA15241686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93833" y="5512604"/>
            <a:ext cx="449429" cy="8106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  <a:effectLst/>
        </p:spPr>
      </p:cxnSp>
      <p:cxnSp>
        <p:nvCxnSpPr>
          <p:cNvPr id="30" name="Straight Arrow Connector 39">
            <a:extLst>
              <a:ext uri="{FF2B5EF4-FFF2-40B4-BE49-F238E27FC236}">
                <a16:creationId xmlns:a16="http://schemas.microsoft.com/office/drawing/2014/main" id="{05F9B11D-956A-3747-B10C-041658882A9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7337" y="4476351"/>
            <a:ext cx="415925" cy="6350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  <a:effectLst/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0B9269-8E70-E947-A216-80BB95BB17AE}"/>
              </a:ext>
            </a:extLst>
          </p:cNvPr>
          <p:cNvCxnSpPr>
            <a:cxnSpLocks/>
          </p:cNvCxnSpPr>
          <p:nvPr/>
        </p:nvCxnSpPr>
        <p:spPr>
          <a:xfrm>
            <a:off x="12108690" y="3009117"/>
            <a:ext cx="0" cy="3047834"/>
          </a:xfrm>
          <a:prstGeom prst="line">
            <a:avLst/>
          </a:prstGeom>
          <a:ln w="2857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9">
            <a:extLst>
              <a:ext uri="{FF2B5EF4-FFF2-40B4-BE49-F238E27FC236}">
                <a16:creationId xmlns:a16="http://schemas.microsoft.com/office/drawing/2014/main" id="{C7AC3FC5-9D85-E24A-B9BD-8FE7808A349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03538" y="3018614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33" name="Straight Arrow Connector 39">
            <a:extLst>
              <a:ext uri="{FF2B5EF4-FFF2-40B4-BE49-F238E27FC236}">
                <a16:creationId xmlns:a16="http://schemas.microsoft.com/office/drawing/2014/main" id="{EB5B221A-A6C6-8D43-BAFE-DA290707DBB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00267" y="3916407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34" name="Straight Arrow Connector 39">
            <a:extLst>
              <a:ext uri="{FF2B5EF4-FFF2-40B4-BE49-F238E27FC236}">
                <a16:creationId xmlns:a16="http://schemas.microsoft.com/office/drawing/2014/main" id="{9E261033-0246-714A-B17C-5E2CA4F79A0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20145" y="4890442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35" name="Straight Arrow Connector 39">
            <a:extLst>
              <a:ext uri="{FF2B5EF4-FFF2-40B4-BE49-F238E27FC236}">
                <a16:creationId xmlns:a16="http://schemas.microsoft.com/office/drawing/2014/main" id="{CFA190BF-0024-C04F-B30D-3A0FB140619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03539" y="6038858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453766A-94D5-1548-ABC6-C4AD6AE9025B}"/>
              </a:ext>
            </a:extLst>
          </p:cNvPr>
          <p:cNvSpPr txBox="1"/>
          <p:nvPr/>
        </p:nvSpPr>
        <p:spPr>
          <a:xfrm>
            <a:off x="10250081" y="6764837"/>
            <a:ext cx="5194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TOTAL WEIGHT </a:t>
            </a:r>
            <a:r>
              <a:rPr lang="en-US" sz="2000" dirty="0">
                <a:solidFill>
                  <a:schemeClr val="tx2"/>
                </a:solidFill>
              </a:rPr>
              <a:t>= 100g + 75g + 3.5g + 50g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A3CE94-A7CB-1C45-9A0A-02C4431580BF}"/>
              </a:ext>
            </a:extLst>
          </p:cNvPr>
          <p:cNvSpPr txBox="1"/>
          <p:nvPr/>
        </p:nvSpPr>
        <p:spPr>
          <a:xfrm>
            <a:off x="12229553" y="7161077"/>
            <a:ext cx="1316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= 0.229kg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DE9E88-5F70-584F-8864-7A43DFA16DB6}"/>
              </a:ext>
            </a:extLst>
          </p:cNvPr>
          <p:cNvSpPr txBox="1"/>
          <p:nvPr/>
        </p:nvSpPr>
        <p:spPr>
          <a:xfrm>
            <a:off x="5022761" y="1354637"/>
            <a:ext cx="4971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TRANSPORTATION </a:t>
            </a:r>
            <a:r>
              <a:rPr lang="en-US" sz="2000" dirty="0">
                <a:solidFill>
                  <a:schemeClr val="tx2"/>
                </a:solidFill>
              </a:rPr>
              <a:t>= 0.229kg x 3200km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7A4D35-15E1-584D-AF3B-E20C41D103EA}"/>
              </a:ext>
            </a:extLst>
          </p:cNvPr>
          <p:cNvSpPr txBox="1"/>
          <p:nvPr/>
        </p:nvSpPr>
        <p:spPr>
          <a:xfrm>
            <a:off x="7438770" y="1750877"/>
            <a:ext cx="15856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= </a:t>
            </a:r>
            <a:r>
              <a:rPr lang="en-US" altLang="en-US" sz="2000" dirty="0">
                <a:solidFill>
                  <a:schemeClr val="tx2"/>
                </a:solidFill>
                <a:cs typeface="Arial" panose="020B0604020202020204" pitchFamily="34" charset="0"/>
              </a:rPr>
              <a:t>731 </a:t>
            </a:r>
            <a:r>
              <a:rPr lang="en-US" altLang="en-US" sz="2000" dirty="0" err="1">
                <a:solidFill>
                  <a:schemeClr val="tx2"/>
                </a:solidFill>
                <a:cs typeface="Arial" panose="020B0604020202020204" pitchFamily="34" charset="0"/>
              </a:rPr>
              <a:t>kg∙km</a:t>
            </a:r>
            <a:endParaRPr lang="en-US" altLang="en-US" sz="2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DE9E88-5F70-584F-8864-7A43DFA16DB6}"/>
              </a:ext>
            </a:extLst>
          </p:cNvPr>
          <p:cNvSpPr txBox="1"/>
          <p:nvPr/>
        </p:nvSpPr>
        <p:spPr>
          <a:xfrm>
            <a:off x="1022637" y="2477782"/>
            <a:ext cx="40479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Glass: </a:t>
            </a:r>
            <a:r>
              <a:rPr lang="en-US" sz="2000" dirty="0">
                <a:solidFill>
                  <a:schemeClr val="tx2"/>
                </a:solidFill>
              </a:rPr>
              <a:t>5 bulb x 20 g/bulb = 0.1 kg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DE9E88-5F70-584F-8864-7A43DFA16DB6}"/>
              </a:ext>
            </a:extLst>
          </p:cNvPr>
          <p:cNvSpPr txBox="1"/>
          <p:nvPr/>
        </p:nvSpPr>
        <p:spPr>
          <a:xfrm>
            <a:off x="4099725" y="6764837"/>
            <a:ext cx="4916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Glass: </a:t>
            </a:r>
            <a:r>
              <a:rPr lang="en-US" sz="2000" dirty="0">
                <a:solidFill>
                  <a:schemeClr val="tx2"/>
                </a:solidFill>
              </a:rPr>
              <a:t>5 bulb x 10g paper/bulb = 0.05 kg</a:t>
            </a:r>
          </a:p>
        </p:txBody>
      </p:sp>
    </p:spTree>
    <p:extLst>
      <p:ext uri="{BB962C8B-B14F-4D97-AF65-F5344CB8AC3E}">
        <p14:creationId xmlns:p14="http://schemas.microsoft.com/office/powerpoint/2010/main" val="739198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5E3003-D82D-4147-9B74-69CC20E07456}"/>
              </a:ext>
            </a:extLst>
          </p:cNvPr>
          <p:cNvSpPr txBox="1">
            <a:spLocks/>
          </p:cNvSpPr>
          <p:nvPr/>
        </p:nvSpPr>
        <p:spPr bwMode="auto">
          <a:xfrm>
            <a:off x="9776815" y="3800255"/>
            <a:ext cx="5076018" cy="370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2000"/>
              </a:spcAft>
              <a:buClr>
                <a:srgbClr val="407EC9"/>
              </a:buClr>
              <a:buNone/>
            </a:pPr>
            <a:r>
              <a:rPr lang="en-US" altLang="en-US" sz="2400" b="0" i="1" dirty="0">
                <a:solidFill>
                  <a:srgbClr val="00B2A9"/>
                </a:solidFill>
              </a:rPr>
              <a:t>Total primary energy and CO</a:t>
            </a:r>
            <a:r>
              <a:rPr lang="en-US" altLang="en-US" sz="2400" b="0" i="1" baseline="-25000" dirty="0">
                <a:solidFill>
                  <a:srgbClr val="00B2A9"/>
                </a:solidFill>
              </a:rPr>
              <a:t>2</a:t>
            </a:r>
            <a:r>
              <a:rPr lang="en-US" altLang="en-US" sz="2400" b="0" i="1" dirty="0">
                <a:solidFill>
                  <a:srgbClr val="00B2A9"/>
                </a:solidFill>
              </a:rPr>
              <a:t> balance: </a:t>
            </a:r>
            <a:r>
              <a:rPr lang="en-US" altLang="en-US" sz="2000" b="0" dirty="0">
                <a:solidFill>
                  <a:schemeClr val="tx2"/>
                </a:solidFill>
              </a:rPr>
              <a:t>Sum up all contributions </a:t>
            </a:r>
            <a:br>
              <a:rPr lang="en-US" altLang="en-US" sz="2000" b="0" dirty="0">
                <a:solidFill>
                  <a:schemeClr val="tx2"/>
                </a:solidFill>
              </a:rPr>
            </a:br>
            <a:r>
              <a:rPr lang="en-US" altLang="en-US" sz="2000" b="0" dirty="0">
                <a:solidFill>
                  <a:schemeClr val="tx2"/>
                </a:solidFill>
              </a:rPr>
              <a:t>to determine the primary  energy or </a:t>
            </a:r>
            <a:br>
              <a:rPr lang="en-US" altLang="en-US" sz="2000" b="0" dirty="0">
                <a:solidFill>
                  <a:schemeClr val="tx2"/>
                </a:solidFill>
              </a:rPr>
            </a:br>
            <a:r>
              <a:rPr lang="en-US" altLang="en-US" sz="2000" b="0" dirty="0">
                <a:solidFill>
                  <a:schemeClr val="tx2"/>
                </a:solidFill>
              </a:rPr>
              <a:t>CO</a:t>
            </a:r>
            <a:r>
              <a:rPr lang="en-US" altLang="en-US" sz="2000" b="0" baseline="-25000" dirty="0">
                <a:solidFill>
                  <a:schemeClr val="tx2"/>
                </a:solidFill>
              </a:rPr>
              <a:t>2</a:t>
            </a:r>
            <a:r>
              <a:rPr lang="en-US" altLang="en-US" sz="2000" b="0" dirty="0">
                <a:solidFill>
                  <a:schemeClr val="tx2"/>
                </a:solidFill>
              </a:rPr>
              <a:t> emitted per FU</a:t>
            </a:r>
          </a:p>
          <a:p>
            <a:pPr>
              <a:spcBef>
                <a:spcPct val="0"/>
              </a:spcBef>
              <a:spcAft>
                <a:spcPts val="2000"/>
              </a:spcAft>
              <a:buClr>
                <a:srgbClr val="407EC9"/>
              </a:buClr>
              <a:buNone/>
            </a:pPr>
            <a:r>
              <a:rPr lang="en-US" altLang="en-US" sz="2400" b="0" i="1" dirty="0">
                <a:solidFill>
                  <a:srgbClr val="00B2A9"/>
                </a:solidFill>
              </a:rPr>
              <a:t>Data check: </a:t>
            </a:r>
            <a:r>
              <a:rPr lang="en-US" altLang="en-US" sz="2000" b="0" dirty="0">
                <a:solidFill>
                  <a:schemeClr val="tx2"/>
                </a:solidFill>
              </a:rPr>
              <a:t>Check the consistency between fossil CO</a:t>
            </a:r>
            <a:r>
              <a:rPr lang="en-US" altLang="en-US" sz="2000" b="0" baseline="-25000" dirty="0">
                <a:solidFill>
                  <a:schemeClr val="tx2"/>
                </a:solidFill>
              </a:rPr>
              <a:t>2</a:t>
            </a:r>
            <a:r>
              <a:rPr lang="en-US" altLang="en-US" sz="2000" b="0" dirty="0">
                <a:solidFill>
                  <a:schemeClr val="tx2"/>
                </a:solidFill>
              </a:rPr>
              <a:t> emissions and </a:t>
            </a:r>
            <a:br>
              <a:rPr lang="en-US" altLang="en-US" sz="2000" b="0" dirty="0">
                <a:solidFill>
                  <a:schemeClr val="tx2"/>
                </a:solidFill>
              </a:rPr>
            </a:br>
            <a:r>
              <a:rPr lang="en-US" altLang="en-US" sz="2000" b="0" dirty="0">
                <a:solidFill>
                  <a:schemeClr val="tx2"/>
                </a:solidFill>
              </a:rPr>
              <a:t>non renewable primary energy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GB" altLang="en-US" dirty="0"/>
              <a:t>Energy and CO2 balance: principles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33A127C-8182-6541-8317-F1876FE8A59D}"/>
              </a:ext>
            </a:extLst>
          </p:cNvPr>
          <p:cNvSpPr txBox="1">
            <a:spLocks/>
          </p:cNvSpPr>
          <p:nvPr/>
        </p:nvSpPr>
        <p:spPr bwMode="auto">
          <a:xfrm>
            <a:off x="2084198" y="3800255"/>
            <a:ext cx="5459601" cy="395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2000"/>
              </a:spcAft>
              <a:buClr>
                <a:srgbClr val="407EC9"/>
              </a:buClr>
              <a:buFontTx/>
              <a:buNone/>
            </a:pPr>
            <a:r>
              <a:rPr lang="en-US" altLang="en-US" sz="2400" b="0" i="1" dirty="0">
                <a:solidFill>
                  <a:srgbClr val="00B2A9"/>
                </a:solidFill>
              </a:rPr>
              <a:t>List of end processes:  </a:t>
            </a:r>
            <a:r>
              <a:rPr lang="en-US" altLang="en-US" sz="2000" b="0" dirty="0">
                <a:solidFill>
                  <a:schemeClr val="tx2"/>
                </a:solidFill>
              </a:rPr>
              <a:t>Establish </a:t>
            </a:r>
            <a:br>
              <a:rPr lang="en-US" altLang="en-US" sz="2000" b="0" dirty="0">
                <a:solidFill>
                  <a:schemeClr val="tx2"/>
                </a:solidFill>
              </a:rPr>
            </a:br>
            <a:r>
              <a:rPr lang="en-US" altLang="en-US" sz="2000" b="0" dirty="0">
                <a:solidFill>
                  <a:schemeClr val="tx2"/>
                </a:solidFill>
              </a:rPr>
              <a:t>the list of DB processed together with </a:t>
            </a:r>
            <a:br>
              <a:rPr lang="en-US" altLang="en-US" sz="2000" b="0" dirty="0">
                <a:solidFill>
                  <a:schemeClr val="tx2"/>
                </a:solidFill>
              </a:rPr>
            </a:br>
            <a:r>
              <a:rPr lang="en-US" altLang="en-US" sz="2000" b="0" dirty="0">
                <a:solidFill>
                  <a:schemeClr val="tx2"/>
                </a:solidFill>
              </a:rPr>
              <a:t>their amount per FU (e.g. </a:t>
            </a:r>
            <a:r>
              <a:rPr lang="en-US" altLang="en-US" sz="2000" b="0" dirty="0" err="1">
                <a:solidFill>
                  <a:schemeClr val="tx2"/>
                </a:solidFill>
              </a:rPr>
              <a:t>kg</a:t>
            </a:r>
            <a:r>
              <a:rPr lang="en-US" altLang="en-US" sz="2000" b="0" baseline="-25000" dirty="0" err="1">
                <a:solidFill>
                  <a:schemeClr val="tx2"/>
                </a:solidFill>
              </a:rPr>
              <a:t>Al</a:t>
            </a:r>
            <a:r>
              <a:rPr lang="en-US" altLang="en-US" sz="2000" b="0" dirty="0">
                <a:solidFill>
                  <a:schemeClr val="tx2"/>
                </a:solidFill>
              </a:rPr>
              <a:t>/FU) as </a:t>
            </a:r>
            <a:br>
              <a:rPr lang="en-US" altLang="en-US" sz="2000" b="0" dirty="0">
                <a:solidFill>
                  <a:schemeClr val="tx2"/>
                </a:solidFill>
              </a:rPr>
            </a:br>
            <a:r>
              <a:rPr lang="en-US" altLang="en-US" sz="2000" b="0" dirty="0">
                <a:solidFill>
                  <a:schemeClr val="tx2"/>
                </a:solidFill>
              </a:rPr>
              <a:t>point of departure</a:t>
            </a:r>
          </a:p>
          <a:p>
            <a:pPr>
              <a:spcBef>
                <a:spcPct val="0"/>
              </a:spcBef>
              <a:spcAft>
                <a:spcPts val="2000"/>
              </a:spcAft>
              <a:buClr>
                <a:srgbClr val="407EC9"/>
              </a:buClr>
              <a:buNone/>
            </a:pPr>
            <a:r>
              <a:rPr lang="en-US" altLang="en-US" sz="2400" b="0" i="1" dirty="0">
                <a:solidFill>
                  <a:srgbClr val="00B2A9"/>
                </a:solidFill>
              </a:rPr>
              <a:t>Contribution of each process to </a:t>
            </a:r>
            <a:br>
              <a:rPr lang="en-US" altLang="en-US" sz="2400" b="0" i="1" dirty="0">
                <a:solidFill>
                  <a:srgbClr val="00B2A9"/>
                </a:solidFill>
              </a:rPr>
            </a:br>
            <a:r>
              <a:rPr lang="en-US" altLang="en-US" sz="2400" b="0" i="1" dirty="0">
                <a:solidFill>
                  <a:srgbClr val="00B2A9"/>
                </a:solidFill>
              </a:rPr>
              <a:t>energy and CO2 balance: </a:t>
            </a:r>
            <a:br>
              <a:rPr lang="en-US" altLang="en-US" sz="2400" b="0" i="1" dirty="0">
                <a:solidFill>
                  <a:srgbClr val="00B2A9"/>
                </a:solidFill>
              </a:rPr>
            </a:br>
            <a:r>
              <a:rPr lang="en-US" altLang="en-US" sz="2000" b="0" dirty="0">
                <a:solidFill>
                  <a:schemeClr val="tx2"/>
                </a:solidFill>
              </a:rPr>
              <a:t>Multiply the amount of each DB process </a:t>
            </a:r>
            <a:br>
              <a:rPr lang="en-US" altLang="en-US" sz="2000" b="0" dirty="0">
                <a:solidFill>
                  <a:schemeClr val="tx2"/>
                </a:solidFill>
              </a:rPr>
            </a:br>
            <a:r>
              <a:rPr lang="en-US" altLang="en-US" sz="2000" b="0" dirty="0">
                <a:solidFill>
                  <a:schemeClr val="tx2"/>
                </a:solidFill>
              </a:rPr>
              <a:t>per FU by the aggregated inventory of elementary flow per unit of each DB process </a:t>
            </a:r>
            <a:br>
              <a:rPr lang="en-US" altLang="en-US" sz="2000" b="0" dirty="0">
                <a:solidFill>
                  <a:schemeClr val="tx2"/>
                </a:solidFill>
              </a:rPr>
            </a:br>
            <a:r>
              <a:rPr lang="en-US" sz="2000" b="0" dirty="0"/>
              <a:t>(e.g. MJ/</a:t>
            </a:r>
            <a:r>
              <a:rPr lang="en-US" sz="2000" b="0" dirty="0" err="1"/>
              <a:t>kg</a:t>
            </a:r>
            <a:r>
              <a:rPr lang="en-US" sz="2000" b="0" baseline="-25000" dirty="0" err="1"/>
              <a:t>Al</a:t>
            </a:r>
            <a:r>
              <a:rPr lang="en-US" sz="2000" b="0" dirty="0"/>
              <a:t> x </a:t>
            </a:r>
            <a:r>
              <a:rPr lang="en-US" sz="2000" b="0" dirty="0" err="1"/>
              <a:t>kg</a:t>
            </a:r>
            <a:r>
              <a:rPr lang="en-US" sz="2000" b="0" baseline="-25000" dirty="0" err="1"/>
              <a:t>Al</a:t>
            </a:r>
            <a:r>
              <a:rPr lang="en-US" sz="2000" b="0" dirty="0"/>
              <a:t>/FU = MJ/FU due to Al)</a:t>
            </a:r>
            <a:endParaRPr lang="en-US" altLang="en-US" sz="2000" b="0" dirty="0">
              <a:solidFill>
                <a:schemeClr val="tx2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A5E1E40-E3B2-AE4F-BF75-244805F49C2C}"/>
              </a:ext>
            </a:extLst>
          </p:cNvPr>
          <p:cNvSpPr/>
          <p:nvPr/>
        </p:nvSpPr>
        <p:spPr>
          <a:xfrm>
            <a:off x="1215836" y="3823095"/>
            <a:ext cx="708025" cy="706438"/>
          </a:xfrm>
          <a:prstGeom prst="ellipse">
            <a:avLst/>
          </a:prstGeom>
          <a:solidFill>
            <a:srgbClr val="00B2A9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8128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kern="0" dirty="0">
                <a:solidFill>
                  <a:prstClr val="white"/>
                </a:solidFill>
                <a:latin typeface="Arial" panose="020B0604020202020204"/>
              </a:rPr>
              <a:t>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6DABDE6-A27A-F340-B881-408842C5702B}"/>
              </a:ext>
            </a:extLst>
          </p:cNvPr>
          <p:cNvSpPr/>
          <p:nvPr/>
        </p:nvSpPr>
        <p:spPr>
          <a:xfrm>
            <a:off x="1215836" y="5420716"/>
            <a:ext cx="708025" cy="708025"/>
          </a:xfrm>
          <a:prstGeom prst="ellipse">
            <a:avLst/>
          </a:prstGeom>
          <a:solidFill>
            <a:srgbClr val="00B2A9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8128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kern="0" dirty="0">
                <a:solidFill>
                  <a:prstClr val="white"/>
                </a:solidFill>
                <a:latin typeface="Arial" panose="020B0604020202020204"/>
              </a:rPr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E05A844-D954-4C45-9121-5143D007568F}"/>
              </a:ext>
            </a:extLst>
          </p:cNvPr>
          <p:cNvSpPr txBox="1"/>
          <p:nvPr/>
        </p:nvSpPr>
        <p:spPr>
          <a:xfrm>
            <a:off x="812881" y="1464487"/>
            <a:ext cx="14631828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/>
            </a:pPr>
            <a:r>
              <a:rPr lang="en-US" sz="2800" dirty="0">
                <a:solidFill>
                  <a:schemeClr val="tx2"/>
                </a:solidFill>
              </a:rPr>
              <a:t>When building the product system and the process tree, we </a:t>
            </a:r>
            <a:r>
              <a:rPr lang="en-US" altLang="en-US" sz="2800" i="1" dirty="0">
                <a:solidFill>
                  <a:schemeClr val="accent6"/>
                </a:solidFill>
              </a:rPr>
              <a:t>followed the upstream and downstream </a:t>
            </a:r>
            <a:r>
              <a:rPr lang="en-US" altLang="en-US" sz="2800" dirty="0">
                <a:solidFill>
                  <a:schemeClr val="tx2"/>
                </a:solidFill>
              </a:rPr>
              <a:t>intermediary flows until reaching processes covered by an LCA database, </a:t>
            </a:r>
            <a:br>
              <a:rPr lang="en-US" altLang="en-US" sz="2800" dirty="0">
                <a:solidFill>
                  <a:schemeClr val="tx2"/>
                </a:solidFill>
              </a:rPr>
            </a:br>
            <a:r>
              <a:rPr lang="en-US" altLang="en-US" sz="2800" dirty="0">
                <a:solidFill>
                  <a:schemeClr val="tx2"/>
                </a:solidFill>
              </a:rPr>
              <a:t>named here DB processes.</a:t>
            </a:r>
          </a:p>
          <a:p>
            <a:pPr>
              <a:spcAft>
                <a:spcPts val="1600"/>
              </a:spcAft>
              <a:defRPr/>
            </a:pPr>
            <a:r>
              <a:rPr lang="en-US" altLang="en-US" sz="2800" dirty="0">
                <a:solidFill>
                  <a:schemeClr val="tx2"/>
                </a:solidFill>
              </a:rPr>
              <a:t>We documented in the process tree the amount of each of these processes per FU.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2509E45-DC88-7A4A-B33E-A0EAB1A698A3}"/>
              </a:ext>
            </a:extLst>
          </p:cNvPr>
          <p:cNvSpPr/>
          <p:nvPr/>
        </p:nvSpPr>
        <p:spPr>
          <a:xfrm>
            <a:off x="8908452" y="3821508"/>
            <a:ext cx="708025" cy="708025"/>
          </a:xfrm>
          <a:prstGeom prst="ellipse">
            <a:avLst/>
          </a:prstGeom>
          <a:solidFill>
            <a:srgbClr val="00B2A9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8128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kern="0" dirty="0">
                <a:solidFill>
                  <a:prstClr val="white"/>
                </a:solidFill>
                <a:latin typeface="Arial" panose="020B0604020202020204"/>
              </a:rPr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12AED72-BD39-B14A-9BAA-08BA586DEB41}"/>
              </a:ext>
            </a:extLst>
          </p:cNvPr>
          <p:cNvSpPr/>
          <p:nvPr/>
        </p:nvSpPr>
        <p:spPr>
          <a:xfrm>
            <a:off x="8908452" y="5420715"/>
            <a:ext cx="708025" cy="708025"/>
          </a:xfrm>
          <a:prstGeom prst="ellipse">
            <a:avLst/>
          </a:prstGeom>
          <a:solidFill>
            <a:srgbClr val="00B2A9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8128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kern="0" dirty="0">
                <a:solidFill>
                  <a:prstClr val="white"/>
                </a:solidFill>
                <a:latin typeface="Arial" panose="020B0604020202020204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61879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GB" altLang="en-US" dirty="0"/>
              <a:t>Energy and CO</a:t>
            </a:r>
            <a:r>
              <a:rPr lang="en-GB" altLang="en-US" baseline="-25000" dirty="0"/>
              <a:t>2</a:t>
            </a:r>
            <a:r>
              <a:rPr lang="en-GB" altLang="en-US" dirty="0"/>
              <a:t> balance: light bulb example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14E4FF-4DBB-5245-9BF9-4CD238237711}"/>
              </a:ext>
            </a:extLst>
          </p:cNvPr>
          <p:cNvSpPr/>
          <p:nvPr/>
        </p:nvSpPr>
        <p:spPr>
          <a:xfrm>
            <a:off x="4388516" y="1607410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D4780E6-FDF5-1B43-9937-C0F220B76C4F}"/>
              </a:ext>
            </a:extLst>
          </p:cNvPr>
          <p:cNvSpPr/>
          <p:nvPr/>
        </p:nvSpPr>
        <p:spPr>
          <a:xfrm>
            <a:off x="7617356" y="1607410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66D319-3097-C64F-8946-A9329A30A152}"/>
              </a:ext>
            </a:extLst>
          </p:cNvPr>
          <p:cNvSpPr/>
          <p:nvPr/>
        </p:nvSpPr>
        <p:spPr>
          <a:xfrm>
            <a:off x="12080868" y="1607410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19FE2-191D-CA4C-8BCA-D6B3EAF44476}"/>
              </a:ext>
            </a:extLst>
          </p:cNvPr>
          <p:cNvSpPr txBox="1"/>
          <p:nvPr/>
        </p:nvSpPr>
        <p:spPr>
          <a:xfrm>
            <a:off x="7648353" y="1662856"/>
            <a:ext cx="480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DAFAA7-7B3F-1247-A0EE-ED0BD8AEA4C8}"/>
              </a:ext>
            </a:extLst>
          </p:cNvPr>
          <p:cNvSpPr txBox="1"/>
          <p:nvPr/>
        </p:nvSpPr>
        <p:spPr>
          <a:xfrm>
            <a:off x="12111865" y="1662856"/>
            <a:ext cx="480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D64C4-16DF-A344-8443-D22979E04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80" y="2288509"/>
            <a:ext cx="14631828" cy="432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98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F256-C91A-3A40-B8DC-FDD68E9D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2"/>
                </a:solidFill>
              </a:rPr>
              <a:t>Non-renewable primary energy and CO</a:t>
            </a:r>
            <a:r>
              <a:rPr lang="en-US" sz="3600" baseline="-25000" dirty="0">
                <a:solidFill>
                  <a:schemeClr val="tx2"/>
                </a:solidFill>
              </a:rPr>
              <a:t>2</a:t>
            </a:r>
            <a:r>
              <a:rPr lang="en-US" sz="3600" dirty="0">
                <a:solidFill>
                  <a:schemeClr val="tx2"/>
                </a:solidFill>
              </a:rPr>
              <a:t> Aggregated inventory flows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B0D294-3EB4-F947-8DCE-A0959C693478}"/>
              </a:ext>
            </a:extLst>
          </p:cNvPr>
          <p:cNvSpPr/>
          <p:nvPr/>
        </p:nvSpPr>
        <p:spPr>
          <a:xfrm>
            <a:off x="878783" y="2098431"/>
            <a:ext cx="2884325" cy="36341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800" dirty="0"/>
              <a:t>Materials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5875D7-3CF3-2848-9079-9D696512070B}"/>
              </a:ext>
            </a:extLst>
          </p:cNvPr>
          <p:cNvSpPr/>
          <p:nvPr/>
        </p:nvSpPr>
        <p:spPr>
          <a:xfrm>
            <a:off x="878783" y="3446585"/>
            <a:ext cx="2884325" cy="36341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800" dirty="0"/>
              <a:t>Energy Carriers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51BAE2-4644-E542-9F45-F686605C634F}"/>
              </a:ext>
            </a:extLst>
          </p:cNvPr>
          <p:cNvSpPr/>
          <p:nvPr/>
        </p:nvSpPr>
        <p:spPr>
          <a:xfrm>
            <a:off x="878783" y="4372708"/>
            <a:ext cx="2884325" cy="36341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800" dirty="0"/>
              <a:t>Transport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0A62D0-BA54-5543-A5FA-F9DFA4C5B9E5}"/>
              </a:ext>
            </a:extLst>
          </p:cNvPr>
          <p:cNvCxnSpPr/>
          <p:nvPr/>
        </p:nvCxnSpPr>
        <p:spPr>
          <a:xfrm>
            <a:off x="3763108" y="2016369"/>
            <a:ext cx="11747503" cy="0"/>
          </a:xfrm>
          <a:prstGeom prst="line">
            <a:avLst/>
          </a:prstGeom>
          <a:ln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B82FF0-9FF4-AD42-99B9-2BBD381657BB}"/>
              </a:ext>
            </a:extLst>
          </p:cNvPr>
          <p:cNvCxnSpPr/>
          <p:nvPr/>
        </p:nvCxnSpPr>
        <p:spPr>
          <a:xfrm>
            <a:off x="3763108" y="3305908"/>
            <a:ext cx="11747503" cy="0"/>
          </a:xfrm>
          <a:prstGeom prst="line">
            <a:avLst/>
          </a:prstGeom>
          <a:ln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F3306D-F171-7741-8B1E-E634F99FA810}"/>
              </a:ext>
            </a:extLst>
          </p:cNvPr>
          <p:cNvCxnSpPr/>
          <p:nvPr/>
        </p:nvCxnSpPr>
        <p:spPr>
          <a:xfrm>
            <a:off x="3763108" y="4185138"/>
            <a:ext cx="11747503" cy="0"/>
          </a:xfrm>
          <a:prstGeom prst="line">
            <a:avLst/>
          </a:prstGeom>
          <a:ln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60A1CDE-08B6-DD45-8801-08AD605DE3FB}"/>
              </a:ext>
            </a:extLst>
          </p:cNvPr>
          <p:cNvSpPr txBox="1"/>
          <p:nvPr/>
        </p:nvSpPr>
        <p:spPr>
          <a:xfrm>
            <a:off x="8294566" y="1272644"/>
            <a:ext cx="2971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tx2"/>
                </a:solidFill>
              </a:rPr>
              <a:t>Non-renewable primary</a:t>
            </a:r>
          </a:p>
          <a:p>
            <a:pPr algn="ctr"/>
            <a:r>
              <a:rPr lang="en-US" sz="1800" b="1" dirty="0">
                <a:solidFill>
                  <a:schemeClr val="tx2"/>
                </a:solidFill>
              </a:rPr>
              <a:t>Energy (MJ per unit)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4758AD-888A-4643-9BAA-6193B362ED1A}"/>
              </a:ext>
            </a:extLst>
          </p:cNvPr>
          <p:cNvSpPr txBox="1"/>
          <p:nvPr/>
        </p:nvSpPr>
        <p:spPr>
          <a:xfrm>
            <a:off x="10861920" y="1257311"/>
            <a:ext cx="2971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tx2"/>
                </a:solidFill>
              </a:rPr>
              <a:t>CO</a:t>
            </a:r>
            <a:r>
              <a:rPr lang="en-US" sz="1800" b="1" baseline="-25000" dirty="0">
                <a:solidFill>
                  <a:schemeClr val="tx2"/>
                </a:solidFill>
              </a:rPr>
              <a:t>2</a:t>
            </a:r>
            <a:endParaRPr lang="en-US" sz="1800" b="1" dirty="0">
              <a:solidFill>
                <a:schemeClr val="tx2"/>
              </a:solidFill>
            </a:endParaRPr>
          </a:p>
          <a:p>
            <a:pPr algn="ctr"/>
            <a:r>
              <a:rPr lang="en-US" sz="1800" b="1" dirty="0">
                <a:solidFill>
                  <a:schemeClr val="tx2"/>
                </a:solidFill>
              </a:rPr>
              <a:t>(kg per unit)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68CF74-EE1E-114F-861D-5C6878FF9743}"/>
              </a:ext>
            </a:extLst>
          </p:cNvPr>
          <p:cNvSpPr txBox="1"/>
          <p:nvPr/>
        </p:nvSpPr>
        <p:spPr>
          <a:xfrm>
            <a:off x="13054135" y="1269034"/>
            <a:ext cx="2971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tx2"/>
                </a:solidFill>
              </a:rPr>
              <a:t>gCO</a:t>
            </a:r>
            <a:r>
              <a:rPr lang="en-US" sz="1800" b="1" baseline="-25000" dirty="0">
                <a:solidFill>
                  <a:schemeClr val="tx2"/>
                </a:solidFill>
              </a:rPr>
              <a:t>2</a:t>
            </a:r>
            <a:r>
              <a:rPr lang="en-US" sz="1800" b="1" dirty="0">
                <a:solidFill>
                  <a:schemeClr val="tx2"/>
                </a:solidFill>
              </a:rPr>
              <a:t>/MJ</a:t>
            </a:r>
          </a:p>
          <a:p>
            <a:pPr algn="ctr"/>
            <a:r>
              <a:rPr lang="en-US" sz="1800" b="1" dirty="0">
                <a:solidFill>
                  <a:schemeClr val="tx2"/>
                </a:solidFill>
              </a:rPr>
              <a:t>ratio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5E51EE-EBF0-E140-A1C2-51CFDB182091}"/>
              </a:ext>
            </a:extLst>
          </p:cNvPr>
          <p:cNvSpPr txBox="1"/>
          <p:nvPr/>
        </p:nvSpPr>
        <p:spPr>
          <a:xfrm>
            <a:off x="4003920" y="2129097"/>
            <a:ext cx="1181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1 kg paper						  20			      1			 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BCDE54-083B-6D40-AD3E-2E7CADE3310B}"/>
              </a:ext>
            </a:extLst>
          </p:cNvPr>
          <p:cNvSpPr txBox="1"/>
          <p:nvPr/>
        </p:nvSpPr>
        <p:spPr>
          <a:xfrm>
            <a:off x="4003920" y="2457344"/>
            <a:ext cx="1181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1 kg glass						11.5			0.63			 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D05AA6-C97D-5744-BDC7-CE4E87017340}"/>
              </a:ext>
            </a:extLst>
          </p:cNvPr>
          <p:cNvSpPr txBox="1"/>
          <p:nvPr/>
        </p:nvSpPr>
        <p:spPr>
          <a:xfrm>
            <a:off x="4003920" y="2785590"/>
            <a:ext cx="1181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1 kg aluminum						160			  9.5			 59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CDF3F9-59DA-AF45-AB3B-91DE6EFAD860}"/>
              </a:ext>
            </a:extLst>
          </p:cNvPr>
          <p:cNvSpPr txBox="1"/>
          <p:nvPr/>
        </p:nvSpPr>
        <p:spPr>
          <a:xfrm>
            <a:off x="4003920" y="3442083"/>
            <a:ext cx="1181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1 kWh electricity (USA)				           12.1			  0.71		 	 59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0FE1F6-9DE4-7B4C-A0A9-F6ECB2066062}"/>
              </a:ext>
            </a:extLst>
          </p:cNvPr>
          <p:cNvSpPr txBox="1"/>
          <p:nvPr/>
        </p:nvSpPr>
        <p:spPr>
          <a:xfrm>
            <a:off x="4003919" y="4385268"/>
            <a:ext cx="1181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1,000 km • kg transport 16-32 ton Lorry			  2.6			 0.15		 	 58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72498A-FDE6-C244-8AFA-265AFD827B7E}"/>
              </a:ext>
            </a:extLst>
          </p:cNvPr>
          <p:cNvSpPr txBox="1"/>
          <p:nvPr/>
        </p:nvSpPr>
        <p:spPr>
          <a:xfrm>
            <a:off x="4003919" y="4736123"/>
            <a:ext cx="1181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1 t • km transport (not operation) transoceanic freight	0.17			  0.0104	 	 61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D26D43A-C0FF-9D4B-AA41-CD48CE343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961876"/>
              </p:ext>
            </p:extLst>
          </p:nvPr>
        </p:nvGraphicFramePr>
        <p:xfrm>
          <a:off x="810060" y="5309977"/>
          <a:ext cx="14582340" cy="24069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90215">
                  <a:extLst>
                    <a:ext uri="{9D8B030D-6E8A-4147-A177-3AD203B41FA5}">
                      <a16:colId xmlns:a16="http://schemas.microsoft.com/office/drawing/2014/main" val="2644931665"/>
                    </a:ext>
                  </a:extLst>
                </a:gridCol>
                <a:gridCol w="3514725">
                  <a:extLst>
                    <a:ext uri="{9D8B030D-6E8A-4147-A177-3AD203B41FA5}">
                      <a16:colId xmlns:a16="http://schemas.microsoft.com/office/drawing/2014/main" val="565735822"/>
                    </a:ext>
                  </a:extLst>
                </a:gridCol>
                <a:gridCol w="1185863">
                  <a:extLst>
                    <a:ext uri="{9D8B030D-6E8A-4147-A177-3AD203B41FA5}">
                      <a16:colId xmlns:a16="http://schemas.microsoft.com/office/drawing/2014/main" val="1900499704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2412536"/>
                    </a:ext>
                  </a:extLst>
                </a:gridCol>
                <a:gridCol w="2043112">
                  <a:extLst>
                    <a:ext uri="{9D8B030D-6E8A-4147-A177-3AD203B41FA5}">
                      <a16:colId xmlns:a16="http://schemas.microsoft.com/office/drawing/2014/main" val="1212978832"/>
                    </a:ext>
                  </a:extLst>
                </a:gridCol>
                <a:gridCol w="1271588">
                  <a:extLst>
                    <a:ext uri="{9D8B030D-6E8A-4147-A177-3AD203B41FA5}">
                      <a16:colId xmlns:a16="http://schemas.microsoft.com/office/drawing/2014/main" val="1636667921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845716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1526032817"/>
                    </a:ext>
                  </a:extLst>
                </a:gridCol>
                <a:gridCol w="1204912">
                  <a:extLst>
                    <a:ext uri="{9D8B030D-6E8A-4147-A177-3AD203B41FA5}">
                      <a16:colId xmlns:a16="http://schemas.microsoft.com/office/drawing/2014/main" val="971893266"/>
                    </a:ext>
                  </a:extLst>
                </a:gridCol>
              </a:tblGrid>
              <a:tr h="511004">
                <a:tc gridSpan="6">
                  <a:txBody>
                    <a:bodyPr/>
                    <a:lstStyle/>
                    <a:p>
                      <a:endParaRPr lang="en-US" b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2"/>
                          </a:solidFill>
                        </a:rPr>
                        <a:t>Non renewable primary energy MJ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2"/>
                          </a:solidFill>
                        </a:rPr>
                        <a:t>CO</a:t>
                      </a:r>
                      <a:r>
                        <a:rPr lang="en-US" b="0" baseline="-25000" dirty="0">
                          <a:solidFill>
                            <a:schemeClr val="tx2"/>
                          </a:solidFill>
                        </a:rPr>
                        <a:t>2</a:t>
                      </a:r>
                      <a:r>
                        <a:rPr lang="en-US" b="0" baseline="0" dirty="0">
                          <a:solidFill>
                            <a:schemeClr val="tx2"/>
                          </a:solidFill>
                        </a:rPr>
                        <a:t>, fossil</a:t>
                      </a:r>
                    </a:p>
                    <a:p>
                      <a:pPr algn="ctr"/>
                      <a:r>
                        <a:rPr lang="en-US" b="0" baseline="0" dirty="0">
                          <a:solidFill>
                            <a:schemeClr val="tx2"/>
                          </a:solidFill>
                        </a:rPr>
                        <a:t>Air</a:t>
                      </a:r>
                    </a:p>
                    <a:p>
                      <a:pPr algn="ctr"/>
                      <a:r>
                        <a:rPr lang="en-US" b="0" baseline="0" dirty="0">
                          <a:solidFill>
                            <a:schemeClr val="tx2"/>
                          </a:solidFill>
                        </a:rPr>
                        <a:t>kg</a:t>
                      </a:r>
                      <a:endParaRPr lang="en-US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2"/>
                          </a:solidFill>
                        </a:rPr>
                        <a:t>Ratio</a:t>
                      </a:r>
                    </a:p>
                    <a:p>
                      <a:pPr algn="ctr"/>
                      <a:endParaRPr lang="en-US" b="0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r>
                        <a:rPr lang="en-US" b="0" dirty="0">
                          <a:solidFill>
                            <a:schemeClr val="tx2"/>
                          </a:solidFill>
                        </a:rPr>
                        <a:t>gCO</a:t>
                      </a:r>
                      <a:r>
                        <a:rPr lang="en-US" b="0" baseline="-25000" dirty="0">
                          <a:solidFill>
                            <a:schemeClr val="tx2"/>
                          </a:solidFill>
                        </a:rPr>
                        <a:t>2</a:t>
                      </a:r>
                      <a:r>
                        <a:rPr lang="en-US" b="0" baseline="0" dirty="0">
                          <a:solidFill>
                            <a:schemeClr val="tx2"/>
                          </a:solidFill>
                        </a:rPr>
                        <a:t>/MJ</a:t>
                      </a:r>
                      <a:endParaRPr lang="en-US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386184"/>
                  </a:ext>
                </a:extLst>
              </a:tr>
              <a:tr h="43295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Dataset-ID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Location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Unit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2"/>
                          </a:solidFill>
                        </a:rPr>
                        <a:t>Ecocat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2"/>
                          </a:solidFill>
                        </a:rPr>
                        <a:t>Ecosubcat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267315"/>
                  </a:ext>
                </a:extLst>
              </a:tr>
              <a:tr h="35104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7296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operation, lorry 16-32t, EURO5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RER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2"/>
                          </a:solidFill>
                        </a:rPr>
                        <a:t>vkm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transport systems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road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10.47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0.70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22157"/>
                  </a:ext>
                </a:extLst>
              </a:tr>
              <a:tr h="35104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7305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transport, lorry 16-32t, EURO5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RER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2"/>
                          </a:solidFill>
                        </a:rPr>
                        <a:t>tkm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transport systems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road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2.58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0.15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58.1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944023"/>
                  </a:ext>
                </a:extLst>
              </a:tr>
              <a:tr h="35104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1961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operation, transoceanic freight 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OCE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2"/>
                          </a:solidFill>
                        </a:rPr>
                        <a:t>tkm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transport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ship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0.0088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67.7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429124"/>
                  </a:ext>
                </a:extLst>
              </a:tr>
              <a:tr h="351042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1968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transport, transoceanic freight ship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OCE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2"/>
                          </a:solidFill>
                        </a:rPr>
                        <a:t>tkm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transport systems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ship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0.0104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61.2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856149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5CCA0053-5EC2-E940-87AB-A53B67F49C17}"/>
              </a:ext>
            </a:extLst>
          </p:cNvPr>
          <p:cNvSpPr/>
          <p:nvPr/>
        </p:nvSpPr>
        <p:spPr>
          <a:xfrm>
            <a:off x="878783" y="5371962"/>
            <a:ext cx="5301884" cy="401758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 err="1">
                <a:solidFill>
                  <a:schemeClr val="bg1"/>
                </a:solidFill>
              </a:rPr>
              <a:t>Ecoinvent</a:t>
            </a:r>
            <a:r>
              <a:rPr lang="en-US" sz="1800" dirty="0">
                <a:solidFill>
                  <a:schemeClr val="bg1"/>
                </a:solidFill>
              </a:rPr>
              <a:t> 2 process – extract for transportation</a:t>
            </a:r>
          </a:p>
        </p:txBody>
      </p:sp>
    </p:spTree>
    <p:extLst>
      <p:ext uri="{BB962C8B-B14F-4D97-AF65-F5344CB8AC3E}">
        <p14:creationId xmlns:p14="http://schemas.microsoft.com/office/powerpoint/2010/main" val="2359874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GB" altLang="en-US" dirty="0"/>
              <a:t>Energy and CO</a:t>
            </a:r>
            <a:r>
              <a:rPr lang="en-GB" altLang="en-US" baseline="-25000" dirty="0"/>
              <a:t>2</a:t>
            </a:r>
            <a:r>
              <a:rPr lang="en-GB" altLang="en-US" dirty="0"/>
              <a:t> balance: light bulb example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D1C617-6756-7E4C-A46C-9C402C7A6A26}"/>
              </a:ext>
            </a:extLst>
          </p:cNvPr>
          <p:cNvSpPr/>
          <p:nvPr/>
        </p:nvSpPr>
        <p:spPr>
          <a:xfrm>
            <a:off x="3970062" y="1821799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973CC5-45E2-F04F-90BE-3D01ECA7088D}"/>
              </a:ext>
            </a:extLst>
          </p:cNvPr>
          <p:cNvSpPr/>
          <p:nvPr/>
        </p:nvSpPr>
        <p:spPr>
          <a:xfrm>
            <a:off x="6863096" y="1821799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E5FBBAB-738B-0045-A5A7-25CA145C5CBD}"/>
              </a:ext>
            </a:extLst>
          </p:cNvPr>
          <p:cNvSpPr/>
          <p:nvPr/>
        </p:nvSpPr>
        <p:spPr>
          <a:xfrm>
            <a:off x="10779010" y="1821799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8BC1D0-17A4-FB4C-BFF2-0B8BF3B45572}"/>
              </a:ext>
            </a:extLst>
          </p:cNvPr>
          <p:cNvSpPr txBox="1"/>
          <p:nvPr/>
        </p:nvSpPr>
        <p:spPr>
          <a:xfrm>
            <a:off x="6894093" y="1877245"/>
            <a:ext cx="480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609D09-378B-204A-85F1-1ED8E20FDB39}"/>
              </a:ext>
            </a:extLst>
          </p:cNvPr>
          <p:cNvSpPr txBox="1"/>
          <p:nvPr/>
        </p:nvSpPr>
        <p:spPr>
          <a:xfrm>
            <a:off x="10810007" y="1877245"/>
            <a:ext cx="480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797EEE-FE44-9946-B229-90483DB68FEF}"/>
              </a:ext>
            </a:extLst>
          </p:cNvPr>
          <p:cNvSpPr/>
          <p:nvPr/>
        </p:nvSpPr>
        <p:spPr>
          <a:xfrm>
            <a:off x="7483029" y="6571259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F77E4B-F882-6F42-9CAE-139ACF3FD811}"/>
              </a:ext>
            </a:extLst>
          </p:cNvPr>
          <p:cNvSpPr txBox="1"/>
          <p:nvPr/>
        </p:nvSpPr>
        <p:spPr>
          <a:xfrm>
            <a:off x="7514026" y="6626705"/>
            <a:ext cx="480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3a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AFE513-C45D-D746-BCF6-19199D851901}"/>
              </a:ext>
            </a:extLst>
          </p:cNvPr>
          <p:cNvSpPr/>
          <p:nvPr/>
        </p:nvSpPr>
        <p:spPr>
          <a:xfrm>
            <a:off x="11419599" y="6571259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30003-5F4D-294B-AEBA-AD48FD6D250F}"/>
              </a:ext>
            </a:extLst>
          </p:cNvPr>
          <p:cNvSpPr txBox="1"/>
          <p:nvPr/>
        </p:nvSpPr>
        <p:spPr>
          <a:xfrm>
            <a:off x="11450596" y="6626705"/>
            <a:ext cx="480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3b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4B8F1-9907-F74A-81E8-934B5238D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80" y="2560797"/>
            <a:ext cx="14631828" cy="3805727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E3E3CEFC-EA92-A04E-806C-306CA2E00B7A}"/>
              </a:ext>
            </a:extLst>
          </p:cNvPr>
          <p:cNvSpPr/>
          <p:nvPr/>
        </p:nvSpPr>
        <p:spPr>
          <a:xfrm>
            <a:off x="14257062" y="1821799"/>
            <a:ext cx="511438" cy="51143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7C6DA-0043-F74B-832F-A587C05A10A8}"/>
              </a:ext>
            </a:extLst>
          </p:cNvPr>
          <p:cNvSpPr txBox="1"/>
          <p:nvPr/>
        </p:nvSpPr>
        <p:spPr>
          <a:xfrm>
            <a:off x="-849086" y="6645729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66053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2">
  <a:themeElements>
    <a:clrScheme name="SPH brand colors">
      <a:dk1>
        <a:srgbClr val="00274C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Notes (not to be shown in vide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AI_PPT_Template_2.potx</Template>
  <TotalTime>17505</TotalTime>
  <Words>615</Words>
  <Application>Microsoft Macintosh PowerPoint</Application>
  <PresentationFormat>Custom</PresentationFormat>
  <Paragraphs>135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Arial Bold</vt:lpstr>
      <vt:lpstr>Calibri</vt:lpstr>
      <vt:lpstr>Courier New</vt:lpstr>
      <vt:lpstr>Wingdings</vt:lpstr>
      <vt:lpstr>Title slide option 2</vt:lpstr>
      <vt:lpstr>Content slide (shown in video)</vt:lpstr>
      <vt:lpstr>2_Content slide (shown in video)</vt:lpstr>
      <vt:lpstr>3_Content slide (shown in video)</vt:lpstr>
      <vt:lpstr>Notes (not to be shown in video)</vt:lpstr>
      <vt:lpstr>PowerPoint Presentation</vt:lpstr>
      <vt:lpstr>Learning Objectives</vt:lpstr>
      <vt:lpstr>Process tree – illuminating with incandescent bulbs</vt:lpstr>
      <vt:lpstr>Energy and CO2 balance: principles</vt:lpstr>
      <vt:lpstr>Energy and CO2 balance: light bulb example</vt:lpstr>
      <vt:lpstr>Non-renewable primary energy and CO2 Aggregated inventory flows</vt:lpstr>
      <vt:lpstr>Energy and CO2 balance: light bulb example</vt:lpstr>
    </vt:vector>
  </TitlesOfParts>
  <Manager/>
  <Company>University of Michigan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Scott Mahler</dc:creator>
  <cp:keywords/>
  <dc:description/>
  <cp:lastModifiedBy>Rosen, Monica</cp:lastModifiedBy>
  <cp:revision>752</cp:revision>
  <cp:lastPrinted>2020-08-20T17:37:33Z</cp:lastPrinted>
  <dcterms:created xsi:type="dcterms:W3CDTF">2017-01-17T22:07:36Z</dcterms:created>
  <dcterms:modified xsi:type="dcterms:W3CDTF">2021-11-05T13:35:56Z</dcterms:modified>
  <cp:category/>
</cp:coreProperties>
</file>